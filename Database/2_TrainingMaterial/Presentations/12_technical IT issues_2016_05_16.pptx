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25"/>
  </p:notesMasterIdLst>
  <p:handoutMasterIdLst>
    <p:handoutMasterId r:id="rId26"/>
  </p:handoutMasterIdLst>
  <p:sldIdLst>
    <p:sldId id="279" r:id="rId2"/>
    <p:sldId id="434" r:id="rId3"/>
    <p:sldId id="409" r:id="rId4"/>
    <p:sldId id="420" r:id="rId5"/>
    <p:sldId id="438" r:id="rId6"/>
    <p:sldId id="410" r:id="rId7"/>
    <p:sldId id="460" r:id="rId8"/>
    <p:sldId id="431" r:id="rId9"/>
    <p:sldId id="411" r:id="rId10"/>
    <p:sldId id="439" r:id="rId11"/>
    <p:sldId id="413" r:id="rId12"/>
    <p:sldId id="414" r:id="rId13"/>
    <p:sldId id="426" r:id="rId14"/>
    <p:sldId id="428" r:id="rId15"/>
    <p:sldId id="415" r:id="rId16"/>
    <p:sldId id="417" r:id="rId17"/>
    <p:sldId id="436" r:id="rId18"/>
    <p:sldId id="418" r:id="rId19"/>
    <p:sldId id="458" r:id="rId20"/>
    <p:sldId id="423" r:id="rId21"/>
    <p:sldId id="459" r:id="rId22"/>
    <p:sldId id="433" r:id="rId23"/>
    <p:sldId id="457" r:id="rId24"/>
  </p:sldIdLst>
  <p:sldSz cx="9144000" cy="6858000" type="screen4x3"/>
  <p:notesSz cx="7099300" cy="10234613"/>
  <p:defaultTextStyle>
    <a:defPPr>
      <a:defRPr lang="nl-B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5F1"/>
    <a:srgbClr val="CCFFFF"/>
    <a:srgbClr val="3399FF"/>
    <a:srgbClr val="A3D0EB"/>
    <a:srgbClr val="295C7B"/>
    <a:srgbClr val="35769F"/>
    <a:srgbClr val="4BA2D9"/>
    <a:srgbClr val="FF3300"/>
    <a:srgbClr val="0000FF"/>
    <a:srgbClr val="278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1832" autoAdjust="0"/>
  </p:normalViewPr>
  <p:slideViewPr>
    <p:cSldViewPr snapToGrid="0">
      <p:cViewPr>
        <p:scale>
          <a:sx n="130" d="100"/>
          <a:sy n="130" d="100"/>
        </p:scale>
        <p:origin x="-990" y="558"/>
      </p:cViewPr>
      <p:guideLst>
        <p:guide orient="horz"/>
        <p:guide orient="horz" pos="4319"/>
        <p:guide orient="horz" pos="197"/>
        <p:guide orient="horz" pos="3746"/>
        <p:guide orient="horz" pos="368"/>
        <p:guide/>
        <p:guide pos="5759"/>
        <p:guide pos="5031"/>
        <p:guide pos="2883"/>
        <p:guide pos="4455"/>
        <p:guide pos="567"/>
        <p:guide pos="249"/>
        <p:guide pos="21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336"/>
    </p:cViewPr>
  </p:sorterViewPr>
  <p:notesViewPr>
    <p:cSldViewPr snapToGrid="0">
      <p:cViewPr varScale="1">
        <p:scale>
          <a:sx n="87" d="100"/>
          <a:sy n="87" d="100"/>
        </p:scale>
        <p:origin x="-3720" y="-84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08D1B68-51D7-4E44-8160-45313BD01FEE}" type="datetimeFigureOut">
              <a:rPr lang="nl-BE"/>
              <a:pPr>
                <a:defRPr/>
              </a:pPr>
              <a:t>16/05/2016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DDAC0D5-0EBD-445C-AFC3-0DB0E513FF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04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E582AB63-0B49-41BD-9042-1BD4F21046CC}" type="datetimeFigureOut">
              <a:rPr lang="nl-BE"/>
              <a:pPr>
                <a:defRPr/>
              </a:pPr>
              <a:t>16/05/2016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nl-BE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l-BE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291B0E23-E37D-4948-ABFB-019C94031631}" type="slidenum">
              <a:rPr lang="nl-BE"/>
              <a:pPr>
                <a:defRPr/>
              </a:pPr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026833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6D2881B-4F64-4B98-8D08-30DC9758627F}" type="slidenum">
              <a:rPr lang="nl-BE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nl-BE" alt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64519D3-CB35-49E0-A148-54ECAD63582D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95505A3-A494-45B4-8144-DDC29C9F5E6E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2F443417-05DF-4213-9229-F3E8ACEEFD9D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3252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34ECF78-9FA9-4D1A-8F0E-F2917D270CB9}" type="slidenum">
              <a:rPr lang="nl-BE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nl-BE" alt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DBDDEF5-FA1F-490C-AC4D-80554976327E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3252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34ECF78-9FA9-4D1A-8F0E-F2917D270CB9}" type="slidenum">
              <a:rPr lang="nl-BE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nl-BE" alt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AEC4581-B05E-4FA8-BA75-89AA96BF5CCE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25FA42B-7DD7-4318-9C88-C2F005F2B143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25FA42B-7DD7-4318-9C88-C2F005F2B143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2CB899F-13DD-4EAB-8AF2-122E97B4C61B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5060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29EDBE1-24D7-4923-838D-630FA51B11B1}" type="slidenum">
              <a:rPr lang="nl-BE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nl-BE" alt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9CAEFE4-DCB3-47C2-99A6-73104B07D295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4710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8583330-9256-403D-A215-5704F051DB2D}" type="slidenum">
              <a:rPr lang="nl-BE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nl-BE" alt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E117E60-2ACD-4B86-AE51-839C95C25F95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BC83908-CE9A-4C91-B1B7-D2BBA0D6442A}" type="slidenum">
              <a:rPr lang="nl-BE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nl-BE" alt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E117E60-2ACD-4B86-AE51-839C95C25F95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5120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895E621-4EFA-430E-ACA9-EAACB494AE8F}" type="slidenum">
              <a:rPr lang="nl-BE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nl-BE" alt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5E5A81B-73B0-4297-ADAC-63C60D69F65E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E117E60-2ACD-4B86-AE51-839C95C25F95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489954F-5193-442D-A36B-906E5B03DE04}" type="slidenum">
              <a:rPr lang="en-US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 smtClean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5844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6D2881B-4F64-4B98-8D08-30DC9758627F}" type="slidenum">
              <a:rPr lang="nl-BE" altLang="en-US" smtClean="0">
                <a:solidFill>
                  <a:srgbClr val="000000"/>
                </a:solidFill>
                <a:latin typeface="Arial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nl-BE" altLang="en-US" smtClean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Rechthoek 25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1" name="Rechte verbindingslijn 26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hthoek 27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Ovaal 28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al 29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nl-NL" dirty="0" smtClean="0"/>
              <a:t>Klik om het opmaakprofiel van de modelondertitel te bewerken</a:t>
            </a:r>
            <a:endParaRPr lang="en-US" dirty="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rgbClr val="2780B7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15" name="Tijdelijke aanduiding voor datum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6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7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solidFill>
                  <a:srgbClr val="99CC33">
                    <a:shade val="75000"/>
                  </a:srgbClr>
                </a:solidFill>
              </a:defRPr>
            </a:lvl1pPr>
          </a:lstStyle>
          <a:p>
            <a:pPr>
              <a:defRPr/>
            </a:pPr>
            <a:fld id="{6AD33F84-F184-4176-B94A-09DE7C5F27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584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>
            <a:lvl2pPr>
              <a:buClr>
                <a:schemeClr val="accent1"/>
              </a:buCl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780B7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nl-BE" dirty="0"/>
          </a:p>
        </p:txBody>
      </p:sp>
      <p:sp>
        <p:nvSpPr>
          <p:cNvPr id="4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5" name="Tijdelijke aanduiding voor dianumm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/>
            </a:lvl1pPr>
          </a:lstStyle>
          <a:p>
            <a:pPr>
              <a:defRPr/>
            </a:pPr>
            <a:fld id="{E2CBCD5B-2858-4571-86CD-7E0609392336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  <p:sp>
        <p:nvSpPr>
          <p:cNvPr id="6" name="Tijdelijke aanduiding voor voettekst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9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Rechthoek 25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hthoek 26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Rechthoek 27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1" name="Rechthoek 28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hte verbindingslijn 29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Ovaal 30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al 31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5" name="Tijdelijke aanduiding voor voettekst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6" name="Tijdelijke aanduiding voor datum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7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99CC33">
                    <a:shade val="75000"/>
                  </a:srgbClr>
                </a:solidFill>
              </a:defRPr>
            </a:lvl1pPr>
          </a:lstStyle>
          <a:p>
            <a:pPr>
              <a:defRPr/>
            </a:pPr>
            <a:fld id="{D17E901F-337E-4931-9F45-ED15459529E0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80505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 verbindingslijn 19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0" name="Tijdelijke aanduiding voor inhoud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12" name="Tijdelijke aanduiding voor inhoud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6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8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/>
            </a:lvl1pPr>
          </a:lstStyle>
          <a:p>
            <a:pPr>
              <a:defRPr/>
            </a:pPr>
            <a:fld id="{AA84A8CD-BC01-47A3-A17C-6CB322F88BC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257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elijk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 verbindingslijn 19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fr-FR"/>
          </a:p>
        </p:txBody>
      </p:sp>
      <p:sp>
        <p:nvSpPr>
          <p:cNvPr id="8" name="Rechthoek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hthoek 2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1" name="Rechthoek 2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hthoek 26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hthoek 27"/>
          <p:cNvSpPr>
            <a:spLocks noChangeArrowheads="1"/>
          </p:cNvSpPr>
          <p:nvPr/>
        </p:nvSpPr>
        <p:spPr bwMode="auto">
          <a:xfrm>
            <a:off x="146050" y="6403975"/>
            <a:ext cx="8855075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" name="Rechte verbindingslijn 28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5" name="Rechthoek 29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6" name="Ovaal 30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Ovaal 31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4" name="Tijdelijke aanduiding voor inhoud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26" name="Tijdelijke aanduiding voor inhoud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23" name="Titel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8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9" name="Tijdelijke aanduiding voor voettekst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20" name="Tijdelijke aanduiding voor dianumm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/>
            </a:lvl1pPr>
          </a:lstStyle>
          <a:p>
            <a:pPr>
              <a:defRPr/>
            </a:pPr>
            <a:fld id="{1C36CF96-AF3E-460A-BF75-862114213D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502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/>
            </a:lvl1pPr>
          </a:lstStyle>
          <a:p>
            <a:pPr>
              <a:defRPr/>
            </a:pPr>
            <a:fld id="{4E839106-CC26-4B3A-8FC1-9566340820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6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27"/>
          <p:cNvSpPr>
            <a:spLocks noChangeArrowheads="1"/>
          </p:cNvSpPr>
          <p:nvPr userDrawn="1"/>
        </p:nvSpPr>
        <p:spPr bwMode="auto">
          <a:xfrm>
            <a:off x="146050" y="6403975"/>
            <a:ext cx="8855075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3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" name="Rechthoek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Ovaal 31"/>
          <p:cNvSpPr/>
          <p:nvPr userDrawn="1"/>
        </p:nvSpPr>
        <p:spPr>
          <a:xfrm>
            <a:off x="4357688" y="6357938"/>
            <a:ext cx="428625" cy="428625"/>
          </a:xfrm>
          <a:prstGeom prst="ellipse">
            <a:avLst/>
          </a:prstGeom>
          <a:noFill/>
          <a:ln w="50800" cap="rnd" cmpd="dbl" algn="ctr">
            <a:solidFill>
              <a:schemeClr val="bg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hthoek 29"/>
          <p:cNvSpPr>
            <a:spLocks noChangeArrowheads="1"/>
          </p:cNvSpPr>
          <p:nvPr userDrawn="1"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0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1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4286250" y="6345238"/>
            <a:ext cx="609600" cy="4413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solidFill>
                  <a:prstClr val="white"/>
                </a:solidFill>
              </a:defRPr>
            </a:lvl1pPr>
          </a:lstStyle>
          <a:p>
            <a:pPr>
              <a:defRPr/>
            </a:pPr>
            <a:fld id="{155840D6-9FE0-4584-B0CA-A26EF1A3CC5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8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19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Rechthoek 24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hthoek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Rechthoek 26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hthoek 27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hte verbindingslijn 28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Ovaal 2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al 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hthoek 31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0" name="Tijdelijke aanduiding voor inhoud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16" name="Tijdelijke aanduiding voor dianumm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>
            <a:noAutofit/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solidFill>
                  <a:srgbClr val="99CC33">
                    <a:shade val="75000"/>
                  </a:srgbClr>
                </a:solidFill>
              </a:defRPr>
            </a:lvl1pPr>
          </a:lstStyle>
          <a:p>
            <a:pPr>
              <a:defRPr/>
            </a:pPr>
            <a:fld id="{72B5A088-F124-4E8C-B38E-7991331E35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ijdelijke aanduiding voor datum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8" name="Tijdelijke aanduiding voor voettekst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03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 verbindingslijn 19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Rechthoek 24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hthoek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Rechthoek 26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1" name="Rechthoek 2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hthoek 2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Ovaal 2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al 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hthoek 31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l-NL" noProof="0" smtClean="0"/>
              <a:t>Klik op het pictogram als u een afbeelding wilt toevoegen</a:t>
            </a:r>
            <a:endParaRPr lang="en-US" noProof="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16" name="Tijdelijke aanduiding voor dianumm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/>
            </a:lvl1pPr>
          </a:lstStyle>
          <a:p>
            <a:pPr>
              <a:defRPr/>
            </a:pPr>
            <a:fld id="{CAB669F5-3A7B-43DF-B04F-7ADA626B66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ijdelijke aanduiding voor datum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8" name="Tijdelijke aanduiding voor voettekst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1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/>
            </a:lvl1pPr>
          </a:lstStyle>
          <a:p>
            <a:pPr>
              <a:defRPr/>
            </a:pPr>
            <a:fld id="{7F7FEB96-D20D-43DC-8D7D-9457D1740D06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77218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Rechthoek 2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hthoek 26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Rechte verbindingslijn 27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1" name="Ovaal 28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Ovaal 29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/>
            </a:lvl1pPr>
          </a:lstStyle>
          <a:p>
            <a:pPr>
              <a:defRPr/>
            </a:pPr>
            <a:fld id="{E10632C4-73D9-4C43-84B4-16BBF2475F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Tijdelijke aanduiding voor datum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64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hthoek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27" name="Rechthoek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28" name="Rechthoe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29" name="Rechthoek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echthoek 8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8" name="Rechthoek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Rechte verbindingslijn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Ova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rgbClr val="99CC33">
                    <a:shade val="75000"/>
                  </a:srgb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013FAA36-6111-4B93-A989-1C1EA877DD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8" name="Tijdelijke aanduiding voor titel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 smtClean="0"/>
              <a:t>Klik om de stijl te bewerken</a:t>
            </a:r>
            <a:endParaRPr lang="en-US" altLang="en-US" smtClean="0"/>
          </a:p>
        </p:txBody>
      </p:sp>
      <p:sp>
        <p:nvSpPr>
          <p:cNvPr id="1039" name="Tijdelijke aanduiding voor tekst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 smtClean="0"/>
              <a:t>Klik om de modelstijlen te bewerken</a:t>
            </a:r>
          </a:p>
          <a:p>
            <a:pPr lvl="1"/>
            <a:r>
              <a:rPr lang="nl-NL" altLang="en-US" smtClean="0"/>
              <a:t>Tweede niveau</a:t>
            </a:r>
          </a:p>
          <a:p>
            <a:pPr lvl="2"/>
            <a:r>
              <a:rPr lang="nl-NL" altLang="en-US" smtClean="0"/>
              <a:t>Derde niveau</a:t>
            </a:r>
          </a:p>
          <a:p>
            <a:pPr lvl="3"/>
            <a:r>
              <a:rPr lang="nl-NL" altLang="en-US" smtClean="0"/>
              <a:t>Vierde niveau</a:t>
            </a:r>
          </a:p>
          <a:p>
            <a:pPr lvl="4"/>
            <a:r>
              <a:rPr lang="nl-NL" altLang="en-US" smtClean="0"/>
              <a:t>Vijfde niveau</a:t>
            </a:r>
            <a:endParaRPr lang="en-US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2780B7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§"/>
        <a:defRPr sz="2200" kern="1200">
          <a:solidFill>
            <a:srgbClr val="2780B7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9.xml"/><Relationship Id="rId5" Type="http://schemas.openxmlformats.org/officeDocument/2006/relationships/slide" Target="slide6.xml"/><Relationship Id="rId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" Target="slide2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538413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nl-BE" sz="1700" dirty="0" smtClean="0"/>
              <a:t>International agency for research on cancer lyon - france</a:t>
            </a:r>
            <a:endParaRPr lang="nl-BE" sz="17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Technical IT issues </a:t>
            </a:r>
            <a:br>
              <a:rPr lang="en-US" altLang="en-US" dirty="0" smtClean="0"/>
            </a:br>
            <a:r>
              <a:rPr lang="en-US" altLang="en-US" dirty="0" smtClean="0"/>
              <a:t>around </a:t>
            </a:r>
            <a:r>
              <a:rPr lang="en-US" altLang="en-US" dirty="0" err="1" smtClean="0"/>
              <a:t>GloboDiet</a:t>
            </a:r>
            <a:endParaRPr lang="en-US" altLang="en-US" dirty="0" smtClean="0"/>
          </a:p>
        </p:txBody>
      </p:sp>
      <p:pic>
        <p:nvPicPr>
          <p:cNvPr id="13316" name="Picture 7" descr="http://monographs.iarc.fr/images/logoiarc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42925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1"/>
          <p:cNvSpPr txBox="1">
            <a:spLocks noChangeArrowheads="1"/>
          </p:cNvSpPr>
          <p:nvPr/>
        </p:nvSpPr>
        <p:spPr bwMode="auto">
          <a:xfrm>
            <a:off x="7380288" y="5602288"/>
            <a:ext cx="1223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2800">
                <a:solidFill>
                  <a:srgbClr val="4BA2D9"/>
                </a:solidFill>
                <a:cs typeface="Arial" charset="0"/>
              </a:rPr>
              <a:t>e-SMP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338" y="2552700"/>
            <a:ext cx="8286750" cy="3663950"/>
          </a:xfrm>
        </p:spPr>
        <p:txBody>
          <a:bodyPr>
            <a:no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 smtClean="0">
                <a:solidFill>
                  <a:srgbClr val="2780B7"/>
                </a:solidFill>
                <a:hlinkClick r:id="rId3" action="ppaction://hlinksldjump"/>
              </a:rPr>
              <a:t>Installing/uninstalling </a:t>
            </a:r>
            <a:r>
              <a:rPr lang="en-US" sz="2000" cap="none" dirty="0" err="1" smtClean="0">
                <a:solidFill>
                  <a:srgbClr val="2780B7"/>
                </a:solidFill>
                <a:hlinkClick r:id="rId3" action="ppaction://hlinksldjump"/>
              </a:rPr>
              <a:t>GloboDiet</a:t>
            </a:r>
            <a:endParaRPr lang="en-US" sz="2000" cap="none" dirty="0">
              <a:solidFill>
                <a:srgbClr val="2780B7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 err="1">
                <a:solidFill>
                  <a:srgbClr val="2780B7"/>
                </a:solidFill>
                <a:hlinkClick r:id="rId4" action="ppaction://hlinksldjump"/>
              </a:rPr>
              <a:t>GloboDiet</a:t>
            </a:r>
            <a:r>
              <a:rPr lang="en-US" sz="2000" cap="none" dirty="0">
                <a:solidFill>
                  <a:srgbClr val="2780B7"/>
                </a:solidFill>
                <a:hlinkClick r:id="rId4" action="ppaction://hlinksldjump"/>
              </a:rPr>
              <a:t> Databases</a:t>
            </a:r>
            <a:endParaRPr lang="en-US" sz="2000" cap="none" dirty="0">
              <a:solidFill>
                <a:srgbClr val="2780B7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 smtClean="0">
                <a:solidFill>
                  <a:srgbClr val="2780B7"/>
                </a:solidFill>
                <a:hlinkClick r:id="rId5" action="ppaction://hlinksldjump"/>
              </a:rPr>
              <a:t>Handling </a:t>
            </a:r>
            <a:r>
              <a:rPr lang="en-US" sz="2000" cap="none" dirty="0">
                <a:solidFill>
                  <a:srgbClr val="2780B7"/>
                </a:solidFill>
                <a:hlinkClick r:id="rId5" action="ppaction://hlinksldjump"/>
              </a:rPr>
              <a:t>of Interview </a:t>
            </a:r>
            <a:r>
              <a:rPr lang="en-US" sz="2000" cap="none" dirty="0" smtClean="0">
                <a:solidFill>
                  <a:srgbClr val="2780B7"/>
                </a:solidFill>
                <a:hlinkClick r:id="rId5" action="ppaction://hlinksldjump"/>
              </a:rPr>
              <a:t>Databases</a:t>
            </a:r>
            <a:endParaRPr lang="en-US" sz="2000" cap="none" dirty="0">
              <a:solidFill>
                <a:srgbClr val="2780B7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 smtClean="0">
                <a:solidFill>
                  <a:srgbClr val="2780B7"/>
                </a:solidFill>
                <a:hlinkClick r:id="rId6" action="ppaction://hlinksldjump"/>
              </a:rPr>
              <a:t>Working </a:t>
            </a:r>
            <a:r>
              <a:rPr lang="en-US" sz="2000" cap="none" dirty="0">
                <a:solidFill>
                  <a:srgbClr val="2780B7"/>
                </a:solidFill>
                <a:hlinkClick r:id="rId6" action="ppaction://hlinksldjump"/>
              </a:rPr>
              <a:t>on Interview Databases (creation &amp; activation</a:t>
            </a:r>
            <a:r>
              <a:rPr lang="en-US" sz="2000" cap="none" dirty="0" smtClean="0">
                <a:solidFill>
                  <a:srgbClr val="2780B7"/>
                </a:solidFill>
                <a:hlinkClick r:id="rId6" action="ppaction://hlinksldjump"/>
              </a:rPr>
              <a:t>)</a:t>
            </a:r>
            <a:endParaRPr lang="en-US" sz="2000" cap="none" dirty="0">
              <a:solidFill>
                <a:srgbClr val="2780B7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 smtClean="0">
                <a:solidFill>
                  <a:srgbClr val="2780B7"/>
                </a:solidFill>
                <a:hlinkClick r:id="" action="ppaction://noaction"/>
              </a:rPr>
              <a:t>Backing </a:t>
            </a:r>
            <a:r>
              <a:rPr lang="en-US" sz="2000" cap="none" dirty="0">
                <a:solidFill>
                  <a:srgbClr val="2780B7"/>
                </a:solidFill>
                <a:hlinkClick r:id="" action="ppaction://noaction"/>
              </a:rPr>
              <a:t>up / restoring Interview </a:t>
            </a:r>
            <a:r>
              <a:rPr lang="en-US" sz="2000" cap="none" dirty="0" smtClean="0">
                <a:solidFill>
                  <a:srgbClr val="2780B7"/>
                </a:solidFill>
                <a:hlinkClick r:id="" action="ppaction://noaction"/>
              </a:rPr>
              <a:t>databases</a:t>
            </a:r>
            <a:endParaRPr lang="en-US" sz="2000" cap="none" dirty="0">
              <a:solidFill>
                <a:srgbClr val="2780B7"/>
              </a:solidFill>
              <a:hlinkClick r:id="" action="ppaction://noaction"/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solidFill>
                  <a:srgbClr val="2780B7"/>
                </a:solidFill>
                <a:hlinkClick r:id="" action="ppaction://noaction"/>
              </a:rPr>
              <a:t>Exporting / importing Interview </a:t>
            </a:r>
            <a:r>
              <a:rPr lang="en-US" sz="2000" cap="none" dirty="0" smtClean="0">
                <a:solidFill>
                  <a:srgbClr val="2780B7"/>
                </a:solidFill>
                <a:hlinkClick r:id="" action="ppaction://noaction"/>
              </a:rPr>
              <a:t>databases (xml-files)</a:t>
            </a: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solidFill>
                  <a:srgbClr val="2780B7"/>
                </a:solidFill>
                <a:hlinkClick r:id="rId7" action="ppaction://hlinksldjump"/>
              </a:rPr>
              <a:t>Removing Interview Databases</a:t>
            </a:r>
            <a:endParaRPr lang="en-US" sz="2000" cap="none" dirty="0">
              <a:solidFill>
                <a:srgbClr val="2780B7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 smtClean="0">
                <a:solidFill>
                  <a:srgbClr val="2780B7"/>
                </a:solidFill>
                <a:hlinkClick r:id="" action="ppaction://noaction"/>
              </a:rPr>
              <a:t>Note Handling</a:t>
            </a:r>
            <a:endParaRPr lang="en-US" sz="2000" cap="none" dirty="0">
              <a:solidFill>
                <a:srgbClr val="2780B7"/>
              </a:solidFill>
              <a:hlinkClick r:id="" action="ppaction://noaction"/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 smtClean="0">
                <a:solidFill>
                  <a:srgbClr val="2780B7"/>
                </a:solidFill>
                <a:hlinkClick r:id="" action="ppaction://noaction"/>
              </a:rPr>
              <a:t>Summary</a:t>
            </a:r>
            <a:endParaRPr lang="en-US" sz="2000" cap="none" dirty="0">
              <a:solidFill>
                <a:srgbClr val="2780B7"/>
              </a:solidFill>
              <a:hlinkClick r:id="" action="ppaction://noaction"/>
            </a:endParaRPr>
          </a:p>
          <a:p>
            <a:pPr algn="l" eaLnBrk="1" fontAlgn="auto" hangingPunct="1">
              <a:spcAft>
                <a:spcPts val="0"/>
              </a:spcAft>
              <a:buClr>
                <a:schemeClr val="accent1"/>
              </a:buClr>
              <a:defRPr/>
            </a:pPr>
            <a:endParaRPr lang="en-US" sz="2000" cap="none" dirty="0" smtClean="0">
              <a:solidFill>
                <a:srgbClr val="2780B7"/>
              </a:solidFill>
            </a:endParaRPr>
          </a:p>
        </p:txBody>
      </p:sp>
      <p:sp>
        <p:nvSpPr>
          <p:cNvPr id="3379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4800" y="6410325"/>
            <a:ext cx="3906838" cy="304800"/>
          </a:xfrm>
        </p:spPr>
        <p:txBody>
          <a:bodyPr/>
          <a:lstStyle/>
          <a:p>
            <a:pPr>
              <a:defRPr/>
            </a:pPr>
            <a:r>
              <a:rPr lang="en-GB" dirty="0" err="1" smtClean="0"/>
              <a:t>GloboDiet</a:t>
            </a:r>
            <a:r>
              <a:rPr lang="en-GB" dirty="0" smtClean="0"/>
              <a:t> </a:t>
            </a:r>
            <a:r>
              <a:rPr lang="en-GB" dirty="0"/>
              <a:t>training: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615FFC-3E4A-4C98-A136-79C79CEC5579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343" name="Tekstvak 7"/>
          <p:cNvSpPr txBox="1">
            <a:spLocks noChangeArrowheads="1"/>
          </p:cNvSpPr>
          <p:nvPr/>
        </p:nvSpPr>
        <p:spPr bwMode="auto">
          <a:xfrm>
            <a:off x="173831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 dirty="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4978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Installing/uninstalling </a:t>
            </a:r>
            <a:r>
              <a:rPr lang="en-US" sz="1400" b="1" dirty="0" err="1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GloboDiet</a:t>
            </a:r>
            <a:endParaRPr lang="en-US" sz="1400" b="1" dirty="0">
              <a:solidFill>
                <a:schemeClr val="bg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Working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6E7A80-087F-4186-B591-98C738571532}" type="slidenum">
              <a:rPr lang="en-US" smtClean="0"/>
              <a:pPr>
                <a:defRPr/>
              </a:pPr>
              <a:t>3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433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15368" name="Rectangle 3"/>
          <p:cNvSpPr txBox="1">
            <a:spLocks noChangeArrowheads="1"/>
          </p:cNvSpPr>
          <p:nvPr/>
        </p:nvSpPr>
        <p:spPr bwMode="auto">
          <a:xfrm>
            <a:off x="3006724" y="655638"/>
            <a:ext cx="5927725" cy="575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ts val="1200"/>
              </a:spcAft>
              <a:buSzPct val="85000"/>
              <a:buFont typeface="Wingdings 2" pitchFamily="18" charset="2"/>
              <a:buChar char=""/>
            </a:pPr>
            <a:r>
              <a:rPr lang="en-GB" altLang="en-US" sz="2800" b="1" dirty="0"/>
              <a:t>Appendix 3</a:t>
            </a:r>
            <a:r>
              <a:rPr lang="en-GB" altLang="en-US" sz="2800" dirty="0"/>
              <a:t>: Installation of </a:t>
            </a:r>
            <a:r>
              <a:rPr lang="en-GB" altLang="en-US" sz="2800" dirty="0" err="1" smtClean="0"/>
              <a:t>GloboDiet</a:t>
            </a:r>
            <a:r>
              <a:rPr lang="en-GB" altLang="en-US" sz="2800" dirty="0" smtClean="0"/>
              <a:t> application </a:t>
            </a:r>
            <a:r>
              <a:rPr lang="en-GB" altLang="en-US" sz="2400" dirty="0" smtClean="0"/>
              <a:t>(including both </a:t>
            </a:r>
            <a:r>
              <a:rPr lang="en-GB" altLang="en-US" sz="2400" dirty="0" err="1" smtClean="0"/>
              <a:t>GloboDiet</a:t>
            </a:r>
            <a:r>
              <a:rPr lang="en-GB" altLang="en-US" sz="2400" dirty="0" smtClean="0"/>
              <a:t> &amp; SQL Server installations)</a:t>
            </a:r>
            <a:endParaRPr lang="en-US" altLang="en-US" sz="2400" dirty="0"/>
          </a:p>
          <a:p>
            <a:pPr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SzPct val="85000"/>
            </a:pPr>
            <a:r>
              <a:rPr lang="en-US" altLang="en-US" sz="2400" dirty="0"/>
              <a:t>	</a:t>
            </a:r>
            <a:r>
              <a:rPr lang="en-US" altLang="en-US" sz="2400" u="sng" dirty="0"/>
              <a:t>IMPORTANT – As there have been problems in the past</a:t>
            </a:r>
            <a:r>
              <a:rPr lang="en-US" altLang="en-US" sz="2400" dirty="0"/>
              <a:t>: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r>
              <a:rPr lang="en-GB" altLang="en-US" sz="2000" b="1" dirty="0">
                <a:solidFill>
                  <a:srgbClr val="2780B7"/>
                </a:solidFill>
              </a:rPr>
              <a:t>Follow</a:t>
            </a:r>
            <a:r>
              <a:rPr lang="en-GB" altLang="en-US" sz="2000" dirty="0">
                <a:solidFill>
                  <a:srgbClr val="2780B7"/>
                </a:solidFill>
              </a:rPr>
              <a:t> the guidelines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endParaRPr lang="en-GB" altLang="en-US" sz="1000" dirty="0">
              <a:solidFill>
                <a:srgbClr val="2780B7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r>
              <a:rPr lang="en-GB" altLang="en-US" sz="2000" b="1" dirty="0">
                <a:solidFill>
                  <a:srgbClr val="2780B7"/>
                </a:solidFill>
              </a:rPr>
              <a:t>Don’t delete</a:t>
            </a:r>
            <a:r>
              <a:rPr lang="en-GB" altLang="en-US" sz="2000" dirty="0">
                <a:solidFill>
                  <a:srgbClr val="2780B7"/>
                </a:solidFill>
              </a:rPr>
              <a:t> files or folders attached </a:t>
            </a:r>
            <a:r>
              <a:rPr lang="en-GB" altLang="en-US" sz="2000" dirty="0" smtClean="0">
                <a:solidFill>
                  <a:srgbClr val="2780B7"/>
                </a:solidFill>
              </a:rPr>
              <a:t>to </a:t>
            </a:r>
            <a:r>
              <a:rPr lang="en-GB" altLang="en-US" sz="2000" dirty="0" err="1" smtClean="0">
                <a:solidFill>
                  <a:srgbClr val="2780B7"/>
                </a:solidFill>
              </a:rPr>
              <a:t>GloboDiet</a:t>
            </a:r>
            <a:r>
              <a:rPr lang="en-GB" altLang="en-US" sz="2000" dirty="0" smtClean="0">
                <a:solidFill>
                  <a:srgbClr val="2780B7"/>
                </a:solidFill>
              </a:rPr>
              <a:t> </a:t>
            </a:r>
            <a:r>
              <a:rPr lang="en-GB" altLang="en-US" sz="2000" dirty="0">
                <a:solidFill>
                  <a:srgbClr val="2780B7"/>
                </a:solidFill>
              </a:rPr>
              <a:t>(e.g.: folder </a:t>
            </a:r>
            <a:r>
              <a:rPr lang="en-GB" altLang="en-US" sz="2000" dirty="0" smtClean="0">
                <a:solidFill>
                  <a:srgbClr val="2780B7"/>
                </a:solidFill>
              </a:rPr>
              <a:t>C:\</a:t>
            </a:r>
            <a:r>
              <a:rPr lang="en-GB" altLang="en-US" sz="2000" dirty="0" smtClean="0">
                <a:solidFill>
                  <a:srgbClr val="2780B7"/>
                </a:solidFill>
              </a:rPr>
              <a:t>GloboDiet)</a:t>
            </a:r>
            <a:endParaRPr lang="en-GB" altLang="en-US" sz="2000" dirty="0">
              <a:solidFill>
                <a:srgbClr val="2780B7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endParaRPr lang="en-GB" altLang="en-US" sz="1000" b="1" dirty="0">
              <a:solidFill>
                <a:srgbClr val="2780B7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r>
              <a:rPr lang="en-GB" altLang="en-US" sz="2000" b="1" dirty="0">
                <a:solidFill>
                  <a:srgbClr val="2780B7"/>
                </a:solidFill>
              </a:rPr>
              <a:t>Ask IARC</a:t>
            </a:r>
            <a:r>
              <a:rPr lang="en-GB" altLang="en-US" sz="2000" dirty="0">
                <a:solidFill>
                  <a:srgbClr val="2780B7"/>
                </a:solidFill>
              </a:rPr>
              <a:t> for help (Corinne Casagrande, IARC)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endParaRPr lang="en-GB" altLang="en-US" sz="1000" b="1" dirty="0">
              <a:solidFill>
                <a:srgbClr val="2780B7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r>
              <a:rPr lang="en-GB" altLang="en-US" sz="2000" b="1" dirty="0">
                <a:solidFill>
                  <a:srgbClr val="2780B7"/>
                </a:solidFill>
              </a:rPr>
              <a:t>Practice</a:t>
            </a:r>
            <a:r>
              <a:rPr lang="en-GB" altLang="en-US" sz="2000" dirty="0">
                <a:solidFill>
                  <a:srgbClr val="2780B7"/>
                </a:solidFill>
              </a:rPr>
              <a:t> during the demo session 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endParaRPr lang="en-GB" altLang="en-US" sz="1000" b="1" dirty="0">
              <a:solidFill>
                <a:srgbClr val="2780B7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Arial" charset="0"/>
              <a:buChar char="•"/>
            </a:pPr>
            <a:r>
              <a:rPr lang="en-GB" altLang="en-US" sz="2000" b="1" dirty="0">
                <a:solidFill>
                  <a:srgbClr val="2780B7"/>
                </a:solidFill>
              </a:rPr>
              <a:t>Update</a:t>
            </a:r>
            <a:r>
              <a:rPr lang="en-GB" altLang="en-US" sz="2000" dirty="0">
                <a:solidFill>
                  <a:srgbClr val="2780B7"/>
                </a:solidFill>
              </a:rPr>
              <a:t> </a:t>
            </a:r>
            <a:r>
              <a:rPr lang="en-GB" altLang="en-US" sz="2000" b="1" dirty="0" err="1" smtClean="0">
                <a:solidFill>
                  <a:srgbClr val="2780B7"/>
                </a:solidFill>
              </a:rPr>
              <a:t>GloboDiet</a:t>
            </a:r>
            <a:r>
              <a:rPr lang="en-GB" altLang="en-US" sz="2000" dirty="0" smtClean="0">
                <a:solidFill>
                  <a:srgbClr val="2780B7"/>
                </a:solidFill>
              </a:rPr>
              <a:t> </a:t>
            </a:r>
            <a:r>
              <a:rPr lang="en-GB" altLang="en-US" sz="2000" dirty="0">
                <a:solidFill>
                  <a:srgbClr val="2780B7"/>
                </a:solidFill>
              </a:rPr>
              <a:t>application using a patch program (e.g. </a:t>
            </a:r>
            <a:r>
              <a:rPr lang="en-GB" altLang="en-US" dirty="0" smtClean="0">
                <a:solidFill>
                  <a:srgbClr val="2780B7"/>
                </a:solidFill>
              </a:rPr>
              <a:t>UPDATE-GloboDiet-20160410.exe </a:t>
            </a:r>
            <a:r>
              <a:rPr lang="en-GB" altLang="en-US" dirty="0">
                <a:solidFill>
                  <a:srgbClr val="2780B7"/>
                </a:solidFill>
              </a:rPr>
              <a:t>file</a:t>
            </a:r>
            <a:r>
              <a:rPr lang="en-GB" altLang="en-US" sz="2000" dirty="0">
                <a:solidFill>
                  <a:srgbClr val="2780B7"/>
                </a:solidFill>
              </a:rPr>
              <a:t>) rather than ‘uninstall – install’ procedure</a:t>
            </a:r>
            <a:endParaRPr lang="en-US" altLang="en-US" sz="2000" dirty="0">
              <a:solidFill>
                <a:srgbClr val="2780B7"/>
              </a:solidFill>
            </a:endParaRPr>
          </a:p>
        </p:txBody>
      </p:sp>
      <p:sp>
        <p:nvSpPr>
          <p:cNvPr id="15369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4978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GloboDiet</a:t>
            </a: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Databases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AC5BB-66D6-4B01-8887-6C0D9685D2A4}" type="slidenum">
              <a:rPr lang="en-US" smtClean="0"/>
              <a:pPr>
                <a:defRPr/>
              </a:pPr>
              <a:t>4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25608" name="Rectangle 3"/>
          <p:cNvSpPr txBox="1">
            <a:spLocks noChangeArrowheads="1"/>
          </p:cNvSpPr>
          <p:nvPr/>
        </p:nvSpPr>
        <p:spPr bwMode="auto">
          <a:xfrm>
            <a:off x="3024188" y="642918"/>
            <a:ext cx="5821362" cy="3757632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449263" indent="-174625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r>
              <a:rPr lang="en-US" sz="2000" b="1" i="1" dirty="0">
                <a:solidFill>
                  <a:srgbClr val="FF0000"/>
                </a:solidFill>
              </a:rPr>
              <a:t>Restore</a:t>
            </a:r>
            <a:r>
              <a:rPr lang="en-US" sz="2000" b="1" dirty="0" smtClean="0"/>
              <a:t> </a:t>
            </a:r>
            <a:r>
              <a:rPr lang="en-US" sz="2000" b="1" i="1" dirty="0" err="1" smtClean="0">
                <a:solidFill>
                  <a:srgbClr val="FF0000"/>
                </a:solidFill>
              </a:rPr>
              <a:t>GloboDiet</a:t>
            </a:r>
            <a:r>
              <a:rPr lang="en-US" sz="2000" b="1" i="1" dirty="0" smtClean="0">
                <a:solidFill>
                  <a:srgbClr val="FF0000"/>
                </a:solidFill>
              </a:rPr>
              <a:t> </a:t>
            </a:r>
            <a:r>
              <a:rPr lang="en-US" sz="2000" b="1" i="1" dirty="0"/>
              <a:t>parameter </a:t>
            </a:r>
            <a:r>
              <a:rPr lang="en-US" sz="2000" b="1" i="1" dirty="0" smtClean="0"/>
              <a:t>database</a:t>
            </a:r>
            <a:endParaRPr lang="en-US" sz="2000" dirty="0"/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endParaRPr lang="en-US" sz="2000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Called </a:t>
            </a:r>
            <a:r>
              <a:rPr lang="en-US" dirty="0" err="1" smtClean="0"/>
              <a:t>GloboDiet_xxxx.bak</a:t>
            </a:r>
            <a:r>
              <a:rPr lang="en-US" dirty="0" smtClean="0"/>
              <a:t> file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Contains all the data prepared with IARC and used during the interview </a:t>
            </a:r>
            <a:r>
              <a:rPr lang="en-US" sz="1600" dirty="0"/>
              <a:t>(e.g. food &amp; recipe lists, facets &amp; quantification methods per foods</a:t>
            </a:r>
            <a:r>
              <a:rPr lang="en-US" sz="1600" dirty="0" smtClean="0"/>
              <a:t>…)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To </a:t>
            </a:r>
            <a:r>
              <a:rPr lang="en-US" dirty="0"/>
              <a:t>be restored when you receive a new updated </a:t>
            </a:r>
            <a:r>
              <a:rPr lang="en-US" dirty="0" err="1" smtClean="0"/>
              <a:t>GloboDiet</a:t>
            </a:r>
            <a:r>
              <a:rPr lang="en-US" dirty="0" smtClean="0"/>
              <a:t> </a:t>
            </a:r>
            <a:r>
              <a:rPr lang="en-US" dirty="0"/>
              <a:t>database from </a:t>
            </a:r>
            <a:r>
              <a:rPr lang="en-US" dirty="0" smtClean="0"/>
              <a:t>IARC</a:t>
            </a:r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dirty="0"/>
          </a:p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US" dirty="0" smtClean="0"/>
              <a:t>Remark: 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altLang="en-US" dirty="0"/>
              <a:t>For </a:t>
            </a:r>
            <a:r>
              <a:rPr lang="en-US" altLang="en-US" dirty="0" smtClean="0"/>
              <a:t>Belgium, Switzerland and Malta, this function allows </a:t>
            </a:r>
            <a:r>
              <a:rPr lang="en-US" altLang="en-US" dirty="0"/>
              <a:t>to restore (or switch between) </a:t>
            </a:r>
            <a:r>
              <a:rPr lang="en-US" altLang="en-US" dirty="0" smtClean="0"/>
              <a:t>different </a:t>
            </a:r>
            <a:r>
              <a:rPr lang="en-US" altLang="en-US" dirty="0" err="1" smtClean="0"/>
              <a:t>GloboDiet</a:t>
            </a:r>
            <a:r>
              <a:rPr lang="en-US" altLang="en-US" dirty="0" smtClean="0"/>
              <a:t> </a:t>
            </a:r>
            <a:r>
              <a:rPr lang="en-US" altLang="en-US" dirty="0"/>
              <a:t>databases according to the available languages </a:t>
            </a:r>
            <a:endParaRPr lang="en-US" altLang="en-US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US" altLang="en-US" dirty="0" smtClean="0"/>
              <a:t>       -&gt; 1 </a:t>
            </a:r>
            <a:r>
              <a:rPr lang="en-US" altLang="en-US" dirty="0"/>
              <a:t>language=1 </a:t>
            </a:r>
            <a:r>
              <a:rPr lang="en-US" altLang="en-US" dirty="0" err="1" smtClean="0"/>
              <a:t>GloboDiet</a:t>
            </a:r>
            <a:r>
              <a:rPr lang="en-US" altLang="en-US" dirty="0" smtClean="0"/>
              <a:t> database</a:t>
            </a:r>
            <a:endParaRPr lang="en-US" dirty="0"/>
          </a:p>
        </p:txBody>
      </p:sp>
      <p:sp>
        <p:nvSpPr>
          <p:cNvPr id="13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4" name="Footer Placeholder 4"/>
          <p:cNvSpPr txBox="1">
            <a:spLocks/>
          </p:cNvSpPr>
          <p:nvPr/>
        </p:nvSpPr>
        <p:spPr>
          <a:xfrm>
            <a:off x="301625" y="6410325"/>
            <a:ext cx="3694113" cy="304800"/>
          </a:xfrm>
          <a:prstGeom prst="rect">
            <a:avLst/>
          </a:prstGeom>
        </p:spPr>
        <p:txBody>
          <a:bodyPr vert="horz"/>
          <a:lstStyle>
            <a:defPPr>
              <a:defRPr lang="nl-BE"/>
            </a:defPPr>
            <a:lvl1pPr algn="l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BE" smtClean="0"/>
              <a:t>GloboDiet training: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441940" y="5570464"/>
            <a:ext cx="603850" cy="174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8" y="4473695"/>
            <a:ext cx="5564316" cy="1659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16"/>
          <p:cNvSpPr/>
          <p:nvPr/>
        </p:nvSpPr>
        <p:spPr>
          <a:xfrm>
            <a:off x="3154353" y="5193102"/>
            <a:ext cx="2651993" cy="657280"/>
          </a:xfrm>
          <a:prstGeom prst="ellipse">
            <a:avLst/>
          </a:prstGeom>
          <a:noFill/>
          <a:ln w="2222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934869" y="5371943"/>
            <a:ext cx="1957428" cy="354291"/>
          </a:xfrm>
          <a:prstGeom prst="ellipse">
            <a:avLst/>
          </a:prstGeom>
          <a:noFill/>
          <a:ln w="2222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en-US" dirty="0" smtClean="0"/>
              <a:t>Restoring GloboDiet Databases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666E02-B272-49D5-8062-1844781226C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3072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8" b="-1"/>
          <a:stretch/>
        </p:blipFill>
        <p:spPr bwMode="auto">
          <a:xfrm>
            <a:off x="2924175" y="2054703"/>
            <a:ext cx="5918374" cy="338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74624" y="1902009"/>
            <a:ext cx="2844801" cy="451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>
                <a:solidFill>
                  <a:srgbClr val="2780B7"/>
                </a:solidFill>
              </a:rPr>
              <a:t>Give </a:t>
            </a:r>
            <a:r>
              <a:rPr lang="en-US" altLang="en-US" dirty="0" smtClean="0">
                <a:solidFill>
                  <a:srgbClr val="2780B7"/>
                </a:solidFill>
              </a:rPr>
              <a:t>a database </a:t>
            </a:r>
            <a:r>
              <a:rPr lang="en-US" altLang="en-US" b="1" dirty="0" smtClean="0">
                <a:solidFill>
                  <a:srgbClr val="2780B7"/>
                </a:solidFill>
              </a:rPr>
              <a:t>name </a:t>
            </a:r>
            <a:r>
              <a:rPr lang="en-US" altLang="en-US" dirty="0" smtClean="0">
                <a:solidFill>
                  <a:srgbClr val="2780B7"/>
                </a:solidFill>
              </a:rPr>
              <a:t>to Restore </a:t>
            </a:r>
            <a:r>
              <a:rPr lang="en-US" altLang="en-US" dirty="0" err="1" smtClean="0">
                <a:solidFill>
                  <a:srgbClr val="2780B7"/>
                </a:solidFill>
              </a:rPr>
              <a:t>GloboDiet</a:t>
            </a:r>
            <a:r>
              <a:rPr lang="en-US" altLang="en-US" dirty="0" smtClean="0">
                <a:solidFill>
                  <a:srgbClr val="2780B7"/>
                </a:solidFill>
              </a:rPr>
              <a:t> database </a:t>
            </a: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>
                <a:solidFill>
                  <a:srgbClr val="2780B7"/>
                </a:solidFill>
              </a:rPr>
              <a:t>Select the </a:t>
            </a:r>
            <a:r>
              <a:rPr lang="en-US" altLang="en-US" b="1" dirty="0" smtClean="0">
                <a:solidFill>
                  <a:srgbClr val="2780B7"/>
                </a:solidFill>
              </a:rPr>
              <a:t>folder &amp; filename</a:t>
            </a:r>
            <a:r>
              <a:rPr lang="en-US" altLang="en-US" dirty="0" smtClean="0">
                <a:solidFill>
                  <a:srgbClr val="2780B7"/>
                </a:solidFill>
              </a:rPr>
              <a:t> to import (</a:t>
            </a:r>
            <a:r>
              <a:rPr lang="en-US" altLang="en-US" dirty="0" err="1" smtClean="0">
                <a:solidFill>
                  <a:srgbClr val="2780B7"/>
                </a:solidFill>
              </a:rPr>
              <a:t>GloboDiet_xxx.bak</a:t>
            </a:r>
            <a:r>
              <a:rPr lang="en-US" altLang="en-US" dirty="0" smtClean="0">
                <a:solidFill>
                  <a:srgbClr val="2780B7"/>
                </a:solidFill>
              </a:rPr>
              <a:t> file)</a:t>
            </a: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b="1" dirty="0" smtClean="0">
                <a:solidFill>
                  <a:srgbClr val="2780B7"/>
                </a:solidFill>
              </a:rPr>
              <a:t>For an update </a:t>
            </a:r>
            <a:r>
              <a:rPr lang="en-US" altLang="en-US" dirty="0" smtClean="0">
                <a:solidFill>
                  <a:srgbClr val="2780B7"/>
                </a:solidFill>
              </a:rPr>
              <a:t>, possibility </a:t>
            </a:r>
            <a:r>
              <a:rPr lang="en-US" altLang="en-US" dirty="0">
                <a:solidFill>
                  <a:srgbClr val="2780B7"/>
                </a:solidFill>
              </a:rPr>
              <a:t>to </a:t>
            </a:r>
            <a:r>
              <a:rPr lang="en-US" altLang="en-US" b="1" dirty="0">
                <a:solidFill>
                  <a:srgbClr val="2780B7"/>
                </a:solidFill>
              </a:rPr>
              <a:t>override</a:t>
            </a:r>
            <a:r>
              <a:rPr lang="en-US" altLang="en-US" dirty="0">
                <a:solidFill>
                  <a:srgbClr val="2780B7"/>
                </a:solidFill>
              </a:rPr>
              <a:t> an existing </a:t>
            </a:r>
            <a:r>
              <a:rPr lang="en-US" altLang="en-US" b="1" dirty="0" err="1" smtClean="0">
                <a:solidFill>
                  <a:srgbClr val="2780B7"/>
                </a:solidFill>
              </a:rPr>
              <a:t>GloboDiet</a:t>
            </a:r>
            <a:r>
              <a:rPr lang="en-US" altLang="en-US" b="1" dirty="0" smtClean="0">
                <a:solidFill>
                  <a:srgbClr val="2780B7"/>
                </a:solidFill>
              </a:rPr>
              <a:t> </a:t>
            </a:r>
            <a:r>
              <a:rPr lang="en-US" altLang="en-US" b="1" dirty="0">
                <a:solidFill>
                  <a:srgbClr val="2780B7"/>
                </a:solidFill>
              </a:rPr>
              <a:t>database </a:t>
            </a:r>
            <a:r>
              <a:rPr lang="en-US" altLang="en-US" dirty="0">
                <a:solidFill>
                  <a:srgbClr val="2780B7"/>
                </a:solidFill>
              </a:rPr>
              <a:t>by </a:t>
            </a:r>
            <a:r>
              <a:rPr lang="en-US" altLang="en-US" dirty="0" smtClean="0">
                <a:solidFill>
                  <a:srgbClr val="2780B7"/>
                </a:solidFill>
              </a:rPr>
              <a:t>giving the same database name &amp; selected the override check </a:t>
            </a:r>
            <a:r>
              <a:rPr lang="en-US" altLang="en-US" dirty="0" smtClean="0">
                <a:solidFill>
                  <a:srgbClr val="2780B7"/>
                </a:solidFill>
              </a:rPr>
              <a:t>box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 smtClean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 smtClean="0">
                <a:solidFill>
                  <a:srgbClr val="2780B7"/>
                </a:solidFill>
              </a:rPr>
              <a:t>Using the tool icon            you can activate the last up-to-date </a:t>
            </a:r>
            <a:r>
              <a:rPr lang="en-US" altLang="en-US" dirty="0" err="1" smtClean="0">
                <a:solidFill>
                  <a:srgbClr val="2780B7"/>
                </a:solidFill>
              </a:rPr>
              <a:t>GloboDiet</a:t>
            </a:r>
            <a:r>
              <a:rPr lang="en-US" altLang="en-US" dirty="0" smtClean="0">
                <a:solidFill>
                  <a:srgbClr val="2780B7"/>
                </a:solidFill>
              </a:rPr>
              <a:t> database</a:t>
            </a:r>
            <a:endParaRPr lang="en-US" altLang="en-US" dirty="0" smtClean="0">
              <a:solidFill>
                <a:srgbClr val="2780B7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383631" y="2390775"/>
            <a:ext cx="1941982" cy="10817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555875" y="3057525"/>
            <a:ext cx="1769738" cy="8222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555875" y="4088202"/>
            <a:ext cx="176973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060825" y="933636"/>
            <a:ext cx="0" cy="1314264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62" y="1392078"/>
            <a:ext cx="2219325" cy="887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 flipH="1">
            <a:off x="5285135" y="1607655"/>
            <a:ext cx="1187450" cy="317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4368743" y="3320094"/>
            <a:ext cx="704850" cy="171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4336203" y="3294216"/>
            <a:ext cx="7905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err="1" smtClean="0"/>
              <a:t>GloboDiet</a:t>
            </a:r>
            <a:endParaRPr lang="en-GB" sz="800" dirty="0"/>
          </a:p>
        </p:txBody>
      </p:sp>
      <p:sp>
        <p:nvSpPr>
          <p:cNvPr id="5" name="Rectangle 4"/>
          <p:cNvSpPr/>
          <p:nvPr/>
        </p:nvSpPr>
        <p:spPr>
          <a:xfrm>
            <a:off x="4368743" y="3719430"/>
            <a:ext cx="1457325" cy="153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4325613" y="3705410"/>
            <a:ext cx="12644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/>
              <a:t>D:Pancake/GloboDiet.bak</a:t>
            </a:r>
            <a:endParaRPr lang="en-GB" sz="800" dirty="0"/>
          </a:p>
        </p:txBody>
      </p:sp>
      <p:sp>
        <p:nvSpPr>
          <p:cNvPr id="20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337370" y="2399762"/>
            <a:ext cx="466880" cy="155275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291471" y="2348106"/>
            <a:ext cx="11397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 err="1" smtClean="0">
                <a:solidFill>
                  <a:srgbClr val="F2F5F1"/>
                </a:solidFill>
              </a:rPr>
              <a:t>GloboDiet</a:t>
            </a:r>
            <a:endParaRPr lang="en-US" sz="1050" dirty="0">
              <a:solidFill>
                <a:srgbClr val="F2F5F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226" y="5618316"/>
            <a:ext cx="2952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611" y="5443570"/>
            <a:ext cx="4167650" cy="101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Straight Arrow Connector 25"/>
          <p:cNvCxnSpPr/>
          <p:nvPr/>
        </p:nvCxnSpPr>
        <p:spPr>
          <a:xfrm>
            <a:off x="2553494" y="5744118"/>
            <a:ext cx="1250756" cy="58048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42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4978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Handling </a:t>
            </a: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of Interview </a:t>
            </a:r>
            <a:r>
              <a:rPr lang="en-US" sz="1400" b="1" dirty="0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 Databases</a:t>
            </a:r>
            <a:endParaRPr lang="en-US" sz="1400" b="1" dirty="0">
              <a:solidFill>
                <a:schemeClr val="bg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Databases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527804-051B-490E-A5D4-134FA24F6F6B}" type="slidenum">
              <a:rPr lang="en-US" smtClean="0"/>
              <a:pPr>
                <a:defRPr/>
              </a:pPr>
              <a:t>6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 dirty="0"/>
              <a:t>IARC, Lyon - France</a:t>
            </a:r>
            <a:endParaRPr lang="en-US" dirty="0"/>
          </a:p>
        </p:txBody>
      </p:sp>
      <p:sp>
        <p:nvSpPr>
          <p:cNvPr id="1433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16393" name="Rectangle 3"/>
          <p:cNvSpPr txBox="1">
            <a:spLocks noChangeArrowheads="1"/>
          </p:cNvSpPr>
          <p:nvPr/>
        </p:nvSpPr>
        <p:spPr bwMode="auto">
          <a:xfrm>
            <a:off x="2870200" y="485775"/>
            <a:ext cx="6102350" cy="592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20000"/>
              </a:spcBef>
              <a:buSzPct val="85000"/>
            </a:pPr>
            <a:r>
              <a:rPr lang="nl-BE" altLang="en-US" sz="2400" dirty="0" smtClean="0"/>
              <a:t>Handling of Interview Databases</a:t>
            </a:r>
            <a:endParaRPr lang="en-GB" altLang="en-US" sz="2400" b="1" dirty="0"/>
          </a:p>
          <a:p>
            <a:pPr>
              <a:spcBef>
                <a:spcPct val="20000"/>
              </a:spcBef>
              <a:buSzPct val="85000"/>
            </a:pPr>
            <a:r>
              <a:rPr lang="en-GB" altLang="en-US" sz="2400" b="1" dirty="0" smtClean="0"/>
              <a:t>Dataflow</a:t>
            </a:r>
          </a:p>
          <a:p>
            <a:pPr eaLnBrk="1" hangingPunct="1">
              <a:buFont typeface="Arial" charset="0"/>
              <a:buChar char="•"/>
            </a:pPr>
            <a:r>
              <a:rPr lang="en-GB" altLang="en-US" sz="2000" b="1" dirty="0" smtClean="0"/>
              <a:t>BAK-files</a:t>
            </a:r>
            <a:r>
              <a:rPr lang="en-GB" altLang="en-US" sz="2000" dirty="0" smtClean="0"/>
              <a:t>: internal to the computer</a:t>
            </a:r>
          </a:p>
          <a:p>
            <a:pPr eaLnBrk="1" hangingPunct="1">
              <a:buFont typeface="Arial" charset="0"/>
              <a:buChar char="•"/>
            </a:pPr>
            <a:r>
              <a:rPr lang="en-GB" altLang="en-US" sz="2000" b="1" dirty="0" smtClean="0"/>
              <a:t>XML-files</a:t>
            </a:r>
            <a:r>
              <a:rPr lang="en-GB" altLang="en-US" sz="2000" dirty="0" smtClean="0"/>
              <a:t>: to exchange with the Interviewers and Coordinators</a:t>
            </a:r>
          </a:p>
          <a:p>
            <a:pPr eaLnBrk="1" hangingPunct="1">
              <a:buFont typeface="Arial" charset="0"/>
              <a:buChar char="•"/>
            </a:pPr>
            <a:r>
              <a:rPr lang="en-GB" altLang="en-US" sz="2000" b="1" dirty="0" smtClean="0"/>
              <a:t>CSV-files</a:t>
            </a:r>
            <a:r>
              <a:rPr lang="en-GB" altLang="en-US" sz="2000" dirty="0" smtClean="0"/>
              <a:t>: for descriptive analyses generated during each data flow</a:t>
            </a:r>
            <a:endParaRPr lang="en-US" altLang="en-US" sz="2000" dirty="0" smtClean="0"/>
          </a:p>
          <a:p>
            <a:pPr>
              <a:spcBef>
                <a:spcPct val="20000"/>
              </a:spcBef>
              <a:buSzPct val="85000"/>
            </a:pPr>
            <a:endParaRPr lang="en-US" altLang="en-US" sz="2000" dirty="0"/>
          </a:p>
        </p:txBody>
      </p:sp>
      <p:sp>
        <p:nvSpPr>
          <p:cNvPr id="16395" name="Tekstvak 7"/>
          <p:cNvSpPr txBox="1">
            <a:spLocks noChangeArrowheads="1"/>
          </p:cNvSpPr>
          <p:nvPr/>
        </p:nvSpPr>
        <p:spPr bwMode="auto">
          <a:xfrm>
            <a:off x="173831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3623096" y="4779033"/>
            <a:ext cx="603847" cy="112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062160" y="3082350"/>
            <a:ext cx="603847" cy="145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"/>
          <a:stretch/>
        </p:blipFill>
        <p:spPr bwMode="auto">
          <a:xfrm>
            <a:off x="3232149" y="2806124"/>
            <a:ext cx="5560135" cy="3909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nl-BE" altLang="en-US" dirty="0" smtClean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666E02-B272-49D5-8062-1844781226C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20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01" y="200025"/>
            <a:ext cx="8788673" cy="6559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123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4978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3837CC-066B-4D5B-9375-D89C845378D2}" type="slidenum">
              <a:rPr lang="en-US" smtClean="0"/>
              <a:pPr>
                <a:defRPr/>
              </a:pPr>
              <a:t>8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</a:p>
        </p:txBody>
      </p:sp>
      <p:sp>
        <p:nvSpPr>
          <p:cNvPr id="18444" name="Rectangle 3"/>
          <p:cNvSpPr txBox="1">
            <a:spLocks noChangeArrowheads="1"/>
          </p:cNvSpPr>
          <p:nvPr/>
        </p:nvSpPr>
        <p:spPr bwMode="auto">
          <a:xfrm>
            <a:off x="2930526" y="627063"/>
            <a:ext cx="6213474" cy="796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20000"/>
              </a:spcBef>
              <a:buSzPct val="85000"/>
            </a:pPr>
            <a:r>
              <a:rPr lang="en-GB" altLang="en-US" sz="2800" b="1" dirty="0"/>
              <a:t>Database management: see Appendix </a:t>
            </a:r>
            <a:r>
              <a:rPr lang="en-GB" altLang="en-US" sz="2800" b="1" dirty="0" smtClean="0"/>
              <a:t>4 </a:t>
            </a:r>
            <a:endParaRPr lang="en-US" altLang="en-US" sz="2800" dirty="0"/>
          </a:p>
        </p:txBody>
      </p:sp>
      <p:sp>
        <p:nvSpPr>
          <p:cNvPr id="18445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pic>
        <p:nvPicPr>
          <p:cNvPr id="18446" name="Picture 1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06"/>
          <a:stretch/>
        </p:blipFill>
        <p:spPr bwMode="auto">
          <a:xfrm>
            <a:off x="2928938" y="3859213"/>
            <a:ext cx="6002337" cy="2222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871788" y="1262063"/>
            <a:ext cx="6094413" cy="233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183141" y="2605177"/>
            <a:ext cx="621108" cy="233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4"/>
          <a:stretch/>
        </p:blipFill>
        <p:spPr bwMode="auto">
          <a:xfrm>
            <a:off x="2928939" y="1378744"/>
            <a:ext cx="5834062" cy="1573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al 3"/>
          <p:cNvSpPr/>
          <p:nvPr/>
        </p:nvSpPr>
        <p:spPr bwMode="auto">
          <a:xfrm>
            <a:off x="2678113" y="1914525"/>
            <a:ext cx="3167857" cy="485775"/>
          </a:xfrm>
          <a:prstGeom prst="ellipse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nl-BE"/>
          </a:p>
        </p:txBody>
      </p:sp>
      <p:cxnSp>
        <p:nvCxnSpPr>
          <p:cNvPr id="3" name="Straight Arrow Connector 2"/>
          <p:cNvCxnSpPr>
            <a:endCxn id="18435" idx="1"/>
          </p:cNvCxnSpPr>
          <p:nvPr/>
        </p:nvCxnSpPr>
        <p:spPr bwMode="auto">
          <a:xfrm>
            <a:off x="5754688" y="2253500"/>
            <a:ext cx="881063" cy="8302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1" y="2721813"/>
            <a:ext cx="3365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8" y="4970418"/>
            <a:ext cx="26384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4978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3FBC42-9DD5-478C-B8BF-9F32C301E6CF}" type="slidenum">
              <a:rPr lang="en-US" smtClean="0"/>
              <a:pPr>
                <a:defRPr/>
              </a:pPr>
              <a:t>9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433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17416" name="Rectangle 4"/>
          <p:cNvSpPr txBox="1">
            <a:spLocks noChangeArrowheads="1"/>
          </p:cNvSpPr>
          <p:nvPr/>
        </p:nvSpPr>
        <p:spPr bwMode="auto">
          <a:xfrm>
            <a:off x="2857489" y="657207"/>
            <a:ext cx="6134112" cy="21177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r>
              <a:rPr lang="en-US" sz="2400" b="1" dirty="0"/>
              <a:t>Function </a:t>
            </a:r>
            <a:r>
              <a:rPr lang="en-US" sz="2400" b="1" i="1" dirty="0" smtClean="0">
                <a:solidFill>
                  <a:srgbClr val="FF3300"/>
                </a:solidFill>
              </a:rPr>
              <a:t>Add an Empty interview database</a:t>
            </a:r>
            <a:endParaRPr lang="en-US" sz="2400" i="1" dirty="0"/>
          </a:p>
          <a:p>
            <a:pPr marL="0" indent="0"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endParaRPr lang="en-GB" sz="900" dirty="0" smtClean="0"/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Wingdings 2" pitchFamily="18" charset="2"/>
              <a:buChar char=""/>
              <a:defRPr/>
            </a:pPr>
            <a:r>
              <a:rPr lang="en-GB" sz="2400" dirty="0" smtClean="0"/>
              <a:t>An Interview database is available by default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Wingdings 2" pitchFamily="18" charset="2"/>
              <a:buChar char=""/>
              <a:defRPr/>
            </a:pPr>
            <a:r>
              <a:rPr lang="en-GB" sz="2400" dirty="0" smtClean="0"/>
              <a:t>To start with a new set of interviews             </a:t>
            </a:r>
            <a:r>
              <a:rPr lang="en-GB" dirty="0" smtClean="0"/>
              <a:t>(e.g. </a:t>
            </a:r>
            <a:r>
              <a:rPr lang="en-US" dirty="0" smtClean="0"/>
              <a:t>by defined period (day, week, etc.), by </a:t>
            </a:r>
            <a:r>
              <a:rPr lang="en-US" dirty="0" smtClean="0"/>
              <a:t>interviewer </a:t>
            </a:r>
            <a:r>
              <a:rPr lang="en-US" dirty="0" smtClean="0"/>
              <a:t>etc…</a:t>
            </a:r>
            <a:r>
              <a:rPr lang="en-GB" dirty="0" smtClean="0"/>
              <a:t>)</a:t>
            </a:r>
            <a:endParaRPr lang="en-US" dirty="0" smtClean="0"/>
          </a:p>
          <a:p>
            <a:pPr marL="0" indent="0"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endParaRPr lang="en-US" sz="2400" dirty="0" smtClean="0"/>
          </a:p>
        </p:txBody>
      </p:sp>
      <p:sp>
        <p:nvSpPr>
          <p:cNvPr id="19466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957763" y="4800582"/>
            <a:ext cx="1473200" cy="4508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33"/>
          <a:stretch/>
        </p:blipFill>
        <p:spPr bwMode="auto">
          <a:xfrm>
            <a:off x="2960689" y="3325813"/>
            <a:ext cx="6002337" cy="2167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193" y="4161595"/>
            <a:ext cx="3113881" cy="1272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105" y="2162176"/>
            <a:ext cx="2230265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Arrow Connector 12"/>
          <p:cNvCxnSpPr/>
          <p:nvPr/>
        </p:nvCxnSpPr>
        <p:spPr>
          <a:xfrm flipH="1">
            <a:off x="5520133" y="2401698"/>
            <a:ext cx="1395017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3022096" y="5915025"/>
            <a:ext cx="37787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b="1" dirty="0" smtClean="0">
                <a:solidFill>
                  <a:srgbClr val="2780B7"/>
                </a:solidFill>
              </a:rPr>
              <a:t>Give an interview database name</a:t>
            </a:r>
            <a:endParaRPr lang="en-US" altLang="en-US" b="1" dirty="0">
              <a:solidFill>
                <a:srgbClr val="2780B7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4071090" y="2955907"/>
            <a:ext cx="0" cy="63779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4495800" y="5014912"/>
            <a:ext cx="0" cy="9572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4978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3FBC42-9DD5-478C-B8BF-9F32C301E6CF}" type="slidenum">
              <a:rPr lang="en-US" smtClean="0"/>
              <a:pPr>
                <a:defRPr/>
              </a:pPr>
              <a:t>10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16" name="Rectangle 4"/>
          <p:cNvSpPr txBox="1">
            <a:spLocks noChangeArrowheads="1"/>
          </p:cNvSpPr>
          <p:nvPr/>
        </p:nvSpPr>
        <p:spPr bwMode="auto">
          <a:xfrm>
            <a:off x="2857489" y="657207"/>
            <a:ext cx="6134112" cy="211772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r>
              <a:rPr lang="en-US" sz="2400" b="1" dirty="0"/>
              <a:t>Function </a:t>
            </a:r>
            <a:r>
              <a:rPr lang="en-US" sz="2400" b="1" i="1" dirty="0" smtClean="0">
                <a:solidFill>
                  <a:srgbClr val="FF3300"/>
                </a:solidFill>
              </a:rPr>
              <a:t>Activation of an interview database</a:t>
            </a:r>
            <a:endParaRPr lang="en-US" sz="2400" i="1" dirty="0"/>
          </a:p>
          <a:p>
            <a:pPr marL="0" indent="0"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endParaRPr lang="en-GB" sz="900" dirty="0" smtClean="0"/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Wingdings 2" pitchFamily="18" charset="2"/>
              <a:buChar char=""/>
              <a:defRPr/>
            </a:pPr>
            <a:r>
              <a:rPr lang="en-US" sz="2400" dirty="0"/>
              <a:t>If several interview databases </a:t>
            </a:r>
            <a:r>
              <a:rPr lang="en-US" sz="2400" dirty="0" smtClean="0"/>
              <a:t>available</a:t>
            </a:r>
            <a:endParaRPr lang="en-GB" sz="2400" dirty="0" smtClean="0"/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Wingdings 2" pitchFamily="18" charset="2"/>
              <a:buChar char=""/>
              <a:defRPr/>
            </a:pPr>
            <a:r>
              <a:rPr lang="en-US" sz="2400" dirty="0"/>
              <a:t>To </a:t>
            </a:r>
            <a:r>
              <a:rPr lang="en-US" sz="2400" b="1" dirty="0"/>
              <a:t>store</a:t>
            </a:r>
            <a:r>
              <a:rPr lang="en-US" sz="2400" dirty="0"/>
              <a:t> all the </a:t>
            </a:r>
            <a:r>
              <a:rPr lang="en-US" sz="2400" b="1" dirty="0"/>
              <a:t>new interviews </a:t>
            </a:r>
            <a:r>
              <a:rPr lang="en-US" sz="2400" dirty="0"/>
              <a:t>to be </a:t>
            </a:r>
            <a:r>
              <a:rPr lang="en-US" sz="2400" dirty="0" smtClean="0"/>
              <a:t>done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buFont typeface="Wingdings 2" pitchFamily="18" charset="2"/>
              <a:buChar char=""/>
              <a:defRPr/>
            </a:pPr>
            <a:r>
              <a:rPr lang="en-US" sz="2400" dirty="0" smtClean="0"/>
              <a:t>Focus the cursor on the database &amp; activate it</a:t>
            </a:r>
            <a:endParaRPr lang="en-US" sz="2400" dirty="0"/>
          </a:p>
        </p:txBody>
      </p:sp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105" y="2295526"/>
            <a:ext cx="2230265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Straight Arrow Connector 12"/>
          <p:cNvCxnSpPr/>
          <p:nvPr/>
        </p:nvCxnSpPr>
        <p:spPr>
          <a:xfrm flipH="1">
            <a:off x="5453459" y="3138280"/>
            <a:ext cx="205223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682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69"/>
          <a:stretch/>
        </p:blipFill>
        <p:spPr bwMode="auto">
          <a:xfrm>
            <a:off x="3028251" y="3501340"/>
            <a:ext cx="5792587" cy="238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Straight Arrow Connector 18"/>
          <p:cNvCxnSpPr/>
          <p:nvPr/>
        </p:nvCxnSpPr>
        <p:spPr>
          <a:xfrm>
            <a:off x="4690215" y="3065255"/>
            <a:ext cx="0" cy="63779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394" y="4801051"/>
            <a:ext cx="3776663" cy="898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3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0533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Backing up/Restoring </a:t>
            </a: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Handling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859DE8-B83E-4D0F-847D-35E8846AAA24}" type="slidenum">
              <a:rPr lang="en-US" smtClean="0"/>
              <a:pPr>
                <a:defRPr/>
              </a:pPr>
              <a:t>11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19464" name="Rectangle 3"/>
          <p:cNvSpPr txBox="1">
            <a:spLocks noChangeArrowheads="1"/>
          </p:cNvSpPr>
          <p:nvPr/>
        </p:nvSpPr>
        <p:spPr bwMode="auto">
          <a:xfrm>
            <a:off x="3070225" y="635000"/>
            <a:ext cx="5854700" cy="3832225"/>
          </a:xfrm>
          <a:prstGeom prst="rect">
            <a:avLst/>
          </a:prstGeom>
          <a:noFill/>
          <a:ln>
            <a:noFill/>
          </a:ln>
          <a:extLst/>
        </p:spPr>
        <p:txBody>
          <a:bodyPr lIns="18000" anchor="ctr"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US" sz="2400" b="1" dirty="0" smtClean="0"/>
              <a:t>Function </a:t>
            </a:r>
            <a:r>
              <a:rPr lang="en-US" sz="2400" b="1" i="1" dirty="0" smtClean="0">
                <a:solidFill>
                  <a:srgbClr val="FF0000"/>
                </a:solidFill>
              </a:rPr>
              <a:t>Backup to…</a:t>
            </a:r>
            <a:r>
              <a:rPr lang="en-US" sz="2400" b="1" dirty="0" smtClean="0"/>
              <a:t> </a:t>
            </a:r>
            <a:r>
              <a:rPr lang="en-US" sz="2000" dirty="0" smtClean="0"/>
              <a:t>generates</a:t>
            </a:r>
            <a:r>
              <a:rPr lang="en-US" sz="2400" dirty="0" smtClean="0"/>
              <a:t>:</a:t>
            </a:r>
          </a:p>
          <a:p>
            <a:pPr marL="342900" indent="-342900">
              <a:spcBef>
                <a:spcPts val="600"/>
              </a:spcBef>
              <a:buSzPct val="85000"/>
              <a:buFont typeface="Arial" pitchFamily="34" charset="0"/>
              <a:buChar char="•"/>
              <a:defRPr/>
            </a:pPr>
            <a:r>
              <a:rPr lang="en-US" sz="2000" b="1" dirty="0" smtClean="0"/>
              <a:t>a </a:t>
            </a:r>
            <a:r>
              <a:rPr lang="en-US" sz="2000" b="1" dirty="0" err="1" smtClean="0"/>
              <a:t>bak</a:t>
            </a:r>
            <a:r>
              <a:rPr lang="en-US" sz="2000" b="1" dirty="0" smtClean="0"/>
              <a:t>-file</a:t>
            </a:r>
            <a:r>
              <a:rPr lang="en-US" sz="2000" dirty="0" smtClean="0"/>
              <a:t> to </a:t>
            </a:r>
            <a:r>
              <a:rPr lang="en-US" sz="2000" b="1" dirty="0" smtClean="0"/>
              <a:t>be stored on at least 2 different supports</a:t>
            </a:r>
            <a:r>
              <a:rPr lang="en-US" sz="2000" dirty="0" smtClean="0"/>
              <a:t> </a:t>
            </a:r>
            <a:r>
              <a:rPr lang="en-US" dirty="0" smtClean="0"/>
              <a:t>(e.g. in a PC directory &amp; external support such as a hard disk, USB-key &amp; sent to a central server…)  </a:t>
            </a:r>
          </a:p>
          <a:p>
            <a:pPr marL="342900" indent="-342900">
              <a:spcBef>
                <a:spcPts val="600"/>
              </a:spcBef>
              <a:buSzPct val="85000"/>
              <a:buFont typeface="Arial" pitchFamily="34" charset="0"/>
              <a:buChar char="•"/>
              <a:defRPr/>
            </a:pPr>
            <a:r>
              <a:rPr lang="en-US" sz="2000" b="1" dirty="0" smtClean="0"/>
              <a:t>5 csv-files,</a:t>
            </a:r>
            <a:r>
              <a:rPr lang="en-US" sz="2000" dirty="0" smtClean="0"/>
              <a:t> containing all the interviews available in the selected interview database for information.</a:t>
            </a:r>
          </a:p>
          <a:p>
            <a:pPr marL="342900" indent="-342900">
              <a:spcBef>
                <a:spcPts val="600"/>
              </a:spcBef>
              <a:buSzPct val="85000"/>
              <a:buFont typeface="Arial" pitchFamily="34" charset="0"/>
              <a:buChar char="•"/>
              <a:defRPr/>
            </a:pPr>
            <a:r>
              <a:rPr lang="en-US" sz="2000" dirty="0" smtClean="0"/>
              <a:t>During a backup, a data </a:t>
            </a:r>
            <a:r>
              <a:rPr lang="en-US" sz="2000" b="1" dirty="0" err="1" smtClean="0"/>
              <a:t>Recompute</a:t>
            </a:r>
            <a:r>
              <a:rPr lang="en-US" sz="2000" dirty="0" smtClean="0"/>
              <a:t> is running</a:t>
            </a:r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GB" sz="2000" b="1" dirty="0" smtClean="0">
              <a:solidFill>
                <a:srgbClr val="FF3300"/>
              </a:solidFill>
            </a:endParaRPr>
          </a:p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GB" sz="2000" b="1" dirty="0" smtClean="0"/>
              <a:t>Recommendation for Interviewers &amp; Coordinators</a:t>
            </a:r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1000" b="1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sz="2000" dirty="0" smtClean="0">
                <a:solidFill>
                  <a:srgbClr val="FF3300"/>
                </a:solidFill>
              </a:rPr>
              <a:t>Backup</a:t>
            </a:r>
            <a:r>
              <a:rPr lang="en-GB" sz="2000" dirty="0" smtClean="0"/>
              <a:t> </a:t>
            </a:r>
            <a:r>
              <a:rPr lang="en-GB" sz="2000" dirty="0" smtClean="0">
                <a:solidFill>
                  <a:srgbClr val="FF0000"/>
                </a:solidFill>
              </a:rPr>
              <a:t>the interview databases </a:t>
            </a:r>
            <a:r>
              <a:rPr lang="en-GB" sz="2000" b="1" dirty="0" smtClean="0">
                <a:solidFill>
                  <a:srgbClr val="FF0000"/>
                </a:solidFill>
              </a:rPr>
              <a:t>very regularly     </a:t>
            </a:r>
            <a:r>
              <a:rPr lang="en-GB" dirty="0" smtClean="0"/>
              <a:t>(e.g. half a day, every day…) </a:t>
            </a:r>
          </a:p>
          <a:p>
            <a:pPr>
              <a:lnSpc>
                <a:spcPct val="90000"/>
              </a:lnSpc>
              <a:buSzPct val="85000"/>
              <a:defRPr/>
            </a:pPr>
            <a:endParaRPr lang="en-US" sz="2000" dirty="0" smtClean="0"/>
          </a:p>
        </p:txBody>
      </p:sp>
      <p:sp>
        <p:nvSpPr>
          <p:cNvPr id="13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183141" y="5576139"/>
            <a:ext cx="621108" cy="233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4"/>
          <a:stretch/>
        </p:blipFill>
        <p:spPr bwMode="auto">
          <a:xfrm>
            <a:off x="2928939" y="4349705"/>
            <a:ext cx="6087246" cy="1641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Oval 21"/>
          <p:cNvSpPr/>
          <p:nvPr/>
        </p:nvSpPr>
        <p:spPr bwMode="auto">
          <a:xfrm>
            <a:off x="5554663" y="4979900"/>
            <a:ext cx="3167857" cy="401726"/>
          </a:xfrm>
          <a:prstGeom prst="ellipse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en-US" smtClean="0"/>
              <a:t>Backing up Interview Database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E8FC38-1979-44D2-921E-EE5271E20C2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2253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6"/>
          <a:stretch/>
        </p:blipFill>
        <p:spPr bwMode="auto">
          <a:xfrm>
            <a:off x="230188" y="1624013"/>
            <a:ext cx="7493000" cy="419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Text Box 6"/>
          <p:cNvSpPr txBox="1">
            <a:spLocks noChangeArrowheads="1"/>
          </p:cNvSpPr>
          <p:nvPr/>
        </p:nvSpPr>
        <p:spPr bwMode="auto">
          <a:xfrm>
            <a:off x="1274763" y="5118100"/>
            <a:ext cx="6323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Arial" charset="0"/>
              </a:rPr>
              <a:t>Date can be automatically added to the generated file name</a:t>
            </a:r>
            <a:endParaRPr lang="en-US" altLang="en-US">
              <a:latin typeface="Arial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084388" y="957263"/>
            <a:ext cx="4762" cy="10033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40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463" y="1809466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2"/>
          <p:cNvCxnSpPr/>
          <p:nvPr/>
        </p:nvCxnSpPr>
        <p:spPr>
          <a:xfrm flipH="1">
            <a:off x="6535738" y="2507776"/>
            <a:ext cx="1187450" cy="317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F6CB01-E053-4BCD-85B1-5A76BA499F31}" type="slidenum">
              <a:rPr lang="en-US" smtClean="0"/>
              <a:pPr>
                <a:defRPr/>
              </a:pPr>
              <a:t>13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23559" name="Rectangle 3"/>
          <p:cNvSpPr txBox="1">
            <a:spLocks noChangeArrowheads="1"/>
          </p:cNvSpPr>
          <p:nvPr/>
        </p:nvSpPr>
        <p:spPr bwMode="auto">
          <a:xfrm>
            <a:off x="3003550" y="819150"/>
            <a:ext cx="5867400" cy="391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0" hangingPunct="0">
              <a:spcBef>
                <a:spcPct val="20000"/>
              </a:spcBef>
              <a:buSzPct val="85000"/>
              <a:defRPr/>
            </a:pPr>
            <a:r>
              <a:rPr lang="en-US" altLang="en-US" sz="2400" b="1" dirty="0"/>
              <a:t>Function </a:t>
            </a:r>
            <a:r>
              <a:rPr lang="en-US" altLang="en-US" sz="2400" b="1" i="1" dirty="0" smtClean="0">
                <a:solidFill>
                  <a:srgbClr val="FF3300"/>
                </a:solidFill>
              </a:rPr>
              <a:t>Restore </a:t>
            </a:r>
            <a:r>
              <a:rPr lang="en-US" altLang="en-US" sz="2400" b="1" i="1" dirty="0">
                <a:solidFill>
                  <a:srgbClr val="FF3300"/>
                </a:solidFill>
              </a:rPr>
              <a:t>from…</a:t>
            </a:r>
            <a:r>
              <a:rPr lang="en-US" altLang="en-US" sz="2400" b="1" dirty="0">
                <a:solidFill>
                  <a:srgbClr val="FF3300"/>
                </a:solidFill>
              </a:rPr>
              <a:t> </a:t>
            </a:r>
            <a:endParaRPr lang="en-US" altLang="en-US" sz="2400" b="1" dirty="0" smtClean="0">
              <a:solidFill>
                <a:srgbClr val="FF3300"/>
              </a:solidFill>
            </a:endParaRPr>
          </a:p>
          <a:p>
            <a:pPr marL="273050" indent="-273050" eaLnBrk="0" hangingPunct="0">
              <a:spcBef>
                <a:spcPct val="20000"/>
              </a:spcBef>
              <a:buSzPct val="85000"/>
              <a:defRPr/>
            </a:pPr>
            <a:endParaRPr lang="en-US" altLang="en-US" b="1" dirty="0">
              <a:solidFill>
                <a:srgbClr val="FF3300"/>
              </a:solidFill>
            </a:endParaRPr>
          </a:p>
          <a:p>
            <a:pPr marL="342900" indent="-342900" eaLnBrk="0" hangingPunct="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altLang="en-US" sz="2000" b="1" dirty="0"/>
              <a:t>Restores</a:t>
            </a:r>
            <a:r>
              <a:rPr lang="en-US" altLang="en-US" sz="2000" dirty="0"/>
              <a:t> a previously saved interview database </a:t>
            </a:r>
            <a:r>
              <a:rPr lang="en-US" altLang="en-US" sz="2000" b="1" dirty="0"/>
              <a:t>from a </a:t>
            </a:r>
            <a:r>
              <a:rPr lang="en-US" altLang="en-US" sz="2000" b="1" dirty="0" err="1"/>
              <a:t>bak</a:t>
            </a:r>
            <a:r>
              <a:rPr lang="en-US" altLang="en-US" sz="2000" b="1" dirty="0"/>
              <a:t>-file</a:t>
            </a:r>
            <a:r>
              <a:rPr lang="en-US" altLang="en-US" sz="2000" dirty="0"/>
              <a:t>. </a:t>
            </a:r>
          </a:p>
          <a:p>
            <a:pPr marL="342900" indent="-342900" eaLnBrk="0" hangingPunct="0">
              <a:lnSpc>
                <a:spcPct val="90000"/>
              </a:lnSpc>
              <a:buSzPct val="85000"/>
              <a:defRPr/>
            </a:pPr>
            <a:endParaRPr lang="en-US" altLang="en-US" sz="2000" dirty="0"/>
          </a:p>
          <a:p>
            <a:pPr marL="342900" indent="-342900" eaLnBrk="0" hangingPunct="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altLang="en-US" sz="2000" b="1" dirty="0">
                <a:solidFill>
                  <a:srgbClr val="FF3300"/>
                </a:solidFill>
              </a:rPr>
              <a:t>The main context </a:t>
            </a:r>
            <a:r>
              <a:rPr lang="en-US" altLang="en-US" sz="2000" dirty="0"/>
              <a:t>to restore an interview database (</a:t>
            </a:r>
            <a:r>
              <a:rPr lang="en-US" altLang="en-US" sz="2000" dirty="0" err="1"/>
              <a:t>bak</a:t>
            </a:r>
            <a:r>
              <a:rPr lang="en-US" altLang="en-US" sz="2000" dirty="0"/>
              <a:t>-file) is </a:t>
            </a:r>
            <a:r>
              <a:rPr lang="en-US" altLang="en-US" sz="2000" b="1" dirty="0">
                <a:solidFill>
                  <a:srgbClr val="FF3300"/>
                </a:solidFill>
              </a:rPr>
              <a:t>in case of a PC crash</a:t>
            </a:r>
          </a:p>
        </p:txBody>
      </p:sp>
      <p:sp>
        <p:nvSpPr>
          <p:cNvPr id="16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4978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</a:t>
            </a:r>
            <a:r>
              <a:rPr lang="en-US" sz="1400" b="1" dirty="0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/Restoring </a:t>
            </a: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Databases </a:t>
            </a:r>
            <a:endParaRPr lang="en-US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Handling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3137852" y="4755379"/>
            <a:ext cx="621108" cy="233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4"/>
          <a:stretch/>
        </p:blipFill>
        <p:spPr bwMode="auto">
          <a:xfrm>
            <a:off x="2883650" y="3528945"/>
            <a:ext cx="6087246" cy="1641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Oval 20"/>
          <p:cNvSpPr/>
          <p:nvPr/>
        </p:nvSpPr>
        <p:spPr bwMode="auto">
          <a:xfrm>
            <a:off x="5509374" y="4159140"/>
            <a:ext cx="3167857" cy="401726"/>
          </a:xfrm>
          <a:prstGeom prst="ellipse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2"/>
          <a:stretch/>
        </p:blipFill>
        <p:spPr bwMode="auto">
          <a:xfrm>
            <a:off x="244475" y="1619251"/>
            <a:ext cx="7410450" cy="44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en-US" smtClean="0"/>
              <a:t>Restoring Interview Database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D55EF8-60F3-406E-931E-784BACA2B29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873250" y="925513"/>
            <a:ext cx="0" cy="103505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463" y="1809466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Arrow Connector 12"/>
          <p:cNvCxnSpPr/>
          <p:nvPr/>
        </p:nvCxnSpPr>
        <p:spPr>
          <a:xfrm flipH="1">
            <a:off x="6617624" y="2303059"/>
            <a:ext cx="1187450" cy="317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975450" y="4132053"/>
            <a:ext cx="341606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100" b="1" dirty="0" smtClean="0"/>
              <a:t>D:\GLOBO_UK\Interview_20120521.bak</a:t>
            </a:r>
            <a:endParaRPr lang="en-US" sz="11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026011" y="3660419"/>
            <a:ext cx="383995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100" b="1" dirty="0" smtClean="0"/>
              <a:t>InterviewWeek12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21628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Exporting/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Importing</a:t>
            </a:r>
            <a:r>
              <a:rPr lang="en-US" sz="1400" b="1" dirty="0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 Interview </a:t>
            </a: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Databases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653333-1175-4A3B-9384-5AC5798E6147}" type="slidenum">
              <a:rPr lang="en-US" smtClean="0"/>
              <a:pPr>
                <a:defRPr/>
              </a:pPr>
              <a:t>15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3097" y="566718"/>
            <a:ext cx="5991366" cy="6283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US" sz="2400" b="1" dirty="0"/>
              <a:t>Function </a:t>
            </a:r>
            <a:r>
              <a:rPr lang="en-US" sz="2400" b="1" i="1" dirty="0" smtClean="0">
                <a:solidFill>
                  <a:srgbClr val="FF0000"/>
                </a:solidFill>
              </a:rPr>
              <a:t>Export </a:t>
            </a:r>
            <a:r>
              <a:rPr lang="en-US" sz="2400" b="1" i="1" dirty="0">
                <a:solidFill>
                  <a:srgbClr val="FF0000"/>
                </a:solidFill>
              </a:rPr>
              <a:t>to</a:t>
            </a:r>
            <a:r>
              <a:rPr lang="en-US" sz="2400" b="1" i="1" dirty="0" smtClean="0">
                <a:solidFill>
                  <a:srgbClr val="FF0000"/>
                </a:solidFill>
              </a:rPr>
              <a:t>…</a:t>
            </a:r>
            <a:r>
              <a:rPr lang="en-US" sz="2400" b="1" dirty="0" smtClean="0"/>
              <a:t> </a:t>
            </a:r>
            <a:r>
              <a:rPr lang="en-US" sz="2000" dirty="0" smtClean="0"/>
              <a:t>generates</a:t>
            </a:r>
            <a:endParaRPr lang="en-US" sz="2000" dirty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endParaRPr lang="en-US" sz="900" dirty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b="1" dirty="0"/>
              <a:t>a </a:t>
            </a:r>
            <a:r>
              <a:rPr lang="en-US" b="1" dirty="0" smtClean="0"/>
              <a:t>xml-file </a:t>
            </a:r>
            <a:r>
              <a:rPr lang="en-US" dirty="0" smtClean="0"/>
              <a:t>as </a:t>
            </a:r>
            <a:r>
              <a:rPr lang="en-US" b="1" dirty="0" smtClean="0">
                <a:solidFill>
                  <a:srgbClr val="FF0000"/>
                </a:solidFill>
              </a:rPr>
              <a:t>communication files </a:t>
            </a:r>
            <a:r>
              <a:rPr lang="en-US" dirty="0">
                <a:solidFill>
                  <a:srgbClr val="FF0000"/>
                </a:solidFill>
              </a:rPr>
              <a:t>between the interviewers and coordinator(s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endParaRPr lang="en-US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b="1" dirty="0" smtClean="0"/>
              <a:t>5 csv-files,</a:t>
            </a:r>
            <a:r>
              <a:rPr lang="en-US" dirty="0" smtClean="0"/>
              <a:t> containing all the interviews available in the selected interview database for data analyses.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A </a:t>
            </a:r>
            <a:r>
              <a:rPr lang="en-US" b="1" dirty="0" err="1" smtClean="0"/>
              <a:t>bak</a:t>
            </a:r>
            <a:r>
              <a:rPr lang="en-US" b="1" dirty="0" smtClean="0"/>
              <a:t>-file</a:t>
            </a:r>
            <a:r>
              <a:rPr lang="en-US" dirty="0" smtClean="0"/>
              <a:t> in case of problem in the xml-file.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/>
              <a:t>During a </a:t>
            </a:r>
            <a:r>
              <a:rPr lang="en-US" dirty="0" smtClean="0"/>
              <a:t>export, </a:t>
            </a:r>
            <a:r>
              <a:rPr lang="en-US" dirty="0"/>
              <a:t>a data </a:t>
            </a:r>
            <a:r>
              <a:rPr lang="en-US" b="1" dirty="0" err="1"/>
              <a:t>Recompute</a:t>
            </a:r>
            <a:r>
              <a:rPr lang="en-US" dirty="0"/>
              <a:t> is running</a:t>
            </a:r>
          </a:p>
          <a:p>
            <a:pPr>
              <a:lnSpc>
                <a:spcPct val="90000"/>
              </a:lnSpc>
              <a:buSzPct val="85000"/>
              <a:defRPr/>
            </a:pPr>
            <a:r>
              <a:rPr lang="en-GB" altLang="en-US" b="1" dirty="0" smtClean="0"/>
              <a:t>Remark</a:t>
            </a:r>
            <a:r>
              <a:rPr lang="en-GB" altLang="en-US" b="1" dirty="0" smtClean="0"/>
              <a:t>s</a:t>
            </a:r>
            <a:endParaRPr lang="en-GB" altLang="en-US" b="1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altLang="en-US" dirty="0" smtClean="0"/>
              <a:t>After </a:t>
            </a:r>
            <a:r>
              <a:rPr lang="en-GB" altLang="en-US" dirty="0"/>
              <a:t>the export, </a:t>
            </a:r>
            <a:r>
              <a:rPr lang="en-GB" altLang="en-US" dirty="0">
                <a:solidFill>
                  <a:srgbClr val="FF0000"/>
                </a:solidFill>
              </a:rPr>
              <a:t>the </a:t>
            </a:r>
            <a:r>
              <a:rPr lang="en-GB" altLang="en-US" b="1" dirty="0">
                <a:solidFill>
                  <a:srgbClr val="FF0000"/>
                </a:solidFill>
              </a:rPr>
              <a:t>selected interviews are removed </a:t>
            </a:r>
            <a:r>
              <a:rPr lang="en-GB" altLang="en-US" dirty="0">
                <a:solidFill>
                  <a:srgbClr val="FF0000"/>
                </a:solidFill>
              </a:rPr>
              <a:t>from </a:t>
            </a:r>
            <a:r>
              <a:rPr lang="en-GB" altLang="en-US" dirty="0" err="1" smtClean="0">
                <a:solidFill>
                  <a:srgbClr val="FF0000"/>
                </a:solidFill>
              </a:rPr>
              <a:t>GloboDiet</a:t>
            </a:r>
            <a:r>
              <a:rPr lang="en-GB" altLang="en-US" dirty="0" smtClean="0">
                <a:solidFill>
                  <a:srgbClr val="FF0000"/>
                </a:solidFill>
              </a:rPr>
              <a:t> application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After an export, </a:t>
            </a:r>
            <a:r>
              <a:rPr lang="en-US" dirty="0"/>
              <a:t>a new </a:t>
            </a:r>
            <a:r>
              <a:rPr lang="en-US" dirty="0" smtClean="0"/>
              <a:t>&amp; empty database is </a:t>
            </a:r>
            <a:r>
              <a:rPr lang="en-US" dirty="0"/>
              <a:t>automatically created </a:t>
            </a:r>
            <a:r>
              <a:rPr lang="en-US" dirty="0" smtClean="0"/>
              <a:t>&amp; activated if no other </a:t>
            </a:r>
            <a:r>
              <a:rPr lang="en-US" dirty="0"/>
              <a:t>is </a:t>
            </a:r>
            <a:r>
              <a:rPr lang="en-US" dirty="0" smtClean="0"/>
              <a:t>available.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The xml-files have to be sent to the Coordinator</a:t>
            </a:r>
            <a:r>
              <a:rPr lang="en-US" dirty="0" smtClean="0"/>
              <a:t>.</a:t>
            </a:r>
            <a:endParaRPr lang="en-US" sz="1200" dirty="0"/>
          </a:p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GB" b="1" dirty="0" smtClean="0"/>
              <a:t>Recommendation </a:t>
            </a:r>
            <a:r>
              <a:rPr lang="en-GB" b="1" dirty="0"/>
              <a:t>for </a:t>
            </a:r>
            <a:r>
              <a:rPr lang="en-GB" b="1" dirty="0" smtClean="0"/>
              <a:t>Interviewers</a:t>
            </a:r>
            <a:r>
              <a:rPr lang="en-GB" b="1" dirty="0" smtClean="0"/>
              <a:t>:</a:t>
            </a:r>
            <a:endParaRPr lang="en-US" sz="900" b="1" dirty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>
                <a:solidFill>
                  <a:srgbClr val="FF3300"/>
                </a:solidFill>
              </a:rPr>
              <a:t>Export </a:t>
            </a:r>
            <a:r>
              <a:rPr lang="en-GB" dirty="0" smtClean="0">
                <a:solidFill>
                  <a:srgbClr val="FF0000"/>
                </a:solidFill>
              </a:rPr>
              <a:t>the </a:t>
            </a:r>
            <a:r>
              <a:rPr lang="en-GB" dirty="0">
                <a:solidFill>
                  <a:srgbClr val="FF0000"/>
                </a:solidFill>
              </a:rPr>
              <a:t>interview databases </a:t>
            </a:r>
            <a:r>
              <a:rPr lang="en-GB" b="1" dirty="0" smtClean="0">
                <a:solidFill>
                  <a:srgbClr val="FF0000"/>
                </a:solidFill>
              </a:rPr>
              <a:t>regularly </a:t>
            </a:r>
            <a:r>
              <a:rPr lang="en-GB" dirty="0" smtClean="0"/>
              <a:t>(</a:t>
            </a:r>
            <a:r>
              <a:rPr lang="en-GB" dirty="0"/>
              <a:t>e.g. </a:t>
            </a:r>
            <a:r>
              <a:rPr lang="en-GB" dirty="0" smtClean="0"/>
              <a:t>week, twice a month, monthly…) 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Do not export after each interviews to avoid among of xml-files to be managed  </a:t>
            </a:r>
            <a:endParaRPr lang="en-GB" dirty="0"/>
          </a:p>
        </p:txBody>
      </p:sp>
      <p:sp>
        <p:nvSpPr>
          <p:cNvPr id="13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510982" y="2164566"/>
            <a:ext cx="544330" cy="181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4"/>
          <a:stretch/>
        </p:blipFill>
        <p:spPr bwMode="auto">
          <a:xfrm>
            <a:off x="3256780" y="938132"/>
            <a:ext cx="5334770" cy="1438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Oval 19"/>
          <p:cNvSpPr/>
          <p:nvPr/>
        </p:nvSpPr>
        <p:spPr bwMode="auto">
          <a:xfrm>
            <a:off x="5692004" y="1692151"/>
            <a:ext cx="2776262" cy="313409"/>
          </a:xfrm>
          <a:prstGeom prst="ellipse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nl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1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4"/>
          <a:stretch/>
        </p:blipFill>
        <p:spPr bwMode="auto">
          <a:xfrm>
            <a:off x="1721539" y="1508125"/>
            <a:ext cx="7277100" cy="4038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en-US" smtClean="0"/>
              <a:t>Exporting Interview Databases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C19BA37-98DE-4D9B-86B9-F04D35465B3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7655" name="Text Box 12"/>
          <p:cNvSpPr txBox="1">
            <a:spLocks noChangeArrowheads="1"/>
          </p:cNvSpPr>
          <p:nvPr/>
        </p:nvSpPr>
        <p:spPr bwMode="auto">
          <a:xfrm>
            <a:off x="161285" y="5952794"/>
            <a:ext cx="88049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b="1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GB" altLang="en-US" b="1" dirty="0">
                <a:solidFill>
                  <a:srgbClr val="FF0000"/>
                </a:solidFill>
              </a:rPr>
              <a:t>The generated XML file has to be </a:t>
            </a:r>
            <a:r>
              <a:rPr lang="en-GB" altLang="en-US" b="1" dirty="0" smtClean="0">
                <a:solidFill>
                  <a:srgbClr val="FF0000"/>
                </a:solidFill>
              </a:rPr>
              <a:t>sent to the Coordinator &amp; Import on its PC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07950" y="1993900"/>
            <a:ext cx="1519238" cy="92333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780B7"/>
                </a:solidFill>
                <a:latin typeface="+mn-lt"/>
              </a:rPr>
              <a:t>Select </a:t>
            </a:r>
            <a:r>
              <a:rPr lang="en-US" b="1" dirty="0" smtClean="0">
                <a:solidFill>
                  <a:srgbClr val="2780B7"/>
                </a:solidFill>
                <a:latin typeface="+mn-lt"/>
              </a:rPr>
              <a:t>and activate the database</a:t>
            </a:r>
            <a:endParaRPr lang="en-US" b="1" dirty="0">
              <a:solidFill>
                <a:srgbClr val="2780B7"/>
              </a:solidFill>
              <a:latin typeface="+mn-lt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07950" y="3197225"/>
            <a:ext cx="1577975" cy="369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780B7"/>
                </a:solidFill>
                <a:latin typeface="+mn-lt"/>
              </a:rPr>
              <a:t>1 export name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07950" y="3714750"/>
            <a:ext cx="1152525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2780B7"/>
                </a:solidFill>
                <a:latin typeface="+mn-lt"/>
              </a:rPr>
              <a:t>Folders</a:t>
            </a:r>
          </a:p>
        </p:txBody>
      </p:sp>
      <p:sp>
        <p:nvSpPr>
          <p:cNvPr id="27659" name="Text Box 10"/>
          <p:cNvSpPr txBox="1">
            <a:spLocks noChangeArrowheads="1"/>
          </p:cNvSpPr>
          <p:nvPr/>
        </p:nvSpPr>
        <p:spPr bwMode="auto">
          <a:xfrm>
            <a:off x="140389" y="4257675"/>
            <a:ext cx="15811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b="1" dirty="0" smtClean="0">
                <a:solidFill>
                  <a:srgbClr val="2780B7"/>
                </a:solidFill>
              </a:rPr>
              <a:t>Add Date to the file </a:t>
            </a:r>
            <a:r>
              <a:rPr lang="en-GB" altLang="en-US" b="1" dirty="0">
                <a:solidFill>
                  <a:srgbClr val="2780B7"/>
                </a:solidFill>
              </a:rPr>
              <a:t>name</a:t>
            </a:r>
            <a:endParaRPr lang="en-US" altLang="en-US" b="1" dirty="0">
              <a:solidFill>
                <a:srgbClr val="2780B7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1409700" y="2632075"/>
            <a:ext cx="407988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508375" y="923925"/>
            <a:ext cx="0" cy="88900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096963" y="3921711"/>
            <a:ext cx="1836737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1518158" y="4590764"/>
            <a:ext cx="1654970" cy="1836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128" y="2687340"/>
            <a:ext cx="46482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Straight Arrow Connector 28"/>
          <p:cNvCxnSpPr/>
          <p:nvPr/>
        </p:nvCxnSpPr>
        <p:spPr>
          <a:xfrm flipH="1">
            <a:off x="1638300" y="3376135"/>
            <a:ext cx="1752600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eft Brace 3"/>
          <p:cNvSpPr/>
          <p:nvPr/>
        </p:nvSpPr>
        <p:spPr>
          <a:xfrm>
            <a:off x="2948330" y="3527455"/>
            <a:ext cx="340519" cy="788513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21628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</a:t>
            </a:r>
            <a:r>
              <a:rPr lang="en-US" sz="1400" b="1" dirty="0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/Importing Interview </a:t>
            </a: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Databases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653333-1175-4A3B-9384-5AC5798E6147}" type="slidenum">
              <a:rPr lang="en-US" smtClean="0"/>
              <a:pPr>
                <a:defRPr/>
              </a:pPr>
              <a:t>17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62275" y="566718"/>
            <a:ext cx="6072188" cy="5338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US" sz="2400" b="1" dirty="0"/>
              <a:t>Function </a:t>
            </a:r>
            <a:r>
              <a:rPr lang="en-US" sz="2400" b="1" i="1" dirty="0" smtClean="0">
                <a:solidFill>
                  <a:srgbClr val="FF0000"/>
                </a:solidFill>
              </a:rPr>
              <a:t>Import </a:t>
            </a:r>
            <a:r>
              <a:rPr lang="en-US" sz="2400" b="1" i="1" dirty="0">
                <a:solidFill>
                  <a:srgbClr val="FF0000"/>
                </a:solidFill>
              </a:rPr>
              <a:t>to</a:t>
            </a:r>
            <a:r>
              <a:rPr lang="en-US" sz="2400" b="1" i="1" dirty="0" smtClean="0">
                <a:solidFill>
                  <a:srgbClr val="FF0000"/>
                </a:solidFill>
              </a:rPr>
              <a:t>…</a:t>
            </a:r>
            <a:endParaRPr lang="en-US" sz="2400" dirty="0"/>
          </a:p>
          <a:p>
            <a:pPr>
              <a:lnSpc>
                <a:spcPct val="90000"/>
              </a:lnSpc>
              <a:buSzPct val="85000"/>
              <a:defRPr/>
            </a:pPr>
            <a:endParaRPr lang="en-US" sz="900" b="1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b="1" dirty="0" smtClean="0"/>
              <a:t>xml-files management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Used as </a:t>
            </a:r>
            <a:r>
              <a:rPr lang="en-US" b="1" dirty="0" smtClean="0"/>
              <a:t>Communication</a:t>
            </a:r>
            <a:r>
              <a:rPr lang="en-US" dirty="0" smtClean="0"/>
              <a:t> files</a:t>
            </a:r>
          </a:p>
          <a:p>
            <a:pPr marL="361950">
              <a:lnSpc>
                <a:spcPct val="90000"/>
              </a:lnSpc>
              <a:buSzPct val="85000"/>
              <a:defRPr/>
            </a:pPr>
            <a:r>
              <a:rPr lang="en-US" dirty="0"/>
              <a:t>between </a:t>
            </a:r>
            <a:r>
              <a:rPr lang="en-US" dirty="0" smtClean="0"/>
              <a:t>Interviewers &amp; Coordinator 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Used for the </a:t>
            </a:r>
            <a:r>
              <a:rPr lang="en-US" b="1" dirty="0" smtClean="0"/>
              <a:t>data cleaning 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dirty="0" smtClean="0"/>
              <a:t>To be </a:t>
            </a:r>
            <a:r>
              <a:rPr lang="en-US" b="1" dirty="0" smtClean="0"/>
              <a:t>stored</a:t>
            </a:r>
            <a:r>
              <a:rPr lang="en-US" dirty="0" smtClean="0"/>
              <a:t> and </a:t>
            </a:r>
            <a:r>
              <a:rPr lang="en-US" b="1" dirty="0" smtClean="0"/>
              <a:t>centralized </a:t>
            </a:r>
            <a:r>
              <a:rPr lang="en-GB" dirty="0"/>
              <a:t>by the coordinator</a:t>
            </a:r>
            <a:endParaRPr lang="en-US" b="1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endParaRPr lang="en-GB" altLang="en-US" dirty="0" smtClean="0"/>
          </a:p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GB" b="1" dirty="0" smtClean="0"/>
              <a:t>Recommendation </a:t>
            </a:r>
            <a:r>
              <a:rPr lang="en-GB" b="1" dirty="0"/>
              <a:t>for </a:t>
            </a:r>
            <a:r>
              <a:rPr lang="en-GB" b="1" dirty="0" smtClean="0"/>
              <a:t>Coordinators: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To Import in the coordinator PC at the xml-file reception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To merge the </a:t>
            </a:r>
            <a:r>
              <a:rPr lang="en-GB" dirty="0"/>
              <a:t>received </a:t>
            </a:r>
            <a:r>
              <a:rPr lang="en-GB" dirty="0" smtClean="0"/>
              <a:t>NOTES.csv files </a:t>
            </a:r>
            <a:r>
              <a:rPr lang="en-GB" dirty="0"/>
              <a:t>in one file (e.g. using </a:t>
            </a:r>
            <a:r>
              <a:rPr lang="en-GB" dirty="0" smtClean="0"/>
              <a:t>Excel</a:t>
            </a:r>
            <a:r>
              <a:rPr lang="en-GB" dirty="0" smtClean="0"/>
              <a:t>) </a:t>
            </a:r>
            <a:endParaRPr lang="en-GB" dirty="0" smtClean="0"/>
          </a:p>
          <a:p>
            <a:pPr>
              <a:lnSpc>
                <a:spcPct val="90000"/>
              </a:lnSpc>
              <a:buSzPct val="85000"/>
              <a:defRPr/>
            </a:pPr>
            <a:endParaRPr lang="en-GB" dirty="0"/>
          </a:p>
          <a:p>
            <a:pPr lvl="0">
              <a:lnSpc>
                <a:spcPct val="90000"/>
              </a:lnSpc>
              <a:buSzPct val="85000"/>
              <a:defRPr/>
            </a:pPr>
            <a:r>
              <a:rPr lang="en-GB" b="1" dirty="0"/>
              <a:t>Note </a:t>
            </a:r>
            <a:r>
              <a:rPr lang="en-GB" b="1" dirty="0" smtClean="0"/>
              <a:t>handling: 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Use of the </a:t>
            </a:r>
            <a:r>
              <a:rPr lang="en-GB" dirty="0"/>
              <a:t>unique NOTE Excel file using the Excel function called “Data” &amp; “From Text” </a:t>
            </a:r>
            <a:endParaRPr lang="en-GB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Coordinator can comment </a:t>
            </a:r>
            <a:r>
              <a:rPr lang="en-GB" dirty="0"/>
              <a:t>all the received </a:t>
            </a:r>
            <a:r>
              <a:rPr lang="en-GB" dirty="0" smtClean="0"/>
              <a:t>notes by:</a:t>
            </a:r>
            <a:endParaRPr lang="en-GB" dirty="0"/>
          </a:p>
          <a:p>
            <a:pPr marL="742950" lvl="1" indent="-285750">
              <a:buFontTx/>
              <a:buChar char="-"/>
            </a:pPr>
            <a:r>
              <a:rPr lang="en-GB" dirty="0" smtClean="0"/>
              <a:t>Adding </a:t>
            </a:r>
            <a:r>
              <a:rPr lang="en-GB" dirty="0"/>
              <a:t>information in the comment </a:t>
            </a:r>
            <a:r>
              <a:rPr lang="en-GB" dirty="0" smtClean="0"/>
              <a:t>column</a:t>
            </a:r>
          </a:p>
          <a:p>
            <a:pPr marL="742950" lvl="1" indent="-285750">
              <a:buFontTx/>
              <a:buChar char="-"/>
            </a:pPr>
            <a:r>
              <a:rPr lang="en-GB" dirty="0" smtClean="0"/>
              <a:t>Changing the Note Status</a:t>
            </a:r>
            <a:r>
              <a:rPr lang="en-GB" sz="1600" dirty="0" smtClean="0"/>
              <a:t> (e.g. from New to Nothing to do)</a:t>
            </a:r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Edit the interview and update it using </a:t>
            </a:r>
            <a:r>
              <a:rPr lang="en-GB" dirty="0" err="1" smtClean="0"/>
              <a:t>GloboDiet</a:t>
            </a:r>
            <a:r>
              <a:rPr lang="en-GB" dirty="0" smtClean="0"/>
              <a:t> </a:t>
            </a:r>
            <a:r>
              <a:rPr lang="en-GB" dirty="0" err="1" smtClean="0"/>
              <a:t>applicaton</a:t>
            </a:r>
            <a:endParaRPr lang="en-GB" dirty="0"/>
          </a:p>
          <a:p>
            <a:pPr marL="742950" lvl="1" indent="-285750">
              <a:buFontTx/>
              <a:buChar char="-"/>
            </a:pPr>
            <a:endParaRPr lang="en-GB" sz="1600" dirty="0" smtClean="0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647" y="485757"/>
            <a:ext cx="2166936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/>
          <p:cNvCxnSpPr/>
          <p:nvPr/>
        </p:nvCxnSpPr>
        <p:spPr>
          <a:xfrm flipH="1">
            <a:off x="6831810" y="872987"/>
            <a:ext cx="1187450" cy="317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6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545" y="1811020"/>
            <a:ext cx="607695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l-BE" altLang="en-US" dirty="0" smtClean="0"/>
              <a:t>Importing Interview Databases (1/2)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C19048-3A0F-484B-8564-1F88CC88D04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28683" name="Rectangle 3"/>
          <p:cNvSpPr txBox="1">
            <a:spLocks noChangeArrowheads="1"/>
          </p:cNvSpPr>
          <p:nvPr/>
        </p:nvSpPr>
        <p:spPr bwMode="auto">
          <a:xfrm>
            <a:off x="174625" y="1993900"/>
            <a:ext cx="2749550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>
                <a:solidFill>
                  <a:srgbClr val="2780B7"/>
                </a:solidFill>
              </a:rPr>
              <a:t>Give </a:t>
            </a:r>
            <a:r>
              <a:rPr lang="en-US" altLang="en-US" dirty="0" smtClean="0">
                <a:solidFill>
                  <a:srgbClr val="2780B7"/>
                </a:solidFill>
              </a:rPr>
              <a:t>a database </a:t>
            </a:r>
            <a:r>
              <a:rPr lang="en-US" altLang="en-US" b="1" dirty="0" smtClean="0">
                <a:solidFill>
                  <a:srgbClr val="2780B7"/>
                </a:solidFill>
              </a:rPr>
              <a:t>name </a:t>
            </a:r>
            <a:r>
              <a:rPr lang="en-US" altLang="en-US" dirty="0" smtClean="0">
                <a:solidFill>
                  <a:srgbClr val="2780B7"/>
                </a:solidFill>
              </a:rPr>
              <a:t>to </a:t>
            </a:r>
            <a:r>
              <a:rPr lang="en-US" altLang="en-US" dirty="0">
                <a:solidFill>
                  <a:srgbClr val="2780B7"/>
                </a:solidFill>
              </a:rPr>
              <a:t>import the interviews. 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>
                <a:solidFill>
                  <a:srgbClr val="2780B7"/>
                </a:solidFill>
              </a:rPr>
              <a:t>Select the </a:t>
            </a:r>
            <a:r>
              <a:rPr lang="en-US" altLang="en-US" b="1" dirty="0" smtClean="0">
                <a:solidFill>
                  <a:srgbClr val="2780B7"/>
                </a:solidFill>
              </a:rPr>
              <a:t>folder &amp; filename</a:t>
            </a:r>
            <a:r>
              <a:rPr lang="en-US" altLang="en-US" dirty="0" smtClean="0">
                <a:solidFill>
                  <a:srgbClr val="2780B7"/>
                </a:solidFill>
              </a:rPr>
              <a:t> (xml-file</a:t>
            </a:r>
            <a:r>
              <a:rPr lang="en-US" altLang="en-US" dirty="0">
                <a:solidFill>
                  <a:srgbClr val="2780B7"/>
                </a:solidFill>
              </a:rPr>
              <a:t>) to import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 smtClean="0">
                <a:solidFill>
                  <a:srgbClr val="2780B7"/>
                </a:solidFill>
              </a:rPr>
              <a:t>Possibility </a:t>
            </a:r>
            <a:r>
              <a:rPr lang="en-US" altLang="en-US" dirty="0">
                <a:solidFill>
                  <a:srgbClr val="2780B7"/>
                </a:solidFill>
              </a:rPr>
              <a:t>to </a:t>
            </a:r>
            <a:r>
              <a:rPr lang="en-US" altLang="en-US" dirty="0">
                <a:solidFill>
                  <a:srgbClr val="FF3300"/>
                </a:solidFill>
              </a:rPr>
              <a:t>override</a:t>
            </a:r>
            <a:r>
              <a:rPr lang="en-US" altLang="en-US" dirty="0">
                <a:solidFill>
                  <a:srgbClr val="2780B7"/>
                </a:solidFill>
              </a:rPr>
              <a:t> </a:t>
            </a:r>
            <a:r>
              <a:rPr lang="en-US" altLang="en-US" dirty="0" smtClean="0">
                <a:solidFill>
                  <a:srgbClr val="2780B7"/>
                </a:solidFill>
              </a:rPr>
              <a:t>an existing database  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 smtClean="0">
                <a:solidFill>
                  <a:srgbClr val="FF33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dirty="0" smtClean="0">
                <a:solidFill>
                  <a:srgbClr val="FF3300"/>
                </a:solidFill>
              </a:rPr>
              <a:t>not recommended</a:t>
            </a:r>
            <a:endParaRPr lang="en-US" altLang="en-US" dirty="0">
              <a:solidFill>
                <a:srgbClr val="FF33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4840580" y="929309"/>
            <a:ext cx="0" cy="1158875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2304289" y="2399386"/>
            <a:ext cx="2154936" cy="104607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246805" y="3055062"/>
            <a:ext cx="2227050" cy="78572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246805" y="4067175"/>
            <a:ext cx="220510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 dirty="0" smtClean="0"/>
              <a:t>Import of </a:t>
            </a:r>
            <a:r>
              <a:rPr lang="nl-BE" altLang="en-US" dirty="0"/>
              <a:t>Interview </a:t>
            </a:r>
            <a:r>
              <a:rPr lang="nl-BE" altLang="en-US" dirty="0" smtClean="0"/>
              <a:t>Databases (2/2)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2CBCD5B-2858-4571-86CD-7E0609392336}" type="slidenum">
              <a:rPr lang="en-US" smtClean="0"/>
              <a:pPr>
                <a:defRPr/>
              </a:pPr>
              <a:t>19</a:t>
            </a:fld>
            <a:endParaRPr lang="en-US" sz="18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EPIC-Soft training:</a:t>
            </a:r>
            <a:endParaRPr 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914" y="1828796"/>
            <a:ext cx="5377317" cy="3440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74624" y="1561381"/>
            <a:ext cx="3017149" cy="406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GB" altLang="en-US" b="1" dirty="0" smtClean="0">
                <a:solidFill>
                  <a:srgbClr val="FF0000"/>
                </a:solidFill>
              </a:rPr>
              <a:t>  </a:t>
            </a:r>
            <a:endParaRPr lang="en-GB" altLang="en-US" b="1" dirty="0" smtClean="0">
              <a:solidFill>
                <a:srgbClr val="FF0000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 smtClean="0">
                <a:solidFill>
                  <a:srgbClr val="2780B7"/>
                </a:solidFill>
              </a:rPr>
              <a:t>Give an interview database </a:t>
            </a:r>
            <a:r>
              <a:rPr lang="en-US" altLang="en-US" b="1" dirty="0" smtClean="0">
                <a:solidFill>
                  <a:srgbClr val="2780B7"/>
                </a:solidFill>
              </a:rPr>
              <a:t>name </a:t>
            </a:r>
            <a:r>
              <a:rPr lang="en-US" altLang="en-US" dirty="0" smtClean="0">
                <a:solidFill>
                  <a:srgbClr val="2780B7"/>
                </a:solidFill>
              </a:rPr>
              <a:t>to </a:t>
            </a:r>
            <a:r>
              <a:rPr lang="en-US" altLang="en-US" dirty="0">
                <a:solidFill>
                  <a:srgbClr val="2780B7"/>
                </a:solidFill>
              </a:rPr>
              <a:t>import the </a:t>
            </a:r>
            <a:r>
              <a:rPr lang="en-US" altLang="en-US" dirty="0" smtClean="0">
                <a:solidFill>
                  <a:srgbClr val="2780B7"/>
                </a:solidFill>
              </a:rPr>
              <a:t>interviews 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 smtClean="0">
                <a:solidFill>
                  <a:srgbClr val="2780B7"/>
                </a:solidFill>
              </a:rPr>
              <a:t>OR give an existing database name to cumulate interviews. </a:t>
            </a: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>
              <a:solidFill>
                <a:srgbClr val="2780B7"/>
              </a:solidFill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US" altLang="en-US" dirty="0">
                <a:solidFill>
                  <a:srgbClr val="2780B7"/>
                </a:solidFill>
              </a:rPr>
              <a:t>Select the </a:t>
            </a:r>
            <a:r>
              <a:rPr lang="en-US" altLang="en-US" b="1" dirty="0" smtClean="0">
                <a:solidFill>
                  <a:srgbClr val="2780B7"/>
                </a:solidFill>
              </a:rPr>
              <a:t>folder &amp; several filenames</a:t>
            </a:r>
            <a:r>
              <a:rPr lang="en-US" altLang="en-US" dirty="0" smtClean="0">
                <a:solidFill>
                  <a:srgbClr val="2780B7"/>
                </a:solidFill>
              </a:rPr>
              <a:t> (xml-files) </a:t>
            </a:r>
            <a:r>
              <a:rPr lang="en-US" altLang="en-US" dirty="0">
                <a:solidFill>
                  <a:srgbClr val="2780B7"/>
                </a:solidFill>
              </a:rPr>
              <a:t>to import</a:t>
            </a:r>
          </a:p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endParaRPr lang="en-US" altLang="en-US" dirty="0">
              <a:solidFill>
                <a:srgbClr val="2780B7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277376" y="2631057"/>
            <a:ext cx="2061711" cy="43994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2898475" y="3441940"/>
            <a:ext cx="1440612" cy="28467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7" y="4357739"/>
            <a:ext cx="3353580" cy="1973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7" name="Straight Arrow Connector 26"/>
          <p:cNvCxnSpPr/>
          <p:nvPr/>
        </p:nvCxnSpPr>
        <p:spPr>
          <a:xfrm flipH="1">
            <a:off x="3545457" y="3516702"/>
            <a:ext cx="3433314" cy="210939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840580" y="1561381"/>
            <a:ext cx="0" cy="481792"/>
          </a:xfrm>
          <a:prstGeom prst="straightConnector1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00318" y="1396703"/>
            <a:ext cx="2524609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n-GB" altLang="en-US" b="1" dirty="0">
                <a:solidFill>
                  <a:srgbClr val="FF0000"/>
                </a:solidFill>
              </a:rPr>
              <a:t>BATCH-Import</a:t>
            </a:r>
          </a:p>
        </p:txBody>
      </p:sp>
      <p:pic>
        <p:nvPicPr>
          <p:cNvPr id="2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536" y="1434606"/>
            <a:ext cx="2381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1593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05336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Handling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bg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endParaRPr lang="en-US" sz="1400" b="1" dirty="0">
              <a:solidFill>
                <a:schemeClr val="bg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B5C506-E1D8-40F0-8EFB-64A10FA4F0FE}" type="slidenum">
              <a:rPr lang="en-US" smtClean="0"/>
              <a:pPr>
                <a:defRPr/>
              </a:pPr>
              <a:t>20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pic>
        <p:nvPicPr>
          <p:cNvPr id="3277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6"/>
          <a:stretch/>
        </p:blipFill>
        <p:spPr bwMode="auto">
          <a:xfrm>
            <a:off x="3198019" y="2659063"/>
            <a:ext cx="5145088" cy="306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266" y="2830353"/>
            <a:ext cx="2219325" cy="887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 flipH="1">
            <a:off x="6881714" y="3638708"/>
            <a:ext cx="1815405" cy="317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3024188" y="642918"/>
            <a:ext cx="5821362" cy="226220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449263" indent="-174625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r>
              <a:rPr lang="en-US" sz="2000" b="1" i="1" dirty="0" smtClean="0">
                <a:solidFill>
                  <a:srgbClr val="FF0000"/>
                </a:solidFill>
              </a:rPr>
              <a:t>Remove an Interview database </a:t>
            </a:r>
            <a:r>
              <a:rPr lang="en-US" sz="2000" b="1" i="1" dirty="0" smtClean="0"/>
              <a:t>function</a:t>
            </a:r>
            <a:endParaRPr lang="en-US" sz="2000" dirty="0"/>
          </a:p>
          <a:p>
            <a:pPr>
              <a:lnSpc>
                <a:spcPct val="80000"/>
              </a:lnSpc>
              <a:spcBef>
                <a:spcPct val="20000"/>
              </a:spcBef>
              <a:buSzPct val="85000"/>
              <a:defRPr/>
            </a:pPr>
            <a:endParaRPr lang="en-US" sz="2000" dirty="0" smtClean="0"/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altLang="en-US" dirty="0"/>
              <a:t>Available but strongly recommend </a:t>
            </a:r>
            <a:r>
              <a:rPr lang="en-US" altLang="en-US" dirty="0">
                <a:solidFill>
                  <a:srgbClr val="FF3300"/>
                </a:solidFill>
              </a:rPr>
              <a:t>not to use it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endParaRPr lang="en-US" dirty="0" smtClean="0"/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altLang="en-US" dirty="0" smtClean="0"/>
              <a:t>First focus a database then Remove it </a:t>
            </a:r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endParaRPr lang="en-US" altLang="en-US" dirty="0" smtClean="0"/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US" altLang="en-US" dirty="0" smtClean="0"/>
              <a:t>Only non-activated database can be removed</a:t>
            </a:r>
            <a:endParaRPr lang="en-US" dirty="0"/>
          </a:p>
        </p:txBody>
      </p:sp>
      <p:sp>
        <p:nvSpPr>
          <p:cNvPr id="17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727275" y="2544792"/>
            <a:ext cx="2154439" cy="122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653333-1175-4A3B-9384-5AC5798E6147}" type="slidenum">
              <a:rPr lang="en-US" smtClean="0"/>
              <a:pPr>
                <a:defRPr/>
              </a:pPr>
              <a:t>21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2962275" y="566718"/>
            <a:ext cx="6072188" cy="654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SzPct val="85000"/>
              <a:defRPr/>
            </a:pPr>
            <a:r>
              <a:rPr lang="en-GB" sz="2400" b="1" i="1" dirty="0">
                <a:solidFill>
                  <a:srgbClr val="FF3300"/>
                </a:solidFill>
              </a:rPr>
              <a:t>Note </a:t>
            </a:r>
            <a:r>
              <a:rPr lang="en-GB" sz="2400" b="1" i="1" dirty="0" smtClean="0">
                <a:solidFill>
                  <a:srgbClr val="FF3300"/>
                </a:solidFill>
              </a:rPr>
              <a:t>handling </a:t>
            </a:r>
            <a:r>
              <a:rPr lang="en-GB" sz="2400" dirty="0" smtClean="0"/>
              <a:t>to prepare the data cleaning</a:t>
            </a:r>
            <a:r>
              <a:rPr lang="en-GB" sz="2000" dirty="0" smtClean="0"/>
              <a:t> 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endParaRPr lang="en-GB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Use of the </a:t>
            </a:r>
            <a:r>
              <a:rPr lang="en-GB" dirty="0"/>
              <a:t>unique NOTE Excel </a:t>
            </a:r>
            <a:r>
              <a:rPr lang="en-GB" dirty="0" smtClean="0"/>
              <a:t>file using the Excel function </a:t>
            </a:r>
            <a:r>
              <a:rPr lang="en-GB" dirty="0"/>
              <a:t>called “Data” &amp; “From Text”</a:t>
            </a:r>
            <a:r>
              <a:rPr lang="en-GB" dirty="0" smtClean="0"/>
              <a:t> </a:t>
            </a:r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endParaRPr lang="en-GB" sz="800" dirty="0" smtClean="0"/>
          </a:p>
          <a:p>
            <a:pPr marL="342900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Coordinator can comment </a:t>
            </a:r>
            <a:r>
              <a:rPr lang="en-GB" dirty="0"/>
              <a:t>all the received </a:t>
            </a:r>
            <a:r>
              <a:rPr lang="en-GB" dirty="0" smtClean="0"/>
              <a:t>notes by:</a:t>
            </a:r>
            <a:endParaRPr lang="en-GB" dirty="0"/>
          </a:p>
          <a:p>
            <a:pPr marL="742950" lvl="1" indent="-285750">
              <a:buFontTx/>
              <a:buChar char="-"/>
            </a:pPr>
            <a:r>
              <a:rPr lang="en-GB" dirty="0" smtClean="0"/>
              <a:t>Adding </a:t>
            </a:r>
            <a:r>
              <a:rPr lang="en-GB" dirty="0"/>
              <a:t>information in </a:t>
            </a:r>
            <a:r>
              <a:rPr lang="en-GB" dirty="0" smtClean="0"/>
              <a:t>a added comment column</a:t>
            </a:r>
          </a:p>
          <a:p>
            <a:pPr marL="742950" lvl="1" indent="-285750">
              <a:buFontTx/>
              <a:buChar char="-"/>
            </a:pPr>
            <a:r>
              <a:rPr lang="en-GB" dirty="0" smtClean="0"/>
              <a:t>Changing the Note Status</a:t>
            </a:r>
            <a:r>
              <a:rPr lang="en-GB" sz="1600" dirty="0" smtClean="0"/>
              <a:t> (e.g. from New to Nothing to do)</a:t>
            </a:r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endParaRPr lang="en-GB" sz="800" dirty="0" smtClean="0"/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Using </a:t>
            </a:r>
            <a:r>
              <a:rPr lang="en-GB" dirty="0" err="1" smtClean="0"/>
              <a:t>GloboDiet</a:t>
            </a:r>
            <a:r>
              <a:rPr lang="en-GB" dirty="0" smtClean="0"/>
              <a:t> application:</a:t>
            </a:r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dirty="0" smtClean="0"/>
              <a:t>Import interview databases</a:t>
            </a:r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dirty="0" smtClean="0"/>
              <a:t>Activate </a:t>
            </a:r>
            <a:r>
              <a:rPr lang="en-GB" dirty="0"/>
              <a:t>an Interview database</a:t>
            </a:r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dirty="0"/>
              <a:t>Edit &amp; Update </a:t>
            </a:r>
            <a:r>
              <a:rPr lang="en-GB" dirty="0" smtClean="0"/>
              <a:t>the attached interviews</a:t>
            </a:r>
            <a:endParaRPr lang="en-GB" dirty="0"/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dirty="0"/>
              <a:t>Backup the updated interview </a:t>
            </a:r>
            <a:r>
              <a:rPr lang="en-GB" dirty="0" smtClean="0"/>
              <a:t>database to generate the csv-files &amp; </a:t>
            </a:r>
            <a:r>
              <a:rPr lang="en-GB" dirty="0" err="1" smtClean="0"/>
              <a:t>bak</a:t>
            </a:r>
            <a:r>
              <a:rPr lang="en-GB" dirty="0" smtClean="0"/>
              <a:t>-file</a:t>
            </a:r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endParaRPr lang="en-GB" sz="800" dirty="0"/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/>
              <a:t>Data Analyses</a:t>
            </a:r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dirty="0" smtClean="0"/>
              <a:t>Use and merge the generated csv-files </a:t>
            </a:r>
            <a:r>
              <a:rPr lang="en-GB" sz="1600" dirty="0"/>
              <a:t>(e.g. using </a:t>
            </a:r>
            <a:r>
              <a:rPr lang="en-GB" sz="1600" dirty="0" smtClean="0"/>
              <a:t>SAS…)</a:t>
            </a:r>
            <a:endParaRPr lang="en-GB" sz="1600" dirty="0"/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dirty="0" smtClean="0"/>
              <a:t>Quality control analyses</a:t>
            </a:r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endParaRPr lang="en-GB" sz="800" dirty="0" smtClean="0"/>
          </a:p>
          <a:p>
            <a:pPr marL="342900" lvl="1" indent="-342900">
              <a:lnSpc>
                <a:spcPct val="90000"/>
              </a:lnSpc>
              <a:buSzPct val="85000"/>
              <a:buFont typeface="Arial" pitchFamily="34" charset="0"/>
              <a:buChar char="•"/>
              <a:defRPr/>
            </a:pPr>
            <a:r>
              <a:rPr lang="en-GB" dirty="0" smtClean="0"/>
              <a:t>Guidelines:</a:t>
            </a:r>
            <a:endParaRPr lang="en-GB" dirty="0"/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sz="1600" dirty="0"/>
              <a:t>Data cleaning </a:t>
            </a:r>
            <a:r>
              <a:rPr lang="en-GB" sz="1600" dirty="0" smtClean="0"/>
              <a:t>protocol_xxxx.docx</a:t>
            </a:r>
            <a:endParaRPr lang="en-GB" sz="1600" dirty="0"/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sz="1600" dirty="0" smtClean="0"/>
              <a:t>Appendix 4_BackupRestore_document_xxxx.doc</a:t>
            </a:r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sz="1600" dirty="0"/>
              <a:t>Appendix </a:t>
            </a:r>
            <a:r>
              <a:rPr lang="en-GB" sz="1600" dirty="0" smtClean="0"/>
              <a:t>6_Export_guideline_xxxx.doc</a:t>
            </a:r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r>
              <a:rPr lang="en-GB" sz="1600" dirty="0"/>
              <a:t>Appendix 7_read_of_export_with_SAS_programs.doc</a:t>
            </a:r>
            <a:endParaRPr lang="en-GB" sz="1600" dirty="0" smtClean="0"/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endParaRPr lang="en-GB" dirty="0" smtClean="0"/>
          </a:p>
          <a:p>
            <a:pPr marL="742950" lvl="1" indent="-285750">
              <a:lnSpc>
                <a:spcPct val="90000"/>
              </a:lnSpc>
              <a:buSzPct val="85000"/>
              <a:buFontTx/>
              <a:buChar char="-"/>
              <a:defRPr/>
            </a:pPr>
            <a:endParaRPr lang="en-GB" dirty="0"/>
          </a:p>
          <a:p>
            <a:pPr marL="742950" lvl="1" indent="-285750">
              <a:buFontTx/>
              <a:buChar char="-"/>
            </a:pPr>
            <a:endParaRPr lang="en-GB" sz="1600" dirty="0" smtClean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 dirty="0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</a:p>
        </p:txBody>
      </p:sp>
      <p:sp>
        <p:nvSpPr>
          <p:cNvPr id="14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521628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 /Importing Interview Databases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Note 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Summary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eaLnBrk="1" fontAlgn="auto" hangingPunct="1">
              <a:spcAft>
                <a:spcPts val="300"/>
              </a:spcAft>
              <a:defRPr/>
            </a:pP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92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381000" y="1857364"/>
            <a:ext cx="2362200" cy="4362461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Installing/uninstalling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Handling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of Interview and </a:t>
            </a:r>
            <a:r>
              <a:rPr lang="en-US" sz="1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GloboDiet</a:t>
            </a: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on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Backing up/Restoring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Interview Database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Exporting/Importing Interview Databases </a:t>
            </a:r>
            <a:endParaRPr lang="en-US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Removing Interview Databases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Note Handling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1400" b="1" dirty="0" smtClean="0">
                <a:solidFill>
                  <a:schemeClr val="bg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Summary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6FEBED-0E33-45A2-AB53-CAD7EF709CD4}" type="slidenum">
              <a:rPr lang="en-US" smtClean="0"/>
              <a:pPr>
                <a:defRPr/>
              </a:pPr>
              <a:t>22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pic>
        <p:nvPicPr>
          <p:cNvPr id="9" name="Afbeelding 8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81000" y="1071546"/>
            <a:ext cx="2362200" cy="704848"/>
          </a:xfrm>
          <a:prstGeom prst="rect">
            <a:avLst/>
          </a:prstGeom>
        </p:spPr>
        <p:txBody>
          <a:bodyPr anchor="b"/>
          <a:lstStyle/>
          <a:p>
            <a:pPr fontAlgn="auto">
              <a:spcAft>
                <a:spcPts val="0"/>
              </a:spcAft>
              <a:defRPr/>
            </a:pPr>
            <a:r>
              <a:rPr lang="en-US" sz="2200" b="1">
                <a:solidFill>
                  <a:srgbClr val="FFFFFF"/>
                </a:solidFill>
                <a:effectLst>
                  <a:reflection blurRad="6350" stA="55000" endA="300" endPos="45500" dir="5400000" sy="-100000" algn="bl" rotWithShape="0"/>
                </a:effectLst>
                <a:latin typeface="+mn-lt"/>
                <a:cs typeface="Arial" charset="0"/>
              </a:rPr>
              <a:t>Outline</a:t>
            </a:r>
            <a:endParaRPr lang="en-US" sz="2200" b="1" dirty="0">
              <a:solidFill>
                <a:srgbClr val="FFFFFF"/>
              </a:solidFill>
              <a:effectLst>
                <a:reflection blurRad="6350" stA="55000" endA="300" endPos="45500" dir="5400000" sy="-100000" algn="bl" rotWithShape="0"/>
              </a:effectLst>
              <a:latin typeface="+mn-lt"/>
              <a:cs typeface="Arial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105150" y="655638"/>
            <a:ext cx="5753100" cy="5751512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 typeface="Wingdings 2" pitchFamily="18" charset="2"/>
              <a:buChar char=""/>
              <a:defRPr/>
            </a:pPr>
            <a:r>
              <a:rPr lang="en-GB" sz="2400" b="1" dirty="0" smtClean="0">
                <a:solidFill>
                  <a:srgbClr val="FF3300"/>
                </a:solidFill>
              </a:rPr>
              <a:t>Main used functions </a:t>
            </a:r>
            <a:r>
              <a:rPr lang="en-GB" sz="2400" b="1" dirty="0" smtClean="0"/>
              <a:t>in </a:t>
            </a:r>
            <a:r>
              <a:rPr lang="en-GB" sz="2400" b="1" dirty="0" err="1" smtClean="0"/>
              <a:t>GloboDiet</a:t>
            </a:r>
            <a:r>
              <a:rPr lang="en-GB" sz="2400" b="1" dirty="0" smtClean="0"/>
              <a:t> </a:t>
            </a:r>
            <a:r>
              <a:rPr lang="en-GB" sz="2400" dirty="0" smtClean="0"/>
              <a:t>for the data management are:</a:t>
            </a:r>
          </a:p>
          <a:p>
            <a:pPr marL="542925" indent="-34290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dirty="0" smtClean="0">
                <a:solidFill>
                  <a:srgbClr val="FF3300"/>
                </a:solidFill>
              </a:rPr>
              <a:t>Save very regularly interviews </a:t>
            </a:r>
            <a:r>
              <a:rPr lang="en-US" sz="2200" dirty="0" smtClean="0"/>
              <a:t>using the </a:t>
            </a:r>
            <a:r>
              <a:rPr lang="en-US" sz="2200" b="1" dirty="0" smtClean="0"/>
              <a:t>Backup</a:t>
            </a:r>
            <a:r>
              <a:rPr lang="en-US" sz="2200" dirty="0" smtClean="0"/>
              <a:t> </a:t>
            </a:r>
            <a:r>
              <a:rPr lang="en-US" sz="2200" b="1" dirty="0" smtClean="0"/>
              <a:t>to</a:t>
            </a:r>
            <a:r>
              <a:rPr lang="en-US" sz="2200" dirty="0" smtClean="0"/>
              <a:t> function</a:t>
            </a:r>
          </a:p>
          <a:p>
            <a:pPr marL="542925" indent="-34290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dirty="0"/>
              <a:t>In case of PC failure, the </a:t>
            </a:r>
            <a:r>
              <a:rPr lang="en-US" sz="2200" b="1" dirty="0"/>
              <a:t>Restore interviews </a:t>
            </a:r>
            <a:r>
              <a:rPr lang="en-US" sz="2200" dirty="0"/>
              <a:t>function has to be used (</a:t>
            </a:r>
            <a:r>
              <a:rPr lang="en-US" sz="2200" dirty="0" err="1"/>
              <a:t>bak</a:t>
            </a:r>
            <a:r>
              <a:rPr lang="en-US" sz="2200" dirty="0"/>
              <a:t>-file)</a:t>
            </a:r>
          </a:p>
          <a:p>
            <a:pPr marL="542925" indent="-34290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dirty="0" smtClean="0">
                <a:solidFill>
                  <a:srgbClr val="FF3300"/>
                </a:solidFill>
              </a:rPr>
              <a:t>Export &amp; delete Interviews regularly </a:t>
            </a:r>
            <a:r>
              <a:rPr lang="en-US" sz="2200" dirty="0" smtClean="0"/>
              <a:t>using the export function in order </a:t>
            </a:r>
            <a:r>
              <a:rPr lang="en-US" sz="2200" b="1" dirty="0" smtClean="0"/>
              <a:t>to send them to Coordinator</a:t>
            </a:r>
            <a:r>
              <a:rPr lang="en-US" sz="2200" dirty="0" smtClean="0"/>
              <a:t>.</a:t>
            </a:r>
          </a:p>
          <a:p>
            <a:pPr marL="542925" indent="-34290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b="1" dirty="0" smtClean="0"/>
              <a:t>Reception &amp; </a:t>
            </a:r>
            <a:r>
              <a:rPr lang="en-US" sz="2200" dirty="0" smtClean="0">
                <a:solidFill>
                  <a:srgbClr val="FF3300"/>
                </a:solidFill>
              </a:rPr>
              <a:t>Import interviews </a:t>
            </a:r>
            <a:r>
              <a:rPr lang="en-US" sz="2200" dirty="0" smtClean="0"/>
              <a:t>coming from Interviewers to centralized them </a:t>
            </a:r>
          </a:p>
          <a:p>
            <a:pPr marL="542925" indent="-34290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b="1" dirty="0" smtClean="0"/>
              <a:t>Handling the Notes </a:t>
            </a:r>
            <a:r>
              <a:rPr lang="en-US" sz="2200" dirty="0" smtClean="0"/>
              <a:t>using the Note files (outside </a:t>
            </a:r>
            <a:r>
              <a:rPr lang="en-US" sz="2200" dirty="0" err="1" smtClean="0"/>
              <a:t>GloboDiet</a:t>
            </a:r>
            <a:r>
              <a:rPr lang="en-US" sz="2200" dirty="0" smtClean="0"/>
              <a:t>)</a:t>
            </a:r>
          </a:p>
          <a:p>
            <a:pPr marL="542925" indent="-34290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dirty="0" smtClean="0">
                <a:solidFill>
                  <a:srgbClr val="FF3300"/>
                </a:solidFill>
              </a:rPr>
              <a:t>Restore </a:t>
            </a:r>
            <a:r>
              <a:rPr lang="en-US" sz="2200" dirty="0" smtClean="0"/>
              <a:t>a new updated </a:t>
            </a:r>
            <a:r>
              <a:rPr lang="en-US" sz="2200" dirty="0" err="1" smtClean="0"/>
              <a:t>GloboDiet</a:t>
            </a:r>
            <a:r>
              <a:rPr lang="en-US" sz="2200" dirty="0" smtClean="0"/>
              <a:t> database   (if available)</a:t>
            </a:r>
          </a:p>
          <a:p>
            <a:pPr marL="542925" indent="-34290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dirty="0" smtClean="0">
                <a:solidFill>
                  <a:srgbClr val="FF3300"/>
                </a:solidFill>
              </a:rPr>
              <a:t>Edit and Update </a:t>
            </a:r>
            <a:r>
              <a:rPr lang="en-US" sz="2200" dirty="0" smtClean="0"/>
              <a:t>the interviews</a:t>
            </a:r>
          </a:p>
          <a:p>
            <a:pPr marL="542925" indent="-34290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dirty="0" smtClean="0">
                <a:solidFill>
                  <a:srgbClr val="FF3300"/>
                </a:solidFill>
              </a:rPr>
              <a:t>Generate the csv-files using the backup </a:t>
            </a:r>
            <a:r>
              <a:rPr lang="en-US" sz="2200" dirty="0" smtClean="0"/>
              <a:t>function for data analyses</a:t>
            </a:r>
          </a:p>
          <a:p>
            <a:pPr marL="542925" indent="-3429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SzPct val="85000"/>
              <a:buFontTx/>
              <a:buChar char="-"/>
              <a:defRPr/>
            </a:pPr>
            <a:r>
              <a:rPr lang="en-US" sz="2200" dirty="0" smtClean="0"/>
              <a:t>  </a:t>
            </a:r>
            <a:endParaRPr lang="en-US" sz="2400" dirty="0" smtClean="0"/>
          </a:p>
        </p:txBody>
      </p:sp>
      <p:sp>
        <p:nvSpPr>
          <p:cNvPr id="14" name="Tekstvak 7"/>
          <p:cNvSpPr txBox="1">
            <a:spLocks noChangeArrowheads="1"/>
          </p:cNvSpPr>
          <p:nvPr/>
        </p:nvSpPr>
        <p:spPr bwMode="auto">
          <a:xfrm>
            <a:off x="1719263" y="6416675"/>
            <a:ext cx="3109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1400">
                <a:solidFill>
                  <a:srgbClr val="FFFFFF"/>
                </a:solidFill>
                <a:cs typeface="Arial" charset="0"/>
              </a:rPr>
              <a:t>Technical IT issues </a:t>
            </a: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694113" cy="304800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538413"/>
          </a:xfrm>
          <a:solidFill>
            <a:srgbClr val="F2F5F1"/>
          </a:solidFill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nl-BE" sz="1700" dirty="0" smtClean="0"/>
              <a:t>International agency for research on cancer lyon - france</a:t>
            </a:r>
            <a:endParaRPr lang="nl-BE" sz="17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Technical IT issues </a:t>
            </a:r>
            <a:br>
              <a:rPr lang="en-US" altLang="en-US" dirty="0" smtClean="0"/>
            </a:br>
            <a:r>
              <a:rPr lang="en-US" altLang="en-US" dirty="0" smtClean="0"/>
              <a:t>around </a:t>
            </a:r>
            <a:r>
              <a:rPr lang="en-US" altLang="en-US" dirty="0" err="1" smtClean="0"/>
              <a:t>GloboDiet</a:t>
            </a:r>
            <a:endParaRPr lang="en-US" altLang="en-US" dirty="0" smtClean="0"/>
          </a:p>
        </p:txBody>
      </p:sp>
      <p:pic>
        <p:nvPicPr>
          <p:cNvPr id="13316" name="Picture 7" descr="http://monographs.iarc.fr/images/logoiarc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42925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1"/>
          <p:cNvSpPr txBox="1">
            <a:spLocks noChangeArrowheads="1"/>
          </p:cNvSpPr>
          <p:nvPr/>
        </p:nvSpPr>
        <p:spPr bwMode="auto">
          <a:xfrm>
            <a:off x="7380288" y="5602288"/>
            <a:ext cx="1223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nl-BE" altLang="en-US" sz="2800">
                <a:solidFill>
                  <a:srgbClr val="4BA2D9"/>
                </a:solidFill>
                <a:cs typeface="Arial" charset="0"/>
              </a:rPr>
              <a:t>e-SMP</a:t>
            </a:r>
          </a:p>
        </p:txBody>
      </p:sp>
    </p:spTree>
    <p:extLst>
      <p:ext uri="{BB962C8B-B14F-4D97-AF65-F5344CB8AC3E}">
        <p14:creationId xmlns:p14="http://schemas.microsoft.com/office/powerpoint/2010/main" val="48575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el">
  <a:themeElements>
    <a:clrScheme name="EPIC-IARC">
      <a:dk1>
        <a:sysClr val="windowText" lastClr="000000"/>
      </a:dk1>
      <a:lt1>
        <a:sysClr val="window" lastClr="FFFFFF"/>
      </a:lt1>
      <a:dk2>
        <a:srgbClr val="646B86"/>
      </a:dk2>
      <a:lt2>
        <a:srgbClr val="F0F4F0"/>
      </a:lt2>
      <a:accent1>
        <a:srgbClr val="4BA2D9"/>
      </a:accent1>
      <a:accent2>
        <a:srgbClr val="CCB400"/>
      </a:accent2>
      <a:accent3>
        <a:srgbClr val="99CC33"/>
      </a:accent3>
      <a:accent4>
        <a:srgbClr val="8C7B70"/>
      </a:accent4>
      <a:accent5>
        <a:srgbClr val="8FB08C"/>
      </a:accent5>
      <a:accent6>
        <a:srgbClr val="D19049"/>
      </a:accent6>
      <a:hlink>
        <a:srgbClr val="4BA2D9"/>
      </a:hlink>
      <a:folHlink>
        <a:srgbClr val="4BA2D9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e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117C618FBFB40856EC52F4C60CBC5" ma:contentTypeVersion="18" ma:contentTypeDescription="Create a new document." ma:contentTypeScope="" ma:versionID="49df8a4e50af2e0b35fb1d2cbeaf40b9">
  <xsd:schema xmlns:xsd="http://www.w3.org/2001/XMLSchema" xmlns:xs="http://www.w3.org/2001/XMLSchema" xmlns:p="http://schemas.microsoft.com/office/2006/metadata/properties" xmlns:ns2="8340c1bc-d1cd-4b41-91bb-2c2f20a57517" xmlns:ns3="1891344d-db52-4f9c-9457-ef23ea7639fb" targetNamespace="http://schemas.microsoft.com/office/2006/metadata/properties" ma:root="true" ma:fieldsID="ba476b508b474beda7edf354cc99a575" ns2:_="" ns3:_="">
    <xsd:import namespace="8340c1bc-d1cd-4b41-91bb-2c2f20a57517"/>
    <xsd:import namespace="1891344d-db52-4f9c-9457-ef23ea7639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0c1bc-d1cd-4b41-91bb-2c2f20a575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a4eac88-8ae6-4a96-90c7-97bc93c844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91344d-db52-4f9c-9457-ef23ea7639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25c54d7-cef0-400e-a044-5cf48fe0a388}" ma:internalName="TaxCatchAll" ma:showField="CatchAllData" ma:web="1891344d-db52-4f9c-9457-ef23ea7639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40c1bc-d1cd-4b41-91bb-2c2f20a57517">
      <Terms xmlns="http://schemas.microsoft.com/office/infopath/2007/PartnerControls"/>
    </lcf76f155ced4ddcb4097134ff3c332f>
    <TaxCatchAll xmlns="1891344d-db52-4f9c-9457-ef23ea7639fb" xsi:nil="true"/>
  </documentManagement>
</p:properties>
</file>

<file path=customXml/itemProps1.xml><?xml version="1.0" encoding="utf-8"?>
<ds:datastoreItem xmlns:ds="http://schemas.openxmlformats.org/officeDocument/2006/customXml" ds:itemID="{87181E6C-B2E9-4447-81ED-47FE7988281A}"/>
</file>

<file path=customXml/itemProps2.xml><?xml version="1.0" encoding="utf-8"?>
<ds:datastoreItem xmlns:ds="http://schemas.openxmlformats.org/officeDocument/2006/customXml" ds:itemID="{2B2FC13A-A81C-4468-976A-F6666325E574}"/>
</file>

<file path=customXml/itemProps3.xml><?xml version="1.0" encoding="utf-8"?>
<ds:datastoreItem xmlns:ds="http://schemas.openxmlformats.org/officeDocument/2006/customXml" ds:itemID="{DFBB4DBC-90F3-4562-A70C-880B512DF5DC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6908</TotalTime>
  <Words>1583</Words>
  <Application>Microsoft Office PowerPoint</Application>
  <PresentationFormat>On-screen Show (4:3)</PresentationFormat>
  <Paragraphs>421</Paragraphs>
  <Slides>23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Civiel</vt:lpstr>
      <vt:lpstr>Technical IT issues  around GloboDiet</vt:lpstr>
      <vt:lpstr>Outline</vt:lpstr>
      <vt:lpstr>PowerPoint Presentation</vt:lpstr>
      <vt:lpstr>PowerPoint Presentation</vt:lpstr>
      <vt:lpstr>Restoring GloboDiet Databases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Backing up Interview Database</vt:lpstr>
      <vt:lpstr>PowerPoint Presentation</vt:lpstr>
      <vt:lpstr>Restoring Interview Database</vt:lpstr>
      <vt:lpstr>PowerPoint Presentation</vt:lpstr>
      <vt:lpstr>Exporting Interview Databases</vt:lpstr>
      <vt:lpstr>PowerPoint Presentation</vt:lpstr>
      <vt:lpstr>Importing Interview Databases (1/2)</vt:lpstr>
      <vt:lpstr>Import of Interview Databases (2/2)</vt:lpstr>
      <vt:lpstr>PowerPoint Presentation</vt:lpstr>
      <vt:lpstr>PowerPoint Presentation</vt:lpstr>
      <vt:lpstr>PowerPoint Presentation</vt:lpstr>
      <vt:lpstr>Technical IT issues  around GloboDiet</vt:lpstr>
    </vt:vector>
  </TitlesOfParts>
  <Company>CAPCO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IT issues</dc:title>
  <dc:creator>IARC</dc:creator>
  <cp:lastModifiedBy>Casagrande Corinne</cp:lastModifiedBy>
  <cp:revision>315</cp:revision>
  <dcterms:created xsi:type="dcterms:W3CDTF">2012-03-05T08:07:27Z</dcterms:created>
  <dcterms:modified xsi:type="dcterms:W3CDTF">2016-05-16T14:57:07Z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0x010100E43117C618FBFB40856EC52F4C60CBC5</vt:lpwstr>
  </property>
</Properties>
</file>