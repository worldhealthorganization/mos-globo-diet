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5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handoutMasters/handoutMaster1.xml" ContentType="application/vnd.openxmlformats-officedocument.presentationml.handoutMaster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6" r:id="rId1"/>
  </p:sldMasterIdLst>
  <p:notesMasterIdLst>
    <p:notesMasterId r:id="rId18"/>
  </p:notesMasterIdLst>
  <p:handoutMasterIdLst>
    <p:handoutMasterId r:id="rId19"/>
  </p:handoutMasterIdLst>
  <p:sldIdLst>
    <p:sldId id="256" r:id="rId2"/>
    <p:sldId id="347" r:id="rId3"/>
    <p:sldId id="279" r:id="rId4"/>
    <p:sldId id="416" r:id="rId5"/>
    <p:sldId id="401" r:id="rId6"/>
    <p:sldId id="404" r:id="rId7"/>
    <p:sldId id="405" r:id="rId8"/>
    <p:sldId id="415" r:id="rId9"/>
    <p:sldId id="410" r:id="rId10"/>
    <p:sldId id="407" r:id="rId11"/>
    <p:sldId id="408" r:id="rId12"/>
    <p:sldId id="419" r:id="rId13"/>
    <p:sldId id="409" r:id="rId14"/>
    <p:sldId id="414" r:id="rId15"/>
    <p:sldId id="418" r:id="rId16"/>
    <p:sldId id="417" r:id="rId17"/>
  </p:sldIdLst>
  <p:sldSz cx="9144000" cy="6858000" type="screen4x3"/>
  <p:notesSz cx="9926638" cy="67976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2A89C4"/>
    <a:srgbClr val="2780B7"/>
    <a:srgbClr val="2476A8"/>
    <a:srgbClr val="206A98"/>
    <a:srgbClr val="3799D5"/>
    <a:srgbClr val="CC0000"/>
    <a:srgbClr val="C9D4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04" autoAdjust="0"/>
    <p:restoredTop sz="98713" autoAdjust="0"/>
  </p:normalViewPr>
  <p:slideViewPr>
    <p:cSldViewPr>
      <p:cViewPr varScale="1">
        <p:scale>
          <a:sx n="102" d="100"/>
          <a:sy n="102" d="100"/>
        </p:scale>
        <p:origin x="-96" y="-1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-2796" y="-96"/>
      </p:cViewPr>
      <p:guideLst>
        <p:guide orient="horz" pos="2141"/>
        <p:guide pos="3127"/>
      </p:guideLst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customXml" Target="../customXml/item3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2125" cy="3397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22925" y="0"/>
            <a:ext cx="4302125" cy="3397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C09FF3F9-24B3-4750-B7F0-524E6ABB15F7}" type="datetimeFigureOut">
              <a:rPr lang="en-GB"/>
              <a:pPr>
                <a:defRPr/>
              </a:pPr>
              <a:t>20/11/2014</a:t>
            </a:fld>
            <a:endParaRPr lang="en-GB"/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56363"/>
            <a:ext cx="4302125" cy="3397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22925" y="6456363"/>
            <a:ext cx="4302125" cy="3397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677AE9A9-0189-47CD-AE1A-4F4B3750B3C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06170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125" cy="339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925" y="0"/>
            <a:ext cx="4302125" cy="339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64F51C86-4FFA-4AD1-BF12-DEE1FA0751BD}" type="datetimeFigureOut">
              <a:rPr lang="nl-BE"/>
              <a:pPr>
                <a:defRPr/>
              </a:pPr>
              <a:t>20/11/2014</a:t>
            </a:fld>
            <a:endParaRPr lang="nl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8838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nl-BE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188" y="3228975"/>
            <a:ext cx="7942262" cy="30591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nl-BE" noProof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56363"/>
            <a:ext cx="4302125" cy="339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925" y="6456363"/>
            <a:ext cx="4302125" cy="339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F9E24803-DA92-4672-8F0D-DE27A16DA1FB}" type="slidenum">
              <a:rPr lang="nl-BE"/>
              <a:pPr>
                <a:defRPr/>
              </a:pPr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4231356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nl-BE" altLang="en-US" smtClean="0"/>
          </a:p>
        </p:txBody>
      </p:sp>
      <p:sp>
        <p:nvSpPr>
          <p:cNvPr id="59396" name="Tijdelijke aanduiding voor dianummer 3"/>
          <p:cNvSpPr>
            <a:spLocks noGrp="1"/>
          </p:cNvSpPr>
          <p:nvPr>
            <p:ph type="sldNum" sz="quarter" idx="5"/>
          </p:nvPr>
        </p:nvSpPr>
        <p:spPr bwMode="auto">
          <a:extLst/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C34E3FFE-A068-4800-AC08-3CFA6E7BD107}" type="slidenum">
              <a:rPr lang="nl-BE" smtClean="0"/>
              <a:pPr eaLnBrk="1" hangingPunct="1">
                <a:defRPr/>
              </a:pPr>
              <a:t>1</a:t>
            </a:fld>
            <a:endParaRPr lang="nl-BE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extLst/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79F574AF-F216-4257-947C-2BBA481635FA}" type="slidenum">
              <a:rPr lang="en-US" smtClean="0"/>
              <a:pPr eaLnBrk="1" hangingPunct="1">
                <a:defRPr/>
              </a:pPr>
              <a:t>2</a:t>
            </a:fld>
            <a:endParaRPr lang="en-US" smtClean="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nl-BE" alt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extLst/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21D2CEA7-413C-4FFA-9232-71CC58007CA6}" type="slidenum">
              <a:rPr lang="en-US" smtClean="0"/>
              <a:pPr eaLnBrk="1" hangingPunct="1">
                <a:defRPr/>
              </a:pPr>
              <a:t>3</a:t>
            </a:fld>
            <a:endParaRPr lang="en-US" smtClean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nl-BE" alt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extLst/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48A8B75A-F2AF-4A22-8AC9-E040C63B2D3B}" type="slidenum">
              <a:rPr lang="en-US" smtClean="0"/>
              <a:pPr eaLnBrk="1" hangingPunct="1">
                <a:defRPr/>
              </a:pPr>
              <a:t>5</a:t>
            </a:fld>
            <a:endParaRPr lang="en-US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nl-BE" alt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extLst/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1CADD9E8-60A6-47CC-B0ED-5A7EE7F62C17}" type="slidenum">
              <a:rPr lang="en-US" smtClean="0"/>
              <a:pPr eaLnBrk="1" hangingPunct="1">
                <a:defRPr/>
              </a:pPr>
              <a:t>8</a:t>
            </a:fld>
            <a:endParaRPr lang="en-US" smtClean="0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nl-BE" alt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extLst/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E3D6C65F-8A27-451D-831C-92876EA3A00A}" type="slidenum">
              <a:rPr lang="en-US" smtClean="0"/>
              <a:pPr eaLnBrk="1" hangingPunct="1">
                <a:defRPr/>
              </a:pPr>
              <a:t>9</a:t>
            </a:fld>
            <a:endParaRPr lang="en-US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nl-BE" alt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GB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B2F65B-6400-4E7A-B6D5-4CBD37DB289B}" type="slidenum">
              <a:rPr lang="nl-BE" smtClean="0"/>
              <a:pPr>
                <a:defRPr/>
              </a:pPr>
              <a:t>14</a:t>
            </a:fld>
            <a:endParaRPr lang="nl-BE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extLst/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C36B65E3-4B66-4B0F-A6BC-6DC3D050E81E}" type="slidenum">
              <a:rPr lang="en-US" smtClean="0"/>
              <a:pPr eaLnBrk="1" hangingPunct="1">
                <a:defRPr/>
              </a:pPr>
              <a:t>16</a:t>
            </a:fld>
            <a:endParaRPr lang="en-US" smtClean="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nl-BE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hoek 19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BE" altLang="en-US" smtClean="0"/>
          </a:p>
        </p:txBody>
      </p:sp>
      <p:sp>
        <p:nvSpPr>
          <p:cNvPr id="5" name="Rechthoek 20"/>
          <p:cNvSpPr>
            <a:spLocks noChangeArrowheads="1"/>
          </p:cNvSpPr>
          <p:nvPr/>
        </p:nvSpPr>
        <p:spPr bwMode="white">
          <a:xfrm>
            <a:off x="8991600" y="3175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BE" altLang="en-US" smtClean="0"/>
          </a:p>
        </p:txBody>
      </p:sp>
      <p:sp>
        <p:nvSpPr>
          <p:cNvPr id="6" name="Rechthoek 23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BE" altLang="en-US" smtClean="0"/>
          </a:p>
        </p:txBody>
      </p:sp>
      <p:sp>
        <p:nvSpPr>
          <p:cNvPr id="7" name="Rechthoek 24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BE" altLang="en-US" smtClean="0"/>
          </a:p>
        </p:txBody>
      </p:sp>
      <p:sp>
        <p:nvSpPr>
          <p:cNvPr id="10" name="Rechthoek 25"/>
          <p:cNvSpPr>
            <a:spLocks noChangeArrowheads="1"/>
          </p:cNvSpPr>
          <p:nvPr/>
        </p:nvSpPr>
        <p:spPr bwMode="auto">
          <a:xfrm>
            <a:off x="142875" y="6405563"/>
            <a:ext cx="8858250" cy="30956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1" name="Rechte verbindingslijn 26"/>
          <p:cNvSpPr>
            <a:spLocks noChangeShapeType="1"/>
          </p:cNvSpPr>
          <p:nvPr/>
        </p:nvSpPr>
        <p:spPr bwMode="auto">
          <a:xfrm>
            <a:off x="155575" y="2419350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2" name="Rechthoek 27"/>
          <p:cNvSpPr>
            <a:spLocks noChangeArrowheads="1"/>
          </p:cNvSpPr>
          <p:nvPr/>
        </p:nvSpPr>
        <p:spPr bwMode="auto">
          <a:xfrm>
            <a:off x="152400" y="152400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3" name="Ovaal 28"/>
          <p:cNvSpPr/>
          <p:nvPr/>
        </p:nvSpPr>
        <p:spPr>
          <a:xfrm>
            <a:off x="4267200" y="211455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Ovaal 29"/>
          <p:cNvSpPr/>
          <p:nvPr/>
        </p:nvSpPr>
        <p:spPr>
          <a:xfrm>
            <a:off x="4362450" y="2209800"/>
            <a:ext cx="4191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Ondertitel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nl-NL" dirty="0" smtClean="0"/>
              <a:t>Klik om het opmaakprofiel van de modelondertitel te bewerken</a:t>
            </a:r>
            <a:endParaRPr lang="en-US" dirty="0"/>
          </a:p>
        </p:txBody>
      </p:sp>
      <p:sp>
        <p:nvSpPr>
          <p:cNvPr id="8" name="Titel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/>
          <a:lstStyle>
            <a:lvl1pPr>
              <a:defRPr sz="4200">
                <a:solidFill>
                  <a:srgbClr val="2780B7"/>
                </a:solidFill>
              </a:defRPr>
            </a:lvl1pPr>
          </a:lstStyle>
          <a:p>
            <a:r>
              <a:rPr lang="nl-NL" dirty="0" smtClean="0"/>
              <a:t>Klik om de stijl te bewerken</a:t>
            </a:r>
            <a:endParaRPr lang="en-US" dirty="0"/>
          </a:p>
        </p:txBody>
      </p:sp>
      <p:sp>
        <p:nvSpPr>
          <p:cNvPr id="15" name="Tijdelijke aanduiding voor datum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16" name="Tijdelijke aanduiding voor voettekst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EPIC-Soft training:</a:t>
            </a:r>
            <a:endParaRPr lang="en-US"/>
          </a:p>
        </p:txBody>
      </p:sp>
      <p:sp>
        <p:nvSpPr>
          <p:cNvPr id="17" name="Tijdelijke aanduiding voor dianummer 28"/>
          <p:cNvSpPr>
            <a:spLocks noGrp="1"/>
          </p:cNvSpPr>
          <p:nvPr>
            <p:ph type="sldNum" sz="quarter" idx="12"/>
          </p:nvPr>
        </p:nvSpPr>
        <p:spPr>
          <a:xfrm>
            <a:off x="4343400" y="2198688"/>
            <a:ext cx="457200" cy="441325"/>
          </a:xfrm>
        </p:spPr>
        <p:txBody>
          <a:bodyPr/>
          <a:lstStyle>
            <a:lvl1pPr>
              <a:defRPr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08C5678E-E54B-4394-AF6F-DCB93C41BA5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55267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inhoud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>
            <a:lvl2pPr>
              <a:buClr>
                <a:schemeClr val="accent1"/>
              </a:buClr>
              <a:defRPr>
                <a:solidFill>
                  <a:srgbClr val="2780B7"/>
                </a:solidFill>
              </a:defRPr>
            </a:lvl2pPr>
          </a:lstStyle>
          <a:p>
            <a:pPr lvl="0"/>
            <a:r>
              <a:rPr lang="nl-NL" dirty="0" smtClean="0"/>
              <a:t>Klik om de modelstijlen te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en-US" dirty="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780B7"/>
                </a:solidFill>
              </a:defRPr>
            </a:lvl1pPr>
          </a:lstStyle>
          <a:p>
            <a:r>
              <a:rPr lang="nl-NL" dirty="0" smtClean="0"/>
              <a:t>Klik om de stijl te bewerken</a:t>
            </a:r>
            <a:endParaRPr lang="nl-BE" dirty="0"/>
          </a:p>
        </p:txBody>
      </p:sp>
      <p:sp>
        <p:nvSpPr>
          <p:cNvPr id="4" name="Tijdelijke aanduiding voor datum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eaLnBrk="1" latinLnBrk="0" hangingPunct="1">
              <a:defRPr/>
            </a:lvl1pPr>
          </a:lstStyle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5" name="Tijdelijke aanduiding voor dianumm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1600"/>
            </a:lvl1pPr>
          </a:lstStyle>
          <a:p>
            <a:pPr>
              <a:defRPr/>
            </a:pPr>
            <a:fld id="{A1E1A012-FD19-4C4E-A2E3-D003F54E857E}" type="slidenum">
              <a:rPr lang="en-US"/>
              <a:pPr>
                <a:defRPr/>
              </a:pPr>
              <a:t>‹#›</a:t>
            </a:fld>
            <a:endParaRPr lang="en-US" sz="1800" dirty="0"/>
          </a:p>
        </p:txBody>
      </p:sp>
      <p:sp>
        <p:nvSpPr>
          <p:cNvPr id="6" name="Tijdelijke aanduiding voor voettekst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EPIC-Soft training: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374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hoek 1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BE" altLang="en-US" smtClean="0"/>
          </a:p>
        </p:txBody>
      </p:sp>
      <p:sp>
        <p:nvSpPr>
          <p:cNvPr id="5" name="Rechthoek 20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BE" altLang="en-US" smtClean="0"/>
          </a:p>
        </p:txBody>
      </p:sp>
      <p:sp>
        <p:nvSpPr>
          <p:cNvPr id="6" name="Rechthoek 23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BE" altLang="en-US" smtClean="0"/>
          </a:p>
        </p:txBody>
      </p:sp>
      <p:sp>
        <p:nvSpPr>
          <p:cNvPr id="7" name="Rechthoek 24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BE" altLang="en-US" smtClean="0"/>
          </a:p>
        </p:txBody>
      </p:sp>
      <p:sp>
        <p:nvSpPr>
          <p:cNvPr id="8" name="Rechthoek 25"/>
          <p:cNvSpPr>
            <a:spLocks noChangeArrowheads="1"/>
          </p:cNvSpPr>
          <p:nvPr/>
        </p:nvSpPr>
        <p:spPr bwMode="white">
          <a:xfrm>
            <a:off x="152400" y="2286000"/>
            <a:ext cx="8832850" cy="3048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BE" altLang="en-US" smtClean="0"/>
          </a:p>
        </p:txBody>
      </p:sp>
      <p:sp>
        <p:nvSpPr>
          <p:cNvPr id="9" name="Rechthoek 26"/>
          <p:cNvSpPr>
            <a:spLocks noChangeArrowheads="1"/>
          </p:cNvSpPr>
          <p:nvPr/>
        </p:nvSpPr>
        <p:spPr bwMode="auto">
          <a:xfrm>
            <a:off x="155575" y="142875"/>
            <a:ext cx="8832850" cy="21399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BE" altLang="en-US" smtClean="0"/>
          </a:p>
        </p:txBody>
      </p:sp>
      <p:sp>
        <p:nvSpPr>
          <p:cNvPr id="10" name="Rechthoek 27"/>
          <p:cNvSpPr>
            <a:spLocks noChangeArrowheads="1"/>
          </p:cNvSpPr>
          <p:nvPr/>
        </p:nvSpPr>
        <p:spPr bwMode="auto">
          <a:xfrm>
            <a:off x="142875" y="6405563"/>
            <a:ext cx="8858250" cy="30956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1" name="Rechthoek 28"/>
          <p:cNvSpPr>
            <a:spLocks noChangeArrowheads="1"/>
          </p:cNvSpPr>
          <p:nvPr/>
        </p:nvSpPr>
        <p:spPr bwMode="auto">
          <a:xfrm>
            <a:off x="152400" y="152400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2" name="Rechte verbindingslijn 29"/>
          <p:cNvSpPr>
            <a:spLocks noChangeShapeType="1"/>
          </p:cNvSpPr>
          <p:nvPr/>
        </p:nvSpPr>
        <p:spPr bwMode="auto">
          <a:xfrm>
            <a:off x="152400" y="2438400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3" name="Ovaal 30"/>
          <p:cNvSpPr/>
          <p:nvPr/>
        </p:nvSpPr>
        <p:spPr>
          <a:xfrm>
            <a:off x="4267200" y="211455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Ovaal 31"/>
          <p:cNvSpPr/>
          <p:nvPr/>
        </p:nvSpPr>
        <p:spPr>
          <a:xfrm>
            <a:off x="4362450" y="2209800"/>
            <a:ext cx="4191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lang="nl-NL" smtClean="0"/>
              <a:t>Klik om de stijl te bewerken</a:t>
            </a:r>
            <a:endParaRPr lang="en-US"/>
          </a:p>
        </p:txBody>
      </p:sp>
      <p:sp>
        <p:nvSpPr>
          <p:cNvPr id="15" name="Tijdelijke aanduiding voor voettekst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EPIC-Soft training:</a:t>
            </a:r>
            <a:endParaRPr lang="en-US"/>
          </a:p>
        </p:txBody>
      </p:sp>
      <p:sp>
        <p:nvSpPr>
          <p:cNvPr id="16" name="Tijdelijke aanduiding voor datum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17" name="Tijdelijke aanduiding voor dianummer 5"/>
          <p:cNvSpPr>
            <a:spLocks noGrp="1"/>
          </p:cNvSpPr>
          <p:nvPr>
            <p:ph type="sldNum" sz="quarter" idx="12"/>
          </p:nvPr>
        </p:nvSpPr>
        <p:spPr>
          <a:xfrm>
            <a:off x="4343400" y="219868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7AAD1646-EECB-4326-A085-09FB35108AD0}" type="slidenum">
              <a:rPr lang="en-US"/>
              <a:pPr>
                <a:defRPr/>
              </a:pPr>
              <a:t>‹#›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0401933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 verbindingslijn 19"/>
          <p:cNvSpPr>
            <a:spLocks noChangeShapeType="1"/>
          </p:cNvSpPr>
          <p:nvPr/>
        </p:nvSpPr>
        <p:spPr bwMode="auto">
          <a:xfrm flipV="1">
            <a:off x="4562475" y="1576388"/>
            <a:ext cx="9525" cy="4818062"/>
          </a:xfrm>
          <a:prstGeom prst="line">
            <a:avLst/>
          </a:prstGeom>
          <a:noFill/>
          <a:ln w="9525" algn="ctr">
            <a:solidFill>
              <a:schemeClr val="tx2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lang="nl-NL" smtClean="0"/>
              <a:t>Klik om de stijl te bewerken</a:t>
            </a:r>
            <a:endParaRPr lang="en-US"/>
          </a:p>
        </p:txBody>
      </p:sp>
      <p:sp>
        <p:nvSpPr>
          <p:cNvPr id="10" name="Tijdelijke aanduiding voor inhoud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  <a:lvl2pPr>
              <a:defRPr>
                <a:solidFill>
                  <a:srgbClr val="2780B7"/>
                </a:solidFill>
              </a:defRPr>
            </a:lvl2pPr>
          </a:lstStyle>
          <a:p>
            <a:pPr lvl="0"/>
            <a:r>
              <a:rPr lang="nl-NL" dirty="0" smtClean="0"/>
              <a:t>Klik om de modelstijlen te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en-US" dirty="0"/>
          </a:p>
        </p:txBody>
      </p:sp>
      <p:sp>
        <p:nvSpPr>
          <p:cNvPr id="12" name="Tijdelijke aanduiding voor inhoud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/>
            <a:r>
              <a:rPr lang="nl-NL" dirty="0" smtClean="0"/>
              <a:t>Klik om de modelstijlen te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en-US" dirty="0"/>
          </a:p>
        </p:txBody>
      </p:sp>
      <p:sp>
        <p:nvSpPr>
          <p:cNvPr id="6" name="Tijdelijke aanduiding voor datum 4"/>
          <p:cNvSpPr>
            <a:spLocks noGrp="1"/>
          </p:cNvSpPr>
          <p:nvPr>
            <p:ph type="dt" sz="half" idx="10"/>
          </p:nvPr>
        </p:nvSpPr>
        <p:spPr>
          <a:xfrm>
            <a:off x="5791200" y="6410325"/>
            <a:ext cx="3044825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7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EPIC-Soft training:</a:t>
            </a:r>
            <a:endParaRPr lang="en-US"/>
          </a:p>
        </p:txBody>
      </p:sp>
      <p:sp>
        <p:nvSpPr>
          <p:cNvPr id="8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/>
            </a:lvl1pPr>
          </a:lstStyle>
          <a:p>
            <a:pPr>
              <a:defRPr/>
            </a:pPr>
            <a:fld id="{F9AF5E19-A88D-422C-A18B-4166910C21F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2817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Vergelijk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 verbindingslijn 19"/>
          <p:cNvSpPr>
            <a:spLocks noChangeShapeType="1"/>
          </p:cNvSpPr>
          <p:nvPr/>
        </p:nvSpPr>
        <p:spPr bwMode="auto">
          <a:xfrm flipV="1">
            <a:off x="4572000" y="2200275"/>
            <a:ext cx="0" cy="4187825"/>
          </a:xfrm>
          <a:prstGeom prst="line">
            <a:avLst/>
          </a:prstGeom>
          <a:noFill/>
          <a:ln w="9525" algn="ctr">
            <a:solidFill>
              <a:schemeClr val="tx2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" name="Rechthoek 20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BE" altLang="en-US" smtClean="0"/>
          </a:p>
        </p:txBody>
      </p:sp>
      <p:sp>
        <p:nvSpPr>
          <p:cNvPr id="9" name="Rechthoek 23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BE" altLang="en-US" smtClean="0"/>
          </a:p>
        </p:txBody>
      </p:sp>
      <p:sp>
        <p:nvSpPr>
          <p:cNvPr id="10" name="Rechthoek 24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BE" altLang="en-US" smtClean="0"/>
          </a:p>
        </p:txBody>
      </p:sp>
      <p:sp>
        <p:nvSpPr>
          <p:cNvPr id="11" name="Rechthoek 2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BE" altLang="en-US" smtClean="0"/>
          </a:p>
        </p:txBody>
      </p:sp>
      <p:sp>
        <p:nvSpPr>
          <p:cNvPr id="12" name="Rechthoek 26"/>
          <p:cNvSpPr/>
          <p:nvPr/>
        </p:nvSpPr>
        <p:spPr>
          <a:xfrm>
            <a:off x="152400" y="1371600"/>
            <a:ext cx="8832850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" name="Rechthoek 27"/>
          <p:cNvSpPr>
            <a:spLocks noChangeArrowheads="1"/>
          </p:cNvSpPr>
          <p:nvPr/>
        </p:nvSpPr>
        <p:spPr bwMode="auto">
          <a:xfrm>
            <a:off x="146050" y="6403975"/>
            <a:ext cx="8855075" cy="31115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4" name="Rechte verbindingslijn 28"/>
          <p:cNvSpPr>
            <a:spLocks noChangeShapeType="1"/>
          </p:cNvSpPr>
          <p:nvPr/>
        </p:nvSpPr>
        <p:spPr bwMode="auto">
          <a:xfrm>
            <a:off x="152400" y="1279525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5" name="Rechthoek 29"/>
          <p:cNvSpPr>
            <a:spLocks noChangeArrowheads="1"/>
          </p:cNvSpPr>
          <p:nvPr/>
        </p:nvSpPr>
        <p:spPr bwMode="auto"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6" name="Ovaal 30"/>
          <p:cNvSpPr/>
          <p:nvPr/>
        </p:nvSpPr>
        <p:spPr>
          <a:xfrm>
            <a:off x="4267200" y="955675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" name="Ovaal 31"/>
          <p:cNvSpPr/>
          <p:nvPr/>
        </p:nvSpPr>
        <p:spPr>
          <a:xfrm>
            <a:off x="4362450" y="1050925"/>
            <a:ext cx="4191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24" name="Tijdelijke aanduiding voor inhoud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en-US"/>
          </a:p>
        </p:txBody>
      </p:sp>
      <p:sp>
        <p:nvSpPr>
          <p:cNvPr id="26" name="Tijdelijke aanduiding voor inhoud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>
            <a:lvl2pPr>
              <a:defRPr>
                <a:solidFill>
                  <a:srgbClr val="2780B7"/>
                </a:solidFill>
              </a:defRPr>
            </a:lvl2pPr>
          </a:lstStyle>
          <a:p>
            <a:pPr lvl="0"/>
            <a:r>
              <a:rPr lang="nl-NL" dirty="0" smtClean="0"/>
              <a:t>Klik om de modelstijlen te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en-US" dirty="0"/>
          </a:p>
        </p:txBody>
      </p:sp>
      <p:sp>
        <p:nvSpPr>
          <p:cNvPr id="23" name="Titel 2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nl-NL" smtClean="0"/>
              <a:t>Klik om de stijl te bewerken</a:t>
            </a:r>
            <a:endParaRPr lang="en-US"/>
          </a:p>
        </p:txBody>
      </p:sp>
      <p:sp>
        <p:nvSpPr>
          <p:cNvPr id="18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19" name="Tijdelijke aanduiding voor voettekst 7"/>
          <p:cNvSpPr>
            <a:spLocks noGrp="1"/>
          </p:cNvSpPr>
          <p:nvPr>
            <p:ph type="ftr" sz="quarter" idx="11"/>
          </p:nvPr>
        </p:nvSpPr>
        <p:spPr>
          <a:xfrm>
            <a:off x="304800" y="6410325"/>
            <a:ext cx="35814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EPIC-Soft training:</a:t>
            </a:r>
            <a:endParaRPr lang="en-US"/>
          </a:p>
        </p:txBody>
      </p:sp>
      <p:sp>
        <p:nvSpPr>
          <p:cNvPr id="20" name="Tijdelijke aanduiding voor dianummer 8"/>
          <p:cNvSpPr>
            <a:spLocks noGrp="1"/>
          </p:cNvSpPr>
          <p:nvPr>
            <p:ph type="sldNum" sz="quarter" idx="12"/>
          </p:nvPr>
        </p:nvSpPr>
        <p:spPr>
          <a:xfrm>
            <a:off x="4343400" y="1042988"/>
            <a:ext cx="457200" cy="441325"/>
          </a:xfrm>
        </p:spPr>
        <p:txBody>
          <a:bodyPr/>
          <a:lstStyle>
            <a:lvl1pPr algn="ctr">
              <a:defRPr sz="1600"/>
            </a:lvl1pPr>
          </a:lstStyle>
          <a:p>
            <a:pPr>
              <a:defRPr/>
            </a:pPr>
            <a:fld id="{F1F1D134-AA6C-4A21-A3FA-3844ACA206E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92244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mtClean="0"/>
              <a:t>Klik om de stijl te bewerken</a:t>
            </a:r>
            <a:endParaRPr lang="en-US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EPIC-Soft training:</a:t>
            </a:r>
            <a:endParaRPr lang="en-US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>
          <a:xfrm>
            <a:off x="4343400" y="1036638"/>
            <a:ext cx="457200" cy="441325"/>
          </a:xfrm>
        </p:spPr>
        <p:txBody>
          <a:bodyPr/>
          <a:lstStyle>
            <a:lvl1pPr>
              <a:defRPr sz="1600"/>
            </a:lvl1pPr>
          </a:lstStyle>
          <a:p>
            <a:pPr>
              <a:defRPr/>
            </a:pPr>
            <a:fld id="{13DA8317-9CF1-498E-ACB1-8B4331946C8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9878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27"/>
          <p:cNvSpPr>
            <a:spLocks noChangeArrowheads="1"/>
          </p:cNvSpPr>
          <p:nvPr userDrawn="1"/>
        </p:nvSpPr>
        <p:spPr bwMode="auto">
          <a:xfrm>
            <a:off x="146050" y="6403975"/>
            <a:ext cx="8855075" cy="31115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3" name="Rechthoek 19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BE" altLang="en-US" smtClean="0"/>
          </a:p>
        </p:txBody>
      </p:sp>
      <p:sp>
        <p:nvSpPr>
          <p:cNvPr id="4" name="Rechthoek 20"/>
          <p:cNvSpPr>
            <a:spLocks noChangeArrowheads="1"/>
          </p:cNvSpPr>
          <p:nvPr/>
        </p:nvSpPr>
        <p:spPr bwMode="white">
          <a:xfrm>
            <a:off x="0" y="0"/>
            <a:ext cx="9144000" cy="1555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BE" altLang="en-US" smtClean="0"/>
          </a:p>
        </p:txBody>
      </p:sp>
      <p:sp>
        <p:nvSpPr>
          <p:cNvPr id="5" name="Rechthoek 23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BE" altLang="en-US" smtClean="0"/>
          </a:p>
        </p:txBody>
      </p:sp>
      <p:sp>
        <p:nvSpPr>
          <p:cNvPr id="6" name="Rechthoek 24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BE" altLang="en-US" smtClean="0"/>
          </a:p>
        </p:txBody>
      </p:sp>
      <p:sp>
        <p:nvSpPr>
          <p:cNvPr id="7" name="Ovaal 31"/>
          <p:cNvSpPr/>
          <p:nvPr userDrawn="1"/>
        </p:nvSpPr>
        <p:spPr>
          <a:xfrm>
            <a:off x="4357688" y="6357938"/>
            <a:ext cx="428625" cy="428625"/>
          </a:xfrm>
          <a:prstGeom prst="ellipse">
            <a:avLst/>
          </a:prstGeom>
          <a:noFill/>
          <a:ln w="50800" cap="rnd" cmpd="dbl" algn="ctr">
            <a:solidFill>
              <a:schemeClr val="bg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hthoek 29"/>
          <p:cNvSpPr>
            <a:spLocks noChangeArrowheads="1"/>
          </p:cNvSpPr>
          <p:nvPr userDrawn="1"/>
        </p:nvSpPr>
        <p:spPr bwMode="auto"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10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EPIC-Soft training:</a:t>
            </a:r>
            <a:endParaRPr lang="en-US"/>
          </a:p>
        </p:txBody>
      </p:sp>
      <p:sp>
        <p:nvSpPr>
          <p:cNvPr id="11" name="Tijdelijke aanduiding voor dianummer 3"/>
          <p:cNvSpPr>
            <a:spLocks noGrp="1"/>
          </p:cNvSpPr>
          <p:nvPr>
            <p:ph type="sldNum" sz="quarter" idx="12"/>
          </p:nvPr>
        </p:nvSpPr>
        <p:spPr>
          <a:xfrm>
            <a:off x="4286250" y="6345238"/>
            <a:ext cx="609600" cy="4413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6F579951-B407-43F7-B533-311E6349BBD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936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19"/>
          <p:cNvSpPr>
            <a:spLocks noChangeArrowheads="1"/>
          </p:cNvSpPr>
          <p:nvPr/>
        </p:nvSpPr>
        <p:spPr bwMode="auto">
          <a:xfrm>
            <a:off x="152400" y="152400"/>
            <a:ext cx="8832850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6" name="Rechthoek 20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BE" altLang="en-US" smtClean="0"/>
          </a:p>
        </p:txBody>
      </p:sp>
      <p:sp>
        <p:nvSpPr>
          <p:cNvPr id="7" name="Rechthoek 23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BE" altLang="en-US" smtClean="0"/>
          </a:p>
        </p:txBody>
      </p:sp>
      <p:sp>
        <p:nvSpPr>
          <p:cNvPr id="8" name="Rechthoek 24"/>
          <p:cNvSpPr>
            <a:spLocks noChangeArrowheads="1"/>
          </p:cNvSpPr>
          <p:nvPr/>
        </p:nvSpPr>
        <p:spPr bwMode="white">
          <a:xfrm>
            <a:off x="0" y="0"/>
            <a:ext cx="9144000" cy="11906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BE" altLang="en-US" smtClean="0"/>
          </a:p>
        </p:txBody>
      </p:sp>
      <p:sp>
        <p:nvSpPr>
          <p:cNvPr id="9" name="Rechthoek 25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BE" altLang="en-US" smtClean="0"/>
          </a:p>
        </p:txBody>
      </p:sp>
      <p:sp>
        <p:nvSpPr>
          <p:cNvPr id="10" name="Rechthoek 26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" name="Rechthoek 27"/>
          <p:cNvSpPr>
            <a:spLocks noChangeArrowheads="1"/>
          </p:cNvSpPr>
          <p:nvPr/>
        </p:nvSpPr>
        <p:spPr bwMode="auto">
          <a:xfrm>
            <a:off x="152400" y="152400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2" name="Rechte verbindingslijn 28"/>
          <p:cNvSpPr>
            <a:spLocks noChangeShapeType="1"/>
          </p:cNvSpPr>
          <p:nvPr/>
        </p:nvSpPr>
        <p:spPr bwMode="auto">
          <a:xfrm>
            <a:off x="152400" y="533400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3" name="Ovaal 2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Ovaal 30"/>
          <p:cNvSpPr/>
          <p:nvPr/>
        </p:nvSpPr>
        <p:spPr>
          <a:xfrm>
            <a:off x="1390650" y="323850"/>
            <a:ext cx="419100" cy="419100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" name="Rechthoek 31"/>
          <p:cNvSpPr>
            <a:spLocks noChangeArrowheads="1"/>
          </p:cNvSpPr>
          <p:nvPr/>
        </p:nvSpPr>
        <p:spPr bwMode="auto">
          <a:xfrm>
            <a:off x="142875" y="6405563"/>
            <a:ext cx="8858250" cy="30956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lang="nl-NL" smtClean="0"/>
              <a:t>Klik om de stijl te bewerken</a:t>
            </a:r>
            <a:endParaRPr lang="en-US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20" name="Tijdelijke aanduiding voor inhoud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>
            <a:lvl2pPr>
              <a:defRPr>
                <a:solidFill>
                  <a:srgbClr val="2780B7"/>
                </a:solidFill>
              </a:defRPr>
            </a:lvl2pPr>
          </a:lstStyle>
          <a:p>
            <a:pPr lvl="0"/>
            <a:r>
              <a:rPr lang="nl-NL" dirty="0" smtClean="0"/>
              <a:t>Klik om de modelstijlen te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en-US" dirty="0"/>
          </a:p>
        </p:txBody>
      </p:sp>
      <p:sp>
        <p:nvSpPr>
          <p:cNvPr id="16" name="Tijdelijke aanduiding voor dianummer 6"/>
          <p:cNvSpPr>
            <a:spLocks noGrp="1"/>
          </p:cNvSpPr>
          <p:nvPr>
            <p:ph type="sldNum" sz="quarter" idx="10"/>
          </p:nvPr>
        </p:nvSpPr>
        <p:spPr>
          <a:xfrm>
            <a:off x="1371600" y="312738"/>
            <a:ext cx="457200" cy="441325"/>
          </a:xfrm>
        </p:spPr>
        <p:txBody>
          <a:bodyPr>
            <a:noAutofit/>
          </a:bodyPr>
          <a:lstStyle>
            <a:lvl1pPr>
              <a:defRPr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799C6E9B-786E-46B8-8C30-72B5FD8E940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7" name="Tijdelijke aanduiding voor datum 4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18" name="Tijdelijke aanduiding voor voettekst 5"/>
          <p:cNvSpPr>
            <a:spLocks noGrp="1"/>
          </p:cNvSpPr>
          <p:nvPr>
            <p:ph type="ftr" sz="quarter" idx="12"/>
          </p:nvPr>
        </p:nvSpPr>
        <p:spPr>
          <a:xfrm>
            <a:off x="301625" y="6410325"/>
            <a:ext cx="3382963" cy="3667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EPIC-Soft training: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4485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 verbindingslijn 19"/>
          <p:cNvSpPr>
            <a:spLocks noChangeShapeType="1"/>
          </p:cNvSpPr>
          <p:nvPr/>
        </p:nvSpPr>
        <p:spPr bwMode="auto">
          <a:xfrm>
            <a:off x="152400" y="533400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6" name="Rechthoek 20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BE" altLang="en-US" smtClean="0"/>
          </a:p>
        </p:txBody>
      </p:sp>
      <p:sp>
        <p:nvSpPr>
          <p:cNvPr id="7" name="Rechthoek 23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BE" altLang="en-US" smtClean="0"/>
          </a:p>
        </p:txBody>
      </p:sp>
      <p:sp>
        <p:nvSpPr>
          <p:cNvPr id="8" name="Rechthoek 24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BE" altLang="en-US" smtClean="0"/>
          </a:p>
        </p:txBody>
      </p:sp>
      <p:sp>
        <p:nvSpPr>
          <p:cNvPr id="9" name="Rechthoek 25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BE" altLang="en-US" smtClean="0"/>
          </a:p>
        </p:txBody>
      </p:sp>
      <p:sp>
        <p:nvSpPr>
          <p:cNvPr id="10" name="Rechthoek 26"/>
          <p:cNvSpPr>
            <a:spLocks noChangeArrowheads="1"/>
          </p:cNvSpPr>
          <p:nvPr/>
        </p:nvSpPr>
        <p:spPr bwMode="auto">
          <a:xfrm>
            <a:off x="152400" y="152400"/>
            <a:ext cx="8832850" cy="301625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1" name="Rechthoek 2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Rechthoek 28"/>
          <p:cNvSpPr>
            <a:spLocks noChangeArrowheads="1"/>
          </p:cNvSpPr>
          <p:nvPr/>
        </p:nvSpPr>
        <p:spPr bwMode="auto"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3" name="Ovaal 2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Ovaal 30"/>
          <p:cNvSpPr/>
          <p:nvPr/>
        </p:nvSpPr>
        <p:spPr>
          <a:xfrm>
            <a:off x="1390650" y="323850"/>
            <a:ext cx="419100" cy="419100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" name="Rechthoek 31"/>
          <p:cNvSpPr>
            <a:spLocks noChangeArrowheads="1"/>
          </p:cNvSpPr>
          <p:nvPr/>
        </p:nvSpPr>
        <p:spPr bwMode="auto">
          <a:xfrm>
            <a:off x="149225" y="6388100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nl-NL" dirty="0" smtClean="0"/>
              <a:t>Klik om de stijl te bewerken</a:t>
            </a:r>
            <a:endParaRPr lang="en-US" dirty="0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nl-NL" noProof="0" smtClean="0"/>
              <a:t>Klik op het pictogram als u een afbeelding wilt toevoegen</a:t>
            </a:r>
            <a:endParaRPr lang="en-US" noProof="0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16" name="Tijdelijke aanduiding voor dianummer 6"/>
          <p:cNvSpPr>
            <a:spLocks noGrp="1"/>
          </p:cNvSpPr>
          <p:nvPr>
            <p:ph type="sldNum" sz="quarter" idx="10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 sz="1600"/>
            </a:lvl1pPr>
          </a:lstStyle>
          <a:p>
            <a:pPr>
              <a:defRPr/>
            </a:pPr>
            <a:fld id="{39899CE7-ADE9-4379-8025-B6BBAA13F03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7" name="Tijdelijke aanduiding voor datum 4"/>
          <p:cNvSpPr>
            <a:spLocks noGrp="1"/>
          </p:cNvSpPr>
          <p:nvPr>
            <p:ph type="dt" sz="half" idx="11"/>
          </p:nvPr>
        </p:nvSpPr>
        <p:spPr>
          <a:xfrm>
            <a:off x="5788025" y="6405563"/>
            <a:ext cx="3044825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18" name="Tijdelijke aanduiding voor voettekst 5"/>
          <p:cNvSpPr>
            <a:spLocks noGrp="1"/>
          </p:cNvSpPr>
          <p:nvPr>
            <p:ph type="ftr" sz="quarter" idx="12"/>
          </p:nvPr>
        </p:nvSpPr>
        <p:spPr>
          <a:xfrm>
            <a:off x="301625" y="6410325"/>
            <a:ext cx="3584575" cy="3667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EPIC-Soft training: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708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mtClean="0"/>
              <a:t>Klik om de stijl te bewerken</a:t>
            </a:r>
            <a:endParaRPr lang="en-US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 dirty="0" smtClean="0"/>
              <a:t>Klik om de modelstijlen te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en-US" dirty="0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EPIC-Soft training:</a:t>
            </a:r>
            <a:endParaRPr lang="en-US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/>
            </a:lvl1pPr>
          </a:lstStyle>
          <a:p>
            <a:pPr>
              <a:defRPr/>
            </a:pPr>
            <a:fld id="{6331C572-F708-4428-A724-3DA05F21F4A0}" type="slidenum">
              <a:rPr lang="en-US"/>
              <a:pPr>
                <a:defRPr/>
              </a:pPr>
              <a:t>‹#›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2713137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e titel en teks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hoek 19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BE" altLang="en-US" smtClean="0"/>
          </a:p>
        </p:txBody>
      </p:sp>
      <p:sp>
        <p:nvSpPr>
          <p:cNvPr id="5" name="Rechthoek 20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BE" altLang="en-US" smtClean="0"/>
          </a:p>
        </p:txBody>
      </p:sp>
      <p:sp>
        <p:nvSpPr>
          <p:cNvPr id="6" name="Rechthoek 23"/>
          <p:cNvSpPr>
            <a:spLocks noChangeArrowheads="1"/>
          </p:cNvSpPr>
          <p:nvPr/>
        </p:nvSpPr>
        <p:spPr bwMode="white">
          <a:xfrm>
            <a:off x="0" y="0"/>
            <a:ext cx="9144000" cy="1555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BE" altLang="en-US" smtClean="0"/>
          </a:p>
        </p:txBody>
      </p:sp>
      <p:sp>
        <p:nvSpPr>
          <p:cNvPr id="7" name="Rechthoek 24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BE" altLang="en-US" smtClean="0"/>
          </a:p>
        </p:txBody>
      </p:sp>
      <p:sp>
        <p:nvSpPr>
          <p:cNvPr id="8" name="Rechthoek 25"/>
          <p:cNvSpPr>
            <a:spLocks noChangeArrowheads="1"/>
          </p:cNvSpPr>
          <p:nvPr/>
        </p:nvSpPr>
        <p:spPr bwMode="auto">
          <a:xfrm>
            <a:off x="146050" y="6391275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9" name="Rechthoek 26"/>
          <p:cNvSpPr>
            <a:spLocks noChangeArrowheads="1"/>
          </p:cNvSpPr>
          <p:nvPr/>
        </p:nvSpPr>
        <p:spPr bwMode="auto"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0" name="Rechte verbindingslijn 27"/>
          <p:cNvSpPr>
            <a:spLocks noChangeShapeType="1"/>
          </p:cNvSpPr>
          <p:nvPr/>
        </p:nvSpPr>
        <p:spPr bwMode="auto">
          <a:xfrm rot="5400000">
            <a:off x="4021137" y="3278188"/>
            <a:ext cx="6245225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1" name="Ovaal 28"/>
          <p:cNvSpPr/>
          <p:nvPr/>
        </p:nvSpPr>
        <p:spPr>
          <a:xfrm>
            <a:off x="6838950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Ovaal 29"/>
          <p:cNvSpPr/>
          <p:nvPr/>
        </p:nvSpPr>
        <p:spPr>
          <a:xfrm>
            <a:off x="6934200" y="3021013"/>
            <a:ext cx="420688" cy="419100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/>
            <a:r>
              <a:rPr lang="nl-NL" dirty="0" smtClean="0"/>
              <a:t>Klik om de modelstijlen te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en-US" dirty="0"/>
          </a:p>
        </p:txBody>
      </p:sp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lang="nl-NL" smtClean="0"/>
              <a:t>Klik om de stijl te bewerken</a:t>
            </a:r>
            <a:endParaRPr lang="en-US"/>
          </a:p>
        </p:txBody>
      </p:sp>
      <p:sp>
        <p:nvSpPr>
          <p:cNvPr id="13" name="Tijdelijke aanduiding voor dianummer 5"/>
          <p:cNvSpPr>
            <a:spLocks noGrp="1"/>
          </p:cNvSpPr>
          <p:nvPr>
            <p:ph type="sldNum" sz="quarter" idx="10"/>
          </p:nvPr>
        </p:nvSpPr>
        <p:spPr>
          <a:xfrm>
            <a:off x="6915150" y="3009900"/>
            <a:ext cx="457200" cy="441325"/>
          </a:xfrm>
        </p:spPr>
        <p:txBody>
          <a:bodyPr/>
          <a:lstStyle>
            <a:lvl1pPr>
              <a:defRPr sz="1600"/>
            </a:lvl1pPr>
          </a:lstStyle>
          <a:p>
            <a:pPr>
              <a:defRPr/>
            </a:pPr>
            <a:fld id="{E3DB121A-74E3-4162-900F-BD3B061F5A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4" name="Tijdelijke aanduiding voor datum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1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EPIC-Soft training: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6333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hthoek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BE" altLang="en-US" smtClean="0"/>
          </a:p>
        </p:txBody>
      </p:sp>
      <p:sp>
        <p:nvSpPr>
          <p:cNvPr id="1027" name="Rechthoek 15"/>
          <p:cNvSpPr>
            <a:spLocks noChangeArrowheads="1"/>
          </p:cNvSpPr>
          <p:nvPr/>
        </p:nvSpPr>
        <p:spPr bwMode="white">
          <a:xfrm>
            <a:off x="0" y="0"/>
            <a:ext cx="9144000" cy="13938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BE" altLang="en-US" smtClean="0"/>
          </a:p>
        </p:txBody>
      </p:sp>
      <p:sp>
        <p:nvSpPr>
          <p:cNvPr id="1028" name="Rechthoek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BE" altLang="en-US" smtClean="0"/>
          </a:p>
        </p:txBody>
      </p:sp>
      <p:sp>
        <p:nvSpPr>
          <p:cNvPr id="1029" name="Rechthoek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BE" altLang="en-US" smtClean="0"/>
          </a:p>
        </p:txBody>
      </p:sp>
      <p:sp>
        <p:nvSpPr>
          <p:cNvPr id="9" name="Rechthoek 8"/>
          <p:cNvSpPr>
            <a:spLocks noChangeArrowheads="1"/>
          </p:cNvSpPr>
          <p:nvPr/>
        </p:nvSpPr>
        <p:spPr bwMode="auto">
          <a:xfrm>
            <a:off x="142875" y="6405563"/>
            <a:ext cx="8858250" cy="30956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2"/>
          </p:nvPr>
        </p:nvSpPr>
        <p:spPr>
          <a:xfrm>
            <a:off x="5791200" y="6405563"/>
            <a:ext cx="3044825" cy="3651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3"/>
          </p:nvPr>
        </p:nvSpPr>
        <p:spPr>
          <a:xfrm>
            <a:off x="304800" y="6410325"/>
            <a:ext cx="3581400" cy="366713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rgbClr val="FFFFFF"/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r>
              <a:rPr lang="nl-BE"/>
              <a:t>EPIC-Soft training:</a:t>
            </a:r>
            <a:endParaRPr lang="en-US"/>
          </a:p>
        </p:txBody>
      </p:sp>
      <p:sp>
        <p:nvSpPr>
          <p:cNvPr id="8" name="Rechthoek 7"/>
          <p:cNvSpPr>
            <a:spLocks noChangeArrowheads="1"/>
          </p:cNvSpPr>
          <p:nvPr/>
        </p:nvSpPr>
        <p:spPr bwMode="auto"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0" name="Rechte verbindingslijn 9"/>
          <p:cNvSpPr>
            <a:spLocks noChangeShapeType="1"/>
          </p:cNvSpPr>
          <p:nvPr/>
        </p:nvSpPr>
        <p:spPr bwMode="auto">
          <a:xfrm>
            <a:off x="152400" y="1276350"/>
            <a:ext cx="8832850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2" name="Ovaal 11"/>
          <p:cNvSpPr/>
          <p:nvPr/>
        </p:nvSpPr>
        <p:spPr>
          <a:xfrm>
            <a:off x="4267200" y="955675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" name="Ovaal 14"/>
          <p:cNvSpPr/>
          <p:nvPr/>
        </p:nvSpPr>
        <p:spPr>
          <a:xfrm>
            <a:off x="4362450" y="1050925"/>
            <a:ext cx="4191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Tijdelijke aanduiding voor dianummer 22"/>
          <p:cNvSpPr>
            <a:spLocks noGrp="1"/>
          </p:cNvSpPr>
          <p:nvPr>
            <p:ph type="sldNum" sz="quarter" idx="4"/>
          </p:nvPr>
        </p:nvSpPr>
        <p:spPr>
          <a:xfrm>
            <a:off x="4343400" y="1039813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fld id="{172E985E-29C4-423C-892F-21FE73CB291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038" name="Tijdelijke aanduiding voor titel 21"/>
          <p:cNvSpPr>
            <a:spLocks noGrp="1"/>
          </p:cNvSpPr>
          <p:nvPr>
            <p:ph type="title"/>
          </p:nvPr>
        </p:nvSpPr>
        <p:spPr bwMode="auto">
          <a:xfrm>
            <a:off x="301625" y="228600"/>
            <a:ext cx="8534400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nl-NL" altLang="en-US" smtClean="0"/>
              <a:t>Klik om de stijl te bewerken</a:t>
            </a:r>
            <a:endParaRPr lang="en-US" altLang="en-US" smtClean="0"/>
          </a:p>
        </p:txBody>
      </p:sp>
      <p:sp>
        <p:nvSpPr>
          <p:cNvPr id="1039" name="Tijdelijke aanduiding voor tekst 12"/>
          <p:cNvSpPr>
            <a:spLocks noGrp="1"/>
          </p:cNvSpPr>
          <p:nvPr>
            <p:ph type="body" idx="1"/>
          </p:nvPr>
        </p:nvSpPr>
        <p:spPr bwMode="auto">
          <a:xfrm>
            <a:off x="301625" y="1524000"/>
            <a:ext cx="8534400" cy="4598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altLang="en-US" smtClean="0"/>
              <a:t>Klik om de modelstijlen te bewerken</a:t>
            </a:r>
          </a:p>
          <a:p>
            <a:pPr lvl="1"/>
            <a:r>
              <a:rPr lang="nl-NL" altLang="en-US" smtClean="0"/>
              <a:t>Tweede niveau</a:t>
            </a:r>
          </a:p>
          <a:p>
            <a:pPr lvl="2"/>
            <a:r>
              <a:rPr lang="nl-NL" altLang="en-US" smtClean="0"/>
              <a:t>Derde niveau</a:t>
            </a:r>
          </a:p>
          <a:p>
            <a:pPr lvl="3"/>
            <a:r>
              <a:rPr lang="nl-NL" altLang="en-US" smtClean="0"/>
              <a:t>Vierde niveau</a:t>
            </a:r>
          </a:p>
          <a:p>
            <a:pPr lvl="4"/>
            <a:r>
              <a:rPr lang="nl-NL" altLang="en-US" smtClean="0"/>
              <a:t>Vijfde niveau</a:t>
            </a:r>
            <a:endParaRPr lang="en-US" altLang="en-US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75" r:id="rId1"/>
    <p:sldLayoutId id="2147484476" r:id="rId2"/>
    <p:sldLayoutId id="2147484477" r:id="rId3"/>
    <p:sldLayoutId id="2147484478" r:id="rId4"/>
    <p:sldLayoutId id="2147484479" r:id="rId5"/>
    <p:sldLayoutId id="2147484480" r:id="rId6"/>
    <p:sldLayoutId id="2147484481" r:id="rId7"/>
    <p:sldLayoutId id="2147484482" r:id="rId8"/>
    <p:sldLayoutId id="2147484483" r:id="rId9"/>
    <p:sldLayoutId id="2147484484" r:id="rId10"/>
    <p:sldLayoutId id="2147484485" r:id="rId1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 kern="1200">
          <a:solidFill>
            <a:srgbClr val="2780B7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rgbClr val="2780B7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rgbClr val="2780B7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rgbClr val="2780B7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rgbClr val="2780B7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Calibri" pitchFamily="34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SzPct val="85000"/>
        <a:buFont typeface="Wingdings 2" pitchFamily="18" charset="2"/>
        <a:buChar char="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§"/>
        <a:defRPr sz="2200" kern="1200">
          <a:solidFill>
            <a:srgbClr val="2780B7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 2" pitchFamily="18" charset="2"/>
        <a:buChar char="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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ndertitel 14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2538413"/>
          </a:xfrm>
          <a:solidFill>
            <a:schemeClr val="bg1"/>
          </a:solidFill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nl-BE" sz="1700" smtClean="0"/>
              <a:t>International </a:t>
            </a:r>
            <a:r>
              <a:rPr lang="nl-BE" sz="1700" dirty="0" smtClean="0"/>
              <a:t>agency </a:t>
            </a:r>
            <a:r>
              <a:rPr lang="nl-BE" sz="1700" dirty="0" err="1" smtClean="0"/>
              <a:t>for</a:t>
            </a:r>
            <a:r>
              <a:rPr lang="nl-BE" sz="1700" dirty="0" smtClean="0"/>
              <a:t> research on </a:t>
            </a:r>
            <a:r>
              <a:rPr lang="nl-BE" sz="1700" dirty="0" err="1" smtClean="0"/>
              <a:t>cancer</a:t>
            </a:r>
            <a:r>
              <a:rPr lang="nl-BE" sz="1700" dirty="0" smtClean="0"/>
              <a:t> </a:t>
            </a:r>
            <a:r>
              <a:rPr lang="nl-BE" sz="1700" dirty="0" err="1" smtClean="0"/>
              <a:t>lyon</a:t>
            </a:r>
            <a:r>
              <a:rPr lang="nl-BE" sz="1700" dirty="0" smtClean="0"/>
              <a:t> - </a:t>
            </a:r>
            <a:r>
              <a:rPr lang="nl-BE" sz="1700" dirty="0" err="1" smtClean="0"/>
              <a:t>france</a:t>
            </a:r>
            <a:endParaRPr lang="nl-BE" sz="1700" dirty="0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nl-BE" altLang="en-US" smtClean="0"/>
              <a:t>GloboDiet databases</a:t>
            </a:r>
            <a:br>
              <a:rPr lang="nl-BE" altLang="en-US" smtClean="0"/>
            </a:br>
            <a:r>
              <a:rPr lang="nl-BE" altLang="en-US" smtClean="0"/>
              <a:t>maintenance after data collection</a:t>
            </a:r>
          </a:p>
        </p:txBody>
      </p:sp>
      <p:pic>
        <p:nvPicPr>
          <p:cNvPr id="13316" name="Picture 7" descr="http://monographs.iarc.fr/images/logoiarc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" y="5429250"/>
            <a:ext cx="3048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380288" y="5602288"/>
            <a:ext cx="1223962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nl-BE" sz="28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e-SMP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7188" y="2743200"/>
            <a:ext cx="8286750" cy="3543300"/>
          </a:xfrm>
        </p:spPr>
        <p:txBody>
          <a:bodyPr>
            <a:noAutofit/>
          </a:bodyPr>
          <a:lstStyle/>
          <a:p>
            <a:pPr marL="514350" indent="-514350" algn="l" eaLnBrk="1" fontAlgn="auto" hangingPunct="1">
              <a:spcAft>
                <a:spcPts val="0"/>
              </a:spcAft>
              <a:buClr>
                <a:schemeClr val="accent1"/>
              </a:buClr>
              <a:buFont typeface="+mj-lt"/>
              <a:buAutoNum type="arabicPeriod"/>
              <a:defRPr/>
            </a:pPr>
            <a:r>
              <a:rPr lang="en-US" sz="2000" cap="none" dirty="0" smtClean="0">
                <a:solidFill>
                  <a:srgbClr val="2A89C4"/>
                </a:solidFill>
                <a:hlinkClick r:id="rId3" action="ppaction://hlinksldjump"/>
              </a:rPr>
              <a:t>Introduction</a:t>
            </a:r>
            <a:endParaRPr lang="en-US" sz="2000" cap="none" dirty="0" smtClean="0">
              <a:solidFill>
                <a:srgbClr val="2A89C4"/>
              </a:solidFill>
            </a:endParaRPr>
          </a:p>
          <a:p>
            <a:pPr marL="514350" indent="-514350" algn="l" eaLnBrk="1" fontAlgn="auto" hangingPunct="1">
              <a:spcAft>
                <a:spcPts val="0"/>
              </a:spcAft>
              <a:buClr>
                <a:schemeClr val="accent1"/>
              </a:buClr>
              <a:buFont typeface="+mj-lt"/>
              <a:buAutoNum type="arabicPeriod"/>
              <a:defRPr/>
            </a:pPr>
            <a:r>
              <a:rPr lang="en-US" sz="2000" u="sng" cap="none" dirty="0" smtClean="0">
                <a:solidFill>
                  <a:srgbClr val="2780B7"/>
                </a:solidFill>
              </a:rPr>
              <a:t>Preparation steps</a:t>
            </a:r>
          </a:p>
          <a:p>
            <a:pPr marL="514350" indent="-514350" algn="l" eaLnBrk="1" fontAlgn="auto" hangingPunct="1">
              <a:spcAft>
                <a:spcPts val="0"/>
              </a:spcAft>
              <a:buClr>
                <a:schemeClr val="accent1"/>
              </a:buClr>
              <a:buFont typeface="+mj-lt"/>
              <a:buAutoNum type="arabicPeriod"/>
              <a:defRPr/>
            </a:pPr>
            <a:r>
              <a:rPr lang="en-US" sz="2000" u="sng" cap="none" dirty="0" smtClean="0">
                <a:solidFill>
                  <a:srgbClr val="2780B7"/>
                </a:solidFill>
              </a:rPr>
              <a:t>How to update </a:t>
            </a:r>
            <a:r>
              <a:rPr lang="en-US" sz="2000" u="sng" cap="none" dirty="0" err="1" smtClean="0">
                <a:solidFill>
                  <a:srgbClr val="2780B7"/>
                </a:solidFill>
              </a:rPr>
              <a:t>GloboDiet</a:t>
            </a:r>
            <a:r>
              <a:rPr lang="en-US" sz="2000" u="sng" cap="none" dirty="0" smtClean="0">
                <a:solidFill>
                  <a:srgbClr val="2780B7"/>
                </a:solidFill>
              </a:rPr>
              <a:t> databases</a:t>
            </a:r>
          </a:p>
          <a:p>
            <a:pPr marL="514350" indent="-514350" algn="l" eaLnBrk="1" fontAlgn="auto" hangingPunct="1">
              <a:spcAft>
                <a:spcPts val="0"/>
              </a:spcAft>
              <a:buClr>
                <a:schemeClr val="accent1"/>
              </a:buClr>
              <a:buFont typeface="+mj-lt"/>
              <a:buAutoNum type="arabicPeriod"/>
              <a:defRPr/>
            </a:pPr>
            <a:r>
              <a:rPr lang="en-US" sz="2000" u="sng" cap="none" dirty="0" smtClean="0">
                <a:solidFill>
                  <a:srgbClr val="2780B7"/>
                </a:solidFill>
              </a:rPr>
              <a:t>How to fill a FUF/RUF</a:t>
            </a:r>
          </a:p>
          <a:p>
            <a:pPr marL="514350" indent="-514350" algn="l" eaLnBrk="1" fontAlgn="auto" hangingPunct="1">
              <a:spcAft>
                <a:spcPts val="0"/>
              </a:spcAft>
              <a:buClr>
                <a:schemeClr val="accent1"/>
              </a:buClr>
              <a:buFont typeface="+mj-lt"/>
              <a:buAutoNum type="arabicPeriod"/>
              <a:defRPr/>
            </a:pPr>
            <a:r>
              <a:rPr lang="en-US" sz="2000" u="sng" cap="none" dirty="0" smtClean="0">
                <a:solidFill>
                  <a:srgbClr val="2780B7"/>
                </a:solidFill>
              </a:rPr>
              <a:t>Conclusion</a:t>
            </a:r>
          </a:p>
          <a:p>
            <a:pPr algn="l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sz="1800" dirty="0" smtClean="0"/>
          </a:p>
        </p:txBody>
      </p:sp>
      <p:sp>
        <p:nvSpPr>
          <p:cNvPr id="33794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304800" y="6410325"/>
            <a:ext cx="3906838" cy="350838"/>
          </a:xfrm>
        </p:spPr>
        <p:txBody>
          <a:bodyPr/>
          <a:lstStyle/>
          <a:p>
            <a:pPr>
              <a:defRPr/>
            </a:pPr>
            <a:r>
              <a:rPr lang="en-GB" smtClean="0"/>
              <a:t>Maintenance</a:t>
            </a:r>
            <a:endParaRPr lang="en-GB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BE" smtClean="0"/>
              <a:t>IARC, Lyon - France</a:t>
            </a:r>
            <a:endParaRPr lang="en-US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EE3F358-777F-4651-B3B2-98E87EF3896B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33796" name="Rectangle 2"/>
          <p:cNvSpPr>
            <a:spLocks noGrp="1" noChangeArrowheads="1"/>
          </p:cNvSpPr>
          <p:nvPr>
            <p:ph type="title"/>
          </p:nvPr>
        </p:nvSpPr>
        <p:spPr>
          <a:ln>
            <a:miter lim="800000"/>
            <a:headEnd/>
            <a:tailEnd/>
          </a:ln>
          <a:extLst/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effectLst>
                  <a:reflection blurRad="6350" stA="55000" endA="300" endPos="45500" dir="5400000" sy="-100000" algn="bl" rotWithShape="0"/>
                </a:effectLst>
              </a:rPr>
              <a:t>Outline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071546"/>
            <a:ext cx="2362200" cy="704848"/>
          </a:xfrm>
          <a:ln>
            <a:miter lim="800000"/>
            <a:headEnd/>
            <a:tailEnd/>
          </a:ln>
          <a:extLst/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>
                <a:effectLst>
                  <a:reflection blurRad="6350" stA="55000" endA="300" endPos="45500" dir="5400000" sy="-100000" algn="bl" rotWithShape="0"/>
                </a:effectLst>
              </a:rPr>
              <a:t>Outline</a:t>
            </a:r>
            <a:endParaRPr lang="en-US" dirty="0" smtClean="0"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2" name="Tijdelijke aanduiding voor tekst 11"/>
          <p:cNvSpPr>
            <a:spLocks noGrp="1"/>
          </p:cNvSpPr>
          <p:nvPr>
            <p:ph type="body" idx="2"/>
          </p:nvPr>
        </p:nvSpPr>
        <p:spPr>
          <a:xfrm>
            <a:off x="381000" y="1857364"/>
            <a:ext cx="2362200" cy="4144963"/>
          </a:xfrm>
          <a:ln>
            <a:miter lim="800000"/>
            <a:headEnd/>
            <a:tailEnd/>
          </a:ln>
          <a:extLst/>
        </p:spPr>
        <p:txBody>
          <a:bodyPr>
            <a:noAutofit/>
          </a:bodyPr>
          <a:lstStyle/>
          <a:p>
            <a:pPr marL="265113" indent="-265113" eaLnBrk="1" fontAlgn="auto" hangingPunct="1">
              <a:spcAft>
                <a:spcPts val="300"/>
              </a:spcAft>
              <a:buClr>
                <a:schemeClr val="bg1"/>
              </a:buClr>
              <a:buFont typeface="+mj-lt"/>
              <a:buAutoNum type="arabicPeriod"/>
              <a:defRPr/>
            </a:pPr>
            <a:r>
              <a:rPr lang="en-US" b="1" dirty="0" smtClean="0"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Introduction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Pre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paration steps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How to update </a:t>
            </a:r>
            <a:r>
              <a:rPr lang="en-US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GloboDiet</a:t>
            </a: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databases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How to fill a FUF/RUF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Conclusion</a:t>
            </a:r>
          </a:p>
          <a:p>
            <a:pPr eaLnBrk="1" fontAlgn="auto" hangingPunct="1">
              <a:spcAft>
                <a:spcPts val="300"/>
              </a:spcAft>
              <a:buFont typeface="Wingdings 2"/>
              <a:buNone/>
              <a:defRPr/>
            </a:pPr>
            <a:endParaRPr lang="nl-BE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F4DFE2-AFF4-4035-A7DB-E7432115D04C}" type="slidenum">
              <a:rPr lang="en-US" smtClean="0"/>
              <a:pPr>
                <a:defRPr/>
              </a:pPr>
              <a:t>3</a:t>
            </a:fld>
            <a:endParaRPr lang="en-US" sz="1800" dirty="0"/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15367" name="Tijdelijke aanduiding voor inhoud 12"/>
          <p:cNvSpPr>
            <a:spLocks noGrp="1"/>
          </p:cNvSpPr>
          <p:nvPr>
            <p:ph sz="quarter" idx="1"/>
          </p:nvPr>
        </p:nvSpPr>
        <p:spPr>
          <a:xfrm>
            <a:off x="2987675" y="639763"/>
            <a:ext cx="5976938" cy="5597525"/>
          </a:xfrm>
        </p:spPr>
        <p:txBody>
          <a:bodyPr>
            <a:normAutofit fontScale="92500" lnSpcReduction="10000"/>
          </a:bodyPr>
          <a:lstStyle/>
          <a:p>
            <a:pPr marL="0" indent="0" eaLnBrk="1" hangingPunct="1">
              <a:buFont typeface="Wingdings 2" pitchFamily="18" charset="2"/>
              <a:buNone/>
              <a:defRPr/>
            </a:pPr>
            <a:r>
              <a:rPr lang="en-US" sz="2500" dirty="0" smtClean="0"/>
              <a:t>After reading the notes, need to update the </a:t>
            </a:r>
            <a:r>
              <a:rPr lang="en-US" sz="2500" dirty="0" err="1" smtClean="0"/>
              <a:t>GloboDiet</a:t>
            </a:r>
            <a:r>
              <a:rPr lang="en-US" sz="2500" dirty="0" smtClean="0"/>
              <a:t> databases.</a:t>
            </a:r>
          </a:p>
          <a:p>
            <a:pPr marL="0" indent="0" eaLnBrk="1" hangingPunct="1">
              <a:buFont typeface="Wingdings 2" pitchFamily="18" charset="2"/>
              <a:buNone/>
              <a:defRPr/>
            </a:pPr>
            <a:endParaRPr lang="en-US" sz="2500" dirty="0"/>
          </a:p>
          <a:p>
            <a:pPr marL="0" indent="0" eaLnBrk="1" hangingPunct="1">
              <a:buFont typeface="Wingdings 2" pitchFamily="18" charset="2"/>
              <a:buNone/>
              <a:defRPr/>
            </a:pPr>
            <a:r>
              <a:rPr lang="en-US" sz="2500" b="1" dirty="0" smtClean="0"/>
              <a:t>Foods</a:t>
            </a:r>
            <a:endParaRPr lang="en-US" sz="2500" b="1" dirty="0"/>
          </a:p>
          <a:p>
            <a:pPr marL="731838" lvl="1" indent="-457200" eaLnBrk="1" hangingPunct="1">
              <a:buFont typeface="+mj-lt"/>
              <a:buAutoNum type="arabicPeriod"/>
              <a:defRPr/>
            </a:pPr>
            <a:r>
              <a:rPr lang="en-US" sz="2000" dirty="0" smtClean="0"/>
              <a:t>If big revision of a file: update directly this </a:t>
            </a:r>
            <a:r>
              <a:rPr lang="en-US" sz="2000" dirty="0" err="1" smtClean="0"/>
              <a:t>GloboDiet</a:t>
            </a:r>
            <a:r>
              <a:rPr lang="en-US" sz="2000" dirty="0" smtClean="0"/>
              <a:t> file</a:t>
            </a:r>
          </a:p>
          <a:p>
            <a:pPr marL="731838" lvl="1" indent="-457200" eaLnBrk="1" hangingPunct="1">
              <a:buFont typeface="+mj-lt"/>
              <a:buAutoNum type="arabicPeriod"/>
              <a:defRPr/>
            </a:pPr>
            <a:r>
              <a:rPr lang="en-US" sz="2000" dirty="0" smtClean="0"/>
              <a:t>New food: fill in a Food Update Form (FUF)</a:t>
            </a:r>
          </a:p>
          <a:p>
            <a:pPr eaLnBrk="1" hangingPunct="1">
              <a:buFont typeface="Wingdings 2" pitchFamily="18" charset="2"/>
              <a:buNone/>
              <a:defRPr/>
            </a:pPr>
            <a:endParaRPr lang="nl-BE" dirty="0" smtClean="0"/>
          </a:p>
          <a:p>
            <a:pPr eaLnBrk="1" hangingPunct="1">
              <a:buFont typeface="Wingdings 2" pitchFamily="18" charset="2"/>
              <a:buNone/>
              <a:defRPr/>
            </a:pPr>
            <a:r>
              <a:rPr lang="nl-BE" b="1" dirty="0" smtClean="0"/>
              <a:t>Recipes</a:t>
            </a:r>
          </a:p>
          <a:p>
            <a:pPr marL="788988" lvl="1" indent="-514350" eaLnBrk="1" hangingPunct="1">
              <a:buFont typeface="+mj-lt"/>
              <a:buAutoNum type="arabicPeriod"/>
              <a:defRPr/>
            </a:pPr>
            <a:r>
              <a:rPr lang="nl-BE" dirty="0" smtClean="0"/>
              <a:t>Recipe name, classification, type, ingredients in the Recipe Manager</a:t>
            </a:r>
          </a:p>
          <a:p>
            <a:pPr marL="788988" lvl="1" indent="-514350" eaLnBrk="1" hangingPunct="1">
              <a:buFont typeface="+mj-lt"/>
              <a:buAutoNum type="arabicPeriod"/>
              <a:defRPr/>
            </a:pPr>
            <a:r>
              <a:rPr lang="nl-BE" dirty="0" smtClean="0"/>
              <a:t>Else, like foods</a:t>
            </a:r>
          </a:p>
          <a:p>
            <a:pPr marL="788988" lvl="1" indent="-514350" eaLnBrk="1" hangingPunct="1">
              <a:buFont typeface="+mj-lt"/>
              <a:buAutoNum type="arabicPeriod"/>
              <a:defRPr/>
            </a:pPr>
            <a:endParaRPr lang="nl-BE" dirty="0"/>
          </a:p>
          <a:p>
            <a:pPr marL="0" indent="0" eaLnBrk="1" hangingPunct="1">
              <a:buFont typeface="Wingdings 2" pitchFamily="18" charset="2"/>
              <a:buNone/>
              <a:defRPr/>
            </a:pPr>
            <a:r>
              <a:rPr lang="nl-BE" b="1" dirty="0" smtClean="0"/>
              <a:t>Dietary supplements</a:t>
            </a:r>
          </a:p>
          <a:p>
            <a:pPr marL="0" indent="0" eaLnBrk="1" hangingPunct="1">
              <a:buFont typeface="Wingdings 2" pitchFamily="18" charset="2"/>
              <a:buNone/>
              <a:defRPr/>
            </a:pPr>
            <a:r>
              <a:rPr lang="nl-BE" dirty="0" smtClean="0"/>
              <a:t>	</a:t>
            </a:r>
            <a:r>
              <a:rPr lang="nl-BE" sz="2200" dirty="0" smtClean="0">
                <a:solidFill>
                  <a:srgbClr val="2A89C4"/>
                </a:solidFill>
              </a:rPr>
              <a:t>Update the list </a:t>
            </a:r>
          </a:p>
          <a:p>
            <a:pPr marL="514350" indent="-514350" eaLnBrk="1" hangingPunct="1">
              <a:buFont typeface="+mj-lt"/>
              <a:buAutoNum type="arabicPeriod"/>
              <a:defRPr/>
            </a:pPr>
            <a:endParaRPr lang="nl-BE" dirty="0" smtClean="0"/>
          </a:p>
        </p:txBody>
      </p:sp>
      <p:pic>
        <p:nvPicPr>
          <p:cNvPr id="15" name="Afbeelding 14" descr="124741-matte-white-square-icon-business-home7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accent5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321338" y="642918"/>
            <a:ext cx="536150" cy="5361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377825" y="6381750"/>
            <a:ext cx="3906838" cy="350838"/>
          </a:xfrm>
        </p:spPr>
        <p:txBody>
          <a:bodyPr lIns="45720" rIns="45720" anchor="ctr">
            <a:noAutofit/>
          </a:bodyPr>
          <a:lstStyle/>
          <a:p>
            <a:pPr>
              <a:defRPr/>
            </a:pPr>
            <a:r>
              <a:rPr lang="en-GB" dirty="0"/>
              <a:t>Maintenance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nl-BE" smtClean="0"/>
              <a:t>IARC, Lyon - France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BE" dirty="0" smtClean="0"/>
              <a:t>Maintenance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2EC30BA-8C43-4B6C-B4A1-4D564912CC0F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23850" y="476250"/>
            <a:ext cx="8280400" cy="4524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>
              <a:buFontTx/>
              <a:buChar char="-"/>
              <a:defRPr/>
            </a:pPr>
            <a:r>
              <a:rPr lang="en-GB" dirty="0"/>
              <a:t>Changes needed to clean the collected interviews (missing foods, descriptors, standard units, shapes…)</a:t>
            </a:r>
          </a:p>
          <a:p>
            <a:pPr>
              <a:defRPr/>
            </a:pPr>
            <a:endParaRPr lang="en-GB" dirty="0"/>
          </a:p>
          <a:p>
            <a:pPr marL="285750" indent="-285750">
              <a:buFontTx/>
              <a:buChar char="-"/>
              <a:defRPr/>
            </a:pPr>
            <a:r>
              <a:rPr lang="en-GB" dirty="0"/>
              <a:t>Changes needed to ease the interviews (choice and order of descriptors, choice of facets)</a:t>
            </a:r>
          </a:p>
          <a:p>
            <a:pPr marL="285750" indent="-285750">
              <a:buFontTx/>
              <a:buChar char="-"/>
              <a:defRPr/>
            </a:pPr>
            <a:endParaRPr lang="en-GB" dirty="0"/>
          </a:p>
          <a:p>
            <a:pPr marL="285750" indent="-285750">
              <a:buFontTx/>
              <a:buChar char="-"/>
              <a:defRPr/>
            </a:pPr>
            <a:r>
              <a:rPr lang="en-GB" dirty="0"/>
              <a:t>Changes in coefficients if new/better figures are available</a:t>
            </a:r>
          </a:p>
          <a:p>
            <a:pPr marL="285750" indent="-285750">
              <a:buFontTx/>
              <a:buChar char="-"/>
              <a:defRPr/>
            </a:pPr>
            <a:endParaRPr lang="en-GB" dirty="0"/>
          </a:p>
          <a:p>
            <a:pPr marL="285750" indent="-285750">
              <a:buFontTx/>
              <a:buChar char="-"/>
              <a:defRPr/>
            </a:pPr>
            <a:endParaRPr lang="en-GB" dirty="0"/>
          </a:p>
          <a:p>
            <a:pPr>
              <a:defRPr/>
            </a:pPr>
            <a:r>
              <a:rPr lang="en-GB" b="1" dirty="0"/>
              <a:t>CAUTION:</a:t>
            </a:r>
          </a:p>
          <a:p>
            <a:pPr marL="285750" indent="-285750">
              <a:buFontTx/>
              <a:buChar char="-"/>
              <a:defRPr/>
            </a:pPr>
            <a:r>
              <a:rPr lang="en-GB" dirty="0"/>
              <a:t>changing the common files lead to some inconsistency between the sets of collected interviews</a:t>
            </a:r>
          </a:p>
          <a:p>
            <a:pPr marL="285750" indent="-285750">
              <a:buFontTx/>
              <a:buChar char="-"/>
              <a:defRPr/>
            </a:pPr>
            <a:endParaRPr lang="en-GB" dirty="0"/>
          </a:p>
          <a:p>
            <a:pPr marL="285750" indent="-285750">
              <a:buFontTx/>
              <a:buChar char="-"/>
              <a:defRPr/>
            </a:pPr>
            <a:r>
              <a:rPr lang="en-GB" dirty="0"/>
              <a:t>Changes in cascade (e.g. FADECODE </a:t>
            </a:r>
            <a:r>
              <a:rPr lang="en-GB" dirty="0">
                <a:sym typeface="Wingdings" panose="05000000000000000000" pitchFamily="2" charset="2"/>
              </a:rPr>
              <a:t> FADEBYGROUP FDFACET RAWCOOK &amp; PCTFAT)</a:t>
            </a:r>
          </a:p>
          <a:p>
            <a:pPr marL="285750" indent="-285750">
              <a:buFontTx/>
              <a:buChar char="-"/>
              <a:defRPr/>
            </a:pP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dianumm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6180CEF-6BD0-4C4C-BA68-F70C5A2849B5}" type="slidenum">
              <a:rPr lang="en-US" smtClean="0"/>
              <a:pPr>
                <a:defRPr/>
              </a:pPr>
              <a:t>5</a:t>
            </a:fld>
            <a:endParaRPr lang="en-US" sz="1800" dirty="0"/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pic>
        <p:nvPicPr>
          <p:cNvPr id="15" name="Afbeelding 14" descr="124741-matte-white-square-icon-business-home7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accent5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321338" y="642918"/>
            <a:ext cx="536150" cy="5361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7" name="Rectangle 2"/>
          <p:cNvSpPr txBox="1">
            <a:spLocks noChangeArrowheads="1"/>
          </p:cNvSpPr>
          <p:nvPr/>
        </p:nvSpPr>
        <p:spPr>
          <a:xfrm>
            <a:off x="381000" y="1071546"/>
            <a:ext cx="2362200" cy="704848"/>
          </a:xfrm>
          <a:prstGeom prst="rect">
            <a:avLst/>
          </a:prstGeom>
        </p:spPr>
        <p:txBody>
          <a:bodyPr anchor="b"/>
          <a:lstStyle/>
          <a:p>
            <a:pPr fontAlgn="auto">
              <a:spcAft>
                <a:spcPts val="0"/>
              </a:spcAft>
              <a:defRPr/>
            </a:pPr>
            <a:r>
              <a:rPr lang="en-US" sz="2200" b="1" dirty="0">
                <a:solidFill>
                  <a:srgbClr val="FFFFFF"/>
                </a:soli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rPr>
              <a:t>Outline</a:t>
            </a:r>
          </a:p>
        </p:txBody>
      </p:sp>
      <p:sp>
        <p:nvSpPr>
          <p:cNvPr id="16" name="Tijdelijke aanduiding voor tekst 11"/>
          <p:cNvSpPr txBox="1">
            <a:spLocks/>
          </p:cNvSpPr>
          <p:nvPr/>
        </p:nvSpPr>
        <p:spPr bwMode="auto">
          <a:xfrm>
            <a:off x="409550" y="1857364"/>
            <a:ext cx="2362200" cy="414496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0" indent="0" algn="l" rtl="0" eaLnBrk="0" fontAlgn="base" hangingPunct="0">
              <a:spcBef>
                <a:spcPct val="20000"/>
              </a:spcBef>
              <a:spcAft>
                <a:spcPts val="1000"/>
              </a:spcAft>
              <a:buSzPct val="85000"/>
              <a:buFont typeface="Wingdings 2" pitchFamily="18" charset="2"/>
              <a:buNone/>
              <a:defRPr sz="16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768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None/>
              <a:defRPr sz="1200" kern="1200">
                <a:solidFill>
                  <a:srgbClr val="2780B7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 2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None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eaLnBrk="1" fontAlgn="auto" hangingPunct="1">
              <a:spcAft>
                <a:spcPts val="300"/>
              </a:spcAft>
              <a:buClr>
                <a:schemeClr val="bg1"/>
              </a:buClr>
              <a:buFont typeface="+mj-lt"/>
              <a:buAutoNum type="arabicPeriod"/>
              <a:defRPr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Introduction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 smtClean="0"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Preparation steps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How to update </a:t>
            </a:r>
            <a:r>
              <a:rPr lang="en-US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GloboDiet</a:t>
            </a: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databases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How to fill a FUF/RUF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Conclusion</a:t>
            </a:r>
          </a:p>
          <a:p>
            <a:pPr eaLnBrk="1" fontAlgn="auto" hangingPunct="1">
              <a:spcAft>
                <a:spcPts val="300"/>
              </a:spcAft>
              <a:buFont typeface="Wingdings 2"/>
              <a:buNone/>
              <a:defRPr/>
            </a:pPr>
            <a:endParaRPr lang="nl-BE" dirty="0"/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>
          <a:xfrm>
            <a:off x="2987675" y="765175"/>
            <a:ext cx="5905500" cy="3746500"/>
          </a:xfrm>
        </p:spPr>
        <p:txBody>
          <a:bodyPr/>
          <a:lstStyle/>
          <a:p>
            <a:pPr marL="0" indent="0" algn="ctr">
              <a:buFont typeface="Wingdings 2" pitchFamily="18" charset="2"/>
              <a:buNone/>
              <a:defRPr/>
            </a:pPr>
            <a:r>
              <a:rPr lang="en-GB" sz="1800" dirty="0">
                <a:latin typeface="Arial" pitchFamily="34" charset="0"/>
                <a:cs typeface="Arial" pitchFamily="34" charset="0"/>
              </a:rPr>
              <a:t>C</a:t>
            </a:r>
            <a:r>
              <a:rPr lang="en-GB" sz="1800" dirty="0" smtClean="0">
                <a:latin typeface="Arial" pitchFamily="34" charset="0"/>
                <a:cs typeface="Arial" pitchFamily="34" charset="0"/>
              </a:rPr>
              <a:t>ommon files</a:t>
            </a:r>
          </a:p>
          <a:p>
            <a:pPr marL="0" indent="0" algn="ctr">
              <a:buFont typeface="Wingdings 2" pitchFamily="18" charset="2"/>
              <a:buNone/>
              <a:defRPr/>
            </a:pPr>
            <a:endParaRPr lang="en-GB" sz="1800" dirty="0">
              <a:latin typeface="Arial" pitchFamily="34" charset="0"/>
              <a:cs typeface="Arial" pitchFamily="34" charset="0"/>
            </a:endParaRPr>
          </a:p>
          <a:p>
            <a:pPr marL="0" indent="0" algn="ctr">
              <a:buFont typeface="Wingdings 2" pitchFamily="18" charset="2"/>
              <a:buNone/>
              <a:defRPr/>
            </a:pPr>
            <a:r>
              <a:rPr lang="en-GB" sz="1800" dirty="0" smtClean="0">
                <a:latin typeface="Arial" pitchFamily="34" charset="0"/>
                <a:cs typeface="Arial" pitchFamily="34" charset="0"/>
              </a:rPr>
              <a:t>Country-specific files</a:t>
            </a:r>
          </a:p>
          <a:p>
            <a:pPr marL="342900" indent="-342900" algn="ctr">
              <a:buFont typeface="+mj-lt"/>
              <a:buAutoNum type="arabicPeriod"/>
              <a:defRPr/>
            </a:pPr>
            <a:r>
              <a:rPr lang="en-GB" sz="1800" dirty="0" smtClean="0">
                <a:latin typeface="Arial" pitchFamily="34" charset="0"/>
                <a:cs typeface="Arial" pitchFamily="34" charset="0"/>
              </a:rPr>
              <a:t>Foods</a:t>
            </a:r>
          </a:p>
          <a:p>
            <a:pPr marL="0" indent="0" algn="ctr">
              <a:buFont typeface="Wingdings 2" pitchFamily="18" charset="2"/>
              <a:buNone/>
              <a:defRPr/>
            </a:pPr>
            <a:endParaRPr lang="en-GB" sz="1800" dirty="0">
              <a:latin typeface="Arial" pitchFamily="34" charset="0"/>
              <a:cs typeface="Arial" pitchFamily="34" charset="0"/>
            </a:endParaRPr>
          </a:p>
          <a:p>
            <a:pPr marL="0" indent="0" algn="ctr">
              <a:buFont typeface="Wingdings 2" pitchFamily="18" charset="2"/>
              <a:buNone/>
              <a:defRPr/>
            </a:pPr>
            <a:r>
              <a:rPr lang="en-GB" sz="1800" dirty="0" err="1" smtClean="0">
                <a:latin typeface="Arial" pitchFamily="34" charset="0"/>
                <a:cs typeface="Arial" pitchFamily="34" charset="0"/>
              </a:rPr>
              <a:t>GloboDiet</a:t>
            </a:r>
            <a:r>
              <a:rPr lang="en-GB" sz="1800" dirty="0" smtClean="0">
                <a:latin typeface="Arial" pitchFamily="34" charset="0"/>
                <a:cs typeface="Arial" pitchFamily="34" charset="0"/>
              </a:rPr>
              <a:t> ‘food database version’</a:t>
            </a:r>
          </a:p>
          <a:p>
            <a:pPr marL="0" indent="0" algn="ctr">
              <a:buFont typeface="Wingdings 2" pitchFamily="18" charset="2"/>
              <a:buNone/>
              <a:defRPr/>
            </a:pPr>
            <a:r>
              <a:rPr lang="en-GB" sz="1800" dirty="0">
                <a:latin typeface="Arial" pitchFamily="34" charset="0"/>
                <a:cs typeface="Arial" pitchFamily="34" charset="0"/>
              </a:rPr>
              <a:t>a</a:t>
            </a:r>
            <a:r>
              <a:rPr lang="en-GB" sz="1800" dirty="0" smtClean="0">
                <a:latin typeface="Arial" pitchFamily="34" charset="0"/>
                <a:cs typeface="Arial" pitchFamily="34" charset="0"/>
              </a:rPr>
              <a:t>nd Recipe Manager</a:t>
            </a:r>
          </a:p>
          <a:p>
            <a:pPr marL="0" indent="0" algn="ctr">
              <a:buFont typeface="Wingdings 2" pitchFamily="18" charset="2"/>
              <a:buNone/>
              <a:defRPr/>
            </a:pPr>
            <a:endParaRPr lang="en-GB" sz="1800" dirty="0">
              <a:latin typeface="Arial" pitchFamily="34" charset="0"/>
              <a:cs typeface="Arial" pitchFamily="34" charset="0"/>
            </a:endParaRPr>
          </a:p>
          <a:p>
            <a:pPr marL="0" indent="0" algn="ctr">
              <a:buFont typeface="Wingdings 2" pitchFamily="18" charset="2"/>
              <a:buNone/>
              <a:defRPr/>
            </a:pPr>
            <a:r>
              <a:rPr lang="en-GB" sz="1800" dirty="0" smtClean="0">
                <a:latin typeface="Arial" pitchFamily="34" charset="0"/>
                <a:cs typeface="Arial" pitchFamily="34" charset="0"/>
              </a:rPr>
              <a:t>Country-specific files</a:t>
            </a:r>
          </a:p>
          <a:p>
            <a:pPr marL="0" indent="0" algn="ctr">
              <a:buFont typeface="Wingdings 2" pitchFamily="18" charset="2"/>
              <a:buNone/>
              <a:defRPr/>
            </a:pPr>
            <a:r>
              <a:rPr lang="en-GB" sz="1800" dirty="0" smtClean="0">
                <a:latin typeface="Arial" pitchFamily="34" charset="0"/>
                <a:cs typeface="Arial" pitchFamily="34" charset="0"/>
              </a:rPr>
              <a:t>2. Recipes</a:t>
            </a:r>
          </a:p>
          <a:p>
            <a:pPr marL="0" indent="0" algn="ctr">
              <a:buFont typeface="Wingdings 2" pitchFamily="18" charset="2"/>
              <a:buNone/>
              <a:defRPr/>
            </a:pPr>
            <a:endParaRPr lang="en-GB" sz="1800" dirty="0">
              <a:latin typeface="Arial" pitchFamily="34" charset="0"/>
              <a:cs typeface="Arial" pitchFamily="34" charset="0"/>
            </a:endParaRPr>
          </a:p>
          <a:p>
            <a:pPr marL="0" indent="0" algn="ctr">
              <a:buFont typeface="Wingdings 2" pitchFamily="18" charset="2"/>
              <a:buNone/>
              <a:defRPr/>
            </a:pPr>
            <a:r>
              <a:rPr lang="en-GB" sz="1800" dirty="0" smtClean="0">
                <a:latin typeface="Arial" pitchFamily="34" charset="0"/>
                <a:cs typeface="Arial" pitchFamily="34" charset="0"/>
              </a:rPr>
              <a:t>3. Dietary supplements</a:t>
            </a:r>
          </a:p>
          <a:p>
            <a:pPr marL="0" indent="0" algn="ctr">
              <a:buFont typeface="Wingdings 2" pitchFamily="18" charset="2"/>
              <a:buNone/>
              <a:defRPr/>
            </a:pPr>
            <a:endParaRPr lang="en-GB" sz="1800" dirty="0">
              <a:latin typeface="Arial" pitchFamily="34" charset="0"/>
              <a:cs typeface="Arial" pitchFamily="34" charset="0"/>
            </a:endParaRPr>
          </a:p>
          <a:p>
            <a:pPr marL="0" indent="0" algn="ctr">
              <a:buFont typeface="Wingdings 2" pitchFamily="18" charset="2"/>
              <a:buNone/>
              <a:defRPr/>
            </a:pPr>
            <a:r>
              <a:rPr lang="en-GB" sz="1800" dirty="0" err="1" smtClean="0">
                <a:latin typeface="Arial" pitchFamily="34" charset="0"/>
                <a:cs typeface="Arial" pitchFamily="34" charset="0"/>
              </a:rPr>
              <a:t>GloboDiet</a:t>
            </a:r>
            <a:r>
              <a:rPr lang="en-GB" sz="1800" dirty="0" smtClean="0">
                <a:latin typeface="Arial" pitchFamily="34" charset="0"/>
                <a:cs typeface="Arial" pitchFamily="34" charset="0"/>
              </a:rPr>
              <a:t> ‘final database version’</a:t>
            </a:r>
          </a:p>
          <a:p>
            <a:pPr marL="0" indent="0" algn="ctr">
              <a:buFont typeface="Wingdings 2" pitchFamily="18" charset="2"/>
              <a:buNone/>
              <a:defRPr/>
            </a:pPr>
            <a:endParaRPr lang="en-GB" sz="1800" dirty="0">
              <a:latin typeface="Arial" pitchFamily="34" charset="0"/>
              <a:cs typeface="Arial" pitchFamily="34" charset="0"/>
            </a:endParaRPr>
          </a:p>
          <a:p>
            <a:pPr marL="0" indent="0">
              <a:buFont typeface="Wingdings 2" pitchFamily="18" charset="2"/>
              <a:buNone/>
              <a:defRPr/>
            </a:pPr>
            <a:r>
              <a:rPr lang="en-GB" sz="1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Wingdings" pitchFamily="2" charset="2"/>
              </a:rPr>
              <a:t> IARC guides throughout the whole update</a:t>
            </a:r>
            <a:endParaRPr lang="en-GB" sz="18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Down Arrow 2"/>
          <p:cNvSpPr/>
          <p:nvPr/>
        </p:nvSpPr>
        <p:spPr>
          <a:xfrm>
            <a:off x="5724525" y="1077913"/>
            <a:ext cx="431800" cy="3587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2" name="Down Arrow 11"/>
          <p:cNvSpPr/>
          <p:nvPr/>
        </p:nvSpPr>
        <p:spPr>
          <a:xfrm>
            <a:off x="5724525" y="2085975"/>
            <a:ext cx="431800" cy="3587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3" name="Down Arrow 12"/>
          <p:cNvSpPr/>
          <p:nvPr/>
        </p:nvSpPr>
        <p:spPr>
          <a:xfrm>
            <a:off x="5724525" y="3094038"/>
            <a:ext cx="431800" cy="3587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8" name="Down Arrow 17"/>
          <p:cNvSpPr/>
          <p:nvPr/>
        </p:nvSpPr>
        <p:spPr>
          <a:xfrm>
            <a:off x="5724525" y="4749800"/>
            <a:ext cx="431800" cy="36036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304800" y="6381750"/>
            <a:ext cx="3906838" cy="350838"/>
          </a:xfrm>
        </p:spPr>
        <p:txBody>
          <a:bodyPr lIns="45720" rIns="45720" anchor="ctr">
            <a:noAutofit/>
          </a:bodyPr>
          <a:lstStyle/>
          <a:p>
            <a:pPr>
              <a:defRPr/>
            </a:pPr>
            <a:r>
              <a:rPr lang="en-GB" dirty="0"/>
              <a:t>Maintenance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4"/>
          <p:cNvSpPr txBox="1">
            <a:spLocks noChangeArrowheads="1"/>
          </p:cNvSpPr>
          <p:nvPr/>
        </p:nvSpPr>
        <p:spPr bwMode="auto">
          <a:xfrm>
            <a:off x="3563938" y="246063"/>
            <a:ext cx="1655762" cy="59055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600" b="1" i="1">
                <a:solidFill>
                  <a:srgbClr val="0000FF"/>
                </a:solidFill>
                <a:latin typeface="Arial" charset="0"/>
              </a:rPr>
              <a:t>Food Classification </a:t>
            </a:r>
          </a:p>
        </p:txBody>
      </p:sp>
      <p:sp>
        <p:nvSpPr>
          <p:cNvPr id="18435" name="Text Box 5"/>
          <p:cNvSpPr txBox="1">
            <a:spLocks noChangeArrowheads="1"/>
          </p:cNvSpPr>
          <p:nvPr/>
        </p:nvSpPr>
        <p:spPr bwMode="auto">
          <a:xfrm>
            <a:off x="874713" y="336550"/>
            <a:ext cx="1757362" cy="284163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 i="1">
                <a:solidFill>
                  <a:srgbClr val="0000FF"/>
                </a:solidFill>
                <a:latin typeface="Arial" charset="0"/>
              </a:rPr>
              <a:t>Facets &amp; Descriptors </a:t>
            </a:r>
          </a:p>
        </p:txBody>
      </p:sp>
      <p:sp>
        <p:nvSpPr>
          <p:cNvPr id="18436" name="Text Box 6"/>
          <p:cNvSpPr txBox="1">
            <a:spLocks noChangeArrowheads="1"/>
          </p:cNvSpPr>
          <p:nvPr/>
        </p:nvSpPr>
        <p:spPr bwMode="auto">
          <a:xfrm>
            <a:off x="895350" y="981075"/>
            <a:ext cx="1681163" cy="466725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 i="1">
                <a:solidFill>
                  <a:srgbClr val="0000FF"/>
                </a:solidFill>
                <a:latin typeface="Arial" charset="0"/>
              </a:rPr>
              <a:t>Facets/Descriptors </a:t>
            </a:r>
          </a:p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 i="1">
                <a:solidFill>
                  <a:srgbClr val="0000FF"/>
                </a:solidFill>
                <a:latin typeface="Arial" charset="0"/>
              </a:rPr>
              <a:t>by Group/Subgroup </a:t>
            </a:r>
          </a:p>
        </p:txBody>
      </p:sp>
      <p:sp>
        <p:nvSpPr>
          <p:cNvPr id="18437" name="Text Box 7"/>
          <p:cNvSpPr txBox="1">
            <a:spLocks noChangeArrowheads="1"/>
          </p:cNvSpPr>
          <p:nvPr/>
        </p:nvSpPr>
        <p:spPr bwMode="auto">
          <a:xfrm>
            <a:off x="395288" y="1560513"/>
            <a:ext cx="1090612" cy="284162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 i="1">
                <a:solidFill>
                  <a:srgbClr val="0000FF"/>
                </a:solidFill>
                <a:latin typeface="Arial" charset="0"/>
              </a:rPr>
              <a:t>Facet Rules </a:t>
            </a:r>
          </a:p>
        </p:txBody>
      </p:sp>
      <p:sp>
        <p:nvSpPr>
          <p:cNvPr id="18438" name="Rectangle 16"/>
          <p:cNvSpPr>
            <a:spLocks noChangeArrowheads="1"/>
          </p:cNvSpPr>
          <p:nvPr/>
        </p:nvSpPr>
        <p:spPr bwMode="auto">
          <a:xfrm>
            <a:off x="5392738" y="2205038"/>
            <a:ext cx="1484312" cy="466725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 i="1">
                <a:solidFill>
                  <a:srgbClr val="0000FF"/>
                </a:solidFill>
                <a:latin typeface="Arial" charset="0"/>
              </a:rPr>
              <a:t>Quantification by </a:t>
            </a:r>
          </a:p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 i="1">
                <a:solidFill>
                  <a:srgbClr val="0000FF"/>
                </a:solidFill>
                <a:latin typeface="Arial" charset="0"/>
              </a:rPr>
              <a:t>Group/Subgroup </a:t>
            </a:r>
          </a:p>
        </p:txBody>
      </p:sp>
      <p:sp>
        <p:nvSpPr>
          <p:cNvPr id="18439" name="Rectangle 17"/>
          <p:cNvSpPr>
            <a:spLocks noChangeArrowheads="1"/>
          </p:cNvSpPr>
          <p:nvPr/>
        </p:nvSpPr>
        <p:spPr bwMode="auto">
          <a:xfrm>
            <a:off x="2247900" y="2205038"/>
            <a:ext cx="1460500" cy="466725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 i="1">
                <a:solidFill>
                  <a:srgbClr val="0000FF"/>
                </a:solidFill>
                <a:latin typeface="Arial" charset="0"/>
              </a:rPr>
              <a:t>Probing by </a:t>
            </a:r>
          </a:p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 i="1">
                <a:solidFill>
                  <a:srgbClr val="0000FF"/>
                </a:solidFill>
                <a:latin typeface="Arial" charset="0"/>
              </a:rPr>
              <a:t>Group/Subgroup </a:t>
            </a:r>
          </a:p>
        </p:txBody>
      </p:sp>
      <p:sp>
        <p:nvSpPr>
          <p:cNvPr id="18440" name="Rectangle 18"/>
          <p:cNvSpPr>
            <a:spLocks noChangeArrowheads="1"/>
          </p:cNvSpPr>
          <p:nvPr/>
        </p:nvSpPr>
        <p:spPr bwMode="auto">
          <a:xfrm>
            <a:off x="3419475" y="2852738"/>
            <a:ext cx="2201863" cy="3460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600" b="1">
                <a:solidFill>
                  <a:srgbClr val="006600"/>
                </a:solidFill>
                <a:latin typeface="Arial" charset="0"/>
              </a:rPr>
              <a:t>Foods &amp; Shadows </a:t>
            </a:r>
          </a:p>
        </p:txBody>
      </p:sp>
      <p:sp>
        <p:nvSpPr>
          <p:cNvPr id="18441" name="Text Box 19"/>
          <p:cNvSpPr txBox="1">
            <a:spLocks noChangeArrowheads="1"/>
          </p:cNvSpPr>
          <p:nvPr/>
        </p:nvSpPr>
        <p:spPr bwMode="auto">
          <a:xfrm>
            <a:off x="7796213" y="477838"/>
            <a:ext cx="1168400" cy="2841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6600"/>
                </a:solidFill>
                <a:latin typeface="Arial" charset="0"/>
              </a:rPr>
              <a:t>Photo Series </a:t>
            </a:r>
          </a:p>
        </p:txBody>
      </p:sp>
      <p:sp>
        <p:nvSpPr>
          <p:cNvPr id="18442" name="Text Box 20"/>
          <p:cNvSpPr txBox="1">
            <a:spLocks noChangeArrowheads="1"/>
          </p:cNvSpPr>
          <p:nvPr/>
        </p:nvSpPr>
        <p:spPr bwMode="auto">
          <a:xfrm>
            <a:off x="7796213" y="790575"/>
            <a:ext cx="777875" cy="2841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6600"/>
                </a:solidFill>
                <a:latin typeface="Arial" charset="0"/>
              </a:rPr>
              <a:t>Shapes </a:t>
            </a:r>
          </a:p>
        </p:txBody>
      </p:sp>
      <p:sp>
        <p:nvSpPr>
          <p:cNvPr id="18443" name="Text Box 21"/>
          <p:cNvSpPr txBox="1">
            <a:spLocks noChangeArrowheads="1"/>
          </p:cNvSpPr>
          <p:nvPr/>
        </p:nvSpPr>
        <p:spPr bwMode="auto">
          <a:xfrm>
            <a:off x="7956550" y="1511300"/>
            <a:ext cx="539750" cy="2841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6600"/>
                </a:solidFill>
                <a:latin typeface="Arial" charset="0"/>
              </a:rPr>
              <a:t>HHM</a:t>
            </a:r>
          </a:p>
        </p:txBody>
      </p:sp>
      <p:sp>
        <p:nvSpPr>
          <p:cNvPr id="18444" name="Text Box 22"/>
          <p:cNvSpPr txBox="1">
            <a:spLocks noChangeArrowheads="1"/>
          </p:cNvSpPr>
          <p:nvPr/>
        </p:nvSpPr>
        <p:spPr bwMode="auto">
          <a:xfrm>
            <a:off x="7956550" y="1196975"/>
            <a:ext cx="981075" cy="2841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6600"/>
                </a:solidFill>
                <a:latin typeface="Arial" charset="0"/>
              </a:rPr>
              <a:t>Thickness </a:t>
            </a:r>
          </a:p>
        </p:txBody>
      </p:sp>
      <p:sp>
        <p:nvSpPr>
          <p:cNvPr id="18445" name="Rectangle 25"/>
          <p:cNvSpPr>
            <a:spLocks noChangeArrowheads="1"/>
          </p:cNvSpPr>
          <p:nvPr/>
        </p:nvSpPr>
        <p:spPr bwMode="auto">
          <a:xfrm>
            <a:off x="704850" y="3963988"/>
            <a:ext cx="1490663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400" b="1">
                <a:solidFill>
                  <a:srgbClr val="006600"/>
                </a:solidFill>
                <a:latin typeface="Arial" charset="0"/>
              </a:rPr>
              <a:t>Facets by food </a:t>
            </a:r>
          </a:p>
        </p:txBody>
      </p:sp>
      <p:sp>
        <p:nvSpPr>
          <p:cNvPr id="18446" name="Rectangle 26"/>
          <p:cNvSpPr>
            <a:spLocks noChangeArrowheads="1"/>
          </p:cNvSpPr>
          <p:nvPr/>
        </p:nvSpPr>
        <p:spPr bwMode="auto">
          <a:xfrm>
            <a:off x="704850" y="4365625"/>
            <a:ext cx="1116013" cy="2841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6600"/>
                </a:solidFill>
                <a:latin typeface="Arial" charset="0"/>
              </a:rPr>
              <a:t>Brand name </a:t>
            </a:r>
          </a:p>
        </p:txBody>
      </p:sp>
      <p:sp>
        <p:nvSpPr>
          <p:cNvPr id="18447" name="Rectangle 27"/>
          <p:cNvSpPr>
            <a:spLocks noChangeArrowheads="1"/>
          </p:cNvSpPr>
          <p:nvPr/>
        </p:nvSpPr>
        <p:spPr bwMode="auto">
          <a:xfrm>
            <a:off x="6675438" y="3459163"/>
            <a:ext cx="2217737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400" b="1">
                <a:solidFill>
                  <a:srgbClr val="006600"/>
                </a:solidFill>
                <a:latin typeface="Arial" charset="0"/>
              </a:rPr>
              <a:t>Quantifications by food </a:t>
            </a:r>
          </a:p>
        </p:txBody>
      </p:sp>
      <p:sp>
        <p:nvSpPr>
          <p:cNvPr id="18448" name="Rectangle 28"/>
          <p:cNvSpPr>
            <a:spLocks noChangeArrowheads="1"/>
          </p:cNvSpPr>
          <p:nvPr/>
        </p:nvSpPr>
        <p:spPr bwMode="auto">
          <a:xfrm>
            <a:off x="7451725" y="4078288"/>
            <a:ext cx="1262063" cy="2841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6600"/>
                </a:solidFill>
                <a:latin typeface="Arial" charset="0"/>
              </a:rPr>
              <a:t>Standard units</a:t>
            </a:r>
          </a:p>
        </p:txBody>
      </p:sp>
      <p:sp>
        <p:nvSpPr>
          <p:cNvPr id="18449" name="Rectangle 29"/>
          <p:cNvSpPr>
            <a:spLocks noChangeArrowheads="1"/>
          </p:cNvSpPr>
          <p:nvPr/>
        </p:nvSpPr>
        <p:spPr bwMode="auto">
          <a:xfrm>
            <a:off x="7451725" y="4438650"/>
            <a:ext cx="1508125" cy="2841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6600"/>
                </a:solidFill>
                <a:latin typeface="Arial" charset="0"/>
              </a:rPr>
              <a:t>Standard portions</a:t>
            </a:r>
          </a:p>
        </p:txBody>
      </p:sp>
      <p:sp>
        <p:nvSpPr>
          <p:cNvPr id="18450" name="Rectangle 30"/>
          <p:cNvSpPr>
            <a:spLocks noChangeArrowheads="1"/>
          </p:cNvSpPr>
          <p:nvPr/>
        </p:nvSpPr>
        <p:spPr bwMode="auto">
          <a:xfrm>
            <a:off x="6354763" y="4873625"/>
            <a:ext cx="785812" cy="2841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6600"/>
                </a:solidFill>
                <a:latin typeface="Arial" charset="0"/>
              </a:rPr>
              <a:t>Density </a:t>
            </a:r>
          </a:p>
        </p:txBody>
      </p:sp>
      <p:sp>
        <p:nvSpPr>
          <p:cNvPr id="18451" name="Rectangle 31"/>
          <p:cNvSpPr>
            <a:spLocks noChangeArrowheads="1"/>
          </p:cNvSpPr>
          <p:nvPr/>
        </p:nvSpPr>
        <p:spPr bwMode="auto">
          <a:xfrm>
            <a:off x="6354763" y="5808663"/>
            <a:ext cx="1312862" cy="2841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6600"/>
                </a:solidFill>
                <a:latin typeface="Arial" charset="0"/>
              </a:rPr>
              <a:t>Raw to cooked </a:t>
            </a:r>
          </a:p>
        </p:txBody>
      </p:sp>
      <p:sp>
        <p:nvSpPr>
          <p:cNvPr id="18452" name="Rectangle 32"/>
          <p:cNvSpPr>
            <a:spLocks noChangeArrowheads="1"/>
          </p:cNvSpPr>
          <p:nvPr/>
        </p:nvSpPr>
        <p:spPr bwMode="auto">
          <a:xfrm>
            <a:off x="6354763" y="5373688"/>
            <a:ext cx="1025525" cy="2841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6600"/>
                </a:solidFill>
                <a:latin typeface="Arial" charset="0"/>
              </a:rPr>
              <a:t>Edible part </a:t>
            </a:r>
          </a:p>
        </p:txBody>
      </p:sp>
      <p:sp>
        <p:nvSpPr>
          <p:cNvPr id="18453" name="Rectangle 33"/>
          <p:cNvSpPr>
            <a:spLocks noChangeArrowheads="1"/>
          </p:cNvSpPr>
          <p:nvPr/>
        </p:nvSpPr>
        <p:spPr bwMode="auto">
          <a:xfrm>
            <a:off x="1116013" y="4875213"/>
            <a:ext cx="1874837" cy="2841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6600"/>
                </a:solidFill>
                <a:latin typeface="Arial" charset="0"/>
              </a:rPr>
              <a:t>% Fats during cooking </a:t>
            </a:r>
          </a:p>
        </p:txBody>
      </p:sp>
      <p:sp>
        <p:nvSpPr>
          <p:cNvPr id="18454" name="Rectangle 34"/>
          <p:cNvSpPr>
            <a:spLocks noChangeArrowheads="1"/>
          </p:cNvSpPr>
          <p:nvPr/>
        </p:nvSpPr>
        <p:spPr bwMode="auto">
          <a:xfrm>
            <a:off x="1116013" y="5232400"/>
            <a:ext cx="2189162" cy="2841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6600"/>
                </a:solidFill>
                <a:latin typeface="Arial" charset="0"/>
              </a:rPr>
              <a:t>% Fats/Sauces/Sweeteners </a:t>
            </a:r>
          </a:p>
        </p:txBody>
      </p:sp>
      <p:sp>
        <p:nvSpPr>
          <p:cNvPr id="18455" name="Rectangle 35"/>
          <p:cNvSpPr>
            <a:spLocks noChangeArrowheads="1"/>
          </p:cNvSpPr>
          <p:nvPr/>
        </p:nvSpPr>
        <p:spPr bwMode="auto">
          <a:xfrm>
            <a:off x="179388" y="2924175"/>
            <a:ext cx="1439862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6600"/>
                </a:solidFill>
                <a:latin typeface="Arial" charset="0"/>
              </a:rPr>
              <a:t>% Fats/sauces left over</a:t>
            </a:r>
          </a:p>
        </p:txBody>
      </p:sp>
      <p:sp>
        <p:nvSpPr>
          <p:cNvPr id="18456" name="Rectangle 36"/>
          <p:cNvSpPr>
            <a:spLocks noChangeArrowheads="1"/>
          </p:cNvSpPr>
          <p:nvPr/>
        </p:nvSpPr>
        <p:spPr bwMode="auto">
          <a:xfrm>
            <a:off x="3276600" y="4868863"/>
            <a:ext cx="1493838" cy="2841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6600"/>
                </a:solidFill>
                <a:latin typeface="Arial" charset="0"/>
              </a:rPr>
              <a:t>Probings by food </a:t>
            </a:r>
          </a:p>
        </p:txBody>
      </p:sp>
      <p:sp>
        <p:nvSpPr>
          <p:cNvPr id="18457" name="Rectangle 37"/>
          <p:cNvSpPr>
            <a:spLocks noChangeArrowheads="1"/>
          </p:cNvSpPr>
          <p:nvPr/>
        </p:nvSpPr>
        <p:spPr bwMode="auto">
          <a:xfrm>
            <a:off x="5076825" y="4868863"/>
            <a:ext cx="793750" cy="2841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6600"/>
                </a:solidFill>
                <a:latin typeface="Arial" charset="0"/>
              </a:rPr>
              <a:t>Maxima </a:t>
            </a:r>
          </a:p>
        </p:txBody>
      </p:sp>
      <p:sp>
        <p:nvSpPr>
          <p:cNvPr id="18458" name="Rectangle 38"/>
          <p:cNvSpPr>
            <a:spLocks noChangeArrowheads="1"/>
          </p:cNvSpPr>
          <p:nvPr/>
        </p:nvSpPr>
        <p:spPr bwMode="auto">
          <a:xfrm>
            <a:off x="5076825" y="5267325"/>
            <a:ext cx="1008063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6600"/>
                </a:solidFill>
                <a:latin typeface="Arial" charset="0"/>
              </a:rPr>
              <a:t>Nutritional </a:t>
            </a:r>
          </a:p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6600"/>
                </a:solidFill>
                <a:latin typeface="Arial" charset="0"/>
              </a:rPr>
              <a:t>values </a:t>
            </a:r>
          </a:p>
        </p:txBody>
      </p:sp>
      <p:sp>
        <p:nvSpPr>
          <p:cNvPr id="18459" name="Line 53"/>
          <p:cNvSpPr>
            <a:spLocks noChangeShapeType="1"/>
          </p:cNvSpPr>
          <p:nvPr/>
        </p:nvSpPr>
        <p:spPr bwMode="auto">
          <a:xfrm flipH="1">
            <a:off x="2555875" y="620713"/>
            <a:ext cx="1008063" cy="576262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460" name="Line 54"/>
          <p:cNvSpPr>
            <a:spLocks noChangeShapeType="1"/>
          </p:cNvSpPr>
          <p:nvPr/>
        </p:nvSpPr>
        <p:spPr bwMode="auto">
          <a:xfrm flipH="1">
            <a:off x="2843213" y="620713"/>
            <a:ext cx="720725" cy="158432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461" name="Line 55"/>
          <p:cNvSpPr>
            <a:spLocks noChangeShapeType="1"/>
          </p:cNvSpPr>
          <p:nvPr/>
        </p:nvSpPr>
        <p:spPr bwMode="auto">
          <a:xfrm>
            <a:off x="5219700" y="620713"/>
            <a:ext cx="431800" cy="158432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462" name="Line 57"/>
          <p:cNvSpPr>
            <a:spLocks noChangeShapeType="1"/>
          </p:cNvSpPr>
          <p:nvPr/>
        </p:nvSpPr>
        <p:spPr bwMode="auto">
          <a:xfrm flipH="1">
            <a:off x="5795963" y="836613"/>
            <a:ext cx="0" cy="136842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463" name="AutoShape 58"/>
          <p:cNvSpPr>
            <a:spLocks/>
          </p:cNvSpPr>
          <p:nvPr/>
        </p:nvSpPr>
        <p:spPr bwMode="auto">
          <a:xfrm>
            <a:off x="7596188" y="404813"/>
            <a:ext cx="288925" cy="792162"/>
          </a:xfrm>
          <a:prstGeom prst="leftBrace">
            <a:avLst>
              <a:gd name="adj1" fmla="val 22848"/>
              <a:gd name="adj2" fmla="val 50000"/>
            </a:avLst>
          </a:prstGeom>
          <a:noFill/>
          <a:ln w="19050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en-GB" altLang="en-US" sz="1800">
              <a:latin typeface="Arial" charset="0"/>
            </a:endParaRPr>
          </a:p>
        </p:txBody>
      </p:sp>
      <p:sp>
        <p:nvSpPr>
          <p:cNvPr id="18464" name="Line 59"/>
          <p:cNvSpPr>
            <a:spLocks noChangeShapeType="1"/>
          </p:cNvSpPr>
          <p:nvPr/>
        </p:nvSpPr>
        <p:spPr bwMode="auto">
          <a:xfrm flipH="1">
            <a:off x="7596188" y="801688"/>
            <a:ext cx="0" cy="2627312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465" name="Line 60"/>
          <p:cNvSpPr>
            <a:spLocks noChangeShapeType="1"/>
          </p:cNvSpPr>
          <p:nvPr/>
        </p:nvSpPr>
        <p:spPr bwMode="auto">
          <a:xfrm>
            <a:off x="4356100" y="836613"/>
            <a:ext cx="0" cy="201612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466" name="Line 61"/>
          <p:cNvSpPr>
            <a:spLocks noChangeShapeType="1"/>
          </p:cNvSpPr>
          <p:nvPr/>
        </p:nvSpPr>
        <p:spPr bwMode="auto">
          <a:xfrm>
            <a:off x="1908175" y="1484313"/>
            <a:ext cx="0" cy="2449512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467" name="Line 62"/>
          <p:cNvSpPr>
            <a:spLocks noChangeShapeType="1"/>
          </p:cNvSpPr>
          <p:nvPr/>
        </p:nvSpPr>
        <p:spPr bwMode="auto">
          <a:xfrm flipH="1">
            <a:off x="2195513" y="3213100"/>
            <a:ext cx="1368425" cy="863600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468" name="Line 63"/>
          <p:cNvSpPr>
            <a:spLocks noChangeShapeType="1"/>
          </p:cNvSpPr>
          <p:nvPr/>
        </p:nvSpPr>
        <p:spPr bwMode="auto">
          <a:xfrm flipH="1">
            <a:off x="2555875" y="3213100"/>
            <a:ext cx="1008063" cy="1655763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469" name="Line 64"/>
          <p:cNvSpPr>
            <a:spLocks noChangeShapeType="1"/>
          </p:cNvSpPr>
          <p:nvPr/>
        </p:nvSpPr>
        <p:spPr bwMode="auto">
          <a:xfrm>
            <a:off x="3563938" y="3213100"/>
            <a:ext cx="576262" cy="1655763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470" name="Line 66"/>
          <p:cNvSpPr>
            <a:spLocks noChangeShapeType="1"/>
          </p:cNvSpPr>
          <p:nvPr/>
        </p:nvSpPr>
        <p:spPr bwMode="auto">
          <a:xfrm>
            <a:off x="5292725" y="3213100"/>
            <a:ext cx="1223963" cy="1655763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471" name="Line 67"/>
          <p:cNvSpPr>
            <a:spLocks noChangeShapeType="1"/>
          </p:cNvSpPr>
          <p:nvPr/>
        </p:nvSpPr>
        <p:spPr bwMode="auto">
          <a:xfrm>
            <a:off x="5327650" y="3213100"/>
            <a:ext cx="1331913" cy="358775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472" name="Text Box 78"/>
          <p:cNvSpPr txBox="1">
            <a:spLocks noChangeArrowheads="1"/>
          </p:cNvSpPr>
          <p:nvPr/>
        </p:nvSpPr>
        <p:spPr bwMode="auto">
          <a:xfrm>
            <a:off x="2916238" y="6021388"/>
            <a:ext cx="30956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600" b="1" i="1">
                <a:solidFill>
                  <a:srgbClr val="FF6600"/>
                </a:solidFill>
                <a:latin typeface="Arial" charset="0"/>
              </a:rPr>
              <a:t>‘FOOD’ DATABASE VERSION </a:t>
            </a:r>
          </a:p>
        </p:txBody>
      </p:sp>
      <p:sp>
        <p:nvSpPr>
          <p:cNvPr id="18473" name="Line 79"/>
          <p:cNvSpPr>
            <a:spLocks noChangeShapeType="1"/>
          </p:cNvSpPr>
          <p:nvPr/>
        </p:nvSpPr>
        <p:spPr bwMode="auto">
          <a:xfrm>
            <a:off x="1619250" y="620713"/>
            <a:ext cx="0" cy="360362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474" name="Line 88"/>
          <p:cNvSpPr>
            <a:spLocks noChangeShapeType="1"/>
          </p:cNvSpPr>
          <p:nvPr/>
        </p:nvSpPr>
        <p:spPr bwMode="auto">
          <a:xfrm>
            <a:off x="5292725" y="3213100"/>
            <a:ext cx="71438" cy="1655763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475" name="Line 89"/>
          <p:cNvSpPr>
            <a:spLocks noChangeShapeType="1"/>
          </p:cNvSpPr>
          <p:nvPr/>
        </p:nvSpPr>
        <p:spPr bwMode="auto">
          <a:xfrm>
            <a:off x="2771775" y="2708275"/>
            <a:ext cx="720725" cy="2160588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476" name="Line 90"/>
          <p:cNvSpPr>
            <a:spLocks noChangeShapeType="1"/>
          </p:cNvSpPr>
          <p:nvPr/>
        </p:nvSpPr>
        <p:spPr bwMode="auto">
          <a:xfrm flipH="1">
            <a:off x="1187450" y="620713"/>
            <a:ext cx="2376488" cy="2303462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477" name="Rectangle 91"/>
          <p:cNvSpPr>
            <a:spLocks noChangeArrowheads="1"/>
          </p:cNvSpPr>
          <p:nvPr/>
        </p:nvSpPr>
        <p:spPr bwMode="auto">
          <a:xfrm>
            <a:off x="3276600" y="1560513"/>
            <a:ext cx="771525" cy="284162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 i="1">
                <a:solidFill>
                  <a:srgbClr val="0000FF"/>
                </a:solidFill>
                <a:latin typeface="Arial" charset="0"/>
              </a:rPr>
              <a:t>Probing</a:t>
            </a:r>
          </a:p>
        </p:txBody>
      </p:sp>
      <p:sp>
        <p:nvSpPr>
          <p:cNvPr id="18478" name="Line 92"/>
          <p:cNvSpPr>
            <a:spLocks noChangeShapeType="1"/>
          </p:cNvSpPr>
          <p:nvPr/>
        </p:nvSpPr>
        <p:spPr bwMode="auto">
          <a:xfrm flipH="1">
            <a:off x="3419475" y="1844675"/>
            <a:ext cx="144463" cy="360363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cxnSp>
        <p:nvCxnSpPr>
          <p:cNvPr id="18479" name="AutoShape 93"/>
          <p:cNvCxnSpPr>
            <a:cxnSpLocks noChangeShapeType="1"/>
          </p:cNvCxnSpPr>
          <p:nvPr/>
        </p:nvCxnSpPr>
        <p:spPr bwMode="auto">
          <a:xfrm>
            <a:off x="684213" y="4149725"/>
            <a:ext cx="5472112" cy="1871663"/>
          </a:xfrm>
          <a:prstGeom prst="bentConnector3">
            <a:avLst>
              <a:gd name="adj1" fmla="val -8792"/>
            </a:avLst>
          </a:prstGeom>
          <a:noFill/>
          <a:ln w="28575">
            <a:solidFill>
              <a:srgbClr val="0066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480" name="Line 97"/>
          <p:cNvSpPr>
            <a:spLocks noChangeShapeType="1"/>
          </p:cNvSpPr>
          <p:nvPr/>
        </p:nvSpPr>
        <p:spPr bwMode="auto">
          <a:xfrm>
            <a:off x="6135688" y="2671763"/>
            <a:ext cx="1244600" cy="757237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481" name="Line 110"/>
          <p:cNvSpPr>
            <a:spLocks noChangeShapeType="1"/>
          </p:cNvSpPr>
          <p:nvPr/>
        </p:nvSpPr>
        <p:spPr bwMode="auto">
          <a:xfrm flipH="1">
            <a:off x="684213" y="1268413"/>
            <a:ext cx="215900" cy="28892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482" name="Text Box 112"/>
          <p:cNvSpPr txBox="1">
            <a:spLocks noChangeArrowheads="1"/>
          </p:cNvSpPr>
          <p:nvPr/>
        </p:nvSpPr>
        <p:spPr bwMode="auto">
          <a:xfrm>
            <a:off x="5995988" y="477838"/>
            <a:ext cx="1168400" cy="284162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00FF"/>
                </a:solidFill>
                <a:latin typeface="Arial" charset="0"/>
              </a:rPr>
              <a:t>Photo Series </a:t>
            </a:r>
          </a:p>
        </p:txBody>
      </p:sp>
      <p:sp>
        <p:nvSpPr>
          <p:cNvPr id="18483" name="Text Box 113"/>
          <p:cNvSpPr txBox="1">
            <a:spLocks noChangeArrowheads="1"/>
          </p:cNvSpPr>
          <p:nvPr/>
        </p:nvSpPr>
        <p:spPr bwMode="auto">
          <a:xfrm>
            <a:off x="5995988" y="790575"/>
            <a:ext cx="777875" cy="284163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00FF"/>
                </a:solidFill>
                <a:latin typeface="Arial" charset="0"/>
              </a:rPr>
              <a:t>Shapes </a:t>
            </a:r>
          </a:p>
        </p:txBody>
      </p:sp>
      <p:sp>
        <p:nvSpPr>
          <p:cNvPr id="18484" name="Text Box 114"/>
          <p:cNvSpPr txBox="1">
            <a:spLocks noChangeArrowheads="1"/>
          </p:cNvSpPr>
          <p:nvPr/>
        </p:nvSpPr>
        <p:spPr bwMode="auto">
          <a:xfrm>
            <a:off x="6227763" y="1511300"/>
            <a:ext cx="539750" cy="284163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00FF"/>
                </a:solidFill>
                <a:latin typeface="Arial" charset="0"/>
              </a:rPr>
              <a:t>HHM</a:t>
            </a:r>
          </a:p>
        </p:txBody>
      </p:sp>
      <p:sp>
        <p:nvSpPr>
          <p:cNvPr id="18485" name="Text Box 115"/>
          <p:cNvSpPr txBox="1">
            <a:spLocks noChangeArrowheads="1"/>
          </p:cNvSpPr>
          <p:nvPr/>
        </p:nvSpPr>
        <p:spPr bwMode="auto">
          <a:xfrm>
            <a:off x="6227763" y="1196975"/>
            <a:ext cx="981075" cy="284163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00FF"/>
                </a:solidFill>
                <a:latin typeface="Arial" charset="0"/>
              </a:rPr>
              <a:t>Thickness </a:t>
            </a:r>
          </a:p>
        </p:txBody>
      </p:sp>
      <p:sp>
        <p:nvSpPr>
          <p:cNvPr id="18486" name="AutoShape 116"/>
          <p:cNvSpPr>
            <a:spLocks/>
          </p:cNvSpPr>
          <p:nvPr/>
        </p:nvSpPr>
        <p:spPr bwMode="auto">
          <a:xfrm>
            <a:off x="5795963" y="404813"/>
            <a:ext cx="288925" cy="792162"/>
          </a:xfrm>
          <a:prstGeom prst="leftBrace">
            <a:avLst>
              <a:gd name="adj1" fmla="val 22848"/>
              <a:gd name="adj2" fmla="val 50000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en-GB" altLang="en-US" sz="1800">
              <a:latin typeface="Arial" charset="0"/>
            </a:endParaRPr>
          </a:p>
        </p:txBody>
      </p:sp>
      <p:sp>
        <p:nvSpPr>
          <p:cNvPr id="18487" name="AutoShape 118"/>
          <p:cNvSpPr>
            <a:spLocks/>
          </p:cNvSpPr>
          <p:nvPr/>
        </p:nvSpPr>
        <p:spPr bwMode="auto">
          <a:xfrm>
            <a:off x="5003800" y="4797425"/>
            <a:ext cx="73025" cy="1079500"/>
          </a:xfrm>
          <a:prstGeom prst="leftBracket">
            <a:avLst>
              <a:gd name="adj" fmla="val 123188"/>
            </a:avLst>
          </a:prstGeom>
          <a:noFill/>
          <a:ln w="19050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en-GB" altLang="en-US" sz="1800">
              <a:latin typeface="Arial" charset="0"/>
            </a:endParaRPr>
          </a:p>
        </p:txBody>
      </p:sp>
      <p:sp>
        <p:nvSpPr>
          <p:cNvPr id="18488" name="AutoShape 119"/>
          <p:cNvSpPr>
            <a:spLocks/>
          </p:cNvSpPr>
          <p:nvPr/>
        </p:nvSpPr>
        <p:spPr bwMode="auto">
          <a:xfrm>
            <a:off x="6227763" y="4797425"/>
            <a:ext cx="73025" cy="1368425"/>
          </a:xfrm>
          <a:prstGeom prst="leftBracket">
            <a:avLst>
              <a:gd name="adj" fmla="val 156159"/>
            </a:avLst>
          </a:prstGeom>
          <a:noFill/>
          <a:ln w="19050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en-GB" altLang="en-US" sz="1800">
              <a:latin typeface="Arial" charset="0"/>
            </a:endParaRPr>
          </a:p>
        </p:txBody>
      </p:sp>
      <p:sp>
        <p:nvSpPr>
          <p:cNvPr id="18489" name="Line 120"/>
          <p:cNvSpPr>
            <a:spLocks noChangeShapeType="1"/>
          </p:cNvSpPr>
          <p:nvPr/>
        </p:nvSpPr>
        <p:spPr bwMode="auto">
          <a:xfrm flipV="1">
            <a:off x="4427538" y="5373688"/>
            <a:ext cx="0" cy="647700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490" name="Line 121"/>
          <p:cNvSpPr>
            <a:spLocks noChangeShapeType="1"/>
          </p:cNvSpPr>
          <p:nvPr/>
        </p:nvSpPr>
        <p:spPr bwMode="auto">
          <a:xfrm>
            <a:off x="4427538" y="5373688"/>
            <a:ext cx="576262" cy="0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491" name="Text Box 122"/>
          <p:cNvSpPr txBox="1">
            <a:spLocks noChangeArrowheads="1"/>
          </p:cNvSpPr>
          <p:nvPr/>
        </p:nvSpPr>
        <p:spPr bwMode="auto">
          <a:xfrm>
            <a:off x="215900" y="5995988"/>
            <a:ext cx="17637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00FF"/>
                </a:solidFill>
                <a:latin typeface="Arial" charset="0"/>
              </a:rPr>
              <a:t>Project data in blue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6600"/>
                </a:solidFill>
                <a:latin typeface="Arial" charset="0"/>
              </a:rPr>
              <a:t>Country data in green</a:t>
            </a:r>
            <a:endParaRPr lang="fr-FR" altLang="en-US" sz="1200" b="1">
              <a:solidFill>
                <a:srgbClr val="006600"/>
              </a:solidFill>
              <a:latin typeface="Arial" charset="0"/>
            </a:endParaRPr>
          </a:p>
        </p:txBody>
      </p:sp>
      <p:sp>
        <p:nvSpPr>
          <p:cNvPr id="18492" name="Line 67"/>
          <p:cNvSpPr>
            <a:spLocks noChangeShapeType="1"/>
          </p:cNvSpPr>
          <p:nvPr/>
        </p:nvSpPr>
        <p:spPr bwMode="auto">
          <a:xfrm>
            <a:off x="1938338" y="4295775"/>
            <a:ext cx="0" cy="579438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493" name="Line 59"/>
          <p:cNvSpPr>
            <a:spLocks noChangeShapeType="1"/>
          </p:cNvSpPr>
          <p:nvPr/>
        </p:nvSpPr>
        <p:spPr bwMode="auto">
          <a:xfrm flipH="1">
            <a:off x="8101013" y="3773488"/>
            <a:ext cx="0" cy="304800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494" name="Line 120"/>
          <p:cNvSpPr>
            <a:spLocks noChangeShapeType="1"/>
          </p:cNvSpPr>
          <p:nvPr/>
        </p:nvSpPr>
        <p:spPr bwMode="auto">
          <a:xfrm flipH="1" flipV="1">
            <a:off x="7380288" y="5526088"/>
            <a:ext cx="873125" cy="0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495" name="Line 120"/>
          <p:cNvSpPr>
            <a:spLocks noChangeShapeType="1"/>
          </p:cNvSpPr>
          <p:nvPr/>
        </p:nvSpPr>
        <p:spPr bwMode="auto">
          <a:xfrm flipH="1" flipV="1">
            <a:off x="7669213" y="5949950"/>
            <a:ext cx="584200" cy="1588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496" name="Line 59"/>
          <p:cNvSpPr>
            <a:spLocks noChangeShapeType="1"/>
          </p:cNvSpPr>
          <p:nvPr/>
        </p:nvSpPr>
        <p:spPr bwMode="auto">
          <a:xfrm flipH="1" flipV="1">
            <a:off x="8253413" y="4722813"/>
            <a:ext cx="0" cy="1225550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497" name="Line 120"/>
          <p:cNvSpPr>
            <a:spLocks noChangeShapeType="1"/>
          </p:cNvSpPr>
          <p:nvPr/>
        </p:nvSpPr>
        <p:spPr bwMode="auto">
          <a:xfrm flipH="1">
            <a:off x="7164388" y="5011738"/>
            <a:ext cx="1089025" cy="1587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0" name="Slide Number Placeholder 3"/>
          <p:cNvSpPr txBox="1">
            <a:spLocks noGrp="1"/>
          </p:cNvSpPr>
          <p:nvPr/>
        </p:nvSpPr>
        <p:spPr>
          <a:xfrm>
            <a:off x="4286250" y="6345238"/>
            <a:ext cx="609600" cy="441325"/>
          </a:xfrm>
          <a:prstGeom prst="rect">
            <a:avLst/>
          </a:prstGeom>
          <a:noFill/>
        </p:spPr>
        <p:txBody>
          <a:bodyPr lIns="45720" rIns="45720" anchor="ctr">
            <a:normAutofit/>
          </a:bodyPr>
          <a:lstStyle/>
          <a:p>
            <a:pPr algn="ctr">
              <a:defRPr/>
            </a:pPr>
            <a:fld id="{94D8453B-A7EF-41C0-A430-D278293E0016}" type="slidenum">
              <a:rPr lang="en-US" sz="1600">
                <a:solidFill>
                  <a:schemeClr val="bg1"/>
                </a:solidFill>
                <a:latin typeface="+mj-lt"/>
                <a:cs typeface="+mn-cs"/>
              </a:rPr>
              <a:pPr algn="ctr">
                <a:defRPr/>
              </a:pPr>
              <a:t>6</a:t>
            </a:fld>
            <a:endParaRPr lang="en-US" sz="1600" dirty="0">
              <a:solidFill>
                <a:schemeClr val="bg1"/>
              </a:solidFill>
              <a:latin typeface="+mj-lt"/>
              <a:cs typeface="+mn-cs"/>
            </a:endParaRPr>
          </a:p>
        </p:txBody>
      </p:sp>
      <p:sp>
        <p:nvSpPr>
          <p:cNvPr id="18499" name="Rectangle 16"/>
          <p:cNvSpPr>
            <a:spLocks noChangeArrowheads="1"/>
          </p:cNvSpPr>
          <p:nvPr/>
        </p:nvSpPr>
        <p:spPr bwMode="auto">
          <a:xfrm>
            <a:off x="7766050" y="2452688"/>
            <a:ext cx="1057275" cy="276225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 i="1">
                <a:solidFill>
                  <a:srgbClr val="0000FF"/>
                </a:solidFill>
                <a:latin typeface="Arial" charset="0"/>
              </a:rPr>
              <a:t>Setting files</a:t>
            </a:r>
          </a:p>
        </p:txBody>
      </p:sp>
      <p:sp>
        <p:nvSpPr>
          <p:cNvPr id="6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4800" y="6381750"/>
            <a:ext cx="3906838" cy="350838"/>
          </a:xfrm>
        </p:spPr>
        <p:txBody>
          <a:bodyPr/>
          <a:lstStyle/>
          <a:p>
            <a:pPr>
              <a:defRPr/>
            </a:pPr>
            <a:r>
              <a:rPr lang="en-GB" dirty="0"/>
              <a:t>Maintenance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3563938" y="246063"/>
            <a:ext cx="1655762" cy="59055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600" b="1" i="1">
                <a:solidFill>
                  <a:srgbClr val="0000FF"/>
                </a:solidFill>
                <a:latin typeface="Arial" charset="0"/>
              </a:rPr>
              <a:t>Recipe Classification </a:t>
            </a:r>
          </a:p>
        </p:txBody>
      </p:sp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874713" y="336550"/>
            <a:ext cx="1757362" cy="284163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 i="1">
                <a:solidFill>
                  <a:srgbClr val="0000FF"/>
                </a:solidFill>
                <a:latin typeface="Arial" charset="0"/>
              </a:rPr>
              <a:t>Facets &amp; Descriptors </a:t>
            </a:r>
          </a:p>
        </p:txBody>
      </p:sp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895350" y="981075"/>
            <a:ext cx="1681163" cy="466725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 i="1">
                <a:solidFill>
                  <a:srgbClr val="0000FF"/>
                </a:solidFill>
                <a:latin typeface="Arial" charset="0"/>
              </a:rPr>
              <a:t>Facets/Descriptors </a:t>
            </a:r>
          </a:p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 i="1">
                <a:solidFill>
                  <a:srgbClr val="0000FF"/>
                </a:solidFill>
                <a:latin typeface="Arial" charset="0"/>
              </a:rPr>
              <a:t>by Group/Subgroup </a:t>
            </a:r>
          </a:p>
        </p:txBody>
      </p:sp>
      <p:sp>
        <p:nvSpPr>
          <p:cNvPr id="19461" name="Text Box 5"/>
          <p:cNvSpPr txBox="1">
            <a:spLocks noChangeArrowheads="1"/>
          </p:cNvSpPr>
          <p:nvPr/>
        </p:nvSpPr>
        <p:spPr bwMode="auto">
          <a:xfrm>
            <a:off x="395288" y="1560513"/>
            <a:ext cx="1090612" cy="284162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 i="1">
                <a:solidFill>
                  <a:srgbClr val="0000FF"/>
                </a:solidFill>
                <a:latin typeface="Arial" charset="0"/>
              </a:rPr>
              <a:t>Facet Rules </a:t>
            </a:r>
          </a:p>
        </p:txBody>
      </p:sp>
      <p:sp>
        <p:nvSpPr>
          <p:cNvPr id="19462" name="Rectangle 6"/>
          <p:cNvSpPr>
            <a:spLocks noChangeArrowheads="1"/>
          </p:cNvSpPr>
          <p:nvPr/>
        </p:nvSpPr>
        <p:spPr bwMode="auto">
          <a:xfrm>
            <a:off x="5392738" y="2205038"/>
            <a:ext cx="1484312" cy="466725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 i="1">
                <a:solidFill>
                  <a:srgbClr val="0000FF"/>
                </a:solidFill>
                <a:latin typeface="Arial" charset="0"/>
              </a:rPr>
              <a:t>Quantification by </a:t>
            </a:r>
          </a:p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 i="1">
                <a:solidFill>
                  <a:srgbClr val="0000FF"/>
                </a:solidFill>
                <a:latin typeface="Arial" charset="0"/>
              </a:rPr>
              <a:t>Group/Subgroup </a:t>
            </a:r>
          </a:p>
        </p:txBody>
      </p:sp>
      <p:sp>
        <p:nvSpPr>
          <p:cNvPr id="19463" name="Rectangle 7"/>
          <p:cNvSpPr>
            <a:spLocks noChangeArrowheads="1"/>
          </p:cNvSpPr>
          <p:nvPr/>
        </p:nvSpPr>
        <p:spPr bwMode="auto">
          <a:xfrm>
            <a:off x="2247900" y="2205038"/>
            <a:ext cx="1460500" cy="466725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 i="1">
                <a:solidFill>
                  <a:srgbClr val="0000FF"/>
                </a:solidFill>
                <a:latin typeface="Arial" charset="0"/>
              </a:rPr>
              <a:t>Probing by </a:t>
            </a:r>
          </a:p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 i="1">
                <a:solidFill>
                  <a:srgbClr val="0000FF"/>
                </a:solidFill>
                <a:latin typeface="Arial" charset="0"/>
              </a:rPr>
              <a:t>Group/Subgroup </a:t>
            </a:r>
          </a:p>
        </p:txBody>
      </p:sp>
      <p:sp>
        <p:nvSpPr>
          <p:cNvPr id="19464" name="Rectangle 8"/>
          <p:cNvSpPr>
            <a:spLocks noChangeArrowheads="1"/>
          </p:cNvSpPr>
          <p:nvPr/>
        </p:nvSpPr>
        <p:spPr bwMode="auto">
          <a:xfrm>
            <a:off x="3419475" y="2852738"/>
            <a:ext cx="2201863" cy="3460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600" b="1">
                <a:solidFill>
                  <a:srgbClr val="006600"/>
                </a:solidFill>
                <a:latin typeface="Arial" charset="0"/>
              </a:rPr>
              <a:t>Recipes &amp; Shadows </a:t>
            </a:r>
          </a:p>
        </p:txBody>
      </p:sp>
      <p:sp>
        <p:nvSpPr>
          <p:cNvPr id="19465" name="Text Box 9"/>
          <p:cNvSpPr txBox="1">
            <a:spLocks noChangeArrowheads="1"/>
          </p:cNvSpPr>
          <p:nvPr/>
        </p:nvSpPr>
        <p:spPr bwMode="auto">
          <a:xfrm>
            <a:off x="7796213" y="477838"/>
            <a:ext cx="1168400" cy="284162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6600"/>
                </a:solidFill>
                <a:latin typeface="Arial" charset="0"/>
              </a:rPr>
              <a:t>Photo Series </a:t>
            </a:r>
          </a:p>
        </p:txBody>
      </p:sp>
      <p:sp>
        <p:nvSpPr>
          <p:cNvPr id="19466" name="Text Box 10"/>
          <p:cNvSpPr txBox="1">
            <a:spLocks noChangeArrowheads="1"/>
          </p:cNvSpPr>
          <p:nvPr/>
        </p:nvSpPr>
        <p:spPr bwMode="auto">
          <a:xfrm>
            <a:off x="7796213" y="790575"/>
            <a:ext cx="777875" cy="284163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6600"/>
                </a:solidFill>
                <a:latin typeface="Arial" charset="0"/>
              </a:rPr>
              <a:t>Shapes </a:t>
            </a:r>
          </a:p>
        </p:txBody>
      </p:sp>
      <p:sp>
        <p:nvSpPr>
          <p:cNvPr id="19467" name="Text Box 11"/>
          <p:cNvSpPr txBox="1">
            <a:spLocks noChangeArrowheads="1"/>
          </p:cNvSpPr>
          <p:nvPr/>
        </p:nvSpPr>
        <p:spPr bwMode="auto">
          <a:xfrm>
            <a:off x="8027988" y="1511300"/>
            <a:ext cx="539750" cy="284163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6600"/>
                </a:solidFill>
                <a:latin typeface="Arial" charset="0"/>
              </a:rPr>
              <a:t>HHM</a:t>
            </a:r>
          </a:p>
        </p:txBody>
      </p:sp>
      <p:sp>
        <p:nvSpPr>
          <p:cNvPr id="19468" name="Text Box 12"/>
          <p:cNvSpPr txBox="1">
            <a:spLocks noChangeArrowheads="1"/>
          </p:cNvSpPr>
          <p:nvPr/>
        </p:nvSpPr>
        <p:spPr bwMode="auto">
          <a:xfrm>
            <a:off x="8027988" y="1196975"/>
            <a:ext cx="981075" cy="284163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6600"/>
                </a:solidFill>
                <a:latin typeface="Arial" charset="0"/>
              </a:rPr>
              <a:t>Thickness </a:t>
            </a:r>
          </a:p>
        </p:txBody>
      </p:sp>
      <p:sp>
        <p:nvSpPr>
          <p:cNvPr id="19469" name="Rectangle 13"/>
          <p:cNvSpPr>
            <a:spLocks noChangeArrowheads="1"/>
          </p:cNvSpPr>
          <p:nvPr/>
        </p:nvSpPr>
        <p:spPr bwMode="auto">
          <a:xfrm>
            <a:off x="565150" y="3963988"/>
            <a:ext cx="1630363" cy="314325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400" b="1">
                <a:solidFill>
                  <a:srgbClr val="006600"/>
                </a:solidFill>
                <a:latin typeface="Arial" charset="0"/>
              </a:rPr>
              <a:t>Facets by recipe </a:t>
            </a:r>
          </a:p>
        </p:txBody>
      </p:sp>
      <p:sp>
        <p:nvSpPr>
          <p:cNvPr id="19470" name="Rectangle 14"/>
          <p:cNvSpPr>
            <a:spLocks noChangeArrowheads="1"/>
          </p:cNvSpPr>
          <p:nvPr/>
        </p:nvSpPr>
        <p:spPr bwMode="auto">
          <a:xfrm>
            <a:off x="635000" y="4365625"/>
            <a:ext cx="1116013" cy="284163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6600"/>
                </a:solidFill>
                <a:latin typeface="Arial" charset="0"/>
              </a:rPr>
              <a:t>Brand name </a:t>
            </a:r>
          </a:p>
        </p:txBody>
      </p:sp>
      <p:sp>
        <p:nvSpPr>
          <p:cNvPr id="19471" name="Rectangle 15"/>
          <p:cNvSpPr>
            <a:spLocks noChangeArrowheads="1"/>
          </p:cNvSpPr>
          <p:nvPr/>
        </p:nvSpPr>
        <p:spPr bwMode="auto">
          <a:xfrm>
            <a:off x="6656388" y="3963988"/>
            <a:ext cx="2308225" cy="314325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400" b="1">
                <a:solidFill>
                  <a:srgbClr val="006600"/>
                </a:solidFill>
                <a:latin typeface="Arial" charset="0"/>
              </a:rPr>
              <a:t>Quantifications by recipe</a:t>
            </a:r>
          </a:p>
        </p:txBody>
      </p:sp>
      <p:sp>
        <p:nvSpPr>
          <p:cNvPr id="19472" name="Rectangle 16"/>
          <p:cNvSpPr>
            <a:spLocks noChangeArrowheads="1"/>
          </p:cNvSpPr>
          <p:nvPr/>
        </p:nvSpPr>
        <p:spPr bwMode="auto">
          <a:xfrm>
            <a:off x="8027988" y="4797425"/>
            <a:ext cx="962025" cy="466725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6600"/>
                </a:solidFill>
                <a:latin typeface="Arial" charset="0"/>
              </a:rPr>
              <a:t>Standard units</a:t>
            </a:r>
          </a:p>
        </p:txBody>
      </p:sp>
      <p:sp>
        <p:nvSpPr>
          <p:cNvPr id="19473" name="Rectangle 18"/>
          <p:cNvSpPr>
            <a:spLocks noChangeArrowheads="1"/>
          </p:cNvSpPr>
          <p:nvPr/>
        </p:nvSpPr>
        <p:spPr bwMode="auto">
          <a:xfrm>
            <a:off x="5937250" y="4887913"/>
            <a:ext cx="785813" cy="284162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6600"/>
                </a:solidFill>
                <a:latin typeface="Arial" charset="0"/>
              </a:rPr>
              <a:t>Density </a:t>
            </a:r>
          </a:p>
        </p:txBody>
      </p:sp>
      <p:sp>
        <p:nvSpPr>
          <p:cNvPr id="19474" name="Rectangle 22"/>
          <p:cNvSpPr>
            <a:spLocks noChangeArrowheads="1"/>
          </p:cNvSpPr>
          <p:nvPr/>
        </p:nvSpPr>
        <p:spPr bwMode="auto">
          <a:xfrm>
            <a:off x="900113" y="4887913"/>
            <a:ext cx="2189162" cy="284162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6600"/>
                </a:solidFill>
                <a:latin typeface="Arial" charset="0"/>
              </a:rPr>
              <a:t>% Fats/Sauces/Sweeteners </a:t>
            </a:r>
          </a:p>
        </p:txBody>
      </p:sp>
      <p:sp>
        <p:nvSpPr>
          <p:cNvPr id="19475" name="Rectangle 24"/>
          <p:cNvSpPr>
            <a:spLocks noChangeArrowheads="1"/>
          </p:cNvSpPr>
          <p:nvPr/>
        </p:nvSpPr>
        <p:spPr bwMode="auto">
          <a:xfrm>
            <a:off x="3236913" y="4887913"/>
            <a:ext cx="1609725" cy="284162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6600"/>
                </a:solidFill>
                <a:latin typeface="Arial" charset="0"/>
              </a:rPr>
              <a:t>Probings by recipe </a:t>
            </a:r>
          </a:p>
        </p:txBody>
      </p:sp>
      <p:sp>
        <p:nvSpPr>
          <p:cNvPr id="19476" name="Rectangle 25"/>
          <p:cNvSpPr>
            <a:spLocks noChangeArrowheads="1"/>
          </p:cNvSpPr>
          <p:nvPr/>
        </p:nvSpPr>
        <p:spPr bwMode="auto">
          <a:xfrm>
            <a:off x="4994275" y="4887913"/>
            <a:ext cx="793750" cy="284162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6600"/>
                </a:solidFill>
                <a:latin typeface="Arial" charset="0"/>
              </a:rPr>
              <a:t>Maxima </a:t>
            </a:r>
          </a:p>
        </p:txBody>
      </p:sp>
      <p:sp>
        <p:nvSpPr>
          <p:cNvPr id="19477" name="Rectangle 26"/>
          <p:cNvSpPr>
            <a:spLocks noChangeArrowheads="1"/>
          </p:cNvSpPr>
          <p:nvPr/>
        </p:nvSpPr>
        <p:spPr bwMode="auto">
          <a:xfrm>
            <a:off x="6870700" y="4797425"/>
            <a:ext cx="1008063" cy="466725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6600"/>
                </a:solidFill>
                <a:latin typeface="Arial" charset="0"/>
              </a:rPr>
              <a:t>Nutritional </a:t>
            </a:r>
          </a:p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6600"/>
                </a:solidFill>
                <a:latin typeface="Arial" charset="0"/>
              </a:rPr>
              <a:t>values </a:t>
            </a:r>
          </a:p>
        </p:txBody>
      </p:sp>
      <p:sp>
        <p:nvSpPr>
          <p:cNvPr id="19478" name="Line 27"/>
          <p:cNvSpPr>
            <a:spLocks noChangeShapeType="1"/>
          </p:cNvSpPr>
          <p:nvPr/>
        </p:nvSpPr>
        <p:spPr bwMode="auto">
          <a:xfrm flipH="1">
            <a:off x="2555875" y="620713"/>
            <a:ext cx="1008063" cy="576262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479" name="Line 28"/>
          <p:cNvSpPr>
            <a:spLocks noChangeShapeType="1"/>
          </p:cNvSpPr>
          <p:nvPr/>
        </p:nvSpPr>
        <p:spPr bwMode="auto">
          <a:xfrm flipH="1">
            <a:off x="2843213" y="620713"/>
            <a:ext cx="720725" cy="158432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480" name="Line 29"/>
          <p:cNvSpPr>
            <a:spLocks noChangeShapeType="1"/>
          </p:cNvSpPr>
          <p:nvPr/>
        </p:nvSpPr>
        <p:spPr bwMode="auto">
          <a:xfrm>
            <a:off x="5219700" y="620713"/>
            <a:ext cx="431800" cy="158432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481" name="Line 30"/>
          <p:cNvSpPr>
            <a:spLocks noChangeShapeType="1"/>
          </p:cNvSpPr>
          <p:nvPr/>
        </p:nvSpPr>
        <p:spPr bwMode="auto">
          <a:xfrm flipH="1">
            <a:off x="5795963" y="836613"/>
            <a:ext cx="0" cy="136842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482" name="AutoShape 31"/>
          <p:cNvSpPr>
            <a:spLocks/>
          </p:cNvSpPr>
          <p:nvPr/>
        </p:nvSpPr>
        <p:spPr bwMode="auto">
          <a:xfrm>
            <a:off x="7596188" y="404813"/>
            <a:ext cx="288925" cy="792162"/>
          </a:xfrm>
          <a:prstGeom prst="leftBrace">
            <a:avLst>
              <a:gd name="adj1" fmla="val 22848"/>
              <a:gd name="adj2" fmla="val 50000"/>
            </a:avLst>
          </a:prstGeom>
          <a:noFill/>
          <a:ln w="19050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en-GB" altLang="en-US" sz="1800">
              <a:latin typeface="Arial" charset="0"/>
            </a:endParaRPr>
          </a:p>
        </p:txBody>
      </p:sp>
      <p:sp>
        <p:nvSpPr>
          <p:cNvPr id="19483" name="Line 32"/>
          <p:cNvSpPr>
            <a:spLocks noChangeShapeType="1"/>
          </p:cNvSpPr>
          <p:nvPr/>
        </p:nvSpPr>
        <p:spPr bwMode="auto">
          <a:xfrm flipH="1">
            <a:off x="7596188" y="836613"/>
            <a:ext cx="0" cy="3097212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484" name="Line 33"/>
          <p:cNvSpPr>
            <a:spLocks noChangeShapeType="1"/>
          </p:cNvSpPr>
          <p:nvPr/>
        </p:nvSpPr>
        <p:spPr bwMode="auto">
          <a:xfrm>
            <a:off x="4356100" y="836613"/>
            <a:ext cx="0" cy="201612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485" name="Line 34"/>
          <p:cNvSpPr>
            <a:spLocks noChangeShapeType="1"/>
          </p:cNvSpPr>
          <p:nvPr/>
        </p:nvSpPr>
        <p:spPr bwMode="auto">
          <a:xfrm>
            <a:off x="1908175" y="1484313"/>
            <a:ext cx="0" cy="2449512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486" name="Line 35"/>
          <p:cNvSpPr>
            <a:spLocks noChangeShapeType="1"/>
          </p:cNvSpPr>
          <p:nvPr/>
        </p:nvSpPr>
        <p:spPr bwMode="auto">
          <a:xfrm flipH="1">
            <a:off x="2195513" y="3213100"/>
            <a:ext cx="1368425" cy="863600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487" name="Line 36"/>
          <p:cNvSpPr>
            <a:spLocks noChangeShapeType="1"/>
          </p:cNvSpPr>
          <p:nvPr/>
        </p:nvSpPr>
        <p:spPr bwMode="auto">
          <a:xfrm flipH="1">
            <a:off x="2555875" y="3213100"/>
            <a:ext cx="1008063" cy="1655763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488" name="Line 37"/>
          <p:cNvSpPr>
            <a:spLocks noChangeShapeType="1"/>
          </p:cNvSpPr>
          <p:nvPr/>
        </p:nvSpPr>
        <p:spPr bwMode="auto">
          <a:xfrm>
            <a:off x="3563938" y="3213100"/>
            <a:ext cx="576262" cy="1655763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489" name="Line 38"/>
          <p:cNvSpPr>
            <a:spLocks noChangeShapeType="1"/>
          </p:cNvSpPr>
          <p:nvPr/>
        </p:nvSpPr>
        <p:spPr bwMode="auto">
          <a:xfrm>
            <a:off x="5292725" y="3213100"/>
            <a:ext cx="1871663" cy="1584325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490" name="Line 39"/>
          <p:cNvSpPr>
            <a:spLocks noChangeShapeType="1"/>
          </p:cNvSpPr>
          <p:nvPr/>
        </p:nvSpPr>
        <p:spPr bwMode="auto">
          <a:xfrm>
            <a:off x="5292725" y="3213100"/>
            <a:ext cx="1366838" cy="863600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491" name="Line 40"/>
          <p:cNvSpPr>
            <a:spLocks noChangeShapeType="1"/>
          </p:cNvSpPr>
          <p:nvPr/>
        </p:nvSpPr>
        <p:spPr bwMode="auto">
          <a:xfrm>
            <a:off x="8532813" y="4292600"/>
            <a:ext cx="0" cy="504825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492" name="Line 42"/>
          <p:cNvSpPr>
            <a:spLocks noChangeShapeType="1"/>
          </p:cNvSpPr>
          <p:nvPr/>
        </p:nvSpPr>
        <p:spPr bwMode="auto">
          <a:xfrm>
            <a:off x="1619250" y="620713"/>
            <a:ext cx="0" cy="360362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493" name="Line 43"/>
          <p:cNvSpPr>
            <a:spLocks noChangeShapeType="1"/>
          </p:cNvSpPr>
          <p:nvPr/>
        </p:nvSpPr>
        <p:spPr bwMode="auto">
          <a:xfrm>
            <a:off x="5292725" y="3213100"/>
            <a:ext cx="71438" cy="1655763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494" name="Line 44"/>
          <p:cNvSpPr>
            <a:spLocks noChangeShapeType="1"/>
          </p:cNvSpPr>
          <p:nvPr/>
        </p:nvSpPr>
        <p:spPr bwMode="auto">
          <a:xfrm>
            <a:off x="2771775" y="2708275"/>
            <a:ext cx="720725" cy="2160588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495" name="Rectangle 46"/>
          <p:cNvSpPr>
            <a:spLocks noChangeArrowheads="1"/>
          </p:cNvSpPr>
          <p:nvPr/>
        </p:nvSpPr>
        <p:spPr bwMode="auto">
          <a:xfrm>
            <a:off x="3276600" y="1560513"/>
            <a:ext cx="771525" cy="284162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 i="1">
                <a:solidFill>
                  <a:srgbClr val="0000FF"/>
                </a:solidFill>
                <a:latin typeface="Arial" charset="0"/>
              </a:rPr>
              <a:t>Probing</a:t>
            </a:r>
          </a:p>
        </p:txBody>
      </p:sp>
      <p:sp>
        <p:nvSpPr>
          <p:cNvPr id="19496" name="Line 47"/>
          <p:cNvSpPr>
            <a:spLocks noChangeShapeType="1"/>
          </p:cNvSpPr>
          <p:nvPr/>
        </p:nvSpPr>
        <p:spPr bwMode="auto">
          <a:xfrm flipH="1">
            <a:off x="3419475" y="1844675"/>
            <a:ext cx="144463" cy="360363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497" name="Line 49"/>
          <p:cNvSpPr>
            <a:spLocks noChangeShapeType="1"/>
          </p:cNvSpPr>
          <p:nvPr/>
        </p:nvSpPr>
        <p:spPr bwMode="auto">
          <a:xfrm>
            <a:off x="6084888" y="2708275"/>
            <a:ext cx="1295400" cy="122555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498" name="Line 51"/>
          <p:cNvSpPr>
            <a:spLocks noChangeShapeType="1"/>
          </p:cNvSpPr>
          <p:nvPr/>
        </p:nvSpPr>
        <p:spPr bwMode="auto">
          <a:xfrm flipH="1">
            <a:off x="684213" y="1268413"/>
            <a:ext cx="215900" cy="28892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499" name="Text Box 52"/>
          <p:cNvSpPr txBox="1">
            <a:spLocks noChangeArrowheads="1"/>
          </p:cNvSpPr>
          <p:nvPr/>
        </p:nvSpPr>
        <p:spPr bwMode="auto">
          <a:xfrm>
            <a:off x="5995988" y="477838"/>
            <a:ext cx="1168400" cy="284162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00FF"/>
                </a:solidFill>
                <a:latin typeface="Arial" charset="0"/>
              </a:rPr>
              <a:t>Photo Series </a:t>
            </a:r>
          </a:p>
        </p:txBody>
      </p:sp>
      <p:sp>
        <p:nvSpPr>
          <p:cNvPr id="19500" name="Text Box 53"/>
          <p:cNvSpPr txBox="1">
            <a:spLocks noChangeArrowheads="1"/>
          </p:cNvSpPr>
          <p:nvPr/>
        </p:nvSpPr>
        <p:spPr bwMode="auto">
          <a:xfrm>
            <a:off x="5995988" y="790575"/>
            <a:ext cx="777875" cy="284163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00FF"/>
                </a:solidFill>
                <a:latin typeface="Arial" charset="0"/>
              </a:rPr>
              <a:t>Shapes </a:t>
            </a:r>
          </a:p>
        </p:txBody>
      </p:sp>
      <p:sp>
        <p:nvSpPr>
          <p:cNvPr id="19501" name="Text Box 54"/>
          <p:cNvSpPr txBox="1">
            <a:spLocks noChangeArrowheads="1"/>
          </p:cNvSpPr>
          <p:nvPr/>
        </p:nvSpPr>
        <p:spPr bwMode="auto">
          <a:xfrm>
            <a:off x="6227763" y="1511300"/>
            <a:ext cx="539750" cy="284163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00FF"/>
                </a:solidFill>
                <a:latin typeface="Arial" charset="0"/>
              </a:rPr>
              <a:t>HHM</a:t>
            </a:r>
          </a:p>
        </p:txBody>
      </p:sp>
      <p:sp>
        <p:nvSpPr>
          <p:cNvPr id="19502" name="Text Box 55"/>
          <p:cNvSpPr txBox="1">
            <a:spLocks noChangeArrowheads="1"/>
          </p:cNvSpPr>
          <p:nvPr/>
        </p:nvSpPr>
        <p:spPr bwMode="auto">
          <a:xfrm>
            <a:off x="6227763" y="1196975"/>
            <a:ext cx="981075" cy="284163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00FF"/>
                </a:solidFill>
                <a:latin typeface="Arial" charset="0"/>
              </a:rPr>
              <a:t>Thickness </a:t>
            </a:r>
          </a:p>
        </p:txBody>
      </p:sp>
      <p:sp>
        <p:nvSpPr>
          <p:cNvPr id="19503" name="AutoShape 56"/>
          <p:cNvSpPr>
            <a:spLocks/>
          </p:cNvSpPr>
          <p:nvPr/>
        </p:nvSpPr>
        <p:spPr bwMode="auto">
          <a:xfrm>
            <a:off x="5795963" y="404813"/>
            <a:ext cx="288925" cy="792162"/>
          </a:xfrm>
          <a:prstGeom prst="leftBrace">
            <a:avLst>
              <a:gd name="adj1" fmla="val 22848"/>
              <a:gd name="adj2" fmla="val 50000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en-GB" altLang="en-US" sz="1800">
              <a:latin typeface="Arial" charset="0"/>
            </a:endParaRPr>
          </a:p>
        </p:txBody>
      </p:sp>
      <p:sp>
        <p:nvSpPr>
          <p:cNvPr id="19504" name="Text Box 62"/>
          <p:cNvSpPr txBox="1">
            <a:spLocks noChangeArrowheads="1"/>
          </p:cNvSpPr>
          <p:nvPr/>
        </p:nvSpPr>
        <p:spPr bwMode="auto">
          <a:xfrm>
            <a:off x="215900" y="5241925"/>
            <a:ext cx="17637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00FF"/>
                </a:solidFill>
                <a:latin typeface="Arial" charset="0"/>
              </a:rPr>
              <a:t>Project data in blue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6600"/>
                </a:solidFill>
                <a:latin typeface="Arial" charset="0"/>
              </a:rPr>
              <a:t>Country data in green</a:t>
            </a:r>
            <a:endParaRPr lang="fr-FR" altLang="en-US" sz="1200" b="1">
              <a:solidFill>
                <a:srgbClr val="006600"/>
              </a:solidFill>
              <a:latin typeface="Arial" charset="0"/>
            </a:endParaRPr>
          </a:p>
        </p:txBody>
      </p:sp>
      <p:sp>
        <p:nvSpPr>
          <p:cNvPr id="19505" name="Rectangle 63"/>
          <p:cNvSpPr>
            <a:spLocks noChangeArrowheads="1"/>
          </p:cNvSpPr>
          <p:nvPr/>
        </p:nvSpPr>
        <p:spPr bwMode="auto">
          <a:xfrm>
            <a:off x="3995738" y="3357563"/>
            <a:ext cx="1081087" cy="466725"/>
          </a:xfrm>
          <a:prstGeom prst="rect">
            <a:avLst/>
          </a:prstGeom>
          <a:noFill/>
          <a:ln w="9525">
            <a:solidFill>
              <a:srgbClr val="006600"/>
            </a:solidFill>
            <a:prstDash val="dash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6600"/>
                </a:solidFill>
                <a:latin typeface="Arial" charset="0"/>
              </a:rPr>
              <a:t>Recipe </a:t>
            </a:r>
          </a:p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6600"/>
                </a:solidFill>
                <a:latin typeface="Arial" charset="0"/>
              </a:rPr>
              <a:t>ingredients </a:t>
            </a:r>
          </a:p>
        </p:txBody>
      </p:sp>
      <p:sp>
        <p:nvSpPr>
          <p:cNvPr id="19506" name="Line 66"/>
          <p:cNvSpPr>
            <a:spLocks noChangeShapeType="1"/>
          </p:cNvSpPr>
          <p:nvPr/>
        </p:nvSpPr>
        <p:spPr bwMode="auto">
          <a:xfrm>
            <a:off x="5292725" y="3213100"/>
            <a:ext cx="935038" cy="1655763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507" name="Text Box 67"/>
          <p:cNvSpPr txBox="1">
            <a:spLocks noChangeArrowheads="1"/>
          </p:cNvSpPr>
          <p:nvPr/>
        </p:nvSpPr>
        <p:spPr bwMode="auto">
          <a:xfrm>
            <a:off x="611188" y="5746750"/>
            <a:ext cx="2232025" cy="284163"/>
          </a:xfrm>
          <a:prstGeom prst="rect">
            <a:avLst/>
          </a:prstGeom>
          <a:noFill/>
          <a:ln w="9525">
            <a:solidFill>
              <a:srgbClr val="0000FF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 i="1">
                <a:solidFill>
                  <a:srgbClr val="0000FF"/>
                </a:solidFill>
                <a:latin typeface="Arial" charset="0"/>
              </a:rPr>
              <a:t>Supplement Classification </a:t>
            </a:r>
          </a:p>
        </p:txBody>
      </p:sp>
      <p:sp>
        <p:nvSpPr>
          <p:cNvPr id="19508" name="Text Box 68"/>
          <p:cNvSpPr txBox="1">
            <a:spLocks noChangeArrowheads="1"/>
          </p:cNvSpPr>
          <p:nvPr/>
        </p:nvSpPr>
        <p:spPr bwMode="auto">
          <a:xfrm>
            <a:off x="6370638" y="5419725"/>
            <a:ext cx="2020887" cy="284163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 i="1">
                <a:solidFill>
                  <a:srgbClr val="0000FF"/>
                </a:solidFill>
                <a:latin typeface="Arial" charset="0"/>
              </a:rPr>
              <a:t>Facets &amp; Descriptors </a:t>
            </a:r>
          </a:p>
        </p:txBody>
      </p:sp>
      <p:sp>
        <p:nvSpPr>
          <p:cNvPr id="19509" name="Rectangle 69"/>
          <p:cNvSpPr>
            <a:spLocks noChangeArrowheads="1"/>
          </p:cNvSpPr>
          <p:nvPr/>
        </p:nvSpPr>
        <p:spPr bwMode="auto">
          <a:xfrm>
            <a:off x="3635375" y="5746750"/>
            <a:ext cx="1727200" cy="346075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600" b="1">
                <a:solidFill>
                  <a:srgbClr val="006600"/>
                </a:solidFill>
                <a:latin typeface="Arial" charset="0"/>
              </a:rPr>
              <a:t>Supplements</a:t>
            </a:r>
          </a:p>
        </p:txBody>
      </p:sp>
      <p:sp>
        <p:nvSpPr>
          <p:cNvPr id="19510" name="Line 70"/>
          <p:cNvSpPr>
            <a:spLocks noChangeShapeType="1"/>
          </p:cNvSpPr>
          <p:nvPr/>
        </p:nvSpPr>
        <p:spPr bwMode="auto">
          <a:xfrm flipV="1">
            <a:off x="2843213" y="5886450"/>
            <a:ext cx="792162" cy="0"/>
          </a:xfrm>
          <a:prstGeom prst="line">
            <a:avLst/>
          </a:prstGeom>
          <a:noFill/>
          <a:ln w="28575">
            <a:solidFill>
              <a:srgbClr val="0000FF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511" name="Line 71"/>
          <p:cNvSpPr>
            <a:spLocks noChangeShapeType="1"/>
          </p:cNvSpPr>
          <p:nvPr/>
        </p:nvSpPr>
        <p:spPr bwMode="auto">
          <a:xfrm>
            <a:off x="7380288" y="5734050"/>
            <a:ext cx="0" cy="287338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512" name="Line 72"/>
          <p:cNvSpPr>
            <a:spLocks noChangeShapeType="1"/>
          </p:cNvSpPr>
          <p:nvPr/>
        </p:nvSpPr>
        <p:spPr bwMode="auto">
          <a:xfrm>
            <a:off x="4356100" y="3213100"/>
            <a:ext cx="0" cy="144463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513" name="Rectangle 85"/>
          <p:cNvSpPr>
            <a:spLocks noChangeArrowheads="1"/>
          </p:cNvSpPr>
          <p:nvPr/>
        </p:nvSpPr>
        <p:spPr bwMode="auto">
          <a:xfrm>
            <a:off x="6370638" y="6051550"/>
            <a:ext cx="2089150" cy="284163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6600"/>
                </a:solidFill>
                <a:latin typeface="Arial" charset="0"/>
              </a:rPr>
              <a:t>Facets by Supplements</a:t>
            </a:r>
          </a:p>
        </p:txBody>
      </p:sp>
      <p:sp>
        <p:nvSpPr>
          <p:cNvPr id="19514" name="Line 86"/>
          <p:cNvSpPr>
            <a:spLocks noChangeShapeType="1"/>
          </p:cNvSpPr>
          <p:nvPr/>
        </p:nvSpPr>
        <p:spPr bwMode="auto">
          <a:xfrm>
            <a:off x="5364163" y="5949950"/>
            <a:ext cx="1008062" cy="215900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515" name="Text Box 87"/>
          <p:cNvSpPr txBox="1">
            <a:spLocks noChangeArrowheads="1"/>
          </p:cNvSpPr>
          <p:nvPr/>
        </p:nvSpPr>
        <p:spPr bwMode="auto">
          <a:xfrm>
            <a:off x="2916238" y="6092825"/>
            <a:ext cx="30956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600" b="1" i="1">
                <a:solidFill>
                  <a:srgbClr val="FF6600"/>
                </a:solidFill>
                <a:latin typeface="Arial" charset="0"/>
              </a:rPr>
              <a:t>‘FINAL’ DATABASE VERSION </a:t>
            </a:r>
          </a:p>
        </p:txBody>
      </p:sp>
      <p:sp>
        <p:nvSpPr>
          <p:cNvPr id="60" name="Slide Number Placeholder 3"/>
          <p:cNvSpPr txBox="1">
            <a:spLocks noGrp="1"/>
          </p:cNvSpPr>
          <p:nvPr/>
        </p:nvSpPr>
        <p:spPr>
          <a:xfrm>
            <a:off x="4286250" y="6345238"/>
            <a:ext cx="609600" cy="441325"/>
          </a:xfrm>
          <a:prstGeom prst="rect">
            <a:avLst/>
          </a:prstGeom>
          <a:noFill/>
        </p:spPr>
        <p:txBody>
          <a:bodyPr lIns="45720" rIns="45720" anchor="ctr">
            <a:normAutofit/>
          </a:bodyPr>
          <a:lstStyle/>
          <a:p>
            <a:pPr algn="ctr">
              <a:defRPr/>
            </a:pPr>
            <a:fld id="{41741322-1E57-4B6E-B9EA-60984A7BB666}" type="slidenum">
              <a:rPr lang="en-US" sz="1600">
                <a:solidFill>
                  <a:schemeClr val="bg1"/>
                </a:solidFill>
                <a:latin typeface="+mj-lt"/>
                <a:cs typeface="+mn-cs"/>
              </a:rPr>
              <a:pPr algn="ctr">
                <a:defRPr/>
              </a:pPr>
              <a:t>7</a:t>
            </a:fld>
            <a:endParaRPr lang="en-US" sz="1600" dirty="0">
              <a:solidFill>
                <a:schemeClr val="bg1"/>
              </a:solidFill>
              <a:latin typeface="+mj-lt"/>
              <a:cs typeface="+mn-cs"/>
            </a:endParaRPr>
          </a:p>
        </p:txBody>
      </p:sp>
      <p:sp>
        <p:nvSpPr>
          <p:cNvPr id="19517" name="Rectangle 16"/>
          <p:cNvSpPr>
            <a:spLocks noChangeArrowheads="1"/>
          </p:cNvSpPr>
          <p:nvPr/>
        </p:nvSpPr>
        <p:spPr bwMode="auto">
          <a:xfrm>
            <a:off x="3995738" y="3921125"/>
            <a:ext cx="1289050" cy="461963"/>
          </a:xfrm>
          <a:prstGeom prst="rect">
            <a:avLst/>
          </a:prstGeom>
          <a:noFill/>
          <a:ln w="9525">
            <a:solidFill>
              <a:srgbClr val="FFC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 i="1">
                <a:solidFill>
                  <a:srgbClr val="FF6600"/>
                </a:solidFill>
                <a:latin typeface="Arial" charset="0"/>
              </a:rPr>
              <a:t>FOOD pathway</a:t>
            </a:r>
          </a:p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 i="1">
                <a:solidFill>
                  <a:srgbClr val="FF6600"/>
                </a:solidFill>
                <a:latin typeface="Arial" charset="0"/>
              </a:rPr>
              <a:t>files</a:t>
            </a:r>
          </a:p>
        </p:txBody>
      </p:sp>
      <p:sp>
        <p:nvSpPr>
          <p:cNvPr id="6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4800" y="6381750"/>
            <a:ext cx="3906838" cy="350838"/>
          </a:xfrm>
        </p:spPr>
        <p:txBody>
          <a:bodyPr/>
          <a:lstStyle/>
          <a:p>
            <a:pPr>
              <a:defRPr/>
            </a:pPr>
            <a:r>
              <a:rPr lang="en-GB" dirty="0"/>
              <a:t>Maintenance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dianumm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06CDDC-D1BF-46FB-B0F7-CFE6E5D22D65}" type="slidenum">
              <a:rPr lang="en-US" smtClean="0"/>
              <a:pPr>
                <a:defRPr/>
              </a:pPr>
              <a:t>8</a:t>
            </a:fld>
            <a:endParaRPr lang="en-US" sz="1800" dirty="0"/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pic>
        <p:nvPicPr>
          <p:cNvPr id="15" name="Afbeelding 14" descr="124741-matte-white-square-icon-business-home7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accent5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321338" y="642918"/>
            <a:ext cx="536150" cy="5361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7" name="Rectangle 2"/>
          <p:cNvSpPr txBox="1">
            <a:spLocks noChangeArrowheads="1"/>
          </p:cNvSpPr>
          <p:nvPr/>
        </p:nvSpPr>
        <p:spPr>
          <a:xfrm>
            <a:off x="381000" y="1071546"/>
            <a:ext cx="2362200" cy="704848"/>
          </a:xfrm>
          <a:prstGeom prst="rect">
            <a:avLst/>
          </a:prstGeom>
        </p:spPr>
        <p:txBody>
          <a:bodyPr anchor="b"/>
          <a:lstStyle/>
          <a:p>
            <a:pPr fontAlgn="auto">
              <a:spcAft>
                <a:spcPts val="0"/>
              </a:spcAft>
              <a:defRPr/>
            </a:pPr>
            <a:r>
              <a:rPr lang="en-US" sz="2200" b="1" dirty="0">
                <a:solidFill>
                  <a:srgbClr val="FFFFFF"/>
                </a:soli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rPr>
              <a:t>Outline</a:t>
            </a:r>
          </a:p>
        </p:txBody>
      </p:sp>
      <p:sp>
        <p:nvSpPr>
          <p:cNvPr id="16" name="Tijdelijke aanduiding voor tekst 11"/>
          <p:cNvSpPr txBox="1">
            <a:spLocks/>
          </p:cNvSpPr>
          <p:nvPr/>
        </p:nvSpPr>
        <p:spPr bwMode="auto">
          <a:xfrm>
            <a:off x="409550" y="1857364"/>
            <a:ext cx="2362200" cy="414496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0" indent="0" algn="l" rtl="0" eaLnBrk="0" fontAlgn="base" hangingPunct="0">
              <a:spcBef>
                <a:spcPct val="20000"/>
              </a:spcBef>
              <a:spcAft>
                <a:spcPts val="1000"/>
              </a:spcAft>
              <a:buSzPct val="85000"/>
              <a:buFont typeface="Wingdings 2" pitchFamily="18" charset="2"/>
              <a:buNone/>
              <a:defRPr sz="16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768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None/>
              <a:defRPr sz="1200" kern="1200">
                <a:solidFill>
                  <a:srgbClr val="2780B7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 2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None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eaLnBrk="1" fontAlgn="auto" hangingPunct="1">
              <a:spcAft>
                <a:spcPts val="300"/>
              </a:spcAft>
              <a:buClr>
                <a:schemeClr val="bg1"/>
              </a:buClr>
              <a:buFont typeface="+mj-lt"/>
              <a:buAutoNum type="arabicPeriod"/>
              <a:defRPr/>
            </a:pPr>
            <a:r>
              <a:rPr lang="en-US" b="1" dirty="0">
                <a:solidFill>
                  <a:schemeClr val="tx1"/>
                </a:solidFill>
              </a:rPr>
              <a:t>I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ntroduction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Preparation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steps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 smtClean="0"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How </a:t>
            </a:r>
            <a:r>
              <a:rPr lang="en-US" b="1" dirty="0"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to update </a:t>
            </a:r>
            <a:r>
              <a:rPr lang="en-US" b="1" dirty="0" err="1" smtClean="0"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GloboDiet</a:t>
            </a:r>
            <a:r>
              <a:rPr lang="en-US" b="1" dirty="0" smtClean="0"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 </a:t>
            </a:r>
            <a:r>
              <a:rPr lang="en-US" b="1" dirty="0"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databases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How to fill a FUF/RUF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Conclusion</a:t>
            </a:r>
          </a:p>
          <a:p>
            <a:pPr eaLnBrk="1" fontAlgn="auto" hangingPunct="1">
              <a:spcAft>
                <a:spcPts val="300"/>
              </a:spcAft>
              <a:defRPr/>
            </a:pPr>
            <a:endParaRPr lang="en-US" b="1" dirty="0"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  <a:p>
            <a:pPr eaLnBrk="1" fontAlgn="auto" hangingPunct="1">
              <a:spcAft>
                <a:spcPts val="300"/>
              </a:spcAft>
              <a:buFont typeface="Wingdings 2"/>
              <a:buNone/>
              <a:defRPr/>
            </a:pPr>
            <a:endParaRPr lang="nl-BE" dirty="0"/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>
          <a:xfrm>
            <a:off x="2987675" y="765175"/>
            <a:ext cx="5976938" cy="3746500"/>
          </a:xfrm>
        </p:spPr>
        <p:txBody>
          <a:bodyPr/>
          <a:lstStyle/>
          <a:p>
            <a:pPr marL="0" indent="0">
              <a:buFont typeface="Wingdings 2" pitchFamily="18" charset="2"/>
              <a:buNone/>
              <a:defRPr/>
            </a:pPr>
            <a:r>
              <a:rPr lang="en-GB" sz="1800" b="1" dirty="0" smtClean="0">
                <a:latin typeface="Arial" pitchFamily="34" charset="0"/>
                <a:cs typeface="Arial" pitchFamily="34" charset="0"/>
              </a:rPr>
              <a:t>Update of </a:t>
            </a:r>
            <a:r>
              <a:rPr lang="en-GB" sz="1800" b="1" dirty="0" err="1" smtClean="0">
                <a:latin typeface="Arial" pitchFamily="34" charset="0"/>
                <a:cs typeface="Arial" pitchFamily="34" charset="0"/>
              </a:rPr>
              <a:t>GloboDiet</a:t>
            </a:r>
            <a:r>
              <a:rPr lang="en-GB" sz="1800" b="1" dirty="0" smtClean="0">
                <a:latin typeface="Arial" pitchFamily="34" charset="0"/>
                <a:cs typeface="Arial" pitchFamily="34" charset="0"/>
              </a:rPr>
              <a:t> databases</a:t>
            </a:r>
          </a:p>
          <a:p>
            <a:pPr marL="0" indent="0">
              <a:buFont typeface="Wingdings 2" pitchFamily="18" charset="2"/>
              <a:buNone/>
              <a:defRPr/>
            </a:pPr>
            <a:endParaRPr lang="en-GB" sz="1000" dirty="0">
              <a:latin typeface="Arial" pitchFamily="34" charset="0"/>
              <a:cs typeface="Arial" pitchFamily="34" charset="0"/>
            </a:endParaRPr>
          </a:p>
          <a:p>
            <a:pPr marL="0" indent="0">
              <a:buFont typeface="Wingdings 2" pitchFamily="18" charset="2"/>
              <a:buNone/>
              <a:defRPr/>
            </a:pPr>
            <a:r>
              <a:rPr lang="en-GB" sz="1800" dirty="0" smtClean="0">
                <a:latin typeface="Arial" pitchFamily="34" charset="0"/>
                <a:cs typeface="Arial" pitchFamily="34" charset="0"/>
              </a:rPr>
              <a:t>Files handled by IARC (Excel) </a:t>
            </a:r>
            <a:r>
              <a:rPr lang="en-GB" sz="1800" dirty="0" smtClean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 indicate your needs</a:t>
            </a:r>
          </a:p>
          <a:p>
            <a:pPr marL="0" indent="0">
              <a:buFont typeface="Wingdings 2" pitchFamily="18" charset="2"/>
              <a:buNone/>
              <a:defRPr/>
            </a:pPr>
            <a:endParaRPr lang="en-GB" sz="1000" dirty="0">
              <a:latin typeface="Arial" pitchFamily="34" charset="0"/>
              <a:cs typeface="Arial" pitchFamily="34" charset="0"/>
              <a:sym typeface="Wingdings" panose="05000000000000000000" pitchFamily="2" charset="2"/>
            </a:endParaRPr>
          </a:p>
          <a:p>
            <a:pPr marL="0" indent="0">
              <a:buFont typeface="Wingdings 2" pitchFamily="18" charset="2"/>
              <a:buNone/>
              <a:defRPr/>
            </a:pPr>
            <a:r>
              <a:rPr lang="en-GB" sz="1800" dirty="0" smtClean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Files handled by the country, IARC needs to view/identify the changes</a:t>
            </a:r>
          </a:p>
          <a:p>
            <a:pPr>
              <a:defRPr/>
            </a:pPr>
            <a:r>
              <a:rPr lang="en-GB" sz="1800" dirty="0" smtClean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Word: use track changes, </a:t>
            </a:r>
          </a:p>
          <a:p>
            <a:pPr>
              <a:defRPr/>
            </a:pPr>
            <a:r>
              <a:rPr lang="en-GB" sz="1800" dirty="0" smtClean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End: </a:t>
            </a:r>
          </a:p>
          <a:p>
            <a:pPr lvl="1">
              <a:defRPr/>
            </a:pPr>
            <a:r>
              <a:rPr lang="en-GB" sz="1800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U</a:t>
            </a:r>
            <a:r>
              <a:rPr lang="en-GB" sz="1800" dirty="0" smtClean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se ‘$’ to update </a:t>
            </a:r>
          </a:p>
          <a:p>
            <a:pPr lvl="1">
              <a:defRPr/>
            </a:pPr>
            <a:r>
              <a:rPr lang="en-GB" sz="1800" dirty="0" smtClean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Use ‘#’ to delete</a:t>
            </a:r>
          </a:p>
          <a:p>
            <a:pPr lvl="1">
              <a:defRPr/>
            </a:pPr>
            <a:r>
              <a:rPr lang="en-GB" sz="1800" dirty="0" smtClean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Use ‘&amp;’ to add</a:t>
            </a:r>
          </a:p>
          <a:p>
            <a:pPr marL="0" indent="0">
              <a:buFont typeface="Wingdings 2" pitchFamily="18" charset="2"/>
              <a:buNone/>
              <a:defRPr/>
            </a:pPr>
            <a:endParaRPr lang="en-GB" sz="1000" dirty="0">
              <a:latin typeface="Arial" pitchFamily="34" charset="0"/>
              <a:cs typeface="Arial" pitchFamily="34" charset="0"/>
            </a:endParaRPr>
          </a:p>
          <a:p>
            <a:pPr marL="0" indent="0">
              <a:buFont typeface="Wingdings 2" pitchFamily="18" charset="2"/>
              <a:buNone/>
              <a:defRPr/>
            </a:pPr>
            <a:r>
              <a:rPr lang="en-GB" sz="1800" dirty="0" smtClean="0">
                <a:latin typeface="Arial" pitchFamily="34" charset="0"/>
                <a:cs typeface="Arial" pitchFamily="34" charset="0"/>
              </a:rPr>
              <a:t>Recipes to be modified in the Recipe Manager </a:t>
            </a:r>
            <a:r>
              <a:rPr lang="en-GB" sz="1800" dirty="0" smtClean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 </a:t>
            </a:r>
            <a:r>
              <a:rPr lang="en-GB" sz="1800" dirty="0" smtClean="0">
                <a:latin typeface="Arial" pitchFamily="34" charset="0"/>
                <a:cs typeface="Arial" pitchFamily="34" charset="0"/>
              </a:rPr>
              <a:t>Wait for the food version</a:t>
            </a:r>
          </a:p>
          <a:p>
            <a:pPr>
              <a:defRPr/>
            </a:pPr>
            <a:r>
              <a:rPr lang="en-GB" sz="1800" dirty="0" smtClean="0">
                <a:latin typeface="Arial" pitchFamily="34" charset="0"/>
                <a:cs typeface="Arial" pitchFamily="34" charset="0"/>
              </a:rPr>
              <a:t>If changes in common description files, re-describe the ingredients of existing recipes</a:t>
            </a:r>
          </a:p>
          <a:p>
            <a:pPr>
              <a:defRPr/>
            </a:pPr>
            <a:r>
              <a:rPr lang="en-GB" sz="1800" dirty="0" smtClean="0">
                <a:latin typeface="Arial" pitchFamily="34" charset="0"/>
                <a:cs typeface="Arial" pitchFamily="34" charset="0"/>
              </a:rPr>
              <a:t>New recipes must be entered in the Recipe Manager prior to send the RUF to IARC (need a code)</a:t>
            </a:r>
          </a:p>
          <a:p>
            <a:pPr marL="0" indent="0" algn="ctr">
              <a:buFont typeface="Wingdings 2" pitchFamily="18" charset="2"/>
              <a:buNone/>
              <a:defRPr/>
            </a:pPr>
            <a:endParaRPr lang="en-GB" sz="1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304800" y="6381750"/>
            <a:ext cx="3906838" cy="350838"/>
          </a:xfrm>
        </p:spPr>
        <p:txBody>
          <a:bodyPr lIns="45720" rIns="45720" anchor="ctr">
            <a:noAutofit/>
          </a:bodyPr>
          <a:lstStyle/>
          <a:p>
            <a:pPr>
              <a:defRPr/>
            </a:pPr>
            <a:r>
              <a:rPr lang="en-GB" dirty="0"/>
              <a:t>Maintenance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dianumm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A04B8-E2D7-4AB8-ACAB-BDF135F2111C}" type="slidenum">
              <a:rPr lang="en-US" smtClean="0"/>
              <a:pPr>
                <a:defRPr/>
              </a:pPr>
              <a:t>9</a:t>
            </a:fld>
            <a:endParaRPr lang="en-US" sz="1800" dirty="0"/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pic>
        <p:nvPicPr>
          <p:cNvPr id="15" name="Afbeelding 14" descr="124741-matte-white-square-icon-business-home7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accent5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321338" y="642918"/>
            <a:ext cx="536150" cy="5361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7" name="Rectangle 2"/>
          <p:cNvSpPr txBox="1">
            <a:spLocks noChangeArrowheads="1"/>
          </p:cNvSpPr>
          <p:nvPr/>
        </p:nvSpPr>
        <p:spPr>
          <a:xfrm>
            <a:off x="381000" y="1071546"/>
            <a:ext cx="2362200" cy="704848"/>
          </a:xfrm>
          <a:prstGeom prst="rect">
            <a:avLst/>
          </a:prstGeom>
        </p:spPr>
        <p:txBody>
          <a:bodyPr anchor="b"/>
          <a:lstStyle/>
          <a:p>
            <a:pPr fontAlgn="auto">
              <a:spcAft>
                <a:spcPts val="0"/>
              </a:spcAft>
              <a:defRPr/>
            </a:pPr>
            <a:r>
              <a:rPr lang="en-US" sz="2200" b="1" dirty="0">
                <a:solidFill>
                  <a:srgbClr val="FFFFFF"/>
                </a:soli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rPr>
              <a:t>Outline</a:t>
            </a:r>
          </a:p>
        </p:txBody>
      </p:sp>
      <p:sp>
        <p:nvSpPr>
          <p:cNvPr id="16" name="Tijdelijke aanduiding voor tekst 11"/>
          <p:cNvSpPr txBox="1">
            <a:spLocks/>
          </p:cNvSpPr>
          <p:nvPr/>
        </p:nvSpPr>
        <p:spPr bwMode="auto">
          <a:xfrm>
            <a:off x="409550" y="1857364"/>
            <a:ext cx="2362200" cy="414496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0" indent="0" algn="l" rtl="0" eaLnBrk="0" fontAlgn="base" hangingPunct="0">
              <a:spcBef>
                <a:spcPct val="20000"/>
              </a:spcBef>
              <a:spcAft>
                <a:spcPts val="1000"/>
              </a:spcAft>
              <a:buSzPct val="85000"/>
              <a:buFont typeface="Wingdings 2" pitchFamily="18" charset="2"/>
              <a:buNone/>
              <a:defRPr sz="16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768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None/>
              <a:defRPr sz="1200" kern="1200">
                <a:solidFill>
                  <a:srgbClr val="2780B7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 2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None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eaLnBrk="1" fontAlgn="auto" hangingPunct="1">
              <a:spcAft>
                <a:spcPts val="300"/>
              </a:spcAft>
              <a:buClr>
                <a:schemeClr val="bg1"/>
              </a:buClr>
              <a:buFont typeface="+mj-lt"/>
              <a:buAutoNum type="arabicPeriod"/>
              <a:defRPr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Introduction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Preparation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steps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How to update </a:t>
            </a:r>
            <a:r>
              <a:rPr lang="en-US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GloboDiet</a:t>
            </a: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databases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How to fill a FUF/RUF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Conclusion</a:t>
            </a:r>
          </a:p>
          <a:p>
            <a:pPr eaLnBrk="1" fontAlgn="auto" hangingPunct="1">
              <a:spcAft>
                <a:spcPts val="300"/>
              </a:spcAft>
              <a:defRPr/>
            </a:pPr>
            <a:endParaRPr lang="en-US" b="1" dirty="0"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  <a:p>
            <a:pPr eaLnBrk="1" fontAlgn="auto" hangingPunct="1">
              <a:spcAft>
                <a:spcPts val="300"/>
              </a:spcAft>
              <a:buFont typeface="Wingdings 2"/>
              <a:buNone/>
              <a:defRPr/>
            </a:pPr>
            <a:endParaRPr lang="nl-BE" dirty="0"/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>
          <a:xfrm>
            <a:off x="2987675" y="765175"/>
            <a:ext cx="5905500" cy="3746500"/>
          </a:xfrm>
        </p:spPr>
        <p:txBody>
          <a:bodyPr/>
          <a:lstStyle/>
          <a:p>
            <a:pPr marL="0" indent="0">
              <a:buFont typeface="Wingdings 2" pitchFamily="18" charset="2"/>
              <a:buNone/>
              <a:defRPr/>
            </a:pPr>
            <a:r>
              <a:rPr lang="en-GB" sz="1800" b="1" dirty="0" smtClean="0">
                <a:latin typeface="Arial" pitchFamily="34" charset="0"/>
                <a:cs typeface="Arial" pitchFamily="34" charset="0"/>
              </a:rPr>
              <a:t>Food update form (FUF) and Recipe update form (RUF)</a:t>
            </a:r>
          </a:p>
          <a:p>
            <a:pPr marL="0" indent="0">
              <a:buFont typeface="Wingdings 2" pitchFamily="18" charset="2"/>
              <a:buNone/>
              <a:defRPr/>
            </a:pPr>
            <a:endParaRPr lang="en-GB" sz="8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buFont typeface="Wingdings 2" pitchFamily="18" charset="2"/>
              <a:buNone/>
              <a:defRPr/>
            </a:pPr>
            <a:endParaRPr lang="en-GB" sz="800" b="1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buFont typeface="Wingdings 2" pitchFamily="18" charset="2"/>
              <a:buNone/>
              <a:defRPr/>
            </a:pPr>
            <a:r>
              <a:rPr lang="en-GB" sz="1800" b="1" dirty="0" smtClean="0">
                <a:latin typeface="Arial" pitchFamily="34" charset="0"/>
                <a:cs typeface="Arial" pitchFamily="34" charset="0"/>
              </a:rPr>
              <a:t>Foods:</a:t>
            </a:r>
          </a:p>
          <a:p>
            <a:pPr marL="0" indent="0">
              <a:buFont typeface="Wingdings 2" pitchFamily="18" charset="2"/>
              <a:buNone/>
              <a:defRPr/>
            </a:pPr>
            <a:r>
              <a:rPr lang="en-GB" sz="1800" dirty="0" smtClean="0">
                <a:latin typeface="Arial" pitchFamily="34" charset="0"/>
                <a:cs typeface="Arial" pitchFamily="34" charset="0"/>
              </a:rPr>
              <a:t>The FUF enables to </a:t>
            </a:r>
          </a:p>
          <a:p>
            <a:pPr>
              <a:buFontTx/>
              <a:buChar char="-"/>
              <a:defRPr/>
            </a:pPr>
            <a:r>
              <a:rPr lang="en-GB" sz="1800" dirty="0" smtClean="0">
                <a:latin typeface="Arial" pitchFamily="34" charset="0"/>
                <a:cs typeface="Arial" pitchFamily="34" charset="0"/>
              </a:rPr>
              <a:t>Update information on an existing food (replace or add)</a:t>
            </a:r>
          </a:p>
          <a:p>
            <a:pPr>
              <a:buFontTx/>
              <a:buChar char="-"/>
              <a:defRPr/>
            </a:pPr>
            <a:r>
              <a:rPr lang="en-GB" sz="1800" dirty="0" smtClean="0">
                <a:latin typeface="Arial" pitchFamily="34" charset="0"/>
                <a:cs typeface="Arial" pitchFamily="34" charset="0"/>
              </a:rPr>
              <a:t>Add a new food</a:t>
            </a:r>
          </a:p>
          <a:p>
            <a:pPr>
              <a:buFontTx/>
              <a:buChar char="-"/>
              <a:defRPr/>
            </a:pPr>
            <a:endParaRPr lang="en-GB" sz="1800" dirty="0">
              <a:latin typeface="Arial" pitchFamily="34" charset="0"/>
              <a:cs typeface="Arial" pitchFamily="34" charset="0"/>
            </a:endParaRPr>
          </a:p>
          <a:p>
            <a:pPr marL="0" indent="0">
              <a:buFont typeface="Wingdings 2" pitchFamily="18" charset="2"/>
              <a:buNone/>
              <a:defRPr/>
            </a:pPr>
            <a:r>
              <a:rPr lang="en-GB" sz="1800" b="1" dirty="0" smtClean="0">
                <a:latin typeface="Arial" pitchFamily="34" charset="0"/>
                <a:cs typeface="Arial" pitchFamily="34" charset="0"/>
              </a:rPr>
              <a:t>Recipes:</a:t>
            </a:r>
          </a:p>
          <a:p>
            <a:pPr marL="0" indent="0">
              <a:buFont typeface="Wingdings 2" pitchFamily="18" charset="2"/>
              <a:buNone/>
              <a:defRPr/>
            </a:pPr>
            <a:r>
              <a:rPr lang="en-GB" sz="1800" dirty="0" smtClean="0">
                <a:latin typeface="Arial" pitchFamily="34" charset="0"/>
                <a:cs typeface="Arial" pitchFamily="34" charset="0"/>
              </a:rPr>
              <a:t>Updates of recipes and their ingredients are made in the Recipe Manager.</a:t>
            </a:r>
          </a:p>
          <a:p>
            <a:pPr marL="0" indent="0">
              <a:buFont typeface="Wingdings 2" pitchFamily="18" charset="2"/>
              <a:buNone/>
              <a:defRPr/>
            </a:pPr>
            <a:r>
              <a:rPr lang="en-GB" sz="1800" dirty="0" smtClean="0">
                <a:latin typeface="Arial" pitchFamily="34" charset="0"/>
                <a:cs typeface="Arial" pitchFamily="34" charset="0"/>
              </a:rPr>
              <a:t>The RUF enables to update the other recipe information</a:t>
            </a:r>
          </a:p>
          <a:p>
            <a:pPr marL="0" indent="0">
              <a:buFont typeface="Wingdings 2" pitchFamily="18" charset="2"/>
              <a:buNone/>
              <a:defRPr/>
            </a:pPr>
            <a:endParaRPr lang="en-GB" sz="1800" dirty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à"/>
              <a:defRPr/>
            </a:pPr>
            <a:r>
              <a:rPr lang="en-GB" sz="1800" dirty="0" smtClean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Send to IARC </a:t>
            </a:r>
          </a:p>
          <a:p>
            <a:pPr lvl="1">
              <a:defRPr/>
            </a:pPr>
            <a:r>
              <a:rPr lang="en-GB" sz="1800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O</a:t>
            </a:r>
            <a:r>
              <a:rPr lang="en-GB" sz="1800" dirty="0" smtClean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ne file gathering all the FUFs</a:t>
            </a:r>
          </a:p>
          <a:p>
            <a:pPr lvl="1">
              <a:defRPr/>
            </a:pPr>
            <a:r>
              <a:rPr lang="en-GB" sz="1800" dirty="0" smtClean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One file gathering all the RUFs</a:t>
            </a:r>
            <a:endParaRPr lang="en-GB" sz="1800" dirty="0" smtClean="0">
              <a:latin typeface="Arial" pitchFamily="34" charset="0"/>
              <a:cs typeface="Arial" pitchFamily="34" charset="0"/>
            </a:endParaRPr>
          </a:p>
          <a:p>
            <a:pPr>
              <a:buFontTx/>
              <a:buChar char="-"/>
              <a:defRPr/>
            </a:pPr>
            <a:endParaRPr lang="en-GB" sz="1800" dirty="0">
              <a:latin typeface="Arial" pitchFamily="34" charset="0"/>
              <a:cs typeface="Arial" pitchFamily="34" charset="0"/>
            </a:endParaRPr>
          </a:p>
          <a:p>
            <a:pPr marL="0" indent="0">
              <a:buFont typeface="Wingdings 2" pitchFamily="18" charset="2"/>
              <a:buNone/>
              <a:defRPr/>
            </a:pPr>
            <a:endParaRPr lang="en-GB" sz="1800" dirty="0" smtClean="0">
              <a:latin typeface="Arial" pitchFamily="34" charset="0"/>
              <a:cs typeface="Arial" pitchFamily="34" charset="0"/>
            </a:endParaRPr>
          </a:p>
          <a:p>
            <a:pPr marL="0" indent="0" algn="ctr">
              <a:buFont typeface="Wingdings 2" pitchFamily="18" charset="2"/>
              <a:buNone/>
              <a:defRPr/>
            </a:pPr>
            <a:endParaRPr lang="en-GB" sz="1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304800" y="6381750"/>
            <a:ext cx="3906838" cy="350838"/>
          </a:xfrm>
        </p:spPr>
        <p:txBody>
          <a:bodyPr lIns="45720" rIns="45720" anchor="ctr">
            <a:noAutofit/>
          </a:bodyPr>
          <a:lstStyle/>
          <a:p>
            <a:pPr>
              <a:defRPr/>
            </a:pPr>
            <a:r>
              <a:rPr lang="en-GB" dirty="0"/>
              <a:t>Maintenance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nl-BE" smtClean="0"/>
              <a:t>IARC, Lyon - France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8A0721-AF66-45A1-A89E-EECE87F14F43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22532" name="TextBox 4"/>
          <p:cNvSpPr txBox="1">
            <a:spLocks noChangeArrowheads="1"/>
          </p:cNvSpPr>
          <p:nvPr/>
        </p:nvSpPr>
        <p:spPr bwMode="auto">
          <a:xfrm>
            <a:off x="250825" y="260350"/>
            <a:ext cx="8569325" cy="640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800" b="1">
                <a:latin typeface="Arial" charset="0"/>
              </a:rPr>
              <a:t>Food update form (FUF) and Recipe update form (RUF)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en-GB" altLang="en-US" sz="1800">
              <a:latin typeface="Arial" charset="0"/>
            </a:endParaRP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800">
                <a:latin typeface="Arial" charset="0"/>
              </a:rPr>
              <a:t>During the field work, new identified needs with regards to foods and recipes can be incorporated into the GloboDiet files via a procedure using dedicated forms: FUF and RUF.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en-GB" altLang="en-US" sz="140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1400">
                <a:latin typeface="Courier New" pitchFamily="49" charset="0"/>
                <a:cs typeface="Courier New" pitchFamily="49" charset="0"/>
              </a:rPr>
              <a:t>FOOD UPDATE FORM (version 1.2)                             12 January 1996</a:t>
            </a:r>
            <a:endParaRPr lang="en-GB" altLang="en-US" sz="140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1400">
                <a:latin typeface="Courier New" pitchFamily="49" charset="0"/>
                <a:cs typeface="Courier New" pitchFamily="49" charset="0"/>
              </a:rPr>
              <a:t> </a:t>
            </a:r>
            <a:endParaRPr lang="en-GB" altLang="en-US" sz="140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1400">
                <a:latin typeface="Courier New" pitchFamily="49" charset="0"/>
                <a:cs typeface="Courier New" pitchFamily="49" charset="0"/>
              </a:rPr>
              <a:t>1.  Country                              ..........</a:t>
            </a:r>
            <a:endParaRPr lang="en-GB" altLang="en-US" sz="140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1400">
                <a:latin typeface="Courier New" pitchFamily="49" charset="0"/>
                <a:cs typeface="Courier New" pitchFamily="49" charset="0"/>
              </a:rPr>
              <a:t>2.  Code (for new food IARC complets)    0000</a:t>
            </a:r>
            <a:endParaRPr lang="en-GB" altLang="en-US" sz="140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1400">
                <a:latin typeface="Courier New" pitchFamily="49" charset="0"/>
                <a:cs typeface="Courier New" pitchFamily="49" charset="0"/>
              </a:rPr>
              <a:t>    (    )</a:t>
            </a:r>
            <a:endParaRPr lang="en-GB" altLang="en-US" sz="140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1400">
                <a:latin typeface="Courier New" pitchFamily="49" charset="0"/>
                <a:cs typeface="Courier New" pitchFamily="49" charset="0"/>
              </a:rPr>
              <a:t>3.  Food name, 50 caracters max. (   )</a:t>
            </a:r>
            <a:endParaRPr lang="en-GB" altLang="en-US" sz="140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1400">
                <a:latin typeface="Courier New" pitchFamily="49" charset="0"/>
                <a:cs typeface="Courier New" pitchFamily="49" charset="0"/>
              </a:rPr>
              <a:t>    - own language (   )                 .</a:t>
            </a:r>
            <a:endParaRPr lang="en-GB" altLang="en-US" sz="140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1400">
                <a:latin typeface="Courier New" pitchFamily="49" charset="0"/>
                <a:cs typeface="Courier New" pitchFamily="49" charset="0"/>
              </a:rPr>
              <a:t>    - English(   )                       .</a:t>
            </a:r>
            <a:endParaRPr lang="en-GB" altLang="en-US" sz="140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1400">
                <a:latin typeface="Courier New" pitchFamily="49" charset="0"/>
                <a:cs typeface="Courier New" pitchFamily="49" charset="0"/>
              </a:rPr>
              <a:t>4.  Group/subgroup (   )                 .. .. ..</a:t>
            </a:r>
            <a:endParaRPr lang="en-GB" altLang="en-US" sz="140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1400">
                <a:latin typeface="Courier New" pitchFamily="49" charset="0"/>
                <a:cs typeface="Courier New" pitchFamily="49" charset="0"/>
              </a:rPr>
              <a:t>5.  Shadow (   )</a:t>
            </a:r>
            <a:endParaRPr lang="en-GB" altLang="en-US" sz="140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1400">
                <a:latin typeface="Courier New" pitchFamily="49" charset="0"/>
                <a:cs typeface="Courier New" pitchFamily="49" charset="0"/>
              </a:rPr>
              <a:t>    - Synonym, 50 caracters max.         .</a:t>
            </a:r>
            <a:endParaRPr lang="en-GB" altLang="en-US" sz="140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1400">
                <a:latin typeface="Courier New" pitchFamily="49" charset="0"/>
                <a:cs typeface="Courier New" pitchFamily="49" charset="0"/>
              </a:rPr>
              <a:t>      (    )</a:t>
            </a:r>
            <a:endParaRPr lang="en-GB" altLang="en-US" sz="140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1400">
                <a:latin typeface="Courier New" pitchFamily="49" charset="0"/>
                <a:cs typeface="Courier New" pitchFamily="49" charset="0"/>
              </a:rPr>
              <a:t>    - Other group (   )                  .. .. ..</a:t>
            </a:r>
            <a:endParaRPr lang="en-GB" altLang="en-US" sz="140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1400">
                <a:latin typeface="Courier New" pitchFamily="49" charset="0"/>
                <a:cs typeface="Courier New" pitchFamily="49" charset="0"/>
              </a:rPr>
              <a:t>6.  Brandname (</a:t>
            </a:r>
            <a:r>
              <a:rPr lang="en-US" altLang="en-US" sz="14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if not yet listed</a:t>
            </a:r>
            <a:r>
              <a:rPr lang="en-US" altLang="en-US" sz="1400">
                <a:latin typeface="Courier New" pitchFamily="49" charset="0"/>
                <a:cs typeface="Courier New" pitchFamily="49" charset="0"/>
              </a:rPr>
              <a:t>)  (    )                               </a:t>
            </a:r>
            <a:endParaRPr lang="en-GB" altLang="en-US" sz="140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1400">
                <a:latin typeface="Courier New" pitchFamily="49" charset="0"/>
                <a:cs typeface="Courier New" pitchFamily="49" charset="0"/>
              </a:rPr>
              <a:t>    </a:t>
            </a:r>
            <a:r>
              <a:rPr lang="fr-FR" altLang="en-US" sz="1400">
                <a:latin typeface="Courier New" pitchFamily="49" charset="0"/>
                <a:cs typeface="Courier New" pitchFamily="49" charset="0"/>
              </a:rPr>
              <a:t>- 1. Brandname                       .</a:t>
            </a:r>
            <a:endParaRPr lang="en-GB" altLang="en-US" sz="140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fr-FR" altLang="en-US" sz="1400">
                <a:latin typeface="Courier New" pitchFamily="49" charset="0"/>
                <a:cs typeface="Courier New" pitchFamily="49" charset="0"/>
              </a:rPr>
              <a:t>    - 2. Brandname                       .</a:t>
            </a:r>
            <a:endParaRPr lang="en-GB" altLang="en-US" sz="140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fr-FR" altLang="en-US" sz="1400">
                <a:latin typeface="Courier New" pitchFamily="49" charset="0"/>
                <a:cs typeface="Courier New" pitchFamily="49" charset="0"/>
              </a:rPr>
              <a:t>7.  Facet (   )                          .. .. .. .. .. .. .. .. .. .. ..</a:t>
            </a:r>
            <a:endParaRPr lang="en-GB" altLang="en-US" sz="140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en-GB" altLang="en-US" sz="1800">
              <a:latin typeface="Arial" charset="0"/>
            </a:endParaRP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en-GB" altLang="en-US" sz="1800">
              <a:latin typeface="Arial" charset="0"/>
            </a:endParaRP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en-GB" altLang="en-US" sz="1800">
              <a:latin typeface="Arial" charset="0"/>
            </a:endParaRPr>
          </a:p>
        </p:txBody>
      </p:sp>
      <p:sp>
        <p:nvSpPr>
          <p:cNvPr id="61445" name="TextBox 5"/>
          <p:cNvSpPr txBox="1">
            <a:spLocks noChangeArrowheads="1"/>
          </p:cNvSpPr>
          <p:nvPr/>
        </p:nvSpPr>
        <p:spPr bwMode="auto">
          <a:xfrm>
            <a:off x="5651500" y="2276475"/>
            <a:ext cx="34925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800">
                <a:solidFill>
                  <a:srgbClr val="2780B7"/>
                </a:solidFill>
                <a:latin typeface="Arial" charset="0"/>
              </a:rPr>
              <a:t>Leave 0000 if new food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800">
                <a:solidFill>
                  <a:srgbClr val="2780B7"/>
                </a:solidFill>
                <a:latin typeface="Arial" charset="0"/>
              </a:rPr>
              <a:t>Otherwise enter the food code</a:t>
            </a:r>
          </a:p>
        </p:txBody>
      </p:sp>
      <p:sp>
        <p:nvSpPr>
          <p:cNvPr id="61446" name="TextBox 6"/>
          <p:cNvSpPr txBox="1">
            <a:spLocks noChangeArrowheads="1"/>
          </p:cNvSpPr>
          <p:nvPr/>
        </p:nvSpPr>
        <p:spPr bwMode="auto">
          <a:xfrm>
            <a:off x="5292725" y="3143250"/>
            <a:ext cx="34909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800" dirty="0">
                <a:solidFill>
                  <a:srgbClr val="2780B7"/>
                </a:solidFill>
                <a:latin typeface="Arial" charset="0"/>
              </a:rPr>
              <a:t>Provide the food name in both languages</a:t>
            </a:r>
          </a:p>
        </p:txBody>
      </p:sp>
      <p:sp>
        <p:nvSpPr>
          <p:cNvPr id="8" name="Right Brace 7"/>
          <p:cNvSpPr/>
          <p:nvPr/>
        </p:nvSpPr>
        <p:spPr>
          <a:xfrm>
            <a:off x="5003800" y="3213100"/>
            <a:ext cx="215900" cy="431800"/>
          </a:xfrm>
          <a:prstGeom prst="rightBrace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61448" name="TextBox 9"/>
          <p:cNvSpPr txBox="1">
            <a:spLocks noChangeArrowheads="1"/>
          </p:cNvSpPr>
          <p:nvPr/>
        </p:nvSpPr>
        <p:spPr bwMode="auto">
          <a:xfrm>
            <a:off x="5445125" y="3935413"/>
            <a:ext cx="35909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800">
                <a:solidFill>
                  <a:srgbClr val="2780B7"/>
                </a:solidFill>
                <a:latin typeface="Arial" charset="0"/>
              </a:rPr>
              <a:t>If applicable, </a:t>
            </a:r>
            <a:r>
              <a:rPr lang="en-GB" altLang="en-US" sz="1800" u="sng">
                <a:solidFill>
                  <a:srgbClr val="2780B7"/>
                </a:solidFill>
                <a:latin typeface="Arial" charset="0"/>
              </a:rPr>
              <a:t>several</a:t>
            </a:r>
            <a:r>
              <a:rPr lang="en-GB" altLang="en-US" sz="1800">
                <a:solidFill>
                  <a:srgbClr val="2780B7"/>
                </a:solidFill>
                <a:latin typeface="Arial" charset="0"/>
              </a:rPr>
              <a:t> shadow items can be specified (copy row)</a:t>
            </a:r>
          </a:p>
        </p:txBody>
      </p:sp>
      <p:sp>
        <p:nvSpPr>
          <p:cNvPr id="61449" name="TextBox 10"/>
          <p:cNvSpPr txBox="1">
            <a:spLocks noChangeArrowheads="1"/>
          </p:cNvSpPr>
          <p:nvPr/>
        </p:nvSpPr>
        <p:spPr bwMode="auto">
          <a:xfrm>
            <a:off x="5292725" y="4581525"/>
            <a:ext cx="3490913" cy="92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800">
                <a:solidFill>
                  <a:srgbClr val="2780B7"/>
                </a:solidFill>
                <a:latin typeface="Arial" charset="0"/>
              </a:rPr>
              <a:t>If applicable, </a:t>
            </a:r>
            <a:r>
              <a:rPr lang="en-GB" altLang="en-US" sz="1800" u="sng">
                <a:solidFill>
                  <a:srgbClr val="2780B7"/>
                </a:solidFill>
                <a:latin typeface="Arial" charset="0"/>
              </a:rPr>
              <a:t>several</a:t>
            </a:r>
            <a:r>
              <a:rPr lang="en-GB" altLang="en-US" sz="1800">
                <a:solidFill>
                  <a:srgbClr val="2780B7"/>
                </a:solidFill>
                <a:latin typeface="Arial" charset="0"/>
              </a:rPr>
              <a:t> new brand or product names can be specified (copy row)</a:t>
            </a:r>
          </a:p>
        </p:txBody>
      </p:sp>
      <p:sp>
        <p:nvSpPr>
          <p:cNvPr id="61450" name="TextBox 11"/>
          <p:cNvSpPr txBox="1">
            <a:spLocks noChangeArrowheads="1"/>
          </p:cNvSpPr>
          <p:nvPr/>
        </p:nvSpPr>
        <p:spPr bwMode="auto">
          <a:xfrm>
            <a:off x="1258888" y="5516563"/>
            <a:ext cx="74183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800">
                <a:solidFill>
                  <a:srgbClr val="2780B7"/>
                </a:solidFill>
                <a:latin typeface="Arial" charset="0"/>
              </a:rPr>
              <a:t>Specify the facets you wish to keep from the FADEBYGROUP file</a:t>
            </a:r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4800" y="6381750"/>
            <a:ext cx="3906838" cy="350838"/>
          </a:xfrm>
        </p:spPr>
        <p:txBody>
          <a:bodyPr/>
          <a:lstStyle/>
          <a:p>
            <a:pPr>
              <a:defRPr/>
            </a:pPr>
            <a:r>
              <a:rPr lang="en-GB" dirty="0"/>
              <a:t>Maintenance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5219700" y="2492375"/>
            <a:ext cx="431800" cy="1095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6"/>
          <p:cNvSpPr txBox="1">
            <a:spLocks noChangeArrowheads="1"/>
          </p:cNvSpPr>
          <p:nvPr/>
        </p:nvSpPr>
        <p:spPr bwMode="auto">
          <a:xfrm>
            <a:off x="250824" y="5805330"/>
            <a:ext cx="856932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800" dirty="0" smtClean="0">
                <a:solidFill>
                  <a:srgbClr val="FF0000"/>
                </a:solidFill>
                <a:latin typeface="Arial" charset="0"/>
              </a:rPr>
              <a:t>If several languages are used, add lines to provide </a:t>
            </a:r>
            <a:r>
              <a:rPr lang="en-GB" altLang="en-US" sz="1800" dirty="0">
                <a:solidFill>
                  <a:srgbClr val="FF0000"/>
                </a:solidFill>
                <a:latin typeface="Arial" charset="0"/>
              </a:rPr>
              <a:t>the food </a:t>
            </a:r>
            <a:r>
              <a:rPr lang="en-GB" altLang="en-US" sz="1800" dirty="0" smtClean="0">
                <a:solidFill>
                  <a:srgbClr val="FF0000"/>
                </a:solidFill>
                <a:latin typeface="Arial" charset="0"/>
              </a:rPr>
              <a:t>name, synonym and brand name </a:t>
            </a:r>
            <a:r>
              <a:rPr lang="en-GB" altLang="en-US" sz="1800" dirty="0">
                <a:solidFill>
                  <a:srgbClr val="FF0000"/>
                </a:solidFill>
                <a:latin typeface="Arial" charset="0"/>
              </a:rPr>
              <a:t>in </a:t>
            </a:r>
            <a:r>
              <a:rPr lang="en-GB" altLang="en-US" sz="1800" dirty="0" smtClean="0">
                <a:solidFill>
                  <a:srgbClr val="FF0000"/>
                </a:solidFill>
                <a:latin typeface="Arial" charset="0"/>
              </a:rPr>
              <a:t>all languages.</a:t>
            </a:r>
            <a:endParaRPr lang="en-GB" altLang="en-US" sz="1800" dirty="0">
              <a:solidFill>
                <a:srgbClr val="FF0000"/>
              </a:solidFill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1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1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1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61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61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5" grpId="0"/>
      <p:bldP spid="61446" grpId="0"/>
      <p:bldP spid="8" grpId="0" animBg="1"/>
      <p:bldP spid="61448" grpId="0"/>
      <p:bldP spid="61449" grpId="0"/>
      <p:bldP spid="61450" grpId="0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nl-BE" smtClean="0"/>
              <a:t>IARC, Lyon - France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40FAB5-2786-4AFF-A2EB-3C5193ACC708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66564" name="Rectangle 4"/>
          <p:cNvSpPr>
            <a:spLocks noChangeArrowheads="1"/>
          </p:cNvSpPr>
          <p:nvPr/>
        </p:nvSpPr>
        <p:spPr bwMode="auto">
          <a:xfrm>
            <a:off x="250825" y="338138"/>
            <a:ext cx="8497888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  <a:defRPr/>
            </a:pPr>
            <a:r>
              <a:rPr lang="fr-FR" altLang="en-US" sz="1400" dirty="0" smtClean="0">
                <a:latin typeface="Courier New" pitchFamily="49" charset="0"/>
                <a:cs typeface="Courier New" pitchFamily="49" charset="0"/>
              </a:rPr>
              <a:t>8.  Quantification (   )</a:t>
            </a:r>
            <a:endParaRPr lang="en-GB" altLang="en-US" sz="1400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spcBef>
                <a:spcPct val="0"/>
              </a:spcBef>
              <a:buSzTx/>
              <a:buFontTx/>
              <a:buNone/>
              <a:defRPr/>
            </a:pPr>
            <a:r>
              <a:rPr lang="fr-FR" altLang="en-US" sz="1400" dirty="0" smtClean="0">
                <a:latin typeface="Courier New" pitchFamily="49" charset="0"/>
                <a:cs typeface="Courier New" pitchFamily="49" charset="0"/>
              </a:rPr>
              <a:t>    - photos (   )                       ..,..</a:t>
            </a:r>
            <a:endParaRPr lang="en-GB" altLang="en-US" sz="1400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spcBef>
                <a:spcPct val="0"/>
              </a:spcBef>
              <a:buSzTx/>
              <a:buFontTx/>
              <a:buNone/>
              <a:defRPr/>
            </a:pPr>
            <a:r>
              <a:rPr lang="fr-FR" altLang="en-US" sz="1400" dirty="0" smtClean="0">
                <a:latin typeface="Courier New" pitchFamily="49" charset="0"/>
                <a:cs typeface="Courier New" pitchFamily="49" charset="0"/>
              </a:rPr>
              <a:t>    - HHM (   )                          .</a:t>
            </a:r>
            <a:endParaRPr lang="en-GB" altLang="en-US" sz="1400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spcBef>
                <a:spcPct val="0"/>
              </a:spcBef>
              <a:buSzTx/>
              <a:buFontTx/>
              <a:buNone/>
              <a:defRPr/>
            </a:pPr>
            <a:r>
              <a:rPr lang="fr-FR" altLang="en-US" sz="14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en-US" sz="1400" dirty="0" smtClean="0">
                <a:latin typeface="Courier New" pitchFamily="49" charset="0"/>
                <a:cs typeface="Courier New" pitchFamily="49" charset="0"/>
              </a:rPr>
              <a:t>- STDU and comment (   )             U.1 C 2 .... ....................</a:t>
            </a:r>
            <a:endParaRPr lang="en-GB" altLang="en-US" sz="1400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spcBef>
                <a:spcPct val="0"/>
              </a:spcBef>
              <a:buSzTx/>
              <a:buFontTx/>
              <a:buNone/>
              <a:defRPr/>
            </a:pPr>
            <a:r>
              <a:rPr lang="en-US" altLang="en-US" sz="1400" dirty="0" smtClean="0">
                <a:latin typeface="Courier New" pitchFamily="49" charset="0"/>
                <a:cs typeface="Courier New" pitchFamily="49" charset="0"/>
              </a:rPr>
              <a:t>    - STDU and comment (   )             U.2 C 1 .... ....................</a:t>
            </a:r>
            <a:endParaRPr lang="en-GB" altLang="en-US" sz="1400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spcBef>
                <a:spcPct val="0"/>
              </a:spcBef>
              <a:buSzTx/>
              <a:buFontTx/>
              <a:buNone/>
              <a:defRPr/>
            </a:pPr>
            <a:r>
              <a:rPr lang="en-US" altLang="en-US" sz="1400" dirty="0" smtClean="0">
                <a:latin typeface="Courier New" pitchFamily="49" charset="0"/>
                <a:cs typeface="Courier New" pitchFamily="49" charset="0"/>
              </a:rPr>
              <a:t>    - STDU and comment (   )             U.3 C 1 .... ....................</a:t>
            </a:r>
            <a:endParaRPr lang="en-GB" altLang="en-US" sz="1400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spcBef>
                <a:spcPct val="0"/>
              </a:spcBef>
              <a:buSzTx/>
              <a:buFontTx/>
              <a:buNone/>
              <a:defRPr/>
            </a:pPr>
            <a:r>
              <a:rPr lang="en-US" altLang="en-US" sz="1400" dirty="0" smtClean="0">
                <a:latin typeface="Courier New" pitchFamily="49" charset="0"/>
                <a:cs typeface="Courier New" pitchFamily="49" charset="0"/>
              </a:rPr>
              <a:t>    - STDP and comment (   )             P.1 C 1 .... ....................</a:t>
            </a:r>
            <a:endParaRPr lang="en-GB" altLang="en-US" sz="1400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spcBef>
                <a:spcPct val="0"/>
              </a:spcBef>
              <a:buSzTx/>
              <a:buFontTx/>
              <a:buNone/>
              <a:defRPr/>
            </a:pPr>
            <a:r>
              <a:rPr lang="en-US" altLang="en-US" sz="1400" dirty="0" smtClean="0">
                <a:latin typeface="Courier New" pitchFamily="49" charset="0"/>
                <a:cs typeface="Courier New" pitchFamily="49" charset="0"/>
              </a:rPr>
              <a:t>    - STDP and comment (   )             P.2 C 1 .... </a:t>
            </a:r>
            <a:r>
              <a:rPr lang="en-US" altLang="en-US" sz="1400" dirty="0" smtClean="0">
                <a:latin typeface="Courier New" pitchFamily="49" charset="0"/>
                <a:cs typeface="Courier New" pitchFamily="49" charset="0"/>
              </a:rPr>
              <a:t>....................</a:t>
            </a:r>
            <a:endParaRPr lang="en-GB" altLang="en-US" sz="1400" dirty="0" smtClean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95116" y="2204830"/>
            <a:ext cx="7380689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dirty="0">
                <a:solidFill>
                  <a:srgbClr val="2780B7"/>
                </a:solidFill>
              </a:rPr>
              <a:t>Specify the quantification methods you wish to keep from the FDQMDETAIL </a:t>
            </a:r>
            <a:r>
              <a:rPr lang="en-GB" dirty="0" smtClean="0">
                <a:solidFill>
                  <a:srgbClr val="2780B7"/>
                </a:solidFill>
              </a:rPr>
              <a:t>file.</a:t>
            </a:r>
          </a:p>
          <a:p>
            <a:pPr>
              <a:defRPr/>
            </a:pPr>
            <a:endParaRPr lang="en-GB" dirty="0">
              <a:solidFill>
                <a:srgbClr val="2780B7"/>
              </a:solidFill>
            </a:endParaRPr>
          </a:p>
          <a:p>
            <a:pPr>
              <a:defRPr/>
            </a:pPr>
            <a:r>
              <a:rPr lang="en-GB" dirty="0">
                <a:solidFill>
                  <a:srgbClr val="2780B7"/>
                </a:solidFill>
              </a:rPr>
              <a:t>F</a:t>
            </a:r>
            <a:r>
              <a:rPr lang="en-GB" dirty="0" smtClean="0">
                <a:solidFill>
                  <a:srgbClr val="2780B7"/>
                </a:solidFill>
              </a:rPr>
              <a:t>or </a:t>
            </a:r>
            <a:r>
              <a:rPr lang="en-GB" dirty="0">
                <a:solidFill>
                  <a:srgbClr val="2780B7"/>
                </a:solidFill>
              </a:rPr>
              <a:t>units and portions: </a:t>
            </a:r>
          </a:p>
          <a:p>
            <a:pPr marL="285750" indent="-285750">
              <a:buFont typeface="Arial" pitchFamily="34" charset="0"/>
              <a:buChar char="•"/>
              <a:defRPr/>
            </a:pPr>
            <a:r>
              <a:rPr lang="en-GB" dirty="0">
                <a:solidFill>
                  <a:srgbClr val="2780B7"/>
                </a:solidFill>
              </a:rPr>
              <a:t>be careful with the numbering and with the variables raw/cooked and edible part</a:t>
            </a:r>
          </a:p>
          <a:p>
            <a:pPr marL="285750" indent="-285750">
              <a:buFont typeface="Arial" pitchFamily="34" charset="0"/>
              <a:buChar char="•"/>
              <a:defRPr/>
            </a:pPr>
            <a:r>
              <a:rPr lang="en-GB" dirty="0">
                <a:solidFill>
                  <a:srgbClr val="2780B7"/>
                </a:solidFill>
              </a:rPr>
              <a:t>new rows may be </a:t>
            </a:r>
            <a:r>
              <a:rPr lang="en-GB" dirty="0" smtClean="0">
                <a:solidFill>
                  <a:srgbClr val="2780B7"/>
                </a:solidFill>
              </a:rPr>
              <a:t>added</a:t>
            </a:r>
          </a:p>
          <a:p>
            <a:pPr marL="285750" indent="-285750">
              <a:buFont typeface="Arial" pitchFamily="34" charset="0"/>
              <a:buChar char="•"/>
              <a:defRPr/>
            </a:pPr>
            <a:r>
              <a:rPr lang="en-GB" altLang="en-US" dirty="0">
                <a:solidFill>
                  <a:srgbClr val="2780B7"/>
                </a:solidFill>
              </a:rPr>
              <a:t>If in volume [ml], enter ‘$’ in the description field.</a:t>
            </a:r>
          </a:p>
          <a:p>
            <a:pPr marL="285750" indent="-285750">
              <a:buFont typeface="Arial" pitchFamily="34" charset="0"/>
              <a:buChar char="•"/>
              <a:defRPr/>
            </a:pPr>
            <a:endParaRPr lang="en-GB" dirty="0">
              <a:solidFill>
                <a:srgbClr val="2780B7"/>
              </a:solidFill>
            </a:endParaRPr>
          </a:p>
          <a:p>
            <a:r>
              <a:rPr lang="en-GB" altLang="en-US" dirty="0">
                <a:solidFill>
                  <a:srgbClr val="2780B7"/>
                </a:solidFill>
              </a:rPr>
              <a:t>If you wish to have the shape method, please write so after ‘</a:t>
            </a:r>
            <a:r>
              <a:rPr lang="en-US" altLang="en-US" dirty="0">
                <a:solidFill>
                  <a:srgbClr val="2780B7"/>
                </a:solidFill>
              </a:rPr>
              <a:t>STDP and comment’ </a:t>
            </a:r>
            <a:r>
              <a:rPr lang="en-GB" altLang="en-US" dirty="0">
                <a:solidFill>
                  <a:srgbClr val="2780B7"/>
                </a:solidFill>
              </a:rPr>
              <a:t>and specify the shape codes attached to the food, e.g. ‘A1 R055, R065’.</a:t>
            </a:r>
          </a:p>
          <a:p>
            <a:pPr marL="285750" indent="-285750">
              <a:buFont typeface="Arial" pitchFamily="34" charset="0"/>
              <a:buChar char="•"/>
              <a:defRPr/>
            </a:pPr>
            <a:endParaRPr lang="en-GB" dirty="0">
              <a:solidFill>
                <a:srgbClr val="2780B7"/>
              </a:solidFill>
            </a:endParaRPr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4800" y="6381750"/>
            <a:ext cx="3906838" cy="350838"/>
          </a:xfrm>
        </p:spPr>
        <p:txBody>
          <a:bodyPr/>
          <a:lstStyle/>
          <a:p>
            <a:pPr>
              <a:defRPr/>
            </a:pPr>
            <a:r>
              <a:rPr lang="en-GB" dirty="0"/>
              <a:t>Maintenance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1449" y="5661310"/>
            <a:ext cx="813726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altLang="en-US" dirty="0">
                <a:solidFill>
                  <a:srgbClr val="FF0000"/>
                </a:solidFill>
              </a:rPr>
              <a:t>If several languages are used, add lines to provide the </a:t>
            </a:r>
            <a:r>
              <a:rPr lang="en-GB" altLang="en-US" dirty="0" smtClean="0">
                <a:solidFill>
                  <a:srgbClr val="FF0000"/>
                </a:solidFill>
              </a:rPr>
              <a:t>comments of standard units and portions </a:t>
            </a:r>
            <a:r>
              <a:rPr lang="en-GB" altLang="en-US" dirty="0">
                <a:solidFill>
                  <a:srgbClr val="FF0000"/>
                </a:solidFill>
              </a:rPr>
              <a:t>in all languages.</a:t>
            </a:r>
            <a:endParaRPr lang="en-GB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BE" smtClean="0"/>
              <a:t>IARC, Lyon - France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51400" y="6381410"/>
            <a:ext cx="3581400" cy="366713"/>
          </a:xfrm>
        </p:spPr>
        <p:txBody>
          <a:bodyPr/>
          <a:lstStyle/>
          <a:p>
            <a:pPr>
              <a:defRPr/>
            </a:pPr>
            <a:r>
              <a:rPr lang="nl-BE" dirty="0" smtClean="0"/>
              <a:t>Maintenance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579951-B407-43F7-B533-311E6349BBDC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1115520" y="692620"/>
            <a:ext cx="777765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800" dirty="0">
                <a:solidFill>
                  <a:srgbClr val="2780B7"/>
                </a:solidFill>
                <a:latin typeface="Arial" charset="0"/>
              </a:rPr>
              <a:t>Provide a set of nutrients </a:t>
            </a:r>
            <a:r>
              <a:rPr lang="en-GB" altLang="en-US" sz="1800" dirty="0" smtClean="0">
                <a:solidFill>
                  <a:srgbClr val="2780B7"/>
                </a:solidFill>
                <a:latin typeface="Arial" charset="0"/>
              </a:rPr>
              <a:t>values as consumed. If </a:t>
            </a:r>
            <a:r>
              <a:rPr lang="en-GB" altLang="en-US" sz="1800" dirty="0">
                <a:solidFill>
                  <a:srgbClr val="2780B7"/>
                </a:solidFill>
                <a:latin typeface="Arial" charset="0"/>
              </a:rPr>
              <a:t>several </a:t>
            </a:r>
            <a:r>
              <a:rPr lang="en-GB" altLang="en-US" sz="1800" dirty="0" smtClean="0">
                <a:solidFill>
                  <a:srgbClr val="2780B7"/>
                </a:solidFill>
                <a:latin typeface="Arial" charset="0"/>
              </a:rPr>
              <a:t>sets are possible, </a:t>
            </a:r>
            <a:r>
              <a:rPr lang="en-GB" altLang="en-US" sz="1800" dirty="0">
                <a:solidFill>
                  <a:srgbClr val="2780B7"/>
                </a:solidFill>
                <a:latin typeface="Arial" charset="0"/>
              </a:rPr>
              <a:t>please specify the description attached </a:t>
            </a:r>
            <a:r>
              <a:rPr lang="en-GB" altLang="en-US" sz="1800" dirty="0" smtClean="0">
                <a:solidFill>
                  <a:srgbClr val="2780B7"/>
                </a:solidFill>
                <a:latin typeface="Arial" charset="0"/>
              </a:rPr>
              <a:t>to each set (facet-descriptor </a:t>
            </a:r>
            <a:r>
              <a:rPr lang="en-GB" altLang="en-US" sz="1800" dirty="0">
                <a:solidFill>
                  <a:srgbClr val="2780B7"/>
                </a:solidFill>
                <a:latin typeface="Arial" charset="0"/>
              </a:rPr>
              <a:t>string</a:t>
            </a:r>
            <a:r>
              <a:rPr lang="en-GB" altLang="en-US" sz="1800" dirty="0" smtClean="0">
                <a:solidFill>
                  <a:srgbClr val="2780B7"/>
                </a:solidFill>
                <a:latin typeface="Arial" charset="0"/>
              </a:rPr>
              <a:t>).</a:t>
            </a:r>
            <a:endParaRPr lang="en-GB" altLang="en-US" sz="1800" dirty="0">
              <a:latin typeface="Arial" charset="0"/>
            </a:endParaRPr>
          </a:p>
        </p:txBody>
      </p:sp>
      <p:sp>
        <p:nvSpPr>
          <p:cNvPr id="6" name="TextBox 8"/>
          <p:cNvSpPr txBox="1">
            <a:spLocks noChangeArrowheads="1"/>
          </p:cNvSpPr>
          <p:nvPr/>
        </p:nvSpPr>
        <p:spPr bwMode="auto">
          <a:xfrm>
            <a:off x="5985055" y="4798075"/>
            <a:ext cx="24034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800">
                <a:solidFill>
                  <a:srgbClr val="2780B7"/>
                </a:solidFill>
                <a:latin typeface="Arial" charset="0"/>
              </a:rPr>
              <a:t>facet-descriptor string</a:t>
            </a:r>
            <a:endParaRPr lang="en-GB" altLang="en-US" sz="1800">
              <a:latin typeface="Arial" charset="0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H="1" flipV="1">
            <a:off x="5734230" y="4509150"/>
            <a:ext cx="250825" cy="2889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12"/>
          <p:cNvSpPr txBox="1">
            <a:spLocks noChangeArrowheads="1"/>
          </p:cNvSpPr>
          <p:nvPr/>
        </p:nvSpPr>
        <p:spPr bwMode="auto">
          <a:xfrm>
            <a:off x="5219700" y="5516563"/>
            <a:ext cx="3744913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800">
                <a:solidFill>
                  <a:srgbClr val="2780B7"/>
                </a:solidFill>
                <a:latin typeface="Arial" charset="0"/>
              </a:rPr>
              <a:t>Other EDIB coefficients may be entered, linked to specific facet-descriptor string(s)</a:t>
            </a:r>
            <a:endParaRPr lang="en-GB" altLang="en-US" sz="1800">
              <a:latin typeface="Arial" charset="0"/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3708062" y="1393502"/>
            <a:ext cx="1295998" cy="131539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51400" y="1476135"/>
            <a:ext cx="842517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1400" dirty="0">
                <a:latin typeface="Courier New" pitchFamily="49" charset="0"/>
                <a:cs typeface="Courier New" pitchFamily="49" charset="0"/>
              </a:rPr>
              <a:t>9.  Maxima (   )                         .</a:t>
            </a:r>
            <a:endParaRPr lang="en-GB" altLang="en-US" sz="1400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altLang="en-US" sz="1400" dirty="0">
                <a:latin typeface="Courier New" pitchFamily="49" charset="0"/>
                <a:cs typeface="Courier New" pitchFamily="49" charset="0"/>
              </a:rPr>
              <a:t>10. </a:t>
            </a:r>
            <a:r>
              <a:rPr lang="en-US" altLang="en-US" sz="1400" dirty="0" err="1">
                <a:latin typeface="Courier New" pitchFamily="49" charset="0"/>
                <a:cs typeface="Courier New" pitchFamily="49" charset="0"/>
              </a:rPr>
              <a:t>Probings</a:t>
            </a:r>
            <a:r>
              <a:rPr lang="en-US" altLang="en-US" sz="1400" dirty="0">
                <a:latin typeface="Courier New" pitchFamily="49" charset="0"/>
                <a:cs typeface="Courier New" pitchFamily="49" charset="0"/>
              </a:rPr>
              <a:t> (   )                       ..,..</a:t>
            </a:r>
            <a:endParaRPr lang="en-GB" altLang="en-US" sz="1400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altLang="en-US" sz="1400" dirty="0">
                <a:latin typeface="Courier New" pitchFamily="49" charset="0"/>
                <a:cs typeface="Courier New" pitchFamily="49" charset="0"/>
              </a:rPr>
              <a:t>11. Nutrient values (   )</a:t>
            </a:r>
            <a:endParaRPr lang="en-GB" altLang="en-US" sz="1400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altLang="en-US" sz="1400" dirty="0">
                <a:latin typeface="Courier New" pitchFamily="49" charset="0"/>
                <a:cs typeface="Courier New" pitchFamily="49" charset="0"/>
              </a:rPr>
              <a:t>    - Energy (   )                           .           .           .</a:t>
            </a:r>
            <a:endParaRPr lang="en-GB" altLang="en-US" sz="1400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altLang="en-US" sz="1400" dirty="0">
                <a:latin typeface="Courier New" pitchFamily="49" charset="0"/>
                <a:cs typeface="Courier New" pitchFamily="49" charset="0"/>
              </a:rPr>
              <a:t>    - Protein (   )                          .           .           .</a:t>
            </a:r>
            <a:endParaRPr lang="en-GB" altLang="en-US" sz="1400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altLang="en-US" sz="1400" dirty="0">
                <a:latin typeface="Courier New" pitchFamily="49" charset="0"/>
                <a:cs typeface="Courier New" pitchFamily="49" charset="0"/>
              </a:rPr>
              <a:t>    - Fat (   )                              .           .           .</a:t>
            </a:r>
            <a:endParaRPr lang="en-GB" altLang="en-US" sz="1400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altLang="en-US" sz="1400" dirty="0">
                <a:latin typeface="Courier New" pitchFamily="49" charset="0"/>
                <a:cs typeface="Courier New" pitchFamily="49" charset="0"/>
              </a:rPr>
              <a:t>    - Carbohydrate (   )                     .           .           .</a:t>
            </a:r>
            <a:endParaRPr lang="en-GB" altLang="en-US" sz="1400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altLang="en-US" sz="1400" dirty="0">
                <a:latin typeface="Courier New" pitchFamily="49" charset="0"/>
                <a:cs typeface="Courier New" pitchFamily="49" charset="0"/>
              </a:rPr>
              <a:t>    - Alcohol (   )                          .           .           .</a:t>
            </a:r>
            <a:endParaRPr lang="en-GB" altLang="en-US" sz="1400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altLang="en-US" sz="1400" dirty="0">
                <a:latin typeface="Courier New" pitchFamily="49" charset="0"/>
                <a:cs typeface="Courier New" pitchFamily="49" charset="0"/>
              </a:rPr>
              <a:t>    - Priority number                        1           2           3</a:t>
            </a:r>
            <a:endParaRPr lang="en-GB" altLang="en-US" sz="1400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altLang="en-US" sz="1400" dirty="0">
                <a:latin typeface="Courier New" pitchFamily="49" charset="0"/>
                <a:cs typeface="Courier New" pitchFamily="49" charset="0"/>
              </a:rPr>
              <a:t>    - Facet-string (   )                 .... ....   .... ....   </a:t>
            </a:r>
            <a:endParaRPr lang="en-GB" altLang="en-US" sz="1400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altLang="en-US" sz="1400" dirty="0">
                <a:latin typeface="Courier New" pitchFamily="49" charset="0"/>
                <a:cs typeface="Courier New" pitchFamily="49" charset="0"/>
              </a:rPr>
              <a:t>12. Density/facet-string (   )</a:t>
            </a:r>
            <a:endParaRPr lang="en-GB" altLang="en-US" sz="1400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altLang="en-US" sz="1400" dirty="0">
                <a:latin typeface="Courier New" pitchFamily="49" charset="0"/>
                <a:cs typeface="Courier New" pitchFamily="49" charset="0"/>
              </a:rPr>
              <a:t>    - Raw                                R:0.__ ....           R:0.__ ....</a:t>
            </a:r>
            <a:endParaRPr lang="en-GB" altLang="en-US" sz="1400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altLang="en-US" sz="1400" dirty="0">
                <a:latin typeface="Courier New" pitchFamily="49" charset="0"/>
                <a:cs typeface="Courier New" pitchFamily="49" charset="0"/>
              </a:rPr>
              <a:t>    - Cooked                             C:0.__ ....           C:0.__ ....</a:t>
            </a:r>
            <a:endParaRPr lang="en-GB" altLang="en-US" sz="1400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altLang="en-US" sz="1400" dirty="0">
                <a:latin typeface="Courier New" pitchFamily="49" charset="0"/>
                <a:cs typeface="Courier New" pitchFamily="49" charset="0"/>
              </a:rPr>
              <a:t>    - Default density                      0.__ ....             0.__ ....</a:t>
            </a:r>
            <a:endParaRPr lang="en-GB" altLang="en-US" sz="1400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altLang="en-US" sz="1400" dirty="0">
                <a:latin typeface="Courier New" pitchFamily="49" charset="0"/>
                <a:cs typeface="Courier New" pitchFamily="49" charset="0"/>
              </a:rPr>
              <a:t>13. Edible Part (   )</a:t>
            </a:r>
            <a:endParaRPr lang="en-GB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/>
            </a:pPr>
            <a:r>
              <a:rPr lang="en-US" altLang="en-US" sz="1400" dirty="0">
                <a:latin typeface="Courier New" pitchFamily="49" charset="0"/>
                <a:cs typeface="Courier New" pitchFamily="49" charset="0"/>
              </a:rPr>
              <a:t>    - Default </a:t>
            </a:r>
            <a:r>
              <a:rPr lang="en-US" altLang="en-US" sz="1400" dirty="0" err="1">
                <a:latin typeface="Courier New" pitchFamily="49" charset="0"/>
                <a:cs typeface="Courier New" pitchFamily="49" charset="0"/>
              </a:rPr>
              <a:t>edib</a:t>
            </a:r>
            <a:r>
              <a:rPr lang="en-US" altLang="en-US" sz="1400" dirty="0">
                <a:latin typeface="Courier New" pitchFamily="49" charset="0"/>
                <a:cs typeface="Courier New" pitchFamily="49" charset="0"/>
              </a:rPr>
              <a:t> (   )                 0.__</a:t>
            </a:r>
            <a:endParaRPr lang="en-GB" altLang="en-US" sz="1400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altLang="en-US" sz="1400" dirty="0">
                <a:latin typeface="Courier New" pitchFamily="49" charset="0"/>
                <a:cs typeface="Courier New" pitchFamily="49" charset="0"/>
              </a:rPr>
              <a:t>    - for fish: whole (   )              0.__</a:t>
            </a:r>
            <a:endParaRPr lang="en-GB" altLang="en-US" sz="1400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altLang="en-US" sz="1400" dirty="0">
                <a:latin typeface="Courier New" pitchFamily="49" charset="0"/>
                <a:cs typeface="Courier New" pitchFamily="49" charset="0"/>
              </a:rPr>
              <a:t>    - for fish: fillet (   )             0.__</a:t>
            </a:r>
            <a:endParaRPr lang="en-GB" altLang="en-US" sz="1400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altLang="en-US" sz="1400" dirty="0">
                <a:latin typeface="Courier New" pitchFamily="49" charset="0"/>
                <a:cs typeface="Courier New" pitchFamily="49" charset="0"/>
              </a:rPr>
              <a:t>    - for fish: steak/slice (   )        0.__</a:t>
            </a:r>
            <a:endParaRPr lang="en-GB" altLang="en-US" sz="1400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altLang="en-US" sz="1400" dirty="0">
                <a:latin typeface="Courier New" pitchFamily="49" charset="0"/>
                <a:cs typeface="Courier New" pitchFamily="49" charset="0"/>
              </a:rPr>
              <a:t>    - for fish: canned (   )             0.__</a:t>
            </a:r>
            <a:endParaRPr lang="en-GB" altLang="en-US" sz="14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8059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nl-BE" smtClean="0"/>
              <a:t>IARC, Lyon - France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33ADBA-91F7-4DA1-9DE3-859E200B36DC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24580" name="Rectangle 4"/>
          <p:cNvSpPr>
            <a:spLocks noChangeArrowheads="1"/>
          </p:cNvSpPr>
          <p:nvPr/>
        </p:nvSpPr>
        <p:spPr bwMode="auto">
          <a:xfrm>
            <a:off x="250825" y="404813"/>
            <a:ext cx="8569325" cy="3538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1400">
                <a:latin typeface="Courier New" pitchFamily="49" charset="0"/>
                <a:cs typeface="Courier New" pitchFamily="49" charset="0"/>
              </a:rPr>
              <a:t>14. Rawcook coef. (if facet 03)  (   ) </a:t>
            </a:r>
            <a:endParaRPr lang="en-GB" altLang="en-US" sz="140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1400">
                <a:latin typeface="Courier New" pitchFamily="49" charset="0"/>
                <a:cs typeface="Courier New" pitchFamily="49" charset="0"/>
              </a:rPr>
              <a:t>    - Default R/C (   )                  0.__</a:t>
            </a:r>
            <a:endParaRPr lang="en-GB" altLang="en-US" sz="140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1400">
                <a:latin typeface="Courier New" pitchFamily="49" charset="0"/>
                <a:cs typeface="Courier New" pitchFamily="49" charset="0"/>
              </a:rPr>
              <a:t>    - Boiled (   )                       0.__</a:t>
            </a:r>
            <a:endParaRPr lang="en-GB" altLang="en-US" sz="140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1400">
                <a:latin typeface="Courier New" pitchFamily="49" charset="0"/>
                <a:cs typeface="Courier New" pitchFamily="49" charset="0"/>
              </a:rPr>
              <a:t>    - Baked (   )                        0.__</a:t>
            </a:r>
            <a:endParaRPr lang="en-GB" altLang="en-US" sz="140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1400">
                <a:latin typeface="Courier New" pitchFamily="49" charset="0"/>
                <a:cs typeface="Courier New" pitchFamily="49" charset="0"/>
              </a:rPr>
              <a:t>    - Roasted (   )                      0.__</a:t>
            </a:r>
            <a:endParaRPr lang="en-GB" altLang="en-US" sz="140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1400">
                <a:latin typeface="Courier New" pitchFamily="49" charset="0"/>
                <a:cs typeface="Courier New" pitchFamily="49" charset="0"/>
              </a:rPr>
              <a:t>    - Fried (   )                        0.__</a:t>
            </a:r>
            <a:endParaRPr lang="en-GB" altLang="en-US" sz="140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1400">
                <a:latin typeface="Courier New" pitchFamily="49" charset="0"/>
                <a:cs typeface="Courier New" pitchFamily="49" charset="0"/>
              </a:rPr>
              <a:t>    - from dried (if facet 0403)         0.__</a:t>
            </a:r>
            <a:endParaRPr lang="en-GB" altLang="en-US" sz="140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1400">
                <a:latin typeface="Courier New" pitchFamily="49" charset="0"/>
                <a:cs typeface="Courier New" pitchFamily="49" charset="0"/>
              </a:rPr>
              <a:t>         (   )</a:t>
            </a:r>
            <a:endParaRPr lang="en-GB" altLang="en-US" sz="140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1400">
                <a:latin typeface="Courier New" pitchFamily="49" charset="0"/>
                <a:cs typeface="Courier New" pitchFamily="49" charset="0"/>
              </a:rPr>
              <a:t>15. PCTFAT (if facet 03)  (    )</a:t>
            </a:r>
            <a:endParaRPr lang="en-GB" altLang="en-US" sz="140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1400">
                <a:latin typeface="Courier New" pitchFamily="49" charset="0"/>
                <a:cs typeface="Courier New" pitchFamily="49" charset="0"/>
              </a:rPr>
              <a:t>    - Group1 very fatty (   )            0.__</a:t>
            </a:r>
            <a:endParaRPr lang="en-GB" altLang="en-US" sz="140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1400">
                <a:latin typeface="Courier New" pitchFamily="49" charset="0"/>
                <a:cs typeface="Courier New" pitchFamily="49" charset="0"/>
              </a:rPr>
              <a:t>    - Group2 fatty (   )                 0.__</a:t>
            </a:r>
            <a:endParaRPr lang="en-GB" altLang="en-US" sz="140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1400">
                <a:latin typeface="Courier New" pitchFamily="49" charset="0"/>
                <a:cs typeface="Courier New" pitchFamily="49" charset="0"/>
              </a:rPr>
              <a:t>    - Group3 less fatty (   )            0.__</a:t>
            </a:r>
            <a:endParaRPr lang="en-GB" altLang="en-US" sz="140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1400">
                <a:latin typeface="Courier New" pitchFamily="49" charset="0"/>
                <a:cs typeface="Courier New" pitchFamily="49" charset="0"/>
              </a:rPr>
              <a:t>16. PCTFSS (   )</a:t>
            </a:r>
            <a:endParaRPr lang="en-GB" altLang="en-US" sz="140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1400">
                <a:latin typeface="Courier New" pitchFamily="49" charset="0"/>
                <a:cs typeface="Courier New" pitchFamily="49" charset="0"/>
              </a:rPr>
              <a:t>    - %Fat (   )                         0.__</a:t>
            </a:r>
            <a:endParaRPr lang="en-GB" altLang="en-US" sz="140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1400">
                <a:latin typeface="Courier New" pitchFamily="49" charset="0"/>
                <a:cs typeface="Courier New" pitchFamily="49" charset="0"/>
              </a:rPr>
              <a:t>    - %Sauce (   )                       0.__</a:t>
            </a:r>
            <a:endParaRPr lang="en-GB" altLang="en-US" sz="140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1400">
                <a:latin typeface="Courier New" pitchFamily="49" charset="0"/>
                <a:cs typeface="Courier New" pitchFamily="49" charset="0"/>
              </a:rPr>
              <a:t>    - %Sweetener (   )                   0.__</a:t>
            </a:r>
            <a:endParaRPr lang="en-GB" altLang="en-US" sz="140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3493" name="TextBox 5"/>
          <p:cNvSpPr txBox="1">
            <a:spLocks noChangeArrowheads="1"/>
          </p:cNvSpPr>
          <p:nvPr/>
        </p:nvSpPr>
        <p:spPr bwMode="auto">
          <a:xfrm>
            <a:off x="466725" y="4365625"/>
            <a:ext cx="849788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800" dirty="0" smtClean="0">
                <a:latin typeface="Arial" charset="0"/>
              </a:rPr>
              <a:t>If </a:t>
            </a:r>
            <a:r>
              <a:rPr lang="en-GB" altLang="en-US" sz="1800" dirty="0">
                <a:latin typeface="Arial" charset="0"/>
              </a:rPr>
              <a:t>you wish to update and/or create several foods, please prepare a single file gathering all the individual FUFs.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4800" y="6381750"/>
            <a:ext cx="3906838" cy="350838"/>
          </a:xfrm>
        </p:spPr>
        <p:txBody>
          <a:bodyPr/>
          <a:lstStyle/>
          <a:p>
            <a:pPr>
              <a:defRPr/>
            </a:pPr>
            <a:r>
              <a:rPr lang="en-GB" dirty="0"/>
              <a:t>Maintenance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3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nl-BE" smtClean="0"/>
              <a:t>IARC, Lyon - France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EDF78D-2DA8-4662-AA6D-22CF569C38DA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64518" name="TextBox 6"/>
          <p:cNvSpPr txBox="1">
            <a:spLocks noChangeArrowheads="1"/>
          </p:cNvSpPr>
          <p:nvPr/>
        </p:nvSpPr>
        <p:spPr bwMode="auto">
          <a:xfrm>
            <a:off x="5292725" y="404813"/>
            <a:ext cx="38163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800">
                <a:solidFill>
                  <a:srgbClr val="2780B7"/>
                </a:solidFill>
                <a:latin typeface="Arial" charset="0"/>
              </a:rPr>
              <a:t>Provide the recipe code, name and classification as entered in the Recipe Manager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48263" y="2924175"/>
            <a:ext cx="3924300" cy="31400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GB" dirty="0">
                <a:solidFill>
                  <a:srgbClr val="2780B7"/>
                </a:solidFill>
              </a:rPr>
              <a:t>Specify the quantification methods you wish to keep from the RCPQMDETAIL file – for units : </a:t>
            </a:r>
          </a:p>
          <a:p>
            <a:pPr marL="285750" indent="-285750">
              <a:buFont typeface="Arial" pitchFamily="34" charset="0"/>
              <a:buChar char="•"/>
              <a:defRPr/>
            </a:pPr>
            <a:r>
              <a:rPr lang="en-GB" dirty="0">
                <a:solidFill>
                  <a:srgbClr val="2780B7"/>
                </a:solidFill>
              </a:rPr>
              <a:t>be careful with the numbering,</a:t>
            </a:r>
          </a:p>
          <a:p>
            <a:pPr marL="285750" indent="-285750">
              <a:buFont typeface="Arial" pitchFamily="34" charset="0"/>
              <a:buChar char="•"/>
              <a:defRPr/>
            </a:pPr>
            <a:r>
              <a:rPr lang="en-GB" dirty="0">
                <a:solidFill>
                  <a:srgbClr val="2780B7"/>
                </a:solidFill>
              </a:rPr>
              <a:t>new rows may be added</a:t>
            </a:r>
          </a:p>
          <a:p>
            <a:pPr marL="285750" indent="-285750">
              <a:buFont typeface="Arial" pitchFamily="34" charset="0"/>
              <a:buChar char="•"/>
              <a:defRPr/>
            </a:pPr>
            <a:r>
              <a:rPr lang="en-GB" altLang="en-US" dirty="0">
                <a:solidFill>
                  <a:srgbClr val="2780B7"/>
                </a:solidFill>
              </a:rPr>
              <a:t>For the shape method, specify the shape codes attached to the recipe, e.g. ‘A1 R055, R065’.</a:t>
            </a:r>
          </a:p>
          <a:p>
            <a:pPr marL="285750" indent="-285750">
              <a:buFont typeface="Arial" pitchFamily="34" charset="0"/>
              <a:buChar char="•"/>
              <a:defRPr/>
            </a:pPr>
            <a:r>
              <a:rPr lang="en-GB" altLang="en-US" dirty="0">
                <a:solidFill>
                  <a:srgbClr val="2780B7"/>
                </a:solidFill>
              </a:rPr>
              <a:t>For units in volume [ml], enter ‘$’ in the description field.</a:t>
            </a:r>
          </a:p>
          <a:p>
            <a:pPr marL="285750" indent="-285750">
              <a:buFont typeface="Arial" pitchFamily="34" charset="0"/>
              <a:buChar char="•"/>
              <a:defRPr/>
            </a:pPr>
            <a:endParaRPr lang="en-GB" altLang="en-US" dirty="0">
              <a:solidFill>
                <a:srgbClr val="2780B7"/>
              </a:solidFill>
            </a:endParaRP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4800" y="6381750"/>
            <a:ext cx="3906838" cy="350838"/>
          </a:xfrm>
        </p:spPr>
        <p:txBody>
          <a:bodyPr/>
          <a:lstStyle/>
          <a:p>
            <a:pPr>
              <a:defRPr/>
            </a:pPr>
            <a:r>
              <a:rPr lang="en-GB" dirty="0"/>
              <a:t>Maintenance</a:t>
            </a:r>
          </a:p>
        </p:txBody>
      </p:sp>
      <p:sp>
        <p:nvSpPr>
          <p:cNvPr id="25607" name="Rectangle 6"/>
          <p:cNvSpPr>
            <a:spLocks noChangeArrowheads="1"/>
          </p:cNvSpPr>
          <p:nvPr/>
        </p:nvSpPr>
        <p:spPr bwMode="auto">
          <a:xfrm>
            <a:off x="179388" y="203200"/>
            <a:ext cx="9072562" cy="461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400" dirty="0">
                <a:latin typeface="Courier New" pitchFamily="49" charset="0"/>
                <a:cs typeface="Courier New" pitchFamily="49" charset="0"/>
              </a:rPr>
              <a:t>RECIPE UPDATE FORM (version 1.0)                             SEPTEMBER 2013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en-GB" altLang="en-US" sz="1400" dirty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400" dirty="0">
                <a:latin typeface="Courier New" pitchFamily="49" charset="0"/>
                <a:cs typeface="Courier New" pitchFamily="49" charset="0"/>
              </a:rPr>
              <a:t>1.  Country                              .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400" dirty="0">
                <a:latin typeface="Courier New" pitchFamily="49" charset="0"/>
                <a:cs typeface="Courier New" pitchFamily="49" charset="0"/>
              </a:rPr>
              <a:t>2.  Code                                 .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400" dirty="0">
                <a:latin typeface="Courier New" pitchFamily="49" charset="0"/>
                <a:cs typeface="Courier New" pitchFamily="49" charset="0"/>
              </a:rPr>
              <a:t>3.  Recipe name, 50 </a:t>
            </a:r>
            <a:r>
              <a:rPr lang="en-GB" altLang="en-US" sz="1400" dirty="0" err="1">
                <a:latin typeface="Courier New" pitchFamily="49" charset="0"/>
                <a:cs typeface="Courier New" pitchFamily="49" charset="0"/>
              </a:rPr>
              <a:t>caracters</a:t>
            </a:r>
            <a:r>
              <a:rPr lang="en-GB" altLang="en-US" sz="1400" dirty="0">
                <a:latin typeface="Courier New" pitchFamily="49" charset="0"/>
                <a:cs typeface="Courier New" pitchFamily="49" charset="0"/>
              </a:rPr>
              <a:t> max. (   ) .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400" dirty="0">
                <a:latin typeface="Courier New" pitchFamily="49" charset="0"/>
                <a:cs typeface="Courier New" pitchFamily="49" charset="0"/>
              </a:rPr>
              <a:t>4.  Group/subgroup (   )                 . 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400" dirty="0">
                <a:latin typeface="Courier New" pitchFamily="49" charset="0"/>
                <a:cs typeface="Courier New" pitchFamily="49" charset="0"/>
              </a:rPr>
              <a:t>5.  Quantification (   )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400" dirty="0">
                <a:latin typeface="Courier New" pitchFamily="49" charset="0"/>
                <a:cs typeface="Courier New" pitchFamily="49" charset="0"/>
              </a:rPr>
              <a:t>    - photos (   )                       ..,..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400" dirty="0">
                <a:latin typeface="Courier New" pitchFamily="49" charset="0"/>
                <a:cs typeface="Courier New" pitchFamily="49" charset="0"/>
              </a:rPr>
              <a:t>    - HHM (   )                          .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400" dirty="0">
                <a:latin typeface="Courier New" pitchFamily="49" charset="0"/>
                <a:cs typeface="Courier New" pitchFamily="49" charset="0"/>
              </a:rPr>
              <a:t>    - STDU and comment (   )             U.1     0000 ....................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400" dirty="0">
                <a:latin typeface="Courier New" pitchFamily="49" charset="0"/>
                <a:cs typeface="Courier New" pitchFamily="49" charset="0"/>
              </a:rPr>
              <a:t>    - STDU and comment (   )             U.2     0000 ....................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400" dirty="0">
                <a:latin typeface="Courier New" pitchFamily="49" charset="0"/>
                <a:cs typeface="Courier New" pitchFamily="49" charset="0"/>
              </a:rPr>
              <a:t>    - STDU and comment (   )             U.3     .... ....................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400" dirty="0">
                <a:latin typeface="Courier New" pitchFamily="49" charset="0"/>
                <a:cs typeface="Courier New" pitchFamily="49" charset="0"/>
              </a:rPr>
              <a:t>    - Shape                              A 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400" dirty="0">
                <a:latin typeface="Courier New" pitchFamily="49" charset="0"/>
                <a:cs typeface="Courier New" pitchFamily="49" charset="0"/>
              </a:rPr>
              <a:t>6.  Maxima (   )                         0000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400" dirty="0">
                <a:latin typeface="Courier New" pitchFamily="49" charset="0"/>
                <a:cs typeface="Courier New" pitchFamily="49" charset="0"/>
              </a:rPr>
              <a:t>7.  </a:t>
            </a:r>
            <a:r>
              <a:rPr lang="en-GB" altLang="en-US" sz="1400" dirty="0" err="1">
                <a:latin typeface="Courier New" pitchFamily="49" charset="0"/>
                <a:cs typeface="Courier New" pitchFamily="49" charset="0"/>
              </a:rPr>
              <a:t>Probings</a:t>
            </a:r>
            <a:r>
              <a:rPr lang="en-GB" altLang="en-US" sz="1400" dirty="0">
                <a:latin typeface="Courier New" pitchFamily="49" charset="0"/>
                <a:cs typeface="Courier New" pitchFamily="49" charset="0"/>
              </a:rPr>
              <a:t> (   )                       ..,..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400" dirty="0">
                <a:latin typeface="Courier New" pitchFamily="49" charset="0"/>
                <a:cs typeface="Courier New" pitchFamily="49" charset="0"/>
              </a:rPr>
              <a:t>8.  PCTFSS (   )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400" dirty="0">
                <a:latin typeface="Courier New" pitchFamily="49" charset="0"/>
                <a:cs typeface="Courier New" pitchFamily="49" charset="0"/>
              </a:rPr>
              <a:t>    - %Fat (   )                         0.__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400" dirty="0">
                <a:latin typeface="Courier New" pitchFamily="49" charset="0"/>
                <a:cs typeface="Courier New" pitchFamily="49" charset="0"/>
              </a:rPr>
              <a:t>    - %Sauce (   )                       0.__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400" dirty="0">
                <a:latin typeface="Courier New" pitchFamily="49" charset="0"/>
                <a:cs typeface="Courier New" pitchFamily="49" charset="0"/>
              </a:rPr>
              <a:t>    - %Sweetener (   )                   0.__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400" dirty="0">
                <a:latin typeface="Courier New" pitchFamily="49" charset="0"/>
                <a:cs typeface="Courier New" pitchFamily="49" charset="0"/>
              </a:rPr>
              <a:t>9.  Density                              . 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400" dirty="0">
                <a:latin typeface="Courier New" pitchFamily="49" charset="0"/>
                <a:cs typeface="Courier New" pitchFamily="49" charset="0"/>
              </a:rPr>
              <a:t>10. Facet                                .. .. .. .. .. .. .. ..</a:t>
            </a: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251400" y="4818095"/>
            <a:ext cx="446426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800" dirty="0">
                <a:solidFill>
                  <a:srgbClr val="2780B7"/>
                </a:solidFill>
                <a:latin typeface="Arial" charset="0"/>
              </a:rPr>
              <a:t>Specify the facets you wish to keep from the RCPFADEBYGROUP file</a:t>
            </a:r>
          </a:p>
        </p:txBody>
      </p:sp>
      <p:sp>
        <p:nvSpPr>
          <p:cNvPr id="9" name="Rectangle 8"/>
          <p:cNvSpPr/>
          <p:nvPr/>
        </p:nvSpPr>
        <p:spPr>
          <a:xfrm>
            <a:off x="611449" y="5661310"/>
            <a:ext cx="813726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altLang="en-US" dirty="0">
                <a:solidFill>
                  <a:srgbClr val="FF0000"/>
                </a:solidFill>
              </a:rPr>
              <a:t>If several languages are used, add lines to provide the </a:t>
            </a:r>
            <a:r>
              <a:rPr lang="en-GB" altLang="en-US" dirty="0" smtClean="0">
                <a:solidFill>
                  <a:srgbClr val="FF0000"/>
                </a:solidFill>
              </a:rPr>
              <a:t>name, synonyms and comments of standard units in </a:t>
            </a:r>
            <a:r>
              <a:rPr lang="en-GB" altLang="en-US" dirty="0">
                <a:solidFill>
                  <a:srgbClr val="FF0000"/>
                </a:solidFill>
              </a:rPr>
              <a:t>all languages.</a:t>
            </a:r>
            <a:endParaRPr lang="en-GB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4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8" grpId="0"/>
      <p:bldP spid="8" grpId="0"/>
      <p:bldP spid="11" grpId="0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nl-BE" smtClean="0"/>
              <a:t>IARC, Lyon - France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BE" smtClean="0"/>
              <a:t>EPIC-Soft training: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D398CA-EEA0-4BE7-913B-5AA4ECA9A0BC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23850" y="260350"/>
            <a:ext cx="8496300" cy="61864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GB" b="1" dirty="0"/>
              <a:t>DIETARY SUPPLEMENTS:</a:t>
            </a:r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GB" dirty="0" smtClean="0"/>
              <a:t>To update </a:t>
            </a:r>
            <a:r>
              <a:rPr lang="en-GB" dirty="0"/>
              <a:t>the common files: </a:t>
            </a:r>
          </a:p>
          <a:p>
            <a:pPr>
              <a:defRPr/>
            </a:pPr>
            <a:r>
              <a:rPr lang="en-GB" dirty="0"/>
              <a:t>add a column with comments and highlight the changes in the corresponding Excel file: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GB" dirty="0"/>
          </a:p>
          <a:p>
            <a:pPr marL="742950" lvl="1" indent="-285750">
              <a:buFont typeface="Wingdings" panose="05000000000000000000" pitchFamily="2" charset="2"/>
              <a:buChar char="q"/>
              <a:defRPr/>
            </a:pPr>
            <a:r>
              <a:rPr lang="en-GB" dirty="0">
                <a:solidFill>
                  <a:srgbClr val="2780B7"/>
                </a:solidFill>
              </a:rPr>
              <a:t>DS_CLASSIF.xls, classification (optional)</a:t>
            </a:r>
          </a:p>
          <a:p>
            <a:pPr marL="742950" lvl="1" indent="-285750">
              <a:buFont typeface="Wingdings" panose="05000000000000000000" pitchFamily="2" charset="2"/>
              <a:buChar char="q"/>
              <a:defRPr/>
            </a:pPr>
            <a:r>
              <a:rPr lang="en-GB" dirty="0">
                <a:solidFill>
                  <a:srgbClr val="2780B7"/>
                </a:solidFill>
              </a:rPr>
              <a:t>DS_FACET.xls, list of facets</a:t>
            </a:r>
          </a:p>
          <a:p>
            <a:pPr marL="742950" lvl="1" indent="-285750">
              <a:buFont typeface="Wingdings" panose="05000000000000000000" pitchFamily="2" charset="2"/>
              <a:buChar char="q"/>
              <a:defRPr/>
            </a:pPr>
            <a:r>
              <a:rPr lang="en-GB" dirty="0">
                <a:solidFill>
                  <a:srgbClr val="2780B7"/>
                </a:solidFill>
              </a:rPr>
              <a:t>DS_DESCFACE.xls, list of descriptors per facets</a:t>
            </a:r>
          </a:p>
          <a:p>
            <a:pPr marL="285750" indent="-285750">
              <a:buFontTx/>
              <a:buChar char="-"/>
              <a:defRPr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GB" dirty="0" smtClean="0"/>
              <a:t>To update </a:t>
            </a:r>
            <a:r>
              <a:rPr lang="en-GB" dirty="0"/>
              <a:t>the list of supplements (</a:t>
            </a:r>
            <a:r>
              <a:rPr lang="en-GB" b="1" dirty="0" err="1"/>
              <a:t>VITAMINS.end</a:t>
            </a:r>
            <a:r>
              <a:rPr lang="en-GB" dirty="0"/>
              <a:t>):</a:t>
            </a:r>
          </a:p>
          <a:p>
            <a:pPr>
              <a:defRPr/>
            </a:pPr>
            <a:r>
              <a:rPr lang="en-GB" dirty="0"/>
              <a:t>flag</a:t>
            </a:r>
          </a:p>
          <a:p>
            <a:pPr marL="742950" lvl="1" indent="-285750">
              <a:buFont typeface="Wingdings" panose="05000000000000000000" pitchFamily="2" charset="2"/>
              <a:buChar char="q"/>
              <a:defRPr/>
            </a:pPr>
            <a:r>
              <a:rPr lang="en-GB" dirty="0">
                <a:solidFill>
                  <a:srgbClr val="2780B7"/>
                </a:solidFill>
              </a:rPr>
              <a:t>Additions with “&amp;”, </a:t>
            </a:r>
          </a:p>
          <a:p>
            <a:pPr marL="742950" lvl="1" indent="-285750">
              <a:buFont typeface="Wingdings" panose="05000000000000000000" pitchFamily="2" charset="2"/>
              <a:buChar char="q"/>
              <a:defRPr/>
            </a:pPr>
            <a:r>
              <a:rPr lang="en-GB" dirty="0" err="1">
                <a:solidFill>
                  <a:srgbClr val="2780B7"/>
                </a:solidFill>
              </a:rPr>
              <a:t>Renamings</a:t>
            </a:r>
            <a:r>
              <a:rPr lang="en-GB" dirty="0">
                <a:solidFill>
                  <a:srgbClr val="2780B7"/>
                </a:solidFill>
              </a:rPr>
              <a:t> with “$”,</a:t>
            </a:r>
          </a:p>
          <a:p>
            <a:pPr marL="742950" lvl="1" indent="-285750">
              <a:buFont typeface="Wingdings" panose="05000000000000000000" pitchFamily="2" charset="2"/>
              <a:buChar char="q"/>
              <a:defRPr/>
            </a:pPr>
            <a:r>
              <a:rPr lang="en-GB" dirty="0">
                <a:solidFill>
                  <a:srgbClr val="2780B7"/>
                </a:solidFill>
              </a:rPr>
              <a:t>To be deleted with “#”. </a:t>
            </a:r>
          </a:p>
          <a:p>
            <a:pPr lvl="2">
              <a:defRPr/>
            </a:pPr>
            <a:endParaRPr lang="en-GB" dirty="0"/>
          </a:p>
          <a:p>
            <a:pPr>
              <a:defRPr/>
            </a:pPr>
            <a:endParaRPr lang="en-GB" dirty="0"/>
          </a:p>
        </p:txBody>
      </p:sp>
      <p:sp>
        <p:nvSpPr>
          <p:cNvPr id="26630" name="Text Box 67"/>
          <p:cNvSpPr txBox="1">
            <a:spLocks noChangeArrowheads="1"/>
          </p:cNvSpPr>
          <p:nvPr/>
        </p:nvSpPr>
        <p:spPr bwMode="auto">
          <a:xfrm>
            <a:off x="611188" y="1039813"/>
            <a:ext cx="2232025" cy="284162"/>
          </a:xfrm>
          <a:prstGeom prst="rect">
            <a:avLst/>
          </a:prstGeom>
          <a:noFill/>
          <a:ln w="9525">
            <a:solidFill>
              <a:srgbClr val="0000FF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 i="1">
                <a:solidFill>
                  <a:srgbClr val="0000FF"/>
                </a:solidFill>
                <a:latin typeface="Arial" charset="0"/>
              </a:rPr>
              <a:t>Supplement Classification </a:t>
            </a:r>
          </a:p>
        </p:txBody>
      </p:sp>
      <p:sp>
        <p:nvSpPr>
          <p:cNvPr id="26631" name="Text Box 68"/>
          <p:cNvSpPr txBox="1">
            <a:spLocks noChangeArrowheads="1"/>
          </p:cNvSpPr>
          <p:nvPr/>
        </p:nvSpPr>
        <p:spPr bwMode="auto">
          <a:xfrm>
            <a:off x="6370638" y="712788"/>
            <a:ext cx="2020887" cy="284162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 i="1">
                <a:solidFill>
                  <a:srgbClr val="0000FF"/>
                </a:solidFill>
                <a:latin typeface="Arial" charset="0"/>
              </a:rPr>
              <a:t>Facets &amp; Descriptors </a:t>
            </a:r>
          </a:p>
        </p:txBody>
      </p:sp>
      <p:sp>
        <p:nvSpPr>
          <p:cNvPr id="26632" name="Rectangle 69"/>
          <p:cNvSpPr>
            <a:spLocks noChangeArrowheads="1"/>
          </p:cNvSpPr>
          <p:nvPr/>
        </p:nvSpPr>
        <p:spPr bwMode="auto">
          <a:xfrm>
            <a:off x="3635375" y="1039813"/>
            <a:ext cx="1727200" cy="346075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600" b="1">
                <a:solidFill>
                  <a:srgbClr val="006600"/>
                </a:solidFill>
                <a:latin typeface="Arial" charset="0"/>
              </a:rPr>
              <a:t>Supplements</a:t>
            </a:r>
          </a:p>
        </p:txBody>
      </p:sp>
      <p:sp>
        <p:nvSpPr>
          <p:cNvPr id="26633" name="Line 70"/>
          <p:cNvSpPr>
            <a:spLocks noChangeShapeType="1"/>
          </p:cNvSpPr>
          <p:nvPr/>
        </p:nvSpPr>
        <p:spPr bwMode="auto">
          <a:xfrm flipV="1">
            <a:off x="2843213" y="1179513"/>
            <a:ext cx="792162" cy="0"/>
          </a:xfrm>
          <a:prstGeom prst="line">
            <a:avLst/>
          </a:prstGeom>
          <a:noFill/>
          <a:ln w="28575">
            <a:solidFill>
              <a:srgbClr val="0000FF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6634" name="Line 71"/>
          <p:cNvSpPr>
            <a:spLocks noChangeShapeType="1"/>
          </p:cNvSpPr>
          <p:nvPr/>
        </p:nvSpPr>
        <p:spPr bwMode="auto">
          <a:xfrm>
            <a:off x="7380288" y="1027113"/>
            <a:ext cx="0" cy="287337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6635" name="Rectangle 85"/>
          <p:cNvSpPr>
            <a:spLocks noChangeArrowheads="1"/>
          </p:cNvSpPr>
          <p:nvPr/>
        </p:nvSpPr>
        <p:spPr bwMode="auto">
          <a:xfrm>
            <a:off x="6370638" y="1344613"/>
            <a:ext cx="2089150" cy="284162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6600"/>
                </a:solidFill>
                <a:latin typeface="Arial" charset="0"/>
              </a:rPr>
              <a:t>Facets by Supplements</a:t>
            </a:r>
          </a:p>
        </p:txBody>
      </p:sp>
      <p:sp>
        <p:nvSpPr>
          <p:cNvPr id="26636" name="Line 86"/>
          <p:cNvSpPr>
            <a:spLocks noChangeShapeType="1"/>
          </p:cNvSpPr>
          <p:nvPr/>
        </p:nvSpPr>
        <p:spPr bwMode="auto">
          <a:xfrm>
            <a:off x="5364163" y="1243013"/>
            <a:ext cx="1008062" cy="215900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dianumm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E6A54AC-1595-4347-A87C-AD8EBF661217}" type="slidenum">
              <a:rPr lang="en-US" smtClean="0"/>
              <a:pPr>
                <a:defRPr/>
              </a:pPr>
              <a:t>16</a:t>
            </a:fld>
            <a:endParaRPr lang="en-US" sz="1800" dirty="0"/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pic>
        <p:nvPicPr>
          <p:cNvPr id="15" name="Afbeelding 14" descr="124741-matte-white-square-icon-business-home7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accent5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321338" y="642918"/>
            <a:ext cx="536150" cy="5361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7" name="Rectangle 2"/>
          <p:cNvSpPr txBox="1">
            <a:spLocks noChangeArrowheads="1"/>
          </p:cNvSpPr>
          <p:nvPr/>
        </p:nvSpPr>
        <p:spPr>
          <a:xfrm>
            <a:off x="381000" y="1071546"/>
            <a:ext cx="2362200" cy="704848"/>
          </a:xfrm>
          <a:prstGeom prst="rect">
            <a:avLst/>
          </a:prstGeom>
        </p:spPr>
        <p:txBody>
          <a:bodyPr anchor="b"/>
          <a:lstStyle/>
          <a:p>
            <a:pPr fontAlgn="auto">
              <a:spcAft>
                <a:spcPts val="0"/>
              </a:spcAft>
              <a:defRPr/>
            </a:pPr>
            <a:r>
              <a:rPr lang="en-US" sz="2200" b="1" dirty="0">
                <a:solidFill>
                  <a:srgbClr val="FFFFFF"/>
                </a:soli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rPr>
              <a:t>Outline</a:t>
            </a:r>
          </a:p>
        </p:txBody>
      </p:sp>
      <p:sp>
        <p:nvSpPr>
          <p:cNvPr id="16" name="Tijdelijke aanduiding voor tekst 11"/>
          <p:cNvSpPr txBox="1">
            <a:spLocks/>
          </p:cNvSpPr>
          <p:nvPr/>
        </p:nvSpPr>
        <p:spPr bwMode="auto">
          <a:xfrm>
            <a:off x="409550" y="1857364"/>
            <a:ext cx="2362200" cy="414496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0" indent="0" algn="l" rtl="0" eaLnBrk="0" fontAlgn="base" hangingPunct="0">
              <a:spcBef>
                <a:spcPct val="20000"/>
              </a:spcBef>
              <a:spcAft>
                <a:spcPts val="1000"/>
              </a:spcAft>
              <a:buSzPct val="85000"/>
              <a:buFont typeface="Wingdings 2" pitchFamily="18" charset="2"/>
              <a:buNone/>
              <a:defRPr sz="16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768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None/>
              <a:defRPr sz="1200" kern="1200">
                <a:solidFill>
                  <a:srgbClr val="2780B7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 2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None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eaLnBrk="1" fontAlgn="auto" hangingPunct="1">
              <a:spcAft>
                <a:spcPts val="300"/>
              </a:spcAft>
              <a:buClr>
                <a:schemeClr val="bg1"/>
              </a:buClr>
              <a:buFont typeface="+mj-lt"/>
              <a:buAutoNum type="arabicPeriod"/>
              <a:defRPr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Introduction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Preparation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steps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How to update </a:t>
            </a:r>
            <a:r>
              <a:rPr lang="en-US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GloboDiet</a:t>
            </a: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databases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How to fill a FUF/RUF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Conclusion</a:t>
            </a:r>
          </a:p>
          <a:p>
            <a:pPr eaLnBrk="1" fontAlgn="auto" hangingPunct="1">
              <a:spcAft>
                <a:spcPts val="300"/>
              </a:spcAft>
              <a:defRPr/>
            </a:pPr>
            <a:endParaRPr lang="en-US" b="1" dirty="0"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  <a:p>
            <a:pPr eaLnBrk="1" fontAlgn="auto" hangingPunct="1">
              <a:spcAft>
                <a:spcPts val="300"/>
              </a:spcAft>
              <a:buFont typeface="Wingdings 2"/>
              <a:buNone/>
              <a:defRPr/>
            </a:pPr>
            <a:endParaRPr lang="nl-BE" dirty="0"/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>
          <a:xfrm>
            <a:off x="2987675" y="765175"/>
            <a:ext cx="5905500" cy="3746500"/>
          </a:xfrm>
        </p:spPr>
        <p:txBody>
          <a:bodyPr/>
          <a:lstStyle/>
          <a:p>
            <a:pPr>
              <a:buFontTx/>
              <a:buChar char="-"/>
              <a:defRPr/>
            </a:pPr>
            <a:r>
              <a:rPr lang="en-GB" sz="1800" dirty="0" smtClean="0">
                <a:latin typeface="Arial" pitchFamily="34" charset="0"/>
                <a:cs typeface="Arial" pitchFamily="34" charset="0"/>
              </a:rPr>
              <a:t>Updates are needed to enable the data cleaning</a:t>
            </a:r>
          </a:p>
          <a:p>
            <a:pPr>
              <a:buFontTx/>
              <a:buChar char="-"/>
              <a:defRPr/>
            </a:pPr>
            <a:r>
              <a:rPr lang="en-GB" sz="1800" dirty="0" smtClean="0">
                <a:latin typeface="Arial" pitchFamily="34" charset="0"/>
                <a:cs typeface="Arial" pitchFamily="34" charset="0"/>
              </a:rPr>
              <a:t>Be aware of the impacts of an update on collected /to be collected data</a:t>
            </a:r>
          </a:p>
          <a:p>
            <a:pPr>
              <a:buFontTx/>
              <a:buChar char="-"/>
              <a:defRPr/>
            </a:pPr>
            <a:r>
              <a:rPr lang="en-GB" sz="1800" dirty="0" smtClean="0">
                <a:latin typeface="Arial" pitchFamily="34" charset="0"/>
                <a:cs typeface="Arial" pitchFamily="34" charset="0"/>
              </a:rPr>
              <a:t>Preparation of an update follows the same order as any </a:t>
            </a:r>
            <a:r>
              <a:rPr lang="en-GB" sz="1800" dirty="0" err="1" smtClean="0">
                <a:latin typeface="Arial" pitchFamily="34" charset="0"/>
                <a:cs typeface="Arial" pitchFamily="34" charset="0"/>
              </a:rPr>
              <a:t>GloboDiet</a:t>
            </a:r>
            <a:r>
              <a:rPr lang="en-GB" sz="1800" dirty="0" smtClean="0">
                <a:latin typeface="Arial" pitchFamily="34" charset="0"/>
                <a:cs typeface="Arial" pitchFamily="34" charset="0"/>
              </a:rPr>
              <a:t> version</a:t>
            </a:r>
          </a:p>
          <a:p>
            <a:pPr marL="892175" lvl="2" indent="-342900">
              <a:buFont typeface="+mj-lt"/>
              <a:buAutoNum type="arabicPeriod"/>
              <a:defRPr/>
            </a:pPr>
            <a:r>
              <a:rPr lang="en-GB" sz="1600" dirty="0" smtClean="0">
                <a:latin typeface="Arial" pitchFamily="34" charset="0"/>
                <a:cs typeface="Arial" pitchFamily="34" charset="0"/>
              </a:rPr>
              <a:t>Common files</a:t>
            </a:r>
          </a:p>
          <a:p>
            <a:pPr marL="892175" lvl="2" indent="-342900">
              <a:buFont typeface="+mj-lt"/>
              <a:buAutoNum type="arabicPeriod"/>
              <a:defRPr/>
            </a:pPr>
            <a:r>
              <a:rPr lang="en-GB" sz="1600" dirty="0" smtClean="0">
                <a:latin typeface="Arial" pitchFamily="34" charset="0"/>
                <a:cs typeface="Arial" pitchFamily="34" charset="0"/>
              </a:rPr>
              <a:t>Foods</a:t>
            </a:r>
          </a:p>
          <a:p>
            <a:pPr marL="892175" lvl="2" indent="-342900">
              <a:buFont typeface="+mj-lt"/>
              <a:buAutoNum type="arabicPeriod"/>
              <a:defRPr/>
            </a:pPr>
            <a:r>
              <a:rPr lang="en-GB" sz="1600" dirty="0" smtClean="0">
                <a:latin typeface="Arial" pitchFamily="34" charset="0"/>
                <a:cs typeface="Arial" pitchFamily="34" charset="0"/>
              </a:rPr>
              <a:t>Recipes </a:t>
            </a:r>
          </a:p>
          <a:p>
            <a:pPr marL="892175" lvl="2" indent="-342900">
              <a:buFont typeface="+mj-lt"/>
              <a:buAutoNum type="arabicPeriod"/>
              <a:defRPr/>
            </a:pPr>
            <a:r>
              <a:rPr lang="en-GB" sz="1600" dirty="0" smtClean="0">
                <a:latin typeface="Arial" pitchFamily="34" charset="0"/>
                <a:cs typeface="Arial" pitchFamily="34" charset="0"/>
              </a:rPr>
              <a:t>Dietary supplements (in parallel)</a:t>
            </a:r>
          </a:p>
          <a:p>
            <a:pPr>
              <a:buFontTx/>
              <a:buChar char="-"/>
              <a:defRPr/>
            </a:pPr>
            <a:r>
              <a:rPr lang="en-GB" sz="1800" dirty="0" smtClean="0">
                <a:latin typeface="Arial" pitchFamily="34" charset="0"/>
                <a:cs typeface="Arial" pitchFamily="34" charset="0"/>
              </a:rPr>
              <a:t>Do not change the format of the FUF/RUF (automatic process)</a:t>
            </a:r>
            <a:endParaRPr lang="en-GB" sz="1800" dirty="0">
              <a:latin typeface="Arial" pitchFamily="34" charset="0"/>
              <a:cs typeface="Arial" pitchFamily="34" charset="0"/>
            </a:endParaRPr>
          </a:p>
          <a:p>
            <a:pPr marL="0" indent="0">
              <a:buFont typeface="Wingdings 2" pitchFamily="18" charset="2"/>
              <a:buNone/>
              <a:defRPr/>
            </a:pPr>
            <a:endParaRPr lang="en-GB" sz="1800" dirty="0" smtClean="0">
              <a:latin typeface="Arial" pitchFamily="34" charset="0"/>
              <a:cs typeface="Arial" pitchFamily="34" charset="0"/>
            </a:endParaRPr>
          </a:p>
          <a:p>
            <a:pPr marL="0" indent="0" algn="ctr">
              <a:buFont typeface="Wingdings 2" pitchFamily="18" charset="2"/>
              <a:buNone/>
              <a:defRPr/>
            </a:pPr>
            <a:endParaRPr lang="en-GB" sz="1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304800" y="6381750"/>
            <a:ext cx="3906838" cy="350838"/>
          </a:xfrm>
        </p:spPr>
        <p:txBody>
          <a:bodyPr lIns="45720" rIns="45720" anchor="ctr">
            <a:noAutofit/>
          </a:bodyPr>
          <a:lstStyle/>
          <a:p>
            <a:pPr>
              <a:defRPr/>
            </a:pPr>
            <a:r>
              <a:rPr lang="en-GB" dirty="0"/>
              <a:t>Maintenance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el">
  <a:themeElements>
    <a:clrScheme name="EPIC-IARC">
      <a:dk1>
        <a:sysClr val="windowText" lastClr="000000"/>
      </a:dk1>
      <a:lt1>
        <a:sysClr val="window" lastClr="FFFFFF"/>
      </a:lt1>
      <a:dk2>
        <a:srgbClr val="646B86"/>
      </a:dk2>
      <a:lt2>
        <a:srgbClr val="F0F4F0"/>
      </a:lt2>
      <a:accent1>
        <a:srgbClr val="4BA2D9"/>
      </a:accent1>
      <a:accent2>
        <a:srgbClr val="CCB400"/>
      </a:accent2>
      <a:accent3>
        <a:srgbClr val="99CC33"/>
      </a:accent3>
      <a:accent4>
        <a:srgbClr val="8C7B70"/>
      </a:accent4>
      <a:accent5>
        <a:srgbClr val="8FB08C"/>
      </a:accent5>
      <a:accent6>
        <a:srgbClr val="D19049"/>
      </a:accent6>
      <a:hlink>
        <a:srgbClr val="4BA2D9"/>
      </a:hlink>
      <a:folHlink>
        <a:srgbClr val="4BA2D9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Civiel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>
    <a:lnDef>
      <a:spPr>
        <a:ln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43117C618FBFB40856EC52F4C60CBC5" ma:contentTypeVersion="18" ma:contentTypeDescription="Create a new document." ma:contentTypeScope="" ma:versionID="49df8a4e50af2e0b35fb1d2cbeaf40b9">
  <xsd:schema xmlns:xsd="http://www.w3.org/2001/XMLSchema" xmlns:xs="http://www.w3.org/2001/XMLSchema" xmlns:p="http://schemas.microsoft.com/office/2006/metadata/properties" xmlns:ns2="8340c1bc-d1cd-4b41-91bb-2c2f20a57517" xmlns:ns3="1891344d-db52-4f9c-9457-ef23ea7639fb" targetNamespace="http://schemas.microsoft.com/office/2006/metadata/properties" ma:root="true" ma:fieldsID="ba476b508b474beda7edf354cc99a575" ns2:_="" ns3:_="">
    <xsd:import namespace="8340c1bc-d1cd-4b41-91bb-2c2f20a57517"/>
    <xsd:import namespace="1891344d-db52-4f9c-9457-ef23ea7639f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40c1bc-d1cd-4b41-91bb-2c2f20a5751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aa4eac88-8ae6-4a96-90c7-97bc93c844e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Location" ma:index="23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91344d-db52-4f9c-9457-ef23ea7639f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25c54d7-cef0-400e-a044-5cf48fe0a388}" ma:internalName="TaxCatchAll" ma:showField="CatchAllData" ma:web="1891344d-db52-4f9c-9457-ef23ea7639f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340c1bc-d1cd-4b41-91bb-2c2f20a57517">
      <Terms xmlns="http://schemas.microsoft.com/office/infopath/2007/PartnerControls"/>
    </lcf76f155ced4ddcb4097134ff3c332f>
    <TaxCatchAll xmlns="1891344d-db52-4f9c-9457-ef23ea7639fb" xsi:nil="true"/>
  </documentManagement>
</p:properties>
</file>

<file path=customXml/itemProps1.xml><?xml version="1.0" encoding="utf-8"?>
<ds:datastoreItem xmlns:ds="http://schemas.openxmlformats.org/officeDocument/2006/customXml" ds:itemID="{C90D8306-729D-40B0-8327-8F9A1AF9EC66}"/>
</file>

<file path=customXml/itemProps2.xml><?xml version="1.0" encoding="utf-8"?>
<ds:datastoreItem xmlns:ds="http://schemas.openxmlformats.org/officeDocument/2006/customXml" ds:itemID="{919644B2-9B8A-4DED-9F9A-29FA7FBE61B0}"/>
</file>

<file path=customXml/itemProps3.xml><?xml version="1.0" encoding="utf-8"?>
<ds:datastoreItem xmlns:ds="http://schemas.openxmlformats.org/officeDocument/2006/customXml" ds:itemID="{7B8AF2FC-99F0-4884-A82D-911C0E650976}"/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6154</TotalTime>
  <Words>1747</Words>
  <Application>Microsoft Office PowerPoint</Application>
  <PresentationFormat>On-screen Show (4:3)</PresentationFormat>
  <Paragraphs>383</Paragraphs>
  <Slides>16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Wingdings 2</vt:lpstr>
      <vt:lpstr>Wingdings</vt:lpstr>
      <vt:lpstr>Courier New</vt:lpstr>
      <vt:lpstr>Civiel</vt:lpstr>
      <vt:lpstr>GloboDiet databases maintenance after data collection</vt:lpstr>
      <vt:lpstr>Outline</vt:lpstr>
      <vt:lpstr>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WHO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Step by step interview</dc:title>
  <dc:creator>IARC</dc:creator>
  <cp:lastModifiedBy>Genevieve Nicolas</cp:lastModifiedBy>
  <cp:revision>672</cp:revision>
  <cp:lastPrinted>2013-02-04T09:20:11Z</cp:lastPrinted>
  <dcterms:created xsi:type="dcterms:W3CDTF">2011-05-26T07:56:24Z</dcterms:created>
  <dcterms:modified xsi:type="dcterms:W3CDTF">2014-11-20T13:07:48Z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0x010100E43117C618FBFB40856EC52F4C60CBC5</vt:lpwstr>
  </property>
</Properties>
</file>