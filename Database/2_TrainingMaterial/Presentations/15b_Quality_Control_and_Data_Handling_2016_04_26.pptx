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4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25.xml" ContentType="application/vnd.openxmlformats-officedocument.presentationml.slide+xml"/>
  <Override PartName="/ppt/slides/slide39.xml" ContentType="application/vnd.openxmlformats-officedocument.presentationml.slide+xml"/>
  <Override PartName="/ppt/slides/slide43.xml" ContentType="application/vnd.openxmlformats-officedocument.presentationml.slide+xml"/>
  <Override PartName="/ppt/slides/slide49.xml" ContentType="application/vnd.openxmlformats-officedocument.presentationml.slide+xml"/>
  <Override PartName="/ppt/slides/slide48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0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51"/>
  </p:notesMasterIdLst>
  <p:handoutMasterIdLst>
    <p:handoutMasterId r:id="rId52"/>
  </p:handoutMasterIdLst>
  <p:sldIdLst>
    <p:sldId id="256" r:id="rId2"/>
    <p:sldId id="347" r:id="rId3"/>
    <p:sldId id="279" r:id="rId4"/>
    <p:sldId id="361" r:id="rId5"/>
    <p:sldId id="362" r:id="rId6"/>
    <p:sldId id="363" r:id="rId7"/>
    <p:sldId id="360" r:id="rId8"/>
    <p:sldId id="366" r:id="rId9"/>
    <p:sldId id="367" r:id="rId10"/>
    <p:sldId id="368" r:id="rId11"/>
    <p:sldId id="369" r:id="rId12"/>
    <p:sldId id="370" r:id="rId13"/>
    <p:sldId id="371" r:id="rId14"/>
    <p:sldId id="372" r:id="rId15"/>
    <p:sldId id="389" r:id="rId16"/>
    <p:sldId id="400" r:id="rId17"/>
    <p:sldId id="399" r:id="rId18"/>
    <p:sldId id="375" r:id="rId19"/>
    <p:sldId id="392" r:id="rId20"/>
    <p:sldId id="393" r:id="rId21"/>
    <p:sldId id="432" r:id="rId22"/>
    <p:sldId id="436" r:id="rId23"/>
    <p:sldId id="378" r:id="rId24"/>
    <p:sldId id="394" r:id="rId25"/>
    <p:sldId id="430" r:id="rId26"/>
    <p:sldId id="380" r:id="rId27"/>
    <p:sldId id="383" r:id="rId28"/>
    <p:sldId id="396" r:id="rId29"/>
    <p:sldId id="397" r:id="rId30"/>
    <p:sldId id="385" r:id="rId31"/>
    <p:sldId id="387" r:id="rId32"/>
    <p:sldId id="435" r:id="rId33"/>
    <p:sldId id="425" r:id="rId34"/>
    <p:sldId id="401" r:id="rId35"/>
    <p:sldId id="404" r:id="rId36"/>
    <p:sldId id="405" r:id="rId37"/>
    <p:sldId id="406" r:id="rId38"/>
    <p:sldId id="407" r:id="rId39"/>
    <p:sldId id="410" r:id="rId40"/>
    <p:sldId id="411" r:id="rId41"/>
    <p:sldId id="412" r:id="rId42"/>
    <p:sldId id="413" r:id="rId43"/>
    <p:sldId id="414" r:id="rId44"/>
    <p:sldId id="408" r:id="rId45"/>
    <p:sldId id="409" r:id="rId46"/>
    <p:sldId id="431" r:id="rId47"/>
    <p:sldId id="416" r:id="rId48"/>
    <p:sldId id="420" r:id="rId49"/>
    <p:sldId id="424" r:id="rId50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B86"/>
    <a:srgbClr val="F0F4F0"/>
    <a:srgbClr val="F8FAF8"/>
    <a:srgbClr val="EEF2F2"/>
    <a:srgbClr val="C9D4D5"/>
    <a:srgbClr val="0000CC"/>
    <a:srgbClr val="99CC00"/>
    <a:srgbClr val="3799D5"/>
    <a:srgbClr val="0000FF"/>
    <a:srgbClr val="278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25" autoAdjust="0"/>
    <p:restoredTop sz="99097" autoAdjust="0"/>
  </p:normalViewPr>
  <p:slideViewPr>
    <p:cSldViewPr>
      <p:cViewPr>
        <p:scale>
          <a:sx n="100" d="100"/>
          <a:sy n="100" d="100"/>
        </p:scale>
        <p:origin x="-2070" y="-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1194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3127"/>
        <p:guide pos="2141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openxmlformats.org/officeDocument/2006/relationships/customXml" Target="../customXml/item2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836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6767F4E3-7761-41C2-9759-8E259B84379F}" type="datetimeFigureOut">
              <a:rPr lang="en-GB"/>
              <a:pPr>
                <a:defRPr/>
              </a:pPr>
              <a:t>27/04/2016</a:t>
            </a:fld>
            <a:endParaRPr lang="en-GB"/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009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836" y="9428009"/>
            <a:ext cx="2945659" cy="49633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5CD53833-FE02-4863-9D14-9EE671CECC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6881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FD29223-B8ED-4BB1-A639-89148117F09F}" type="datetimeFigureOut">
              <a:rPr lang="nl-BE"/>
              <a:pPr>
                <a:defRPr/>
              </a:pPr>
              <a:t>27/04/2016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BE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BE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009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836" y="9428009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160F52B5-D1AF-4485-A5BF-ED9F7B99B942}" type="slidenum">
              <a:rPr lang="nl-BE"/>
              <a:pPr>
                <a:defRPr/>
              </a:pPr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185865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nl-BE" altLang="en-US" smtClean="0"/>
              <a:t>&amp;&amp;M: Advice: Pagenumber on the same spot every slide.</a:t>
            </a:r>
          </a:p>
          <a:p>
            <a:endParaRPr lang="nl-BE" altLang="en-US" smtClean="0"/>
          </a:p>
          <a:p>
            <a:endParaRPr lang="nl-BE" altLang="en-US" smtClean="0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4F0681E-E5B1-4CBD-B100-442F8BF91B1C}" type="slidenum">
              <a:rPr lang="nl-BE" smtClean="0"/>
              <a:pPr eaLnBrk="1" hangingPunct="1">
                <a:defRPr/>
              </a:pPr>
              <a:t>1</a:t>
            </a:fld>
            <a:endParaRPr lang="nl-B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C7A9C85-2B8D-4FA8-849B-C6B9CA3F882A}" type="slidenum">
              <a:rPr lang="en-US" smtClean="0"/>
              <a:pPr eaLnBrk="1" hangingPunct="1">
                <a:defRPr/>
              </a:pPr>
              <a:t>2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3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7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BE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14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15</a:t>
            </a:fld>
            <a:endParaRPr lang="nl-B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17</a:t>
            </a:fld>
            <a:endParaRPr lang="nl-B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18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19</a:t>
            </a:fld>
            <a:endParaRPr lang="nl-B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20</a:t>
            </a:fld>
            <a:endParaRPr lang="nl-B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nl-BE" altLang="en-US" smtClean="0"/>
              <a:t>&amp;&amp;M: Advice: Pagenumber on the same spot every slide.</a:t>
            </a:r>
          </a:p>
          <a:p>
            <a:endParaRPr lang="nl-BE" altLang="en-US" smtClean="0"/>
          </a:p>
          <a:p>
            <a:endParaRPr lang="nl-BE" altLang="en-US" smtClean="0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4F0681E-E5B1-4CBD-B100-442F8BF91B1C}" type="slidenum">
              <a:rPr lang="nl-BE" smtClean="0"/>
              <a:pPr eaLnBrk="1" hangingPunct="1">
                <a:defRPr/>
              </a:pPr>
              <a:t>21</a:t>
            </a:fld>
            <a:endParaRPr lang="nl-BE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C7A9C85-2B8D-4FA8-849B-C6B9CA3F882A}" type="slidenum">
              <a:rPr lang="en-US" smtClean="0"/>
              <a:pPr eaLnBrk="1" hangingPunct="1">
                <a:defRPr/>
              </a:pPr>
              <a:t>22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23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24</a:t>
            </a:fld>
            <a:endParaRPr lang="nl-B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25</a:t>
            </a:fld>
            <a:endParaRPr lang="nl-B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26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27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28</a:t>
            </a:fld>
            <a:endParaRPr lang="nl-BE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29</a:t>
            </a:fld>
            <a:endParaRPr lang="nl-BE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30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31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32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33</a:t>
            </a:fld>
            <a:endParaRPr lang="nl-BE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34</a:t>
            </a:fld>
            <a:endParaRPr lang="nl-BE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35</a:t>
            </a:fld>
            <a:endParaRPr lang="nl-BE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36</a:t>
            </a:fld>
            <a:endParaRPr lang="nl-BE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37</a:t>
            </a:fld>
            <a:endParaRPr lang="nl-BE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38</a:t>
            </a:fld>
            <a:endParaRPr lang="nl-BE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39</a:t>
            </a:fld>
            <a:endParaRPr lang="nl-BE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40</a:t>
            </a:fld>
            <a:endParaRPr lang="nl-BE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41</a:t>
            </a:fld>
            <a:endParaRPr lang="nl-BE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42</a:t>
            </a:fld>
            <a:endParaRPr lang="nl-BE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43</a:t>
            </a:fld>
            <a:endParaRPr lang="nl-BE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44</a:t>
            </a:fld>
            <a:endParaRPr lang="nl-BE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45</a:t>
            </a:fld>
            <a:endParaRPr lang="nl-BE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46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nl-BE" altLang="en-US" smtClean="0"/>
              <a:t>&amp;&amp;M: Advice: Pagenumber on the same spot every slide.</a:t>
            </a:r>
          </a:p>
          <a:p>
            <a:endParaRPr lang="nl-BE" altLang="en-US" smtClean="0"/>
          </a:p>
          <a:p>
            <a:endParaRPr lang="nl-BE" altLang="en-US" smtClean="0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4F0681E-E5B1-4CBD-B100-442F8BF91B1C}" type="slidenum">
              <a:rPr lang="nl-BE" smtClean="0"/>
              <a:pPr eaLnBrk="1" hangingPunct="1">
                <a:defRPr/>
              </a:pPr>
              <a:t>47</a:t>
            </a:fld>
            <a:endParaRPr lang="nl-BE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0F52B5-D1AF-4485-A5BF-ED9F7B99B942}" type="slidenum">
              <a:rPr lang="nl-BE" smtClean="0"/>
              <a:pPr>
                <a:defRPr/>
              </a:pPr>
              <a:t>48</a:t>
            </a:fld>
            <a:endParaRPr lang="nl-BE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extLst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96C81DD-668A-421C-A695-F7879B9FA1CF}" type="slidenum">
              <a:rPr lang="en-US" smtClean="0"/>
              <a:pPr eaLnBrk="1" hangingPunct="1">
                <a:defRPr/>
              </a:pPr>
              <a:t>49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nl-BE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" name="Rechthoek 25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e verbindingslijn 26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Ovaal 28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29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Ondertitel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 dirty="0" smtClean="0"/>
              <a:t>Klik om het opmaakprofiel van de modelondertitel te bewerken</a:t>
            </a:r>
            <a:endParaRPr lang="en-US" dirty="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15" name="Tijdelijke aanduiding voor datum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6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7" name="Tijdelijke aanduiding voor dianumm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27D7578-B033-4E7C-ACD8-B21D69A3FC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18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>
            <a:lvl2pPr>
              <a:buClr>
                <a:schemeClr val="accent1"/>
              </a:buCl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80B7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nl-BE" dirty="0"/>
          </a:p>
        </p:txBody>
      </p:sp>
      <p:sp>
        <p:nvSpPr>
          <p:cNvPr id="4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eaLnBrk="1" latinLnBrk="0" hangingPunct="1"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dianumm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8EB4BD64-DF49-43F5-9C3C-3B3DB0DC59A2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  <p:sp>
        <p:nvSpPr>
          <p:cNvPr id="6" name="Tijdelijke aanduiding voor voettekst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8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" name="Rechthoek 27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hoek 28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" name="Rechte verbindingslijn 29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Ovaal 30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1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6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7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7B345730-FB66-41C0-91A0-57469FABEB5F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70060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0" name="Tijdelijke aanduiding voor inhoud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2" name="Tijdelijke aanduiding voor inhoud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6" name="Tijdelijke aanduiding voor datum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3BBE8C32-26AA-43D1-80D0-07CC00E027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129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elijk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 verbindingslijn 19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Rechthoek 20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9" name="Rechthoek 2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1" name="Rechthoek 2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2" name="Rechthoek 26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hthoek 27"/>
          <p:cNvSpPr>
            <a:spLocks noChangeArrowheads="1"/>
          </p:cNvSpPr>
          <p:nvPr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" name="Rechte verbindingslijn 28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5" name="Rechthoek 29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6" name="Ovaal 30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al 31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4" name="Tijdelijke aanduiding voor inhoud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en-US"/>
          </a:p>
        </p:txBody>
      </p:sp>
      <p:sp>
        <p:nvSpPr>
          <p:cNvPr id="26" name="Tijdelijke aanduiding voor inhoud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3" name="Titel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8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9" name="Tijdelijke aanduiding voor voettekst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20" name="Tijdelijke aanduiding voor dianumm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z="1600"/>
            </a:lvl1pPr>
          </a:lstStyle>
          <a:p>
            <a:pPr>
              <a:defRPr/>
            </a:pPr>
            <a:fld id="{4694E5FE-1490-47E6-8225-6B0F1F3217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544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FC6A721A-EE34-49CB-A600-F8F7AC3AA6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9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27"/>
          <p:cNvSpPr>
            <a:spLocks noChangeArrowheads="1"/>
          </p:cNvSpPr>
          <p:nvPr userDrawn="1"/>
        </p:nvSpPr>
        <p:spPr bwMode="auto">
          <a:xfrm>
            <a:off x="146050" y="6403975"/>
            <a:ext cx="8855075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4" name="Rechthoek 20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5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6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7" name="Ovaal 31"/>
          <p:cNvSpPr/>
          <p:nvPr userDrawn="1"/>
        </p:nvSpPr>
        <p:spPr>
          <a:xfrm>
            <a:off x="4357688" y="6357938"/>
            <a:ext cx="428625" cy="428625"/>
          </a:xfrm>
          <a:prstGeom prst="ellipse">
            <a:avLst/>
          </a:prstGeom>
          <a:noFill/>
          <a:ln w="50800" cap="rnd" cmpd="dbl" algn="ctr">
            <a:solidFill>
              <a:schemeClr val="bg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hthoek 29"/>
          <p:cNvSpPr>
            <a:spLocks noChangeArrowheads="1"/>
          </p:cNvSpPr>
          <p:nvPr userDrawn="1"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9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0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11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4286250" y="6345238"/>
            <a:ext cx="609600" cy="4413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474828D-9ADD-4FDF-8560-C8029E677F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24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19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" name="Rechthoek 26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hthoek 27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2" name="Rechte verbindingslijn 28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20" name="Tijdelijke aanduiding voor inhoud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>
            <a:lvl2pPr>
              <a:defRPr>
                <a:solidFill>
                  <a:srgbClr val="2780B7"/>
                </a:solidFill>
              </a:defRPr>
            </a:lvl2pPr>
          </a:lstStyle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5CA6087-6E31-4D0B-A0C3-A24C00E073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592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 verbindingslijn 19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hthoek 20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7" name="Rechthoek 2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8" name="Rechthoek 24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9" name="Rechthoek 2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" name="Rechthoek 26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Rechthoek 2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hthoek 2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3" name="Ovaal 2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Ovaal 30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hthoek 31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l-NL" noProof="0" smtClean="0"/>
              <a:t>Klik op het pictogram als u een afbeelding wilt toevoegen</a:t>
            </a:r>
            <a:endParaRPr lang="en-US" noProof="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16" name="Tijdelijke aanduiding voor dianumm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D925ADD9-29B2-4E06-A381-7D509BD65F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Tijdelijke aanduiding voor datum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8" name="Tijdelijke aanduiding voor voettekst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2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53891C08-5C4B-45AF-9A8E-3AC7FAD3E90F}" type="slidenum">
              <a:rPr lang="en-US"/>
              <a:pPr>
                <a:defRPr/>
              </a:pPr>
              <a:t>‹#›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7702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e titel en teks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19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5" name="Rechthoek 20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6" name="Rechthoek 23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7" name="Rechthoek 2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8" name="Rechthoek 2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9" name="Rechthoek 26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" name="Rechte verbindingslijn 27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1" name="Ovaal 28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Ovaal 29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nl-NL" dirty="0" smtClean="0"/>
              <a:t>Klik om de modelstijlen te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en-US" dirty="0"/>
          </a:p>
        </p:txBody>
      </p:sp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en-US"/>
          </a:p>
        </p:txBody>
      </p:sp>
      <p:sp>
        <p:nvSpPr>
          <p:cNvPr id="13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fld id="{40299C47-151E-4739-824B-BE321C807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Tijdelijke aanduiding voor datum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" name="Tijdelijke aanduiding voor voettekst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75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hthoek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27" name="Rechthoek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28" name="Rechthoek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1029" name="Rechthoek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nl-BE" altLang="en-US"/>
          </a:p>
        </p:txBody>
      </p:sp>
      <p:sp>
        <p:nvSpPr>
          <p:cNvPr id="9" name="Rechthoek 8"/>
          <p:cNvSpPr>
            <a:spLocks noChangeArrowheads="1"/>
          </p:cNvSpPr>
          <p:nvPr/>
        </p:nvSpPr>
        <p:spPr bwMode="auto">
          <a:xfrm>
            <a:off x="142875" y="6405563"/>
            <a:ext cx="8858250" cy="30956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rgbClr val="FFFFFF"/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r>
              <a:rPr lang="nl-BE"/>
              <a:t>EPIC-Soft training:</a:t>
            </a:r>
            <a:endParaRPr lang="en-US"/>
          </a:p>
        </p:txBody>
      </p:sp>
      <p:sp>
        <p:nvSpPr>
          <p:cNvPr id="8" name="Rechthoek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cs typeface="+mn-cs"/>
            </a:endParaRPr>
          </a:p>
        </p:txBody>
      </p:sp>
      <p:sp>
        <p:nvSpPr>
          <p:cNvPr id="10" name="Rechte verbindingslijn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2" name="Ova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Ova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ijdelijke aanduiding voor dianumm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  <a:latin typeface="+mj-lt"/>
                <a:cs typeface="+mn-cs"/>
              </a:defRPr>
            </a:lvl1pPr>
          </a:lstStyle>
          <a:p>
            <a:pPr>
              <a:defRPr/>
            </a:pPr>
            <a:fld id="{E0AA8B8C-77D1-46EE-80FB-55365F6F1E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8" name="Tijdelijke aanduiding voor titel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stijl te bewerken</a:t>
            </a:r>
            <a:endParaRPr lang="en-US" altLang="en-US" smtClean="0"/>
          </a:p>
        </p:txBody>
      </p:sp>
      <p:sp>
        <p:nvSpPr>
          <p:cNvPr id="1039" name="Tijdelijke aanduiding voor tekst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en-US" smtClean="0"/>
              <a:t>Klik om de modelstijlen te bewerken</a:t>
            </a:r>
          </a:p>
          <a:p>
            <a:pPr lvl="1"/>
            <a:r>
              <a:rPr lang="nl-NL" altLang="en-US" smtClean="0"/>
              <a:t>Tweede niveau</a:t>
            </a:r>
          </a:p>
          <a:p>
            <a:pPr lvl="2"/>
            <a:r>
              <a:rPr lang="nl-NL" altLang="en-US" smtClean="0"/>
              <a:t>Derde niveau</a:t>
            </a:r>
          </a:p>
          <a:p>
            <a:pPr lvl="3"/>
            <a:r>
              <a:rPr lang="nl-NL" altLang="en-US" smtClean="0"/>
              <a:t>Vierde niveau</a:t>
            </a:r>
          </a:p>
          <a:p>
            <a:pPr lvl="4"/>
            <a:r>
              <a:rPr lang="nl-NL" altLang="en-US" smtClean="0"/>
              <a:t>Vijfde niveau</a:t>
            </a: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49" r:id="rId5"/>
    <p:sldLayoutId id="2147484150" r:id="rId6"/>
    <p:sldLayoutId id="2147484151" r:id="rId7"/>
    <p:sldLayoutId id="2147484152" r:id="rId8"/>
    <p:sldLayoutId id="2147484153" r:id="rId9"/>
    <p:sldLayoutId id="2147484154" r:id="rId10"/>
    <p:sldLayoutId id="2147484155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2780B7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2780B7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§"/>
        <a:defRPr sz="2200" kern="1200">
          <a:solidFill>
            <a:srgbClr val="2780B7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3.xml"/><Relationship Id="rId5" Type="http://schemas.openxmlformats.org/officeDocument/2006/relationships/slide" Target="slide15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4.xml"/><Relationship Id="rId5" Type="http://schemas.openxmlformats.org/officeDocument/2006/relationships/slide" Target="slide15.xml"/><Relationship Id="rId4" Type="http://schemas.openxmlformats.org/officeDocument/2006/relationships/slide" Target="slide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emf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dirty="0" smtClean="0"/>
              <a:t>International agency </a:t>
            </a:r>
            <a:r>
              <a:rPr lang="nl-BE" sz="1700" dirty="0" err="1" smtClean="0"/>
              <a:t>for</a:t>
            </a:r>
            <a:r>
              <a:rPr lang="nl-BE" sz="1700" dirty="0" smtClean="0"/>
              <a:t> research on </a:t>
            </a:r>
            <a:r>
              <a:rPr lang="nl-BE" sz="1700" dirty="0" err="1" smtClean="0"/>
              <a:t>cancer</a:t>
            </a:r>
            <a:r>
              <a:rPr lang="nl-BE" sz="1700" smtClean="0"/>
              <a:t> lyon</a:t>
            </a:r>
            <a:r>
              <a:rPr lang="nl-BE" sz="1700" dirty="0" smtClean="0"/>
              <a:t> - </a:t>
            </a:r>
            <a:r>
              <a:rPr lang="nl-BE" sz="1700" dirty="0" err="1" smtClean="0"/>
              <a:t>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90" y="188550"/>
            <a:ext cx="8785220" cy="2016280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and data handling of the </a:t>
            </a:r>
            <a:r>
              <a:rPr lang="en-US" altLang="en-US" dirty="0" err="1" smtClean="0"/>
              <a:t>GloboDiet</a:t>
            </a:r>
            <a:r>
              <a:rPr lang="en-US" altLang="en-US" dirty="0" smtClean="0"/>
              <a:t> </a:t>
            </a:r>
            <a:r>
              <a:rPr lang="en-US" altLang="en-US" dirty="0"/>
              <a:t>24-HDR </a:t>
            </a:r>
            <a:r>
              <a:rPr lang="en-US" altLang="en-US" dirty="0" smtClean="0"/>
              <a:t>interviews</a:t>
            </a:r>
            <a:br>
              <a:rPr lang="en-US" altLang="en-US" dirty="0" smtClean="0"/>
            </a:br>
            <a:r>
              <a:rPr lang="en-US" altLang="en-US" sz="3200" dirty="0" smtClean="0"/>
              <a:t>Part I – Data collection &amp; Note management</a:t>
            </a:r>
            <a:endParaRPr lang="nl-BE" altLang="en-US" sz="3200" dirty="0" smtClean="0"/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0288" y="5602288"/>
            <a:ext cx="1223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nl-BE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e-SMP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492870"/>
            <a:ext cx="8463402" cy="3914280"/>
          </a:xfrm>
        </p:spPr>
        <p:txBody>
          <a:bodyPr>
            <a:no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3" action="ppaction://hlinksldjump"/>
              </a:rPr>
              <a:t>Quality control Before the data collection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4" action="ppaction://hlinksldjump"/>
              </a:rPr>
              <a:t>Quality control During the </a:t>
            </a:r>
            <a:r>
              <a:rPr lang="en-US" sz="2000" cap="none" dirty="0">
                <a:hlinkClick r:id="rId3" action="ppaction://hlinksldjump"/>
              </a:rPr>
              <a:t>data collection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4" action="ppaction://hlinksldjump"/>
              </a:rPr>
              <a:t>Quality control After the </a:t>
            </a:r>
            <a:r>
              <a:rPr lang="en-US" sz="2000" cap="none" dirty="0">
                <a:hlinkClick r:id="rId3" action="ppaction://hlinksldjump"/>
              </a:rPr>
              <a:t>data collection: cleaning phase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4" action="ppaction://hlinksldjump"/>
              </a:rPr>
              <a:t>Quality control After the </a:t>
            </a:r>
            <a:r>
              <a:rPr lang="en-US" sz="2000" cap="none" dirty="0">
                <a:hlinkClick r:id="rId3" action="ppaction://hlinksldjump"/>
              </a:rPr>
              <a:t>data collection: </a:t>
            </a:r>
            <a:r>
              <a:rPr lang="en-US" sz="2000" cap="none" dirty="0" smtClean="0">
                <a:hlinkClick r:id="rId3" action="ppaction://hlinksldjump"/>
              </a:rPr>
              <a:t>after update 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Final output of</a:t>
            </a:r>
            <a:r>
              <a:rPr lang="en-US" sz="2000" cap="none" dirty="0">
                <a:hlinkClick r:id="rId6" action="ppaction://hlinksldjump"/>
              </a:rPr>
              <a:t> Data Handing: csv-files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General information - INTI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Reported items - INTERV &amp; INTERV_QT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Energy &amp; Nutrient intakes - INTNUT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Reported notes - NOTE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7" action="ppaction://hlinksldjump"/>
              </a:rPr>
              <a:t>Some Final Highlights</a:t>
            </a:r>
            <a:endParaRPr lang="en-US" sz="2000" cap="none" dirty="0"/>
          </a:p>
        </p:txBody>
      </p:sp>
      <p:sp>
        <p:nvSpPr>
          <p:cNvPr id="3379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4800" y="6410325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 err="1" smtClean="0"/>
              <a:t>GloboDiet</a:t>
            </a:r>
            <a:r>
              <a:rPr lang="en-GB" dirty="0" smtClean="0"/>
              <a:t> </a:t>
            </a:r>
            <a:r>
              <a:rPr lang="en-GB" dirty="0"/>
              <a:t>training: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A0CEA1-9AF3-4FE6-A804-D4E0E1C56C26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9" name="Tekstvak 8"/>
          <p:cNvSpPr txBox="1"/>
          <p:nvPr/>
        </p:nvSpPr>
        <p:spPr>
          <a:xfrm>
            <a:off x="178708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Clr>
                <a:schemeClr val="bg1"/>
              </a:buClr>
              <a:buFont typeface="+mj-lt"/>
              <a:buAutoNum type="arabicPeriod"/>
              <a:defRPr/>
            </a:pP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on updated data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3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433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15770" y="685800"/>
            <a:ext cx="6048840" cy="541020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altLang="en-US" sz="2500" b="1" dirty="0" smtClean="0"/>
              <a:t>Quality controls </a:t>
            </a:r>
            <a:r>
              <a:rPr lang="en-GB" altLang="en-US" sz="2500" b="1" u="sng" dirty="0" smtClean="0"/>
              <a:t>before</a:t>
            </a:r>
            <a:r>
              <a:rPr lang="en-GB" altLang="en-US" sz="2500" b="1" dirty="0" smtClean="0"/>
              <a:t> </a:t>
            </a:r>
            <a:r>
              <a:rPr lang="en-GB" altLang="en-US" sz="2500" dirty="0" smtClean="0"/>
              <a:t>the data collection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500" dirty="0" smtClean="0"/>
              <a:t>Based </a:t>
            </a:r>
            <a:r>
              <a:rPr lang="en-GB" altLang="en-US" sz="2500" dirty="0"/>
              <a:t>on principles of standardization in </a:t>
            </a:r>
            <a:r>
              <a:rPr lang="en-GB" altLang="en-US" sz="2500" dirty="0" err="1" smtClean="0"/>
              <a:t>GloboDiet</a:t>
            </a:r>
            <a:endParaRPr lang="en-GB" altLang="en-US" sz="2500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500" dirty="0" smtClean="0"/>
              <a:t> </a:t>
            </a:r>
            <a:r>
              <a:rPr lang="en-GB" altLang="en-US" sz="2500" dirty="0"/>
              <a:t>Database </a:t>
            </a:r>
            <a:r>
              <a:rPr lang="en-GB" altLang="en-US" sz="2500" dirty="0" smtClean="0"/>
              <a:t>controls</a:t>
            </a:r>
            <a:endParaRPr lang="en-GB" altLang="en-US" sz="2500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500" dirty="0" smtClean="0"/>
              <a:t>Control </a:t>
            </a:r>
            <a:r>
              <a:rPr lang="en-GB" altLang="en-US" sz="2500" dirty="0"/>
              <a:t>consistency/harmonization of rules within a project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500" dirty="0"/>
              <a:t> Control the level of </a:t>
            </a:r>
            <a:r>
              <a:rPr lang="en-GB" altLang="en-US" sz="2500" dirty="0" smtClean="0"/>
              <a:t>detail</a:t>
            </a:r>
          </a:p>
          <a:p>
            <a:pPr eaLnBrk="1" hangingPunct="1">
              <a:spcBef>
                <a:spcPct val="0"/>
              </a:spcBef>
            </a:pPr>
            <a:endParaRPr lang="en-GB" altLang="en-US" sz="2500" dirty="0"/>
          </a:p>
          <a:p>
            <a:pPr eaLnBrk="1" hangingPunct="1">
              <a:buFont typeface="Wingdings 2" pitchFamily="18" charset="2"/>
              <a:buNone/>
            </a:pPr>
            <a:endParaRPr lang="nl-BE" altLang="en-US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923910" y="4725494"/>
            <a:ext cx="3888540" cy="646331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/>
              <a:t>Aiming at fully operational and standardized </a:t>
            </a:r>
            <a:r>
              <a:rPr lang="en-GB" altLang="en-US" sz="1800" dirty="0" err="1" smtClean="0"/>
              <a:t>GloboDiet</a:t>
            </a:r>
            <a:r>
              <a:rPr lang="en-GB" altLang="en-US" sz="1800" dirty="0" smtClean="0"/>
              <a:t> </a:t>
            </a:r>
            <a:r>
              <a:rPr lang="en-GB" altLang="en-US" sz="1800" dirty="0"/>
              <a:t>versions</a:t>
            </a:r>
          </a:p>
        </p:txBody>
      </p:sp>
      <p:sp>
        <p:nvSpPr>
          <p:cNvPr id="14" name="AutoShape 9"/>
          <p:cNvSpPr>
            <a:spLocks/>
          </p:cNvSpPr>
          <p:nvPr/>
        </p:nvSpPr>
        <p:spPr bwMode="auto">
          <a:xfrm rot="16200000">
            <a:off x="5831861" y="1952481"/>
            <a:ext cx="360363" cy="4752975"/>
          </a:xfrm>
          <a:prstGeom prst="leftBrace">
            <a:avLst>
              <a:gd name="adj1" fmla="val 1099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60564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/>
              <a:t>Pre-defined lists of foods and recipes available in the </a:t>
            </a:r>
            <a:r>
              <a:rPr lang="en-US" altLang="en-US" sz="2400" dirty="0" smtClean="0"/>
              <a:t>system</a:t>
            </a: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before 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1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1" y="1988800"/>
            <a:ext cx="3842384" cy="36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1043510" y="1987915"/>
            <a:ext cx="550032" cy="28892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0" y="1887139"/>
            <a:ext cx="4320600" cy="4638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5292100" y="4509150"/>
            <a:ext cx="2232310" cy="1008140"/>
          </a:xfrm>
          <a:prstGeom prst="rect">
            <a:avLst/>
          </a:prstGeom>
          <a:noFill/>
          <a:ln w="571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5017084" y="1915905"/>
            <a:ext cx="550032" cy="28892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526908" y="2708900"/>
            <a:ext cx="2388862" cy="2808390"/>
          </a:xfrm>
          <a:prstGeom prst="rect">
            <a:avLst/>
          </a:prstGeom>
          <a:noFill/>
          <a:ln w="57150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20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29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625" y="1527175"/>
            <a:ext cx="8504238" cy="60564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/>
              <a:t>Information about the recalled day (Special Day, Special diet)</a:t>
            </a: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before 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2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90" y="1988800"/>
            <a:ext cx="4464230" cy="347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20" y="2492870"/>
            <a:ext cx="4464229" cy="3204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323409" y="5805330"/>
            <a:ext cx="8641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0000FF"/>
                </a:solidFill>
              </a:rPr>
              <a:t>Useful information to explain distinct food intake (incl. outliers during data analysis)</a:t>
            </a:r>
            <a:endParaRPr lang="en-US" altLang="en-US" sz="1800" dirty="0">
              <a:solidFill>
                <a:srgbClr val="0000FF"/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2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097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527175"/>
            <a:ext cx="8626473" cy="312599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 smtClean="0"/>
              <a:t>Foods/recipes </a:t>
            </a:r>
            <a:r>
              <a:rPr lang="en-US" altLang="en-US" sz="2400" dirty="0"/>
              <a:t>are estimated </a:t>
            </a:r>
            <a:r>
              <a:rPr lang="en-US" altLang="en-US" sz="2400" b="1" dirty="0"/>
              <a:t>as </a:t>
            </a:r>
            <a:r>
              <a:rPr lang="en-US" altLang="en-US" sz="2400" b="1" dirty="0" smtClean="0"/>
              <a:t>consumed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b="1" dirty="0" smtClean="0"/>
              <a:t>Standard &amp; common algorithms </a:t>
            </a:r>
            <a:r>
              <a:rPr lang="en-US" altLang="en-US" sz="2400" dirty="0" smtClean="0"/>
              <a:t>are used to:</a:t>
            </a:r>
          </a:p>
          <a:p>
            <a:pPr lvl="2" eaLnBrk="1" hangingPunct="1">
              <a:spcBef>
                <a:spcPts val="600"/>
              </a:spcBef>
              <a:buFont typeface="Courier New" pitchFamily="49" charset="0"/>
              <a:buChar char="o"/>
            </a:pPr>
            <a:r>
              <a:rPr lang="en-US" altLang="en-US" dirty="0" smtClean="0"/>
              <a:t>adjust raw to cooked foods</a:t>
            </a:r>
          </a:p>
          <a:p>
            <a:pPr lvl="2" eaLnBrk="1" hangingPunct="1">
              <a:spcBef>
                <a:spcPts val="600"/>
              </a:spcBef>
              <a:buFont typeface="Courier New" pitchFamily="49" charset="0"/>
              <a:buChar char="o"/>
            </a:pPr>
            <a:r>
              <a:rPr lang="en-US" altLang="en-US" dirty="0" smtClean="0"/>
              <a:t>edible parts </a:t>
            </a:r>
          </a:p>
          <a:p>
            <a:pPr lvl="2" eaLnBrk="1" hangingPunct="1">
              <a:spcBef>
                <a:spcPts val="600"/>
              </a:spcBef>
              <a:buFont typeface="Courier New" pitchFamily="49" charset="0"/>
              <a:buChar char="o"/>
            </a:pPr>
            <a:r>
              <a:rPr lang="en-US" altLang="en-US" dirty="0" smtClean="0"/>
              <a:t>density (from volume to weight)</a:t>
            </a:r>
            <a:endParaRPr lang="en-US" altLang="en-US" sz="1800" dirty="0" smtClean="0"/>
          </a:p>
          <a:p>
            <a:pPr marL="548958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altLang="en-US" sz="1900" dirty="0" smtClean="0"/>
          </a:p>
          <a:p>
            <a:pPr marL="548958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altLang="en-US" sz="1900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before the </a:t>
            </a:r>
            <a:r>
              <a:rPr lang="en-US" altLang="en-US" dirty="0"/>
              <a:t>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3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59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Quality 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on updated data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7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57488" y="685800"/>
            <a:ext cx="6107122" cy="4362859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b="1" dirty="0"/>
              <a:t>Quality controls </a:t>
            </a:r>
            <a:r>
              <a:rPr lang="en-GB" altLang="en-US" sz="2400" b="1" u="sng" dirty="0" smtClean="0"/>
              <a:t>during</a:t>
            </a:r>
            <a:r>
              <a:rPr lang="en-GB" altLang="en-US" sz="2400" b="1" dirty="0" smtClean="0"/>
              <a:t> </a:t>
            </a:r>
            <a:r>
              <a:rPr lang="en-GB" altLang="en-US" sz="2400" dirty="0" smtClean="0"/>
              <a:t>the </a:t>
            </a:r>
            <a:r>
              <a:rPr lang="en-GB" altLang="en-US" sz="2400" dirty="0"/>
              <a:t>data collection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/>
              <a:t>Based on principles of standardization in </a:t>
            </a:r>
            <a:r>
              <a:rPr lang="en-GB" altLang="en-US" sz="2400" dirty="0" err="1" smtClean="0"/>
              <a:t>GloboDiet</a:t>
            </a: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/>
              <a:t> Use of cognitive approach (Quick list </a:t>
            </a:r>
            <a:r>
              <a:rPr lang="en-GB" altLang="en-US" sz="2400" dirty="0" smtClean="0">
                <a:sym typeface="Wingdings" pitchFamily="2" charset="2"/>
              </a:rPr>
              <a:t>Detailed information)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>
                <a:sym typeface="Wingdings" pitchFamily="2" charset="2"/>
              </a:rPr>
              <a:t> Control for consistency of </a:t>
            </a:r>
            <a:r>
              <a:rPr lang="en-GB" altLang="en-US" sz="2400" dirty="0" err="1" smtClean="0">
                <a:sym typeface="Wingdings" pitchFamily="2" charset="2"/>
              </a:rPr>
              <a:t>GloboDiet</a:t>
            </a:r>
            <a:r>
              <a:rPr lang="en-GB" altLang="en-US" sz="2400" dirty="0" smtClean="0">
                <a:sym typeface="Wingdings" pitchFamily="2" charset="2"/>
              </a:rPr>
              <a:t> use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/>
              <a:t> Control for completeness of collected data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/>
              <a:t> Use of note files (automatic &amp; manual)</a:t>
            </a:r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/>
              <a:t> Who benefits?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dirty="0">
                <a:sym typeface="Wingdings" pitchFamily="2" charset="2"/>
              </a:rPr>
              <a:t>	</a:t>
            </a:r>
            <a:r>
              <a:rPr lang="en-GB" altLang="en-US" sz="2400" dirty="0" smtClean="0">
                <a:sym typeface="Wingdings" pitchFamily="2" charset="2"/>
              </a:rPr>
              <a:t> </a:t>
            </a:r>
            <a:r>
              <a:rPr lang="en-GB" altLang="en-US" sz="2400" dirty="0" smtClean="0"/>
              <a:t>Interviewee </a:t>
            </a:r>
            <a:r>
              <a:rPr lang="en-GB" altLang="en-US" sz="2400" b="1" dirty="0" smtClean="0"/>
              <a:t>and </a:t>
            </a:r>
            <a:r>
              <a:rPr lang="en-GB" altLang="en-US" sz="2400" dirty="0" smtClean="0"/>
              <a:t>interviewer</a:t>
            </a:r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059790" y="5085230"/>
            <a:ext cx="5832810" cy="92333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 smtClean="0"/>
              <a:t>Aiming at collecting the most complete and accurate information for comparisons between countries, regions, interviewers</a:t>
            </a:r>
            <a:endParaRPr lang="en-GB" altLang="en-US" sz="1800" dirty="0"/>
          </a:p>
        </p:txBody>
      </p:sp>
      <p:sp>
        <p:nvSpPr>
          <p:cNvPr id="14" name="AutoShape 9"/>
          <p:cNvSpPr>
            <a:spLocks/>
          </p:cNvSpPr>
          <p:nvPr/>
        </p:nvSpPr>
        <p:spPr bwMode="auto">
          <a:xfrm rot="16200000">
            <a:off x="5687841" y="2312845"/>
            <a:ext cx="360363" cy="4752975"/>
          </a:xfrm>
          <a:prstGeom prst="leftBrace">
            <a:avLst>
              <a:gd name="adj1" fmla="val 1099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71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527175"/>
            <a:ext cx="8785220" cy="312599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 smtClean="0"/>
              <a:t>Any forgotten occasions are shown for check at </a:t>
            </a:r>
            <a:r>
              <a:rPr lang="en-US" altLang="en-US" sz="2400" dirty="0"/>
              <a:t>the end of the </a:t>
            </a:r>
            <a:r>
              <a:rPr lang="en-US" altLang="en-US" sz="2400" dirty="0" smtClean="0"/>
              <a:t>Quick List screen.</a:t>
            </a:r>
            <a:endParaRPr lang="en-US" altLang="en-US" sz="1900" dirty="0" smtClean="0"/>
          </a:p>
          <a:p>
            <a:pPr marL="548958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altLang="en-US" sz="1900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during </a:t>
            </a:r>
            <a:r>
              <a:rPr lang="en-US" altLang="en-US" dirty="0"/>
              <a:t>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1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2" t="7359" r="6813" b="9446"/>
          <a:stretch/>
        </p:blipFill>
        <p:spPr bwMode="auto">
          <a:xfrm>
            <a:off x="1045406" y="2420859"/>
            <a:ext cx="6948152" cy="388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906011" y="2492870"/>
            <a:ext cx="1842569" cy="646331"/>
          </a:xfrm>
          <a:prstGeom prst="rect">
            <a:avLst/>
          </a:prstGeom>
          <a:solidFill>
            <a:schemeClr val="bg1"/>
          </a:solidFill>
          <a:ln w="9525">
            <a:solidFill>
              <a:srgbClr val="3799D5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GB" altLang="en-US" sz="1800" dirty="0">
                <a:solidFill>
                  <a:srgbClr val="FF0000"/>
                </a:solidFill>
              </a:rPr>
              <a:t>4 occasions are empty: Correct?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4385661" y="2636890"/>
            <a:ext cx="1079500" cy="5762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3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interview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361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2542858"/>
            <a:ext cx="8439150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527175"/>
            <a:ext cx="8785220" cy="312599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pt-BR" altLang="en-US" sz="2400" dirty="0"/>
              <a:t>Use of automatic </a:t>
            </a:r>
            <a:r>
              <a:rPr lang="pt-BR" altLang="en-US" sz="2400" b="1" dirty="0">
                <a:solidFill>
                  <a:srgbClr val="FF0000"/>
                </a:solidFill>
              </a:rPr>
              <a:t>probing questions </a:t>
            </a:r>
            <a:r>
              <a:rPr lang="pt-BR" altLang="en-US" sz="2400" dirty="0"/>
              <a:t>during the </a:t>
            </a:r>
            <a:r>
              <a:rPr lang="pt-BR" altLang="en-US" sz="2400" dirty="0" smtClean="0"/>
              <a:t>interview. </a:t>
            </a:r>
            <a:r>
              <a:rPr lang="pt-BR" altLang="en-US" sz="2400" dirty="0"/>
              <a:t>For instance, a</a:t>
            </a:r>
            <a:r>
              <a:rPr lang="en-US" altLang="en-US" sz="2400" dirty="0"/>
              <a:t>t each </a:t>
            </a:r>
            <a:r>
              <a:rPr lang="en-US" altLang="en-US" sz="2400" dirty="0" smtClean="0"/>
              <a:t>food/recipe description &amp; quantification</a:t>
            </a:r>
            <a:endParaRPr lang="pt-BR" altLang="en-US" sz="2400" dirty="0" smtClean="0"/>
          </a:p>
          <a:p>
            <a:pPr marL="548958" lvl="1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altLang="en-US" sz="1900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during </a:t>
            </a:r>
            <a:r>
              <a:rPr lang="en-US" altLang="en-US" dirty="0"/>
              <a:t>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2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4" name="AutoShape 11"/>
          <p:cNvSpPr>
            <a:spLocks noChangeArrowheads="1"/>
          </p:cNvSpPr>
          <p:nvPr/>
        </p:nvSpPr>
        <p:spPr bwMode="auto">
          <a:xfrm>
            <a:off x="755470" y="3717040"/>
            <a:ext cx="539750" cy="2159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en-US" sz="1800">
              <a:solidFill>
                <a:srgbClr val="FF0000"/>
              </a:solidFill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2051650" y="4077090"/>
            <a:ext cx="1441450" cy="4048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en-US" sz="180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2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520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412720"/>
            <a:ext cx="8785220" cy="312599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GB" altLang="en-US" sz="2300" dirty="0" smtClean="0"/>
              <a:t>Empty </a:t>
            </a:r>
            <a:r>
              <a:rPr lang="en-GB" altLang="en-US" sz="2300" dirty="0"/>
              <a:t>fields or extreme </a:t>
            </a:r>
            <a:r>
              <a:rPr lang="en-GB" altLang="en-US" sz="2300" dirty="0" smtClean="0"/>
              <a:t>entered values are automatically highlighted </a:t>
            </a:r>
            <a:endParaRPr lang="en-US" sz="23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during </a:t>
            </a:r>
            <a:r>
              <a:rPr lang="en-US" altLang="en-US" dirty="0"/>
              <a:t>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3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12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0" y="4292444"/>
            <a:ext cx="4389782" cy="2160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3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3"/>
          <a:stretch/>
        </p:blipFill>
        <p:spPr bwMode="auto">
          <a:xfrm>
            <a:off x="3563860" y="2594344"/>
            <a:ext cx="5401925" cy="3282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172" y="3510217"/>
            <a:ext cx="3902522" cy="996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235" y="1924820"/>
            <a:ext cx="2264625" cy="2419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048" y="2655389"/>
            <a:ext cx="1383279" cy="66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7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527175"/>
            <a:ext cx="8785220" cy="312599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b="1" dirty="0" smtClean="0"/>
              <a:t>Unknown </a:t>
            </a:r>
            <a:r>
              <a:rPr lang="en-US" altLang="en-US" sz="2400" b="1" dirty="0"/>
              <a:t>amounts </a:t>
            </a:r>
            <a:r>
              <a:rPr lang="en-US" altLang="en-US" sz="2400" dirty="0"/>
              <a:t>of</a:t>
            </a:r>
            <a:r>
              <a:rPr lang="en-US" altLang="en-US" sz="2400" b="1" dirty="0"/>
              <a:t> Fats, sauces, </a:t>
            </a:r>
            <a:r>
              <a:rPr lang="en-US" altLang="en-US" sz="2400" b="1" dirty="0" smtClean="0"/>
              <a:t>sweeteners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pt-BR" altLang="en-US" sz="2400" dirty="0"/>
              <a:t>Automatic estimation </a:t>
            </a:r>
            <a:r>
              <a:rPr lang="pt-BR" altLang="en-US" sz="2400" dirty="0" smtClean="0"/>
              <a:t>(%) attributed </a:t>
            </a:r>
            <a:r>
              <a:rPr lang="pt-BR" altLang="en-US" sz="2400" dirty="0"/>
              <a:t>according to the weight of attached </a:t>
            </a:r>
            <a:r>
              <a:rPr lang="pt-BR" altLang="en-US" sz="2400" dirty="0" smtClean="0"/>
              <a:t>foods/recipes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pt-BR" sz="2400" dirty="0" smtClean="0"/>
              <a:t>Example: Cream with unknown quantity attached to coffee &amp; milk</a:t>
            </a: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during </a:t>
            </a:r>
            <a:r>
              <a:rPr lang="en-US" altLang="en-US" dirty="0"/>
              <a:t>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4</a:t>
            </a:r>
            <a:endParaRPr lang="en-US" altLang="en-US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95" y="3284980"/>
            <a:ext cx="841057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0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172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412720"/>
            <a:ext cx="8785220" cy="312599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 smtClean="0"/>
              <a:t>Information on </a:t>
            </a:r>
            <a:r>
              <a:rPr lang="en-US" altLang="en-US" sz="2400" dirty="0"/>
              <a:t>age, sex, height, weight, special day &amp; diet</a:t>
            </a:r>
            <a:endParaRPr lang="en-US" altLang="en-US" sz="2400" b="1" dirty="0" smtClean="0"/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/>
              <a:t>Comparison of energy requirements with the estimated 24-HDR energy intakes using preliminary data on food composition </a:t>
            </a:r>
            <a:r>
              <a:rPr lang="en-US" altLang="en-US" sz="2400" dirty="0" smtClean="0"/>
              <a:t>tables</a:t>
            </a:r>
            <a:endParaRPr lang="en-US" sz="2400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during </a:t>
            </a:r>
            <a:r>
              <a:rPr lang="en-US" altLang="en-US" dirty="0"/>
              <a:t>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</a:t>
            </a:r>
            <a:r>
              <a:rPr lang="en-US" altLang="en-US" dirty="0"/>
              <a:t>5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395288" y="5157788"/>
            <a:ext cx="64087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371600" indent="-4572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algn="just">
              <a:lnSpc>
                <a:spcPct val="85000"/>
              </a:lnSpc>
              <a:buFontTx/>
              <a:buNone/>
            </a:pPr>
            <a:endParaRPr lang="pt-BR" altLang="en-US" sz="1400"/>
          </a:p>
        </p:txBody>
      </p:sp>
      <p:pic>
        <p:nvPicPr>
          <p:cNvPr id="10" name="Picture 2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5"/>
          <a:stretch/>
        </p:blipFill>
        <p:spPr bwMode="auto">
          <a:xfrm>
            <a:off x="827480" y="2796363"/>
            <a:ext cx="6840950" cy="3536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899490" y="3356990"/>
            <a:ext cx="2448340" cy="54883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en-US" sz="1800"/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124000" y="4953600"/>
            <a:ext cx="5256730" cy="215444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fr-FR" altLang="en-US" sz="800" dirty="0"/>
          </a:p>
        </p:txBody>
      </p:sp>
      <p:cxnSp>
        <p:nvCxnSpPr>
          <p:cNvPr id="3" name="Straight Arrow Connector 2"/>
          <p:cNvCxnSpPr>
            <a:stCxn id="13" idx="3"/>
          </p:cNvCxnSpPr>
          <p:nvPr/>
        </p:nvCxnSpPr>
        <p:spPr>
          <a:xfrm>
            <a:off x="3347830" y="3631406"/>
            <a:ext cx="2088290" cy="0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699740" y="3631406"/>
            <a:ext cx="2736380" cy="733724"/>
          </a:xfrm>
          <a:prstGeom prst="straightConnector1">
            <a:avLst/>
          </a:prstGeom>
          <a:ln w="31750">
            <a:solidFill>
              <a:srgbClr val="FF0000"/>
            </a:solidFill>
            <a:headEnd type="triangl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7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989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79390" y="1412720"/>
            <a:ext cx="8785220" cy="523865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/>
              <a:t>Compressed </a:t>
            </a:r>
            <a:r>
              <a:rPr lang="en-US" altLang="en-US" sz="2400" dirty="0" smtClean="0"/>
              <a:t>list</a:t>
            </a:r>
            <a:endParaRPr lang="en-US" altLang="en-US" sz="2400" b="1" dirty="0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91" y="116540"/>
            <a:ext cx="8785220" cy="1118875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</a:t>
            </a:r>
            <a:r>
              <a:rPr lang="en-US" altLang="en-US" dirty="0" smtClean="0"/>
              <a:t>during </a:t>
            </a:r>
            <a:r>
              <a:rPr lang="en-US" altLang="en-US" dirty="0"/>
              <a:t>the data </a:t>
            </a:r>
            <a:r>
              <a:rPr lang="en-US" altLang="en-US" dirty="0" smtClean="0"/>
              <a:t>collection: </a:t>
            </a:r>
            <a:br>
              <a:rPr lang="en-US" altLang="en-US" dirty="0" smtClean="0"/>
            </a:br>
            <a:r>
              <a:rPr lang="en-US" altLang="en-US" dirty="0" smtClean="0"/>
              <a:t>Example </a:t>
            </a:r>
            <a:r>
              <a:rPr lang="en-US" altLang="en-US" dirty="0"/>
              <a:t>5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D1EF06-D2B3-4124-A6F9-4820728F5C2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90" y="1910643"/>
            <a:ext cx="5675187" cy="27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20" y="3158255"/>
            <a:ext cx="4870682" cy="3295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854577" y="2617095"/>
            <a:ext cx="3145712" cy="523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ctr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en-US" sz="2400" dirty="0" smtClean="0"/>
              <a:t>Detailed list</a:t>
            </a:r>
            <a:endParaRPr lang="en-US" altLang="en-US" sz="2400" b="1" dirty="0" smtClean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3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31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Quality control </a:t>
            </a: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After: cleaning phase</a:t>
            </a:r>
            <a:endParaRPr lang="en-US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 on updated data 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14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57488" y="685800"/>
            <a:ext cx="6107122" cy="4362859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b="1" dirty="0" smtClean="0"/>
              <a:t>First quality </a:t>
            </a:r>
            <a:r>
              <a:rPr lang="en-GB" altLang="en-US" sz="2400" b="1" dirty="0"/>
              <a:t>controls </a:t>
            </a:r>
            <a:r>
              <a:rPr lang="en-GB" altLang="en-US" sz="2400" b="1" u="sng" dirty="0" smtClean="0"/>
              <a:t>After</a:t>
            </a:r>
            <a:r>
              <a:rPr lang="en-GB" altLang="en-US" sz="2400" b="1" dirty="0" smtClean="0"/>
              <a:t> </a:t>
            </a:r>
            <a:r>
              <a:rPr lang="en-GB" altLang="en-US" sz="2400" dirty="0" smtClean="0"/>
              <a:t>the </a:t>
            </a:r>
            <a:r>
              <a:rPr lang="en-GB" altLang="en-US" sz="2400" dirty="0"/>
              <a:t>data collection</a:t>
            </a:r>
          </a:p>
          <a:p>
            <a:pPr eaLnBrk="1" hangingPunct="1">
              <a:spcBef>
                <a:spcPct val="0"/>
              </a:spcBef>
            </a:pPr>
            <a:endParaRPr lang="en-GB" altLang="en-US" sz="2800" dirty="0" smtClean="0"/>
          </a:p>
          <a:p>
            <a:pPr eaLnBrk="1" hangingPunct="1">
              <a:spcBef>
                <a:spcPct val="0"/>
              </a:spcBef>
            </a:pPr>
            <a:r>
              <a:rPr lang="en-GB" altLang="en-US" sz="2800" dirty="0" smtClean="0"/>
              <a:t>D</a:t>
            </a:r>
            <a:r>
              <a:rPr lang="en-GB" altLang="en-US" sz="2400" dirty="0" smtClean="0"/>
              <a:t>ealing </a:t>
            </a:r>
            <a:r>
              <a:rPr lang="en-GB" altLang="en-US" sz="2400" dirty="0"/>
              <a:t>with Note files: control for completeness and correctness of collected </a:t>
            </a:r>
            <a:r>
              <a:rPr lang="en-GB" altLang="en-US" sz="2400" dirty="0" smtClean="0"/>
              <a:t>data</a:t>
            </a:r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r>
              <a:rPr lang="en-GB" altLang="en-US" sz="2400" dirty="0" smtClean="0"/>
              <a:t> </a:t>
            </a:r>
            <a:r>
              <a:rPr lang="en-GB" altLang="en-US" sz="2400" dirty="0"/>
              <a:t>Guidelines called ‘Data cleaning </a:t>
            </a:r>
            <a:r>
              <a:rPr lang="en-GB" altLang="en-US" sz="2400" dirty="0" smtClean="0"/>
              <a:t>protocol_GD_xxx.docx’</a:t>
            </a:r>
            <a:endParaRPr lang="en-GB" altLang="en-US" sz="2400" dirty="0" smtClean="0">
              <a:sym typeface="Wingdings" pitchFamily="2" charset="2"/>
            </a:endParaRPr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059790" y="5085230"/>
            <a:ext cx="5832810" cy="923330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sz="1800" dirty="0" smtClean="0"/>
              <a:t>Aiming at collecting the most complete and accurate information for comparisons between countries, regions, interviewers</a:t>
            </a:r>
            <a:endParaRPr lang="en-GB" altLang="en-US" sz="1800" dirty="0"/>
          </a:p>
        </p:txBody>
      </p:sp>
      <p:sp>
        <p:nvSpPr>
          <p:cNvPr id="14" name="AutoShape 9"/>
          <p:cNvSpPr>
            <a:spLocks/>
          </p:cNvSpPr>
          <p:nvPr/>
        </p:nvSpPr>
        <p:spPr bwMode="auto">
          <a:xfrm rot="16200000">
            <a:off x="5687841" y="2312845"/>
            <a:ext cx="360363" cy="4752975"/>
          </a:xfrm>
          <a:prstGeom prst="leftBrace">
            <a:avLst>
              <a:gd name="adj1" fmla="val 1099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48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228600"/>
            <a:ext cx="8785220" cy="758825"/>
          </a:xfrm>
        </p:spPr>
        <p:txBody>
          <a:bodyPr/>
          <a:lstStyle/>
          <a:p>
            <a:r>
              <a:rPr lang="en-GB" altLang="en-US" sz="3600" b="1" dirty="0"/>
              <a:t>Note </a:t>
            </a:r>
            <a:r>
              <a:rPr lang="en-GB" altLang="en-US" sz="3600" b="1" dirty="0" smtClean="0"/>
              <a:t>Handling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15</a:t>
            </a:fld>
            <a:endParaRPr lang="en-US" sz="1800" dirty="0"/>
          </a:p>
        </p:txBody>
      </p:sp>
      <p:sp>
        <p:nvSpPr>
          <p:cNvPr id="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662858" cy="4854362"/>
          </a:xfrm>
        </p:spPr>
        <p:txBody>
          <a:bodyPr/>
          <a:lstStyle/>
          <a:p>
            <a:r>
              <a:rPr lang="en-US" sz="2400" dirty="0" smtClean="0"/>
              <a:t>A note is always </a:t>
            </a:r>
            <a:r>
              <a:rPr lang="en-US" sz="2400" u="sng" dirty="0" smtClean="0"/>
              <a:t>attached to an item </a:t>
            </a:r>
            <a:r>
              <a:rPr lang="nl-BE" sz="2400" dirty="0" smtClean="0"/>
              <a:t>(subject, </a:t>
            </a:r>
            <a:r>
              <a:rPr lang="en-US" sz="2400" dirty="0" smtClean="0"/>
              <a:t>meal, quick list item, food, fat, recipe, ingredient &amp; supplement)</a:t>
            </a:r>
          </a:p>
          <a:p>
            <a:r>
              <a:rPr lang="en-US" altLang="en-US" sz="2400" dirty="0" smtClean="0"/>
              <a:t>A note has always a </a:t>
            </a:r>
            <a:r>
              <a:rPr lang="en-US" altLang="en-US" sz="2400" u="sng" dirty="0" smtClean="0"/>
              <a:t>Status</a:t>
            </a:r>
            <a:r>
              <a:rPr lang="en-US" altLang="en-US" sz="2400" dirty="0" smtClean="0"/>
              <a:t> attached, ‘New’ </a:t>
            </a:r>
            <a:r>
              <a:rPr lang="en-US" altLang="en-US" sz="2400" smtClean="0"/>
              <a:t>by default – code ‘00’. </a:t>
            </a:r>
          </a:p>
          <a:p>
            <a:r>
              <a:rPr lang="en-US" altLang="en-US" sz="2400" smtClean="0"/>
              <a:t>Status of notes can be subsequently changed in EDIT interview mode or in the exported NOTES file in Excel.</a:t>
            </a:r>
          </a:p>
          <a:p>
            <a:r>
              <a:rPr lang="en-US" altLang="en-US" sz="1600" smtClean="0"/>
              <a:t>E</a:t>
            </a:r>
            <a:r>
              <a:rPr lang="pt-BR" altLang="en-US" sz="1600" dirty="0" smtClean="0"/>
              <a:t>xample of note status (study dependent):</a:t>
            </a: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rgbClr val="2780B7"/>
                </a:solidFill>
              </a:rPr>
              <a:t>00 	New                                                   </a:t>
            </a: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rgbClr val="2780B7"/>
                </a:solidFill>
              </a:rPr>
              <a:t>01 	Ongoing                                            </a:t>
            </a: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rgbClr val="2780B7"/>
                </a:solidFill>
              </a:rPr>
              <a:t>02 	No action needed                           </a:t>
            </a: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>
                <a:solidFill>
                  <a:srgbClr val="2780B7"/>
                </a:solidFill>
              </a:rPr>
              <a:t>03 	Action approved by coordinator  </a:t>
            </a:r>
          </a:p>
          <a:p>
            <a:pPr lvl="3" eaLnBrk="1" hangingPunct="1">
              <a:spcBef>
                <a:spcPct val="0"/>
              </a:spcBef>
              <a:buFontTx/>
              <a:buNone/>
            </a:pPr>
            <a:r>
              <a:rPr lang="en-GB" altLang="en-US" sz="1600" dirty="0" smtClean="0">
                <a:solidFill>
                  <a:srgbClr val="2780B7"/>
                </a:solidFill>
              </a:rPr>
              <a:t>99 	Action </a:t>
            </a:r>
            <a:r>
              <a:rPr lang="en-GB" altLang="en-US" sz="1600" dirty="0">
                <a:solidFill>
                  <a:srgbClr val="2780B7"/>
                </a:solidFill>
              </a:rPr>
              <a:t>done                                     </a:t>
            </a:r>
          </a:p>
          <a:p>
            <a:pPr eaLnBrk="1" hangingPunct="1">
              <a:spcBef>
                <a:spcPct val="0"/>
              </a:spcBef>
            </a:pPr>
            <a:r>
              <a:rPr lang="pt-BR" altLang="en-US" sz="2400" dirty="0" smtClean="0"/>
              <a:t>A note has always a </a:t>
            </a:r>
            <a:r>
              <a:rPr lang="pt-BR" altLang="en-US" sz="2400" u="sng" dirty="0" smtClean="0"/>
              <a:t>Type</a:t>
            </a:r>
            <a:r>
              <a:rPr lang="pt-BR" altLang="en-US" sz="2400" dirty="0" smtClean="0"/>
              <a:t> attached to identify it. Example:</a:t>
            </a:r>
          </a:p>
          <a:p>
            <a:pPr lvl="1" eaLnBrk="1" hangingPunct="1">
              <a:spcBef>
                <a:spcPct val="0"/>
              </a:spcBef>
            </a:pPr>
            <a:r>
              <a:rPr lang="pt-BR" altLang="en-US" sz="1900" dirty="0" smtClean="0"/>
              <a:t>New food (NEW_F) , recipe (NEW_R), supplement (NEW_S) </a:t>
            </a:r>
          </a:p>
          <a:p>
            <a:pPr lvl="1" eaLnBrk="1" hangingPunct="1">
              <a:spcBef>
                <a:spcPct val="0"/>
              </a:spcBef>
            </a:pPr>
            <a:r>
              <a:rPr lang="en-GB" altLang="en-US" sz="1900" dirty="0" smtClean="0"/>
              <a:t>Specific note </a:t>
            </a:r>
            <a:r>
              <a:rPr lang="en-GB" sz="2000" dirty="0" smtClean="0"/>
              <a:t>(SPE)</a:t>
            </a:r>
          </a:p>
          <a:p>
            <a:pPr lvl="1" eaLnBrk="1" hangingPunct="1">
              <a:spcBef>
                <a:spcPct val="0"/>
              </a:spcBef>
            </a:pPr>
            <a:r>
              <a:rPr lang="pt-BR" altLang="en-US" sz="1900" dirty="0" smtClean="0"/>
              <a:t>Empty quick list item (coded EMP), etc...</a:t>
            </a:r>
          </a:p>
          <a:p>
            <a:pPr eaLnBrk="1" hangingPunct="1">
              <a:spcBef>
                <a:spcPct val="0"/>
              </a:spcBef>
            </a:pPr>
            <a:endParaRPr lang="pt-BR" altLang="en-US" sz="2400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25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>
          <a:xfrm>
            <a:off x="179390" y="1484730"/>
            <a:ext cx="8964610" cy="4896680"/>
          </a:xfrm>
        </p:spPr>
        <p:txBody>
          <a:bodyPr/>
          <a:lstStyle/>
          <a:p>
            <a:r>
              <a:rPr lang="en-GB" dirty="0" smtClean="0"/>
              <a:t>Based on Note TYPE, their management can be prioritized: </a:t>
            </a:r>
          </a:p>
          <a:p>
            <a:pPr lvl="1"/>
            <a:r>
              <a:rPr lang="en-GB" dirty="0" smtClean="0"/>
              <a:t>Priority 1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 smtClean="0">
                <a:sym typeface="Wingdings" panose="05000000000000000000" pitchFamily="2" charset="2"/>
              </a:rPr>
              <a:t>C</a:t>
            </a:r>
            <a:r>
              <a:rPr lang="en-GB" u="sng" dirty="0" smtClean="0"/>
              <a:t>hanges</a:t>
            </a:r>
            <a:r>
              <a:rPr lang="en-GB" dirty="0" smtClean="0"/>
              <a:t> required in </a:t>
            </a:r>
            <a:r>
              <a:rPr lang="en-GB" dirty="0"/>
              <a:t>the interviews  </a:t>
            </a:r>
          </a:p>
          <a:p>
            <a:pPr lvl="2"/>
            <a:r>
              <a:rPr lang="en-GB" dirty="0"/>
              <a:t>New food, </a:t>
            </a:r>
            <a:r>
              <a:rPr lang="en-GB" dirty="0" smtClean="0"/>
              <a:t>new recipe </a:t>
            </a:r>
            <a:r>
              <a:rPr lang="en-GB" dirty="0"/>
              <a:t>unknown, </a:t>
            </a:r>
            <a:r>
              <a:rPr lang="en-GB" dirty="0" smtClean="0"/>
              <a:t>new supplement </a:t>
            </a:r>
            <a:r>
              <a:rPr lang="en-GB" dirty="0"/>
              <a:t>(</a:t>
            </a:r>
            <a:r>
              <a:rPr lang="en-GB" sz="1800" i="1" dirty="0"/>
              <a:t>NEW_F, NEW_R, NEW_S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Unknown </a:t>
            </a:r>
            <a:r>
              <a:rPr lang="en-GB" dirty="0" smtClean="0"/>
              <a:t>recipe: Addition </a:t>
            </a:r>
            <a:r>
              <a:rPr lang="en-GB" dirty="0"/>
              <a:t>or delete of ingredient </a:t>
            </a:r>
            <a:r>
              <a:rPr lang="en-GB" dirty="0" smtClean="0"/>
              <a:t>(</a:t>
            </a:r>
            <a:r>
              <a:rPr lang="en-GB" sz="1800" i="1" dirty="0"/>
              <a:t>I_ADD, I_DEL</a:t>
            </a:r>
            <a:r>
              <a:rPr lang="en-GB" dirty="0"/>
              <a:t>)</a:t>
            </a:r>
            <a:endParaRPr lang="en-GB" dirty="0" smtClean="0"/>
          </a:p>
          <a:p>
            <a:pPr lvl="1"/>
            <a:r>
              <a:rPr lang="en-GB" dirty="0" smtClean="0"/>
              <a:t>Priority 2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u="sng" dirty="0" smtClean="0">
                <a:sym typeface="Wingdings" panose="05000000000000000000" pitchFamily="2" charset="2"/>
              </a:rPr>
              <a:t>Might require </a:t>
            </a:r>
            <a:r>
              <a:rPr lang="en-GB" u="sng" dirty="0" smtClean="0"/>
              <a:t>changes</a:t>
            </a:r>
            <a:r>
              <a:rPr lang="en-GB" dirty="0" smtClean="0"/>
              <a:t> </a:t>
            </a:r>
            <a:r>
              <a:rPr lang="en-GB" dirty="0"/>
              <a:t>in the interviews </a:t>
            </a:r>
            <a:endParaRPr lang="en-GB" dirty="0" smtClean="0"/>
          </a:p>
          <a:p>
            <a:pPr lvl="2"/>
            <a:r>
              <a:rPr lang="en-GB" dirty="0" smtClean="0"/>
              <a:t>Specific and General (</a:t>
            </a:r>
            <a:r>
              <a:rPr lang="en-GB" sz="1800" i="1" dirty="0" smtClean="0"/>
              <a:t>SPE, G</a:t>
            </a:r>
            <a:r>
              <a:rPr lang="en-GB" dirty="0" smtClean="0"/>
              <a:t>)</a:t>
            </a:r>
          </a:p>
          <a:p>
            <a:pPr lvl="2"/>
            <a:r>
              <a:rPr lang="en-GB" dirty="0" smtClean="0"/>
              <a:t>Null and Unknown quantity (</a:t>
            </a:r>
            <a:r>
              <a:rPr lang="en-GB" sz="1800" i="1" dirty="0"/>
              <a:t>NULL, UNK</a:t>
            </a:r>
            <a:r>
              <a:rPr lang="en-GB" dirty="0" smtClean="0"/>
              <a:t>)  </a:t>
            </a:r>
          </a:p>
          <a:p>
            <a:pPr lvl="1"/>
            <a:r>
              <a:rPr lang="en-GB" dirty="0" smtClean="0"/>
              <a:t>Priority 3 </a:t>
            </a:r>
            <a:r>
              <a:rPr lang="en-GB" dirty="0" smtClean="0">
                <a:sym typeface="Wingdings" panose="05000000000000000000" pitchFamily="2" charset="2"/>
              </a:rPr>
              <a:t> </a:t>
            </a:r>
            <a:r>
              <a:rPr lang="en-GB" u="sng" dirty="0" smtClean="0">
                <a:sym typeface="Wingdings" panose="05000000000000000000" pitchFamily="2" charset="2"/>
              </a:rPr>
              <a:t>Usually</a:t>
            </a:r>
            <a:r>
              <a:rPr lang="en-GB" u="sng" dirty="0" smtClean="0"/>
              <a:t> without changes</a:t>
            </a:r>
            <a:r>
              <a:rPr lang="en-GB" dirty="0" smtClean="0"/>
              <a:t> in the interviews but with 			  possible update of </a:t>
            </a:r>
            <a:r>
              <a:rPr lang="en-GB" dirty="0" err="1" smtClean="0"/>
              <a:t>GloboDiet</a:t>
            </a:r>
            <a:r>
              <a:rPr lang="en-GB" dirty="0" smtClean="0"/>
              <a:t> database.</a:t>
            </a:r>
          </a:p>
          <a:p>
            <a:pPr lvl="2"/>
            <a:r>
              <a:rPr lang="en-GB" dirty="0" smtClean="0"/>
              <a:t>Overflow quantity (</a:t>
            </a:r>
            <a:r>
              <a:rPr lang="en-GB" sz="1800" i="1" dirty="0"/>
              <a:t>OVER</a:t>
            </a:r>
            <a:r>
              <a:rPr lang="en-GB" dirty="0" smtClean="0"/>
              <a:t>)</a:t>
            </a:r>
          </a:p>
          <a:p>
            <a:pPr lvl="2"/>
            <a:r>
              <a:rPr lang="en-GB" dirty="0" smtClean="0"/>
              <a:t>New added special diet, day, descriptor (</a:t>
            </a:r>
            <a:r>
              <a:rPr lang="en-GB" sz="1800" i="1" dirty="0"/>
              <a:t>G_DT, G_DY, </a:t>
            </a:r>
            <a:r>
              <a:rPr lang="en-GB" sz="1800" i="1" dirty="0" err="1"/>
              <a:t>F_xx</a:t>
            </a:r>
            <a:r>
              <a:rPr lang="en-GB" dirty="0" smtClean="0"/>
              <a:t>)</a:t>
            </a:r>
          </a:p>
          <a:p>
            <a:pPr lvl="2"/>
            <a:r>
              <a:rPr lang="en-GB" dirty="0" smtClean="0"/>
              <a:t>Recipe selected as commercial (</a:t>
            </a:r>
            <a:r>
              <a:rPr lang="en-GB" sz="1800" i="1" dirty="0"/>
              <a:t>COM</a:t>
            </a:r>
            <a:r>
              <a:rPr lang="en-GB" dirty="0" smtClean="0"/>
              <a:t>)</a:t>
            </a:r>
          </a:p>
          <a:p>
            <a:pPr lvl="2"/>
            <a:r>
              <a:rPr lang="en-GB" dirty="0" smtClean="0"/>
              <a:t>Empty quick list item (</a:t>
            </a:r>
            <a:r>
              <a:rPr lang="en-GB" sz="1800" i="1" dirty="0"/>
              <a:t>EMP</a:t>
            </a:r>
            <a:r>
              <a:rPr lang="en-GB" dirty="0" smtClean="0"/>
              <a:t>)</a:t>
            </a:r>
          </a:p>
          <a:p>
            <a:pPr lvl="1"/>
            <a:endParaRPr lang="en-GB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16</a:t>
            </a:fld>
            <a:endParaRPr lang="en-US" sz="18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EPIC-Soft training:</a:t>
            </a:r>
            <a:endParaRPr lang="en-US"/>
          </a:p>
        </p:txBody>
      </p:sp>
      <p:sp>
        <p:nvSpPr>
          <p:cNvPr id="7" name="Title 2"/>
          <p:cNvSpPr txBox="1">
            <a:spLocks/>
          </p:cNvSpPr>
          <p:nvPr/>
        </p:nvSpPr>
        <p:spPr bwMode="auto">
          <a:xfrm>
            <a:off x="179390" y="221835"/>
            <a:ext cx="878522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rgbClr val="2780B7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9pPr>
          </a:lstStyle>
          <a:p>
            <a:r>
              <a:rPr lang="en-GB" altLang="en-US" sz="3600" b="1" dirty="0" smtClean="0"/>
              <a:t>Note Handling</a:t>
            </a:r>
            <a:endParaRPr lang="en-GB" dirty="0"/>
          </a:p>
        </p:txBody>
      </p:sp>
      <p:sp>
        <p:nvSpPr>
          <p:cNvPr id="8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1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17</a:t>
            </a:fld>
            <a:endParaRPr lang="en-US" sz="180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EPIC-Soft training:</a:t>
            </a:r>
            <a:endParaRPr lang="en-US"/>
          </a:p>
        </p:txBody>
      </p:sp>
      <p:sp>
        <p:nvSpPr>
          <p:cNvPr id="7" name="Title 2"/>
          <p:cNvSpPr txBox="1">
            <a:spLocks/>
          </p:cNvSpPr>
          <p:nvPr/>
        </p:nvSpPr>
        <p:spPr bwMode="auto">
          <a:xfrm>
            <a:off x="179390" y="188550"/>
            <a:ext cx="878522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smtClean="0">
                <a:ln>
                  <a:noFill/>
                </a:ln>
                <a:solidFill>
                  <a:srgbClr val="2780B7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Note Handling</a:t>
            </a:r>
            <a:endParaRPr kumimoji="0" lang="en-GB" sz="3300" b="0" i="0" u="none" strike="noStrike" kern="1200" cap="none" spc="0" normalizeH="0" baseline="0" noProof="0" dirty="0">
              <a:ln>
                <a:noFill/>
              </a:ln>
              <a:solidFill>
                <a:srgbClr val="2780B7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662858" cy="4883277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pt-BR" altLang="en-US" sz="2400" dirty="0" smtClean="0"/>
              <a:t>Cumulate all the received Notes (Notes.csv files) using </a:t>
            </a:r>
            <a:r>
              <a:rPr lang="en-GB" sz="2400" dirty="0" smtClean="0"/>
              <a:t>the </a:t>
            </a:r>
            <a:r>
              <a:rPr lang="en-GB" sz="2400" dirty="0"/>
              <a:t>Excel function called “Data” &amp; “From Text” </a:t>
            </a:r>
            <a:r>
              <a:rPr lang="pt-BR" altLang="en-US" sz="2400" dirty="0" smtClean="0"/>
              <a:t>Excel  </a:t>
            </a:r>
          </a:p>
          <a:p>
            <a:pPr eaLnBrk="1" hangingPunct="1">
              <a:spcBef>
                <a:spcPct val="0"/>
              </a:spcBef>
            </a:pPr>
            <a:endParaRPr lang="pt-BR" altLang="en-US" sz="1500" dirty="0" smtClean="0"/>
          </a:p>
          <a:p>
            <a:pPr eaLnBrk="1" hangingPunct="1">
              <a:spcBef>
                <a:spcPct val="0"/>
              </a:spcBef>
            </a:pPr>
            <a:r>
              <a:rPr lang="pt-BR" altLang="en-US" sz="2400" dirty="0" smtClean="0"/>
              <a:t>Check the reported Notes:</a:t>
            </a:r>
          </a:p>
          <a:p>
            <a:pPr lvl="1" eaLnBrk="1" hangingPunct="1">
              <a:spcBef>
                <a:spcPct val="0"/>
              </a:spcBef>
            </a:pPr>
            <a:r>
              <a:rPr lang="pt-BR" altLang="en-US" sz="1900" dirty="0" smtClean="0"/>
              <a:t>Organise them according to their Type, Status and priority</a:t>
            </a:r>
          </a:p>
          <a:p>
            <a:pPr lvl="1" eaLnBrk="1" hangingPunct="1">
              <a:spcBef>
                <a:spcPct val="0"/>
              </a:spcBef>
            </a:pPr>
            <a:r>
              <a:rPr lang="pt-BR" altLang="en-US" sz="1900" dirty="0" smtClean="0"/>
              <a:t>Change the note status</a:t>
            </a:r>
          </a:p>
          <a:p>
            <a:pPr lvl="1" eaLnBrk="1" hangingPunct="1">
              <a:spcBef>
                <a:spcPct val="0"/>
              </a:spcBef>
            </a:pPr>
            <a:r>
              <a:rPr lang="pt-BR" altLang="en-US" sz="1900" dirty="0" smtClean="0"/>
              <a:t>Add comments </a:t>
            </a:r>
          </a:p>
          <a:p>
            <a:pPr lvl="1" eaLnBrk="1" hangingPunct="1">
              <a:spcBef>
                <a:spcPct val="0"/>
              </a:spcBef>
            </a:pPr>
            <a:endParaRPr lang="en-GB" sz="1500" dirty="0" smtClean="0"/>
          </a:p>
          <a:p>
            <a:r>
              <a:rPr lang="en-GB" sz="2400" dirty="0" smtClean="0"/>
              <a:t>Notes may be handled via </a:t>
            </a:r>
            <a:r>
              <a:rPr lang="en-GB" sz="2400" b="1" dirty="0" smtClean="0"/>
              <a:t>two different scenarios</a:t>
            </a:r>
            <a:r>
              <a:rPr lang="en-GB" sz="2400" dirty="0" smtClean="0"/>
              <a:t>:</a:t>
            </a:r>
            <a:endParaRPr lang="fr-FR" sz="2400" dirty="0" smtClean="0"/>
          </a:p>
          <a:p>
            <a:pPr lvl="1"/>
            <a:r>
              <a:rPr lang="en-GB" sz="1900" dirty="0" smtClean="0"/>
              <a:t>Notes to be handled in </a:t>
            </a:r>
            <a:r>
              <a:rPr lang="en-GB" sz="1900" dirty="0" err="1" smtClean="0"/>
              <a:t>GloboDiet</a:t>
            </a:r>
            <a:r>
              <a:rPr lang="en-GB" sz="1900" b="1" i="1" dirty="0" smtClean="0"/>
              <a:t> edit interview mode</a:t>
            </a:r>
            <a:endParaRPr lang="fr-FR" sz="1900" dirty="0" smtClean="0"/>
          </a:p>
          <a:p>
            <a:pPr lvl="1"/>
            <a:r>
              <a:rPr lang="en-GB" sz="1900" dirty="0" smtClean="0"/>
              <a:t>Notes to be handled in </a:t>
            </a:r>
            <a:r>
              <a:rPr lang="en-GB" sz="1900" dirty="0" err="1" smtClean="0"/>
              <a:t>GloboDiet</a:t>
            </a:r>
            <a:r>
              <a:rPr lang="en-GB" sz="1900" dirty="0" smtClean="0"/>
              <a:t> </a:t>
            </a:r>
            <a:r>
              <a:rPr lang="en-GB" sz="1900" b="1" i="1" dirty="0" smtClean="0"/>
              <a:t>edit interview mode </a:t>
            </a:r>
            <a:r>
              <a:rPr lang="en-GB" sz="1900" b="1" i="1" u="sng" dirty="0" smtClean="0"/>
              <a:t>after</a:t>
            </a:r>
            <a:r>
              <a:rPr lang="en-GB" sz="1900" b="1" i="1" dirty="0" smtClean="0"/>
              <a:t> the update of </a:t>
            </a:r>
            <a:r>
              <a:rPr lang="en-GB" sz="1900" b="1" i="1" dirty="0" err="1" smtClean="0"/>
              <a:t>GloboDiet</a:t>
            </a:r>
            <a:r>
              <a:rPr lang="en-GB" sz="1900" b="1" i="1" dirty="0" smtClean="0"/>
              <a:t> parameter database </a:t>
            </a:r>
            <a:r>
              <a:rPr lang="en-GB" sz="1900" dirty="0" smtClean="0"/>
              <a:t>via maintenance process</a:t>
            </a:r>
            <a:r>
              <a:rPr lang="pt-BR" altLang="en-US" sz="2400" dirty="0" smtClean="0"/>
              <a:t> </a:t>
            </a:r>
          </a:p>
          <a:p>
            <a:pPr lvl="1"/>
            <a:endParaRPr lang="pt-BR" altLang="en-US" sz="1000" dirty="0" smtClean="0"/>
          </a:p>
          <a:p>
            <a:pPr eaLnBrk="1" hangingPunct="1">
              <a:spcBef>
                <a:spcPct val="0"/>
              </a:spcBef>
              <a:buNone/>
            </a:pPr>
            <a:r>
              <a:rPr lang="pt-BR" altLang="en-US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		 </a:t>
            </a:r>
            <a:r>
              <a:rPr lang="pt-BR" altLang="en-US" sz="2400" dirty="0" smtClean="0">
                <a:solidFill>
                  <a:srgbClr val="FF0000"/>
                </a:solidFill>
              </a:rPr>
              <a:t>See guidelines Data cleaning protocol_GD_xxxx.docx</a:t>
            </a:r>
            <a:endParaRPr lang="pt-BR" altLang="en-US" sz="2400" dirty="0" smtClean="0"/>
          </a:p>
          <a:p>
            <a:pPr marL="0" indent="0" eaLnBrk="1" hangingPunct="1">
              <a:spcBef>
                <a:spcPct val="0"/>
              </a:spcBef>
              <a:buNone/>
            </a:pPr>
            <a:endParaRPr lang="pt-BR" altLang="en-US" sz="2400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>
              <a:spcBef>
                <a:spcPct val="0"/>
              </a:spcBef>
            </a:pPr>
            <a:endParaRPr lang="pt-BR" altLang="en-US" sz="2400" dirty="0" smtClean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Quality control </a:t>
            </a: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After:     on updated </a:t>
            </a: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18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57488" y="685800"/>
            <a:ext cx="6395162" cy="4362859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GB" altLang="en-US" sz="2400" b="1" dirty="0"/>
              <a:t>Quality controls </a:t>
            </a:r>
            <a:r>
              <a:rPr lang="en-GB" altLang="en-US" sz="2400" b="1" u="sng" dirty="0" smtClean="0"/>
              <a:t>After on updated data</a:t>
            </a:r>
            <a:endParaRPr lang="en-GB" altLang="en-US" sz="2400" u="sng" dirty="0"/>
          </a:p>
          <a:p>
            <a:pPr eaLnBrk="1" hangingPunct="1">
              <a:spcBef>
                <a:spcPct val="0"/>
              </a:spcBef>
            </a:pPr>
            <a:endParaRPr lang="en-GB" altLang="en-US" sz="2800" dirty="0" smtClean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To be decided at the project </a:t>
            </a:r>
            <a:r>
              <a:rPr lang="en-US" altLang="en-US" sz="2400" dirty="0" smtClean="0"/>
              <a:t>level</a:t>
            </a: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Some suggestions from </a:t>
            </a:r>
            <a:r>
              <a:rPr lang="en-US" altLang="en-US" sz="2400" dirty="0" smtClean="0"/>
              <a:t>IARC (using csv-files)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dirty="0" smtClean="0"/>
              <a:t> </a:t>
            </a: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pt-BR" altLang="en-US" sz="2400" dirty="0" smtClean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pt-BR" altLang="en-US" sz="2400" dirty="0" smtClean="0">
                <a:solidFill>
                  <a:srgbClr val="FF0000"/>
                </a:solidFill>
              </a:rPr>
              <a:t>See guidelines </a:t>
            </a:r>
          </a:p>
          <a:p>
            <a:pPr marL="0" indent="0" eaLnBrk="1" hangingPunct="1">
              <a:spcBef>
                <a:spcPct val="0"/>
              </a:spcBef>
              <a:buFontTx/>
              <a:buChar char="-"/>
            </a:pPr>
            <a:r>
              <a:rPr lang="pt-BR" altLang="en-US" sz="2400" dirty="0" smtClean="0">
                <a:solidFill>
                  <a:srgbClr val="FF0000"/>
                </a:solidFill>
              </a:rPr>
              <a:t> Appendix 6_Export_guideline_GD_xx.doc</a:t>
            </a:r>
          </a:p>
          <a:p>
            <a:pPr marL="0" indent="0" eaLnBrk="1" hangingPunct="1">
              <a:spcBef>
                <a:spcPct val="0"/>
              </a:spcBef>
              <a:buFontTx/>
              <a:buChar char="-"/>
            </a:pPr>
            <a:r>
              <a:rPr lang="pt-BR" altLang="en-US" sz="2400" dirty="0" smtClean="0">
                <a:solidFill>
                  <a:srgbClr val="FF0000"/>
                </a:solidFill>
              </a:rPr>
              <a:t> Appendix 7_read_of_export_with_SAS_xx.doc</a:t>
            </a:r>
          </a:p>
          <a:p>
            <a:pPr marL="0" indent="0" eaLnBrk="1" hangingPunct="1">
              <a:spcBef>
                <a:spcPct val="0"/>
              </a:spcBef>
              <a:buFontTx/>
              <a:buChar char="-"/>
            </a:pPr>
            <a:endParaRPr lang="pt-BR" altLang="en-US" sz="2400" dirty="0" smtClean="0">
              <a:solidFill>
                <a:srgbClr val="FF0000"/>
              </a:solidFill>
            </a:endParaRPr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3059790" y="5085230"/>
            <a:ext cx="5832810" cy="646331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None/>
            </a:pPr>
            <a:r>
              <a:rPr lang="en-GB" altLang="en-US" sz="1800" dirty="0"/>
              <a:t>Aiming at ‘understanding’ the quality of the </a:t>
            </a:r>
            <a:r>
              <a:rPr lang="en-GB" altLang="en-US" sz="1800" dirty="0" smtClean="0"/>
              <a:t>         collected data</a:t>
            </a:r>
            <a:endParaRPr lang="en-GB" altLang="en-US" sz="1800" dirty="0"/>
          </a:p>
        </p:txBody>
      </p:sp>
      <p:sp>
        <p:nvSpPr>
          <p:cNvPr id="14" name="AutoShape 9"/>
          <p:cNvSpPr>
            <a:spLocks/>
          </p:cNvSpPr>
          <p:nvPr/>
        </p:nvSpPr>
        <p:spPr bwMode="auto">
          <a:xfrm rot="16200000">
            <a:off x="5687841" y="2312845"/>
            <a:ext cx="360363" cy="4752975"/>
          </a:xfrm>
          <a:prstGeom prst="leftBrace">
            <a:avLst>
              <a:gd name="adj1" fmla="val 10991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18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/>
              <a:t>Some </a:t>
            </a:r>
            <a:r>
              <a:rPr lang="en-GB" altLang="en-US" sz="3600" b="1" dirty="0" smtClean="0"/>
              <a:t>suggestions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19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251400" y="1484730"/>
            <a:ext cx="8785220" cy="449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Checks in data processing: during food linkage/merging </a:t>
            </a:r>
            <a:r>
              <a:rPr lang="en-US" altLang="en-US" sz="2000" dirty="0" smtClean="0"/>
              <a:t>(e.g. ID-numbers, sex, birth date)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All New foods have been handled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No New foods anymore in database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All New unknown recipes have been handled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No New Unknown recipes anymore in database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Check distribution of the consumed quantities by </a:t>
            </a:r>
            <a:r>
              <a:rPr lang="en-US" altLang="en-US" sz="2400" dirty="0" err="1" smtClean="0"/>
              <a:t>GloboDiet</a:t>
            </a:r>
            <a:r>
              <a:rPr lang="en-US" altLang="en-US" sz="2400" dirty="0" smtClean="0"/>
              <a:t> food classification at group, subgroup and sub-subgroup levels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mean, SD, min, percentiles, max…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Ten lowest &amp; Ten highest nutrient intakes of the nutrients of interest </a:t>
            </a:r>
            <a:r>
              <a:rPr lang="en-US" altLang="en-US" sz="2000" dirty="0" smtClean="0"/>
              <a:t>(e.g. energy &amp; macronutrients)</a:t>
            </a:r>
            <a:r>
              <a:rPr lang="en-US" altLang="en-US" sz="2400" dirty="0" smtClean="0"/>
              <a:t> should be evaluated.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Strange values should be checked with original interview files</a:t>
            </a:r>
            <a:endParaRPr lang="pt-BR" altLang="en-US" sz="1900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27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/>
              <a:t>Some </a:t>
            </a:r>
            <a:r>
              <a:rPr lang="en-GB" altLang="en-US" sz="3600" b="1" dirty="0" smtClean="0"/>
              <a:t>more suggestions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20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251400" y="1484730"/>
            <a:ext cx="8785220" cy="449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</a:pPr>
            <a:endParaRPr lang="pt-BR" altLang="en-US" sz="1900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250670" y="6381410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735946" y="6381410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10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51400" y="1448995"/>
            <a:ext cx="8771492" cy="471638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Number </a:t>
            </a:r>
            <a:r>
              <a:rPr lang="en-US" altLang="en-US" sz="2400" dirty="0"/>
              <a:t>of interviews (1, 2, etc</a:t>
            </a:r>
            <a:r>
              <a:rPr lang="en-US" altLang="en-US" sz="2400" dirty="0" smtClean="0"/>
              <a:t>…)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Distribution of interviews over the </a:t>
            </a:r>
            <a:r>
              <a:rPr lang="en-US" altLang="en-US" sz="2400" dirty="0" smtClean="0"/>
              <a:t>week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Duration of the </a:t>
            </a:r>
            <a:r>
              <a:rPr lang="en-US" altLang="en-US" sz="2400" dirty="0" smtClean="0"/>
              <a:t>interviews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Subject characteristics </a:t>
            </a:r>
            <a:r>
              <a:rPr lang="en-US" altLang="en-US" sz="2000" dirty="0"/>
              <a:t>(gender, </a:t>
            </a:r>
            <a:r>
              <a:rPr lang="en-US" altLang="en-US" sz="2000" dirty="0" smtClean="0"/>
              <a:t>age socioeconomic…)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Number of items per </a:t>
            </a:r>
            <a:r>
              <a:rPr lang="en-US" altLang="en-US" sz="2400" dirty="0" smtClean="0"/>
              <a:t>interview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Number of days between the </a:t>
            </a:r>
            <a:r>
              <a:rPr lang="en-US" altLang="en-US" sz="2400" dirty="0" smtClean="0"/>
              <a:t>interviews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Number of errors with regard to </a:t>
            </a:r>
            <a:r>
              <a:rPr lang="en-US" altLang="en-US" sz="2400" dirty="0" smtClean="0"/>
              <a:t>design/planning (e.g. season, week day…)</a:t>
            </a:r>
            <a:endParaRPr lang="en-US" altLang="en-US" sz="24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Energy </a:t>
            </a:r>
            <a:r>
              <a:rPr lang="en-US" altLang="en-US" sz="2400" dirty="0"/>
              <a:t>ratio (energy intake </a:t>
            </a:r>
            <a:r>
              <a:rPr lang="en-US" altLang="en-US" sz="2400" i="1" dirty="0"/>
              <a:t>vs</a:t>
            </a:r>
            <a:r>
              <a:rPr lang="en-US" altLang="en-US" sz="2400" dirty="0"/>
              <a:t> required</a:t>
            </a:r>
            <a:r>
              <a:rPr lang="en-US" altLang="en-US" sz="2400" dirty="0" smtClean="0"/>
              <a:t>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Energy ratio (Goldberg &amp; Black) </a:t>
            </a:r>
            <a:endParaRPr lang="en-US" altLang="en-US" sz="2400" dirty="0" smtClean="0"/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See annex on data cleaning protocol guideline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AutoNum type="arabicPeriod" startAt="6"/>
            </a:pPr>
            <a:endParaRPr lang="en-US" altLang="en-US" sz="20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GB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1377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chemeClr val="bg1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dirty="0" smtClean="0"/>
              <a:t>International agency </a:t>
            </a:r>
            <a:r>
              <a:rPr lang="nl-BE" sz="1700" dirty="0" err="1" smtClean="0"/>
              <a:t>for</a:t>
            </a:r>
            <a:r>
              <a:rPr lang="nl-BE" sz="1700" dirty="0" smtClean="0"/>
              <a:t> research on </a:t>
            </a:r>
            <a:r>
              <a:rPr lang="nl-BE" sz="1700" dirty="0" err="1" smtClean="0"/>
              <a:t>cancer</a:t>
            </a:r>
            <a:r>
              <a:rPr lang="nl-BE" sz="1700" smtClean="0"/>
              <a:t> lyon</a:t>
            </a:r>
            <a:r>
              <a:rPr lang="nl-BE" sz="1700" dirty="0" smtClean="0"/>
              <a:t> - </a:t>
            </a:r>
            <a:r>
              <a:rPr lang="nl-BE" sz="1700" dirty="0" err="1" smtClean="0"/>
              <a:t>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90" y="188550"/>
            <a:ext cx="8785220" cy="2016280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and data handling of the </a:t>
            </a:r>
            <a:r>
              <a:rPr lang="en-US" altLang="en-US" dirty="0" err="1" smtClean="0"/>
              <a:t>GloboDiet</a:t>
            </a:r>
            <a:r>
              <a:rPr lang="en-US" altLang="en-US" dirty="0" smtClean="0"/>
              <a:t> </a:t>
            </a:r>
            <a:r>
              <a:rPr lang="en-US" altLang="en-US" dirty="0"/>
              <a:t>24-HDR </a:t>
            </a:r>
            <a:r>
              <a:rPr lang="en-US" altLang="en-US" dirty="0" smtClean="0"/>
              <a:t>interviews</a:t>
            </a:r>
            <a:br>
              <a:rPr lang="en-US" altLang="en-US" dirty="0" smtClean="0"/>
            </a:br>
            <a:r>
              <a:rPr lang="en-US" altLang="en-US" sz="3200" dirty="0" smtClean="0"/>
              <a:t>Part II – Management of exported files</a:t>
            </a:r>
            <a:endParaRPr lang="nl-BE" altLang="en-US" sz="3200" dirty="0" smtClean="0"/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0288" y="5602288"/>
            <a:ext cx="1223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nl-BE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e-SMP</a:t>
            </a:r>
          </a:p>
        </p:txBody>
      </p:sp>
    </p:spTree>
    <p:extLst>
      <p:ext uri="{BB962C8B-B14F-4D97-AF65-F5344CB8AC3E}">
        <p14:creationId xmlns:p14="http://schemas.microsoft.com/office/powerpoint/2010/main" val="124348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2492870"/>
            <a:ext cx="8463402" cy="3914280"/>
          </a:xfrm>
        </p:spPr>
        <p:txBody>
          <a:bodyPr>
            <a:noAutofit/>
          </a:bodyPr>
          <a:lstStyle/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3" action="ppaction://hlinksldjump"/>
              </a:rPr>
              <a:t>Quality control Before the data collection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4" action="ppaction://hlinksldjump"/>
              </a:rPr>
              <a:t>Quality control During the </a:t>
            </a:r>
            <a:r>
              <a:rPr lang="en-US" sz="2000" cap="none" dirty="0">
                <a:hlinkClick r:id="rId3" action="ppaction://hlinksldjump"/>
              </a:rPr>
              <a:t>data collection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4" action="ppaction://hlinksldjump"/>
              </a:rPr>
              <a:t>Quality control After the </a:t>
            </a:r>
            <a:r>
              <a:rPr lang="en-US" sz="2000" cap="none" dirty="0">
                <a:hlinkClick r:id="rId3" action="ppaction://hlinksldjump"/>
              </a:rPr>
              <a:t>data collection: cleaning phase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4" action="ppaction://hlinksldjump"/>
              </a:rPr>
              <a:t>Quality control After the </a:t>
            </a:r>
            <a:r>
              <a:rPr lang="en-US" sz="2000" cap="none" dirty="0">
                <a:hlinkClick r:id="rId3" action="ppaction://hlinksldjump"/>
              </a:rPr>
              <a:t>data collection: </a:t>
            </a:r>
            <a:r>
              <a:rPr lang="en-US" sz="2000" cap="none" dirty="0" smtClean="0">
                <a:hlinkClick r:id="rId3" action="ppaction://hlinksldjump"/>
              </a:rPr>
              <a:t>after update 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u="sng" cap="none" dirty="0" smtClean="0">
                <a:solidFill>
                  <a:srgbClr val="FF0000"/>
                </a:solidFill>
              </a:rPr>
              <a:t>Final output of data Handing: csv-files</a:t>
            </a:r>
            <a:endParaRPr lang="en-US" sz="2000" u="sng" cap="none" dirty="0">
              <a:solidFill>
                <a:srgbClr val="FF0000"/>
              </a:solidFill>
            </a:endParaRPr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General information - INTI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Reported items - INTERV &amp; INTERV_QT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Energy &amp; Nutrient intakes - INTNUT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5" action="ppaction://hlinksldjump"/>
              </a:rPr>
              <a:t>Data on Reported notes - NOTE</a:t>
            </a:r>
            <a:endParaRPr lang="en-US" sz="2000" cap="none" dirty="0"/>
          </a:p>
          <a:p>
            <a:pPr marL="514350" indent="-514350" algn="l" eaLnBrk="1" fontAlgn="auto" hangingPunct="1">
              <a:spcAft>
                <a:spcPts val="0"/>
              </a:spcAft>
              <a:buClr>
                <a:schemeClr val="accent1"/>
              </a:buClr>
              <a:buFont typeface="+mj-lt"/>
              <a:buAutoNum type="arabicPeriod"/>
              <a:defRPr/>
            </a:pPr>
            <a:r>
              <a:rPr lang="en-US" sz="2000" cap="none" dirty="0">
                <a:hlinkClick r:id="rId6" action="ppaction://hlinksldjump"/>
              </a:rPr>
              <a:t>Some Final Highlights</a:t>
            </a:r>
            <a:endParaRPr lang="en-US" sz="2000" cap="none" dirty="0"/>
          </a:p>
        </p:txBody>
      </p:sp>
      <p:sp>
        <p:nvSpPr>
          <p:cNvPr id="3379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4800" y="6410325"/>
            <a:ext cx="3906838" cy="350838"/>
          </a:xfrm>
        </p:spPr>
        <p:txBody>
          <a:bodyPr/>
          <a:lstStyle/>
          <a:p>
            <a:pPr>
              <a:defRPr/>
            </a:pPr>
            <a:r>
              <a:rPr lang="en-GB" dirty="0" err="1" smtClean="0"/>
              <a:t>GloboDiet</a:t>
            </a:r>
            <a:r>
              <a:rPr lang="en-GB" dirty="0" smtClean="0"/>
              <a:t> </a:t>
            </a:r>
            <a:r>
              <a:rPr lang="en-GB" dirty="0"/>
              <a:t>training:</a:t>
            </a:r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A0CEA1-9AF3-4FE6-A804-D4E0E1C56C2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  <a:extLst/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  <a:endParaRPr lang="en-US" dirty="0" smtClean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9" name="Tekstvak 8"/>
          <p:cNvSpPr txBox="1"/>
          <p:nvPr/>
        </p:nvSpPr>
        <p:spPr>
          <a:xfrm>
            <a:off x="178708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908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on updated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Final output of data handling </a:t>
            </a:r>
            <a:r>
              <a:rPr lang="en-US" b="1" dirty="0" smtClean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(csv-files)</a:t>
            </a:r>
            <a:endParaRPr lang="en-US" b="1" dirty="0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23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87780" y="685801"/>
            <a:ext cx="5976830" cy="173506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b="1" dirty="0" smtClean="0"/>
              <a:t>Final output of data handling </a:t>
            </a:r>
            <a:r>
              <a:rPr lang="en-GB" altLang="en-US" sz="2400" dirty="0" smtClean="0"/>
              <a:t> (csv-files) </a:t>
            </a:r>
            <a:endParaRPr lang="en-GB" altLang="en-US" sz="2400" dirty="0"/>
          </a:p>
          <a:p>
            <a:pPr eaLnBrk="1" hangingPunct="1">
              <a:spcBef>
                <a:spcPct val="0"/>
              </a:spcBef>
            </a:pPr>
            <a:endParaRPr lang="nl-BE" altLang="en-US" sz="2400" dirty="0" smtClean="0"/>
          </a:p>
          <a:p>
            <a:pPr eaLnBrk="1" hangingPunct="1">
              <a:spcBef>
                <a:spcPct val="0"/>
              </a:spcBef>
            </a:pPr>
            <a:r>
              <a:rPr lang="en-GB" sz="2400" dirty="0"/>
              <a:t>The Coordinator </a:t>
            </a:r>
            <a:r>
              <a:rPr lang="en-GB" sz="2400" dirty="0" smtClean="0"/>
              <a:t>workflow</a:t>
            </a:r>
            <a:endParaRPr lang="nl-BE" altLang="en-US" sz="2400" dirty="0" smtClean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nl-BE" altLang="en-US" sz="2400" dirty="0" smtClean="0"/>
              <a:t> </a:t>
            </a:r>
            <a:endParaRPr lang="en-GB" altLang="en-US" sz="2400" dirty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26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80"/>
          <a:stretch/>
        </p:blipFill>
        <p:spPr bwMode="auto">
          <a:xfrm>
            <a:off x="2915770" y="1927425"/>
            <a:ext cx="6167242" cy="3312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" name="Right Arrow 26"/>
          <p:cNvSpPr/>
          <p:nvPr/>
        </p:nvSpPr>
        <p:spPr>
          <a:xfrm rot="2192937">
            <a:off x="6580556" y="3325463"/>
            <a:ext cx="504070" cy="38235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87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/>
              <a:t>Final output of data handling </a:t>
            </a:r>
            <a:r>
              <a:rPr lang="en-GB" altLang="en-US" sz="3600" dirty="0"/>
              <a:t> (csv-files)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24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251400" y="1484730"/>
            <a:ext cx="8569190" cy="3679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nl-BE" altLang="en-US" sz="2400" dirty="0" smtClean="0"/>
              <a:t>5 exported csv-files: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nl-BE" altLang="en-US" sz="1900" b="1" u="sng" dirty="0" smtClean="0"/>
              <a:t>INTGI</a:t>
            </a:r>
            <a:r>
              <a:rPr lang="nl-BE" altLang="en-US" sz="1900" dirty="0" smtClean="0"/>
              <a:t>: general information on subject &amp; recall/record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nl-BE" altLang="en-US" sz="1900" b="1" u="sng" dirty="0" smtClean="0"/>
              <a:t>INTERV</a:t>
            </a:r>
            <a:r>
              <a:rPr lang="nl-BE" altLang="en-US" sz="1900" dirty="0" smtClean="0"/>
              <a:t>: </a:t>
            </a:r>
            <a:r>
              <a:rPr lang="pt-BR" sz="1900" dirty="0" smtClean="0"/>
              <a:t>reported foods, recipes, ingredients &amp; supplements including detailed consumption descriptions and quantifications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u="sng" dirty="0" smtClean="0"/>
              <a:t>INTERV_QT</a:t>
            </a:r>
            <a:r>
              <a:rPr lang="pt-BR" altLang="en-US" sz="1900" dirty="0" smtClean="0"/>
              <a:t>:  for items quantified with </a:t>
            </a:r>
            <a:r>
              <a:rPr lang="pt-BR" sz="1900" dirty="0" smtClean="0"/>
              <a:t>photos or shapes </a:t>
            </a:r>
            <a:r>
              <a:rPr lang="nl-BE" altLang="en-US" sz="1900" dirty="0" smtClean="0"/>
              <a:t>	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sz="1900" b="1" u="sng" dirty="0" smtClean="0"/>
              <a:t>INTNUT</a:t>
            </a:r>
            <a:r>
              <a:rPr lang="pt-BR" sz="1900" dirty="0" smtClean="0"/>
              <a:t>: energy &amp; macronutrient intakes per reported food/ingredients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nl-BE" altLang="en-US" sz="1900" b="1" u="sng" dirty="0" smtClean="0"/>
              <a:t>NOTES</a:t>
            </a:r>
            <a:r>
              <a:rPr lang="nl-BE" altLang="en-US" sz="1900" dirty="0" smtClean="0"/>
              <a:t>: </a:t>
            </a:r>
            <a:r>
              <a:rPr lang="pt-BR" sz="1900" dirty="0" smtClean="0"/>
              <a:t>reported notes generated during the interview / data entry</a:t>
            </a:r>
            <a:endParaRPr lang="nl-BE" altLang="en-US" sz="1900" dirty="0" smtClean="0"/>
          </a:p>
          <a:p>
            <a:pPr marL="0" lvl="1" indent="0" eaLnBrk="1" hangingPunct="1">
              <a:spcBef>
                <a:spcPct val="0"/>
              </a:spcBef>
              <a:buClrTx/>
              <a:buSzPct val="85000"/>
              <a:buFont typeface="Wingdings" pitchFamily="2" charset="2"/>
              <a:buNone/>
            </a:pPr>
            <a:r>
              <a:rPr lang="nl-BE" altLang="en-US" sz="2400" dirty="0" smtClean="0"/>
              <a:t> </a:t>
            </a:r>
            <a:endParaRPr lang="pt-BR" sz="1900" dirty="0" smtClean="0"/>
          </a:p>
          <a:p>
            <a:pPr marL="0" indent="0" eaLnBrk="1" hangingPunct="1">
              <a:spcBef>
                <a:spcPct val="0"/>
              </a:spcBef>
              <a:buFont typeface="Wingdings 2" pitchFamily="18" charset="2"/>
              <a:buNone/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26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 b="1" dirty="0" smtClean="0"/>
              <a:t>Reminder: </a:t>
            </a:r>
            <a:r>
              <a:rPr lang="en-GB" altLang="en-US" sz="3200" b="1" dirty="0" err="1" smtClean="0"/>
              <a:t>Recompute</a:t>
            </a:r>
            <a:r>
              <a:rPr lang="en-GB" altLang="en-US" sz="3200" b="1" dirty="0" smtClean="0"/>
              <a:t> program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25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179390" y="1556741"/>
            <a:ext cx="8713210" cy="4032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sz="2400" dirty="0" smtClean="0"/>
              <a:t>The </a:t>
            </a:r>
            <a:r>
              <a:rPr lang="en-GB" sz="2400" dirty="0" err="1" smtClean="0"/>
              <a:t>Recompute</a:t>
            </a:r>
            <a:r>
              <a:rPr lang="en-GB" sz="2400" dirty="0"/>
              <a:t> </a:t>
            </a:r>
            <a:r>
              <a:rPr lang="en-GB" sz="2400" dirty="0" smtClean="0"/>
              <a:t>is running </a:t>
            </a:r>
            <a:r>
              <a:rPr lang="en-GB" sz="2400" dirty="0"/>
              <a:t>during the interview Backup or Export </a:t>
            </a:r>
            <a:endParaRPr lang="en-GB" sz="2400" dirty="0" smtClean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sz="2400" dirty="0" smtClean="0"/>
              <a:t>The </a:t>
            </a:r>
            <a:r>
              <a:rPr lang="en-GB" sz="2400" dirty="0" err="1"/>
              <a:t>Recompute</a:t>
            </a:r>
            <a:r>
              <a:rPr lang="en-GB" sz="2400" dirty="0"/>
              <a:t> </a:t>
            </a:r>
            <a:r>
              <a:rPr lang="en-GB" sz="2400" dirty="0" smtClean="0"/>
              <a:t> allows </a:t>
            </a:r>
            <a:r>
              <a:rPr lang="en-GB" sz="2400" dirty="0"/>
              <a:t>to </a:t>
            </a:r>
            <a:r>
              <a:rPr lang="en-GB" sz="2400" dirty="0" smtClean="0"/>
              <a:t>re-calculate</a:t>
            </a:r>
            <a:r>
              <a:rPr lang="nl-BE" altLang="en-US" sz="2400" dirty="0" smtClean="0"/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900" dirty="0"/>
              <a:t>The reported </a:t>
            </a:r>
            <a:r>
              <a:rPr lang="en-GB" sz="1900" u="sng" dirty="0"/>
              <a:t>consumed quantities </a:t>
            </a:r>
            <a:r>
              <a:rPr lang="en-GB" sz="1900" dirty="0"/>
              <a:t>of each item </a:t>
            </a:r>
            <a:r>
              <a:rPr lang="en-US" sz="1900" dirty="0"/>
              <a:t>taking into account the new/updated coefficients </a:t>
            </a:r>
            <a:r>
              <a:rPr lang="en-US" sz="1900" dirty="0" smtClean="0"/>
              <a:t>&amp; percentages as well as the changes in the quantification methods (e.g. updated quantity of standard unit/portion, photo…)  </a:t>
            </a:r>
            <a:endParaRPr lang="en-US" sz="19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900" dirty="0"/>
              <a:t>The </a:t>
            </a:r>
            <a:r>
              <a:rPr lang="en-US" sz="1900" u="sng" dirty="0"/>
              <a:t>energy and macro-nutrients </a:t>
            </a:r>
            <a:r>
              <a:rPr lang="en-US" sz="1900" dirty="0" smtClean="0"/>
              <a:t>based </a:t>
            </a:r>
            <a:r>
              <a:rPr lang="en-US" sz="1900" dirty="0"/>
              <a:t>on updated quantities and/or new sets of </a:t>
            </a:r>
            <a:r>
              <a:rPr lang="en-US" sz="1900" dirty="0" smtClean="0"/>
              <a:t>nutrients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sz="1900" dirty="0" smtClean="0"/>
              <a:t>Remark</a:t>
            </a:r>
            <a:r>
              <a:rPr lang="en-GB" sz="1900" dirty="0"/>
              <a:t>: </a:t>
            </a:r>
            <a:r>
              <a:rPr lang="en-GB" sz="1900" dirty="0" smtClean="0"/>
              <a:t>the </a:t>
            </a:r>
            <a:r>
              <a:rPr lang="en-GB" sz="1900" u="sng" dirty="0" smtClean="0"/>
              <a:t>information reported </a:t>
            </a:r>
            <a:r>
              <a:rPr lang="en-GB" sz="1900" u="sng" dirty="0"/>
              <a:t>by the subjects are not </a:t>
            </a:r>
            <a:r>
              <a:rPr lang="en-GB" sz="1900" u="sng" dirty="0" smtClean="0"/>
              <a:t>modified</a:t>
            </a:r>
            <a:r>
              <a:rPr lang="en-GB" sz="1900" u="sng" dirty="0"/>
              <a:t> </a:t>
            </a:r>
            <a:r>
              <a:rPr lang="en-GB" sz="1900" u="sng" dirty="0" smtClean="0"/>
              <a:t>          </a:t>
            </a:r>
          </a:p>
          <a:p>
            <a:pPr marL="274638" lvl="1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1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      </a:t>
            </a:r>
            <a:r>
              <a:rPr lang="en-GB" sz="1800" dirty="0">
                <a:solidFill>
                  <a:srgbClr val="FF0000"/>
                </a:solidFill>
                <a:sym typeface="Wingdings" panose="05000000000000000000" pitchFamily="2" charset="2"/>
              </a:rPr>
              <a:t>see Appendix 6_Export_guidelines.doc </a:t>
            </a:r>
            <a:r>
              <a:rPr lang="en-GB" sz="1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GB" sz="1600" dirty="0" smtClean="0">
                <a:sym typeface="Wingdings" panose="05000000000000000000" pitchFamily="2" charset="2"/>
              </a:rPr>
              <a:t>( in blue </a:t>
            </a:r>
            <a:r>
              <a:rPr lang="en-GB" sz="1600" dirty="0">
                <a:sym typeface="Wingdings" panose="05000000000000000000" pitchFamily="2" charset="2"/>
              </a:rPr>
              <a:t>($) </a:t>
            </a:r>
            <a:r>
              <a:rPr lang="en-GB" sz="1600" dirty="0" smtClean="0">
                <a:sym typeface="Wingdings" panose="05000000000000000000" pitchFamily="2" charset="2"/>
              </a:rPr>
              <a:t>re-computed variables )</a:t>
            </a:r>
            <a:r>
              <a:rPr lang="en-US" sz="1600" dirty="0" smtClean="0">
                <a:sym typeface="Wingdings" panose="05000000000000000000" pitchFamily="2" charset="2"/>
              </a:rPr>
              <a:t> </a:t>
            </a:r>
            <a:endParaRPr lang="en-GB" sz="1600" dirty="0"/>
          </a:p>
          <a:p>
            <a:pPr marL="0" lvl="1" indent="0" eaLnBrk="1" hangingPunct="1">
              <a:spcBef>
                <a:spcPct val="0"/>
              </a:spcBef>
              <a:buClrTx/>
              <a:buSzPct val="85000"/>
              <a:buFont typeface="Wingdings" pitchFamily="2" charset="2"/>
              <a:buNone/>
            </a:pPr>
            <a:r>
              <a:rPr lang="nl-BE" altLang="en-US" sz="2400" dirty="0" smtClean="0"/>
              <a:t> </a:t>
            </a:r>
            <a:endParaRPr lang="pt-BR" sz="1900" dirty="0" smtClean="0"/>
          </a:p>
          <a:p>
            <a:pPr marL="0" indent="0" eaLnBrk="1" hangingPunct="1">
              <a:spcBef>
                <a:spcPct val="0"/>
              </a:spcBef>
              <a:buFont typeface="Wingdings 2" pitchFamily="18" charset="2"/>
              <a:buNone/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000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on updated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26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87780" y="685801"/>
            <a:ext cx="5976830" cy="5724524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b="1" dirty="0"/>
              <a:t>Data on general information - INTGI</a:t>
            </a:r>
          </a:p>
          <a:p>
            <a:pPr eaLnBrk="1" hangingPunct="1">
              <a:spcBef>
                <a:spcPct val="0"/>
              </a:spcBef>
            </a:pPr>
            <a:endParaRPr lang="nl-BE" altLang="en-US" sz="2400" dirty="0" smtClean="0"/>
          </a:p>
          <a:p>
            <a:pPr eaLnBrk="1" hangingPunct="1">
              <a:spcBef>
                <a:spcPts val="600"/>
              </a:spcBef>
            </a:pPr>
            <a:r>
              <a:rPr lang="pt-BR" altLang="en-US" sz="2400" dirty="0"/>
              <a:t>General information on </a:t>
            </a:r>
            <a:r>
              <a:rPr lang="pt-BR" altLang="en-US" sz="2400" dirty="0" smtClean="0"/>
              <a:t>subjects: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 smtClean="0"/>
              <a:t>Country, Center/Region, ID number, 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 smtClean="0"/>
              <a:t>Sex, Birth date, Weight, Height, 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 smtClean="0"/>
              <a:t>Energy requirement, Energy intake </a:t>
            </a:r>
          </a:p>
          <a:p>
            <a:pPr lvl="1" eaLnBrk="1" hangingPunct="1">
              <a:spcBef>
                <a:spcPts val="600"/>
              </a:spcBef>
            </a:pPr>
            <a:endParaRPr lang="pt-BR" altLang="en-US" sz="1900" dirty="0" smtClean="0"/>
          </a:p>
          <a:p>
            <a:pPr eaLnBrk="1" hangingPunct="1">
              <a:spcBef>
                <a:spcPts val="600"/>
              </a:spcBef>
            </a:pPr>
            <a:r>
              <a:rPr lang="pt-BR" altLang="en-US" sz="2400" dirty="0" smtClean="0"/>
              <a:t>General information on recalls or records: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 smtClean="0"/>
              <a:t>Date of recall/record &amp; day (Monday </a:t>
            </a:r>
            <a:r>
              <a:rPr lang="pt-BR" altLang="en-US" sz="2000" dirty="0"/>
              <a:t>to Sunday</a:t>
            </a:r>
            <a:r>
              <a:rPr lang="pt-BR" altLang="en-US" sz="2000" dirty="0" smtClean="0"/>
              <a:t>)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/>
              <a:t>Interview date </a:t>
            </a:r>
            <a:r>
              <a:rPr lang="pt-BR" altLang="en-US" sz="2000" dirty="0" smtClean="0"/>
              <a:t>&amp; day </a:t>
            </a:r>
            <a:r>
              <a:rPr lang="pt-BR" altLang="en-US" sz="2000" dirty="0"/>
              <a:t>(Monday to Sunday) </a:t>
            </a:r>
            <a:r>
              <a:rPr lang="pt-BR" altLang="en-US" sz="2000" dirty="0" smtClean="0"/>
              <a:t> 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 smtClean="0"/>
              <a:t>Special Diet codes, Special Day codes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/>
              <a:t>Interviewer code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dirty="0" smtClean="0"/>
              <a:t>Date </a:t>
            </a:r>
            <a:r>
              <a:rPr lang="pt-BR" altLang="en-US" sz="2000" dirty="0"/>
              <a:t>of last </a:t>
            </a:r>
            <a:r>
              <a:rPr lang="pt-BR" altLang="en-US" sz="2000" dirty="0" smtClean="0"/>
              <a:t>recompute (backup/export) </a:t>
            </a:r>
          </a:p>
          <a:p>
            <a:pPr marL="274638" lvl="1" indent="0" algn="ctr" eaLnBrk="1" hangingPunct="1">
              <a:spcBef>
                <a:spcPts val="600"/>
              </a:spcBef>
              <a:buNone/>
            </a:pPr>
            <a:r>
              <a:rPr lang="pt-BR" altLang="en-US" sz="20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1 record per interview</a:t>
            </a:r>
            <a:endParaRPr lang="nl-BE" altLang="en-US" sz="2000" dirty="0" smtClean="0">
              <a:solidFill>
                <a:srgbClr val="FF0000"/>
              </a:solidFill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nl-BE" altLang="en-US" sz="2400" dirty="0" smtClean="0"/>
              <a:t> </a:t>
            </a:r>
            <a:endParaRPr lang="en-GB" altLang="en-US" sz="2400" dirty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327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updated 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27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57488" y="685801"/>
            <a:ext cx="6107122" cy="5724524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GB" altLang="en-US" sz="2400" b="1" dirty="0"/>
              <a:t>Data on </a:t>
            </a:r>
            <a:r>
              <a:rPr lang="en-GB" altLang="en-US" sz="2400" b="1" dirty="0" smtClean="0"/>
              <a:t>reported items – INTERV/INTERV_QT</a:t>
            </a:r>
            <a:endParaRPr lang="en-GB" altLang="en-US" sz="2400" b="1" dirty="0"/>
          </a:p>
          <a:p>
            <a:pPr eaLnBrk="1" hangingPunct="1">
              <a:spcBef>
                <a:spcPts val="600"/>
              </a:spcBef>
            </a:pPr>
            <a:r>
              <a:rPr lang="pt-BR" altLang="en-US" sz="2400" dirty="0" smtClean="0"/>
              <a:t>Key variables to link the different records &amp; tables: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dirty="0" smtClean="0"/>
              <a:t>COUNTRY</a:t>
            </a:r>
            <a:r>
              <a:rPr lang="pt-BR" altLang="en-US" sz="1900" dirty="0" smtClean="0"/>
              <a:t>: Country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dirty="0" smtClean="0"/>
              <a:t>CENTER</a:t>
            </a:r>
            <a:r>
              <a:rPr lang="pt-BR" altLang="en-US" sz="1900" dirty="0" smtClean="0"/>
              <a:t>: Center/Region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dirty="0" smtClean="0"/>
              <a:t>ID_NUM</a:t>
            </a:r>
            <a:r>
              <a:rPr lang="pt-BR" altLang="en-US" sz="1900" dirty="0" smtClean="0"/>
              <a:t>: ID number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dirty="0" smtClean="0"/>
              <a:t>DATE_REC</a:t>
            </a:r>
            <a:r>
              <a:rPr lang="pt-BR" altLang="en-US" sz="1900" dirty="0" smtClean="0"/>
              <a:t>: Date of recall/record</a:t>
            </a:r>
            <a:endParaRPr lang="pt-BR" altLang="en-US" sz="2000" dirty="0" smtClean="0"/>
          </a:p>
          <a:p>
            <a:pPr lvl="1" eaLnBrk="1" hangingPunct="1">
              <a:spcBef>
                <a:spcPts val="0"/>
              </a:spcBef>
            </a:pPr>
            <a:endParaRPr lang="pt-BR" altLang="en-US" sz="1000" b="1" dirty="0" smtClean="0"/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FCO_CODE</a:t>
            </a:r>
            <a:r>
              <a:rPr lang="pt-BR" altLang="en-US" sz="2000" dirty="0" smtClean="0"/>
              <a:t>: Food consumption occasion code (FCO)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HOUR</a:t>
            </a:r>
            <a:r>
              <a:rPr lang="pt-BR" altLang="en-US" sz="2000" dirty="0" smtClean="0"/>
              <a:t>: </a:t>
            </a:r>
            <a:r>
              <a:rPr lang="pt-BR" altLang="en-US" sz="2000" dirty="0"/>
              <a:t>FCO </a:t>
            </a:r>
            <a:r>
              <a:rPr lang="pt-BR" altLang="en-US" sz="2000" dirty="0" smtClean="0"/>
              <a:t>hour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PLACE_CODE</a:t>
            </a:r>
            <a:r>
              <a:rPr lang="pt-BR" altLang="en-US" sz="2000" dirty="0" smtClean="0"/>
              <a:t>: </a:t>
            </a:r>
            <a:r>
              <a:rPr lang="pt-BR" altLang="en-US" sz="2000" dirty="0"/>
              <a:t> </a:t>
            </a:r>
            <a:r>
              <a:rPr lang="pt-BR" altLang="en-US" sz="2000" dirty="0" smtClean="0"/>
              <a:t>place of consumption code</a:t>
            </a:r>
            <a:endParaRPr lang="pt-BR" altLang="en-US" sz="2000" dirty="0"/>
          </a:p>
          <a:p>
            <a:pPr lvl="1" eaLnBrk="1" hangingPunct="1">
              <a:spcBef>
                <a:spcPts val="0"/>
              </a:spcBef>
            </a:pPr>
            <a:endParaRPr lang="pt-BR" altLang="en-US" sz="1000" b="1" dirty="0" smtClean="0"/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TOK</a:t>
            </a:r>
            <a:r>
              <a:rPr lang="pt-BR" altLang="en-US" sz="2000" dirty="0" smtClean="0"/>
              <a:t>: Sequential </a:t>
            </a:r>
            <a:r>
              <a:rPr lang="pt-BR" altLang="en-US" sz="2000" dirty="0"/>
              <a:t>number </a:t>
            </a:r>
            <a:r>
              <a:rPr lang="pt-BR" altLang="en-US" sz="2000" dirty="0" smtClean="0"/>
              <a:t>of the Quick List Item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QLINUM</a:t>
            </a:r>
            <a:r>
              <a:rPr lang="pt-BR" altLang="en-US" sz="2000" dirty="0" smtClean="0"/>
              <a:t>: Sequential </a:t>
            </a:r>
            <a:r>
              <a:rPr lang="pt-BR" altLang="en-US" sz="2000" dirty="0"/>
              <a:t>number within the quick list </a:t>
            </a:r>
            <a:r>
              <a:rPr lang="pt-BR" altLang="en-US" sz="2000" dirty="0" smtClean="0"/>
              <a:t>item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ING_NUM</a:t>
            </a:r>
            <a:r>
              <a:rPr lang="pt-BR" altLang="en-US" sz="2000" dirty="0" smtClean="0"/>
              <a:t>: Sequential </a:t>
            </a:r>
            <a:r>
              <a:rPr lang="pt-BR" altLang="en-US" sz="2000" dirty="0"/>
              <a:t>number </a:t>
            </a:r>
            <a:r>
              <a:rPr lang="pt-BR" altLang="en-US" sz="2000" dirty="0" smtClean="0"/>
              <a:t>of ingredient within a mixed recipe</a:t>
            </a:r>
          </a:p>
          <a:p>
            <a:pPr lvl="1" eaLnBrk="1" hangingPunct="1">
              <a:spcBef>
                <a:spcPts val="0"/>
              </a:spcBef>
            </a:pPr>
            <a:endParaRPr lang="pt-BR" altLang="en-US" sz="1000" b="1" dirty="0" smtClean="0"/>
          </a:p>
          <a:p>
            <a:pPr lvl="1" eaLnBrk="1" hangingPunct="1">
              <a:spcBef>
                <a:spcPts val="0"/>
              </a:spcBef>
            </a:pPr>
            <a:r>
              <a:rPr lang="pt-BR" altLang="en-US" sz="2000" b="1" dirty="0" smtClean="0"/>
              <a:t>TYPE</a:t>
            </a:r>
            <a:r>
              <a:rPr lang="pt-BR" altLang="en-US" sz="2000" dirty="0" smtClean="0"/>
              <a:t>: type of record</a:t>
            </a:r>
            <a:endParaRPr lang="pt-BR" altLang="en-US" sz="2000" dirty="0"/>
          </a:p>
          <a:p>
            <a:pPr lvl="1" eaLnBrk="1" hangingPunct="1">
              <a:spcBef>
                <a:spcPts val="600"/>
              </a:spcBef>
            </a:pPr>
            <a:endParaRPr lang="pt-BR" altLang="en-US" sz="1900" dirty="0" smtClean="0"/>
          </a:p>
          <a:p>
            <a:pPr lvl="1" eaLnBrk="1" hangingPunct="1">
              <a:spcBef>
                <a:spcPts val="600"/>
              </a:spcBef>
            </a:pPr>
            <a:endParaRPr lang="nl-BE" altLang="en-US" sz="1900" dirty="0" smtClean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nl-BE" altLang="en-US" sz="2400" dirty="0" smtClean="0"/>
              <a:t> </a:t>
            </a:r>
            <a:endParaRPr lang="en-GB" altLang="en-US" sz="2400" dirty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34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 b="1" dirty="0"/>
              <a:t>Data on reported items – </a:t>
            </a:r>
            <a:r>
              <a:rPr lang="en-GB" altLang="en-US" sz="3200" b="1" dirty="0" smtClean="0"/>
              <a:t>INTERV/INTERV_QT</a:t>
            </a:r>
            <a:endParaRPr lang="en-GB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28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179390" y="1521006"/>
            <a:ext cx="8785220" cy="4860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t-BR" altLang="en-US" sz="2200" b="1" dirty="0"/>
              <a:t>INTERV</a:t>
            </a:r>
            <a:r>
              <a:rPr lang="pt-BR" altLang="en-US" sz="2200" dirty="0"/>
              <a:t>: Reported </a:t>
            </a:r>
            <a:r>
              <a:rPr lang="en-US" altLang="en-US" sz="2200" dirty="0"/>
              <a:t>Foods, recipes, ingredients, supplements with detailed consumption descriptions</a:t>
            </a:r>
            <a:r>
              <a:rPr lang="pt-BR" altLang="en-US" sz="2200" dirty="0"/>
              <a:t> &amp; quantification including: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u="sng" dirty="0"/>
              <a:t>Key-variables</a:t>
            </a:r>
            <a:r>
              <a:rPr lang="pt-BR" altLang="en-US" sz="1900" b="1" dirty="0"/>
              <a:t>:</a:t>
            </a:r>
            <a:r>
              <a:rPr lang="pt-BR" altLang="en-US" sz="1900" dirty="0"/>
              <a:t> from Country to Type variables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u="sng" dirty="0"/>
              <a:t>Record information</a:t>
            </a:r>
            <a:r>
              <a:rPr lang="pt-BR" altLang="en-US" sz="1900" dirty="0"/>
              <a:t>: food or recipe type </a:t>
            </a:r>
            <a:r>
              <a:rPr lang="pt-BR" altLang="en-US" sz="1600" dirty="0"/>
              <a:t>(F_TYPE/R_TYPE/I_TYPE) </a:t>
            </a:r>
            <a:r>
              <a:rPr lang="pt-BR" altLang="en-US" sz="1900" dirty="0"/>
              <a:t>and type of modification done on recipe or ingredient </a:t>
            </a:r>
            <a:r>
              <a:rPr lang="pt-BR" altLang="en-US" sz="1600" dirty="0"/>
              <a:t>(R_MODIF, I_MODIF)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u="sng" dirty="0"/>
              <a:t>Item identification</a:t>
            </a:r>
            <a:r>
              <a:rPr lang="pt-BR" altLang="en-US" sz="1900" dirty="0"/>
              <a:t>: code </a:t>
            </a:r>
            <a:r>
              <a:rPr lang="pt-BR" altLang="en-US" sz="1600" dirty="0"/>
              <a:t>(FOODNUM) </a:t>
            </a:r>
            <a:r>
              <a:rPr lang="pt-BR" altLang="en-US" sz="1900" dirty="0"/>
              <a:t>+ classification </a:t>
            </a:r>
            <a:r>
              <a:rPr lang="pt-BR" altLang="en-US" sz="1600" dirty="0"/>
              <a:t>(GROUP, SUBGROUP1, SUBGROUP2) </a:t>
            </a:r>
            <a:r>
              <a:rPr lang="pt-BR" altLang="en-US" sz="1900" dirty="0"/>
              <a:t>+ name </a:t>
            </a:r>
            <a:r>
              <a:rPr lang="pt-BR" altLang="en-US" sz="1600" dirty="0"/>
              <a:t>(NAME) </a:t>
            </a:r>
            <a:r>
              <a:rPr lang="pt-BR" altLang="en-US" sz="1900" dirty="0"/>
              <a:t> 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u="sng" dirty="0"/>
              <a:t>Item description</a:t>
            </a:r>
            <a:r>
              <a:rPr lang="pt-BR" altLang="en-US" sz="1900" dirty="0"/>
              <a:t>: sequence of facet/desccriptor codes </a:t>
            </a:r>
            <a:r>
              <a:rPr lang="pt-BR" altLang="en-US" sz="1600" dirty="0"/>
              <a:t>(FACET_STR) </a:t>
            </a:r>
            <a:r>
              <a:rPr lang="pt-BR" altLang="en-US" sz="1900" dirty="0">
                <a:sym typeface="Wingdings" pitchFamily="2" charset="2"/>
              </a:rPr>
              <a:t>+ Label </a:t>
            </a:r>
            <a:r>
              <a:rPr lang="pt-BR" altLang="en-US" sz="1600" dirty="0">
                <a:sym typeface="Wingdings" pitchFamily="2" charset="2"/>
              </a:rPr>
              <a:t>(TEXT) </a:t>
            </a:r>
            <a:r>
              <a:rPr lang="pt-BR" altLang="en-US" sz="1900" dirty="0">
                <a:sym typeface="Wingdings" pitchFamily="2" charset="2"/>
              </a:rPr>
              <a:t>+ Brand name </a:t>
            </a:r>
            <a:r>
              <a:rPr lang="pt-BR" altLang="en-US" sz="1600" dirty="0">
                <a:sym typeface="Wingdings" pitchFamily="2" charset="2"/>
              </a:rPr>
              <a:t>(BRANDNAME) (e.g.</a:t>
            </a:r>
            <a:r>
              <a:rPr lang="pt-BR" altLang="en-US" sz="1600" dirty="0"/>
              <a:t> “0308, 1302” </a:t>
            </a:r>
            <a:r>
              <a:rPr lang="pt-BR" altLang="en-US" sz="1600" dirty="0">
                <a:sym typeface="Wingdings" pitchFamily="2" charset="2"/>
              </a:rPr>
              <a:t>Food fried &amp; with skin consumed)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u="sng" dirty="0">
                <a:sym typeface="Wingdings" pitchFamily="2" charset="2"/>
              </a:rPr>
              <a:t>Item quantification</a:t>
            </a:r>
            <a:r>
              <a:rPr lang="pt-BR" altLang="en-US" sz="1900" dirty="0">
                <a:sym typeface="Wingdings" pitchFamily="2" charset="2"/>
              </a:rPr>
              <a:t>:  quantity as consumed </a:t>
            </a:r>
            <a:r>
              <a:rPr lang="pt-BR" altLang="en-US" sz="1600" dirty="0">
                <a:sym typeface="Wingdings" pitchFamily="2" charset="2"/>
              </a:rPr>
              <a:t>(CONS_QTY)</a:t>
            </a:r>
            <a:r>
              <a:rPr lang="pt-BR" altLang="en-US" sz="1900" dirty="0">
                <a:sym typeface="Wingdings" pitchFamily="2" charset="2"/>
              </a:rPr>
              <a:t> + quantification method code </a:t>
            </a:r>
            <a:r>
              <a:rPr lang="pt-BR" altLang="en-US" sz="1600" dirty="0">
                <a:sym typeface="Wingdings" pitchFamily="2" charset="2"/>
              </a:rPr>
              <a:t>(Q_METHOD, QM_CODE)</a:t>
            </a:r>
            <a:r>
              <a:rPr lang="pt-BR" altLang="en-US" sz="1800" dirty="0"/>
              <a:t> + other variables used to compute the final consumed quantity </a:t>
            </a:r>
            <a:r>
              <a:rPr lang="pt-BR" altLang="en-US" sz="1600" dirty="0"/>
              <a:t>(density, raw-to-cooked, inedible coefficients ...)</a:t>
            </a:r>
            <a:r>
              <a:rPr lang="pt-BR" altLang="en-US" sz="1800" dirty="0"/>
              <a:t> </a:t>
            </a:r>
            <a:endParaRPr lang="nl-BE" altLang="en-US" sz="1900" dirty="0" smtClean="0"/>
          </a:p>
          <a:p>
            <a:pPr marL="0" indent="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nl-BE" altLang="en-US" sz="2400" dirty="0" smtClean="0"/>
              <a:t> </a:t>
            </a:r>
            <a:endParaRPr lang="en-GB" altLang="en-US" sz="2400" dirty="0" smtClean="0"/>
          </a:p>
          <a:p>
            <a:pPr marL="0" lvl="1" indent="0" algn="ctr" eaLnBrk="1" hangingPunct="1">
              <a:spcBef>
                <a:spcPct val="0"/>
              </a:spcBef>
              <a:buClrTx/>
              <a:buSzPct val="85000"/>
              <a:buNone/>
            </a:pPr>
            <a:r>
              <a:rPr lang="pt-B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altLang="en-US" sz="1900" dirty="0" smtClean="0">
                <a:solidFill>
                  <a:srgbClr val="FF0000"/>
                </a:solidFill>
                <a:sym typeface="Wingdings" panose="05000000000000000000" pitchFamily="2" charset="2"/>
              </a:rPr>
              <a:t>n records </a:t>
            </a:r>
            <a:r>
              <a:rPr lang="pt-B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per interview</a:t>
            </a:r>
            <a:endParaRPr lang="nl-BE" altLang="en-US" sz="19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80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 b="1" dirty="0"/>
              <a:t>Data on reported items – </a:t>
            </a:r>
            <a:r>
              <a:rPr lang="en-GB" altLang="en-US" sz="3200" b="1" dirty="0" smtClean="0"/>
              <a:t>INTERV/INTERV_QT</a:t>
            </a:r>
            <a:endParaRPr lang="en-GB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29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179390" y="1521005"/>
            <a:ext cx="8785220" cy="488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GB" altLang="en-US" sz="2400" b="1" dirty="0"/>
              <a:t>INTERV_QT – </a:t>
            </a:r>
            <a:r>
              <a:rPr lang="en-GB" altLang="en-US" sz="2400" dirty="0"/>
              <a:t>Item q</a:t>
            </a:r>
            <a:r>
              <a:rPr lang="pt-BR" altLang="en-US" sz="2400" dirty="0"/>
              <a:t>uantified with photos &amp; shapes including: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pt-BR" altLang="en-US" sz="1900" b="1" u="sng" dirty="0"/>
              <a:t>Key-variables</a:t>
            </a:r>
            <a:r>
              <a:rPr lang="pt-BR" altLang="en-US" sz="1900" b="1" dirty="0"/>
              <a:t>:</a:t>
            </a:r>
            <a:r>
              <a:rPr lang="pt-BR" altLang="en-US" sz="1900" dirty="0"/>
              <a:t> from Country to Type variables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pt-BR" altLang="en-US" sz="1900" dirty="0"/>
              <a:t>Information on the </a:t>
            </a:r>
            <a:r>
              <a:rPr lang="pt-BR" altLang="en-US" sz="1900" b="1" u="sng" dirty="0"/>
              <a:t>Selected Shape</a:t>
            </a:r>
            <a:r>
              <a:rPr lang="pt-BR" altLang="en-US" sz="1900" dirty="0"/>
              <a:t>: 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700" dirty="0"/>
              <a:t>Code (SH_CODE) + Surface in cm</a:t>
            </a:r>
            <a:r>
              <a:rPr lang="pt-BR" altLang="en-US" sz="1700" baseline="30000" dirty="0"/>
              <a:t>2</a:t>
            </a:r>
            <a:r>
              <a:rPr lang="pt-BR" altLang="en-US" sz="1700" dirty="0"/>
              <a:t> (SH_SURFACE) + Thickness code (TH_CODE) + Thickness in cm (TH_THICK)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pt-BR" altLang="en-US" sz="1900" dirty="0"/>
              <a:t>Information on the </a:t>
            </a:r>
            <a:r>
              <a:rPr lang="pt-BR" altLang="en-US" sz="1900" b="1" u="sng" dirty="0"/>
              <a:t>Selected Photo</a:t>
            </a:r>
            <a:r>
              <a:rPr lang="pt-BR" altLang="en-US" sz="1900" dirty="0"/>
              <a:t>: 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700" dirty="0"/>
              <a:t>Code (PH_CODE) + Quantity (PH_QTY) </a:t>
            </a:r>
          </a:p>
          <a:p>
            <a:pPr lvl="1" eaLnBrk="1" hangingPunct="1">
              <a:spcBef>
                <a:spcPts val="1200"/>
              </a:spcBef>
              <a:spcAft>
                <a:spcPts val="600"/>
              </a:spcAft>
            </a:pPr>
            <a:r>
              <a:rPr lang="pt-BR" altLang="en-US" sz="1900" dirty="0"/>
              <a:t>For both methods, </a:t>
            </a:r>
            <a:r>
              <a:rPr lang="pt-BR" altLang="en-US" sz="1900" b="1" u="sng" dirty="0"/>
              <a:t>selected Fraction or Unit </a:t>
            </a:r>
            <a:r>
              <a:rPr lang="pt-BR" altLang="en-US" sz="1900" dirty="0">
                <a:solidFill>
                  <a:schemeClr val="tx1"/>
                </a:solidFill>
              </a:rPr>
              <a:t>(FRACT</a:t>
            </a:r>
            <a:r>
              <a:rPr lang="pt-BR" altLang="en-US" sz="1900" dirty="0" smtClean="0">
                <a:solidFill>
                  <a:schemeClr val="tx1"/>
                </a:solidFill>
              </a:rPr>
              <a:t>)</a:t>
            </a:r>
            <a:r>
              <a:rPr lang="nl-BE" altLang="en-US" sz="2400" dirty="0" smtClean="0">
                <a:solidFill>
                  <a:schemeClr val="tx1"/>
                </a:solidFill>
              </a:rPr>
              <a:t> </a:t>
            </a:r>
            <a:endParaRPr lang="en-GB" altLang="en-US" sz="2400" dirty="0" smtClean="0">
              <a:solidFill>
                <a:schemeClr val="tx1"/>
              </a:solidFill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endParaRPr lang="en-GB" altLang="en-US" sz="2400" dirty="0"/>
          </a:p>
          <a:p>
            <a:pPr marL="0" lvl="1" indent="0" algn="ctr" eaLnBrk="1" hangingPunct="1">
              <a:spcBef>
                <a:spcPct val="0"/>
              </a:spcBef>
              <a:buClrTx/>
              <a:buSzPct val="85000"/>
              <a:buNone/>
            </a:pPr>
            <a:r>
              <a:rPr lang="pt-B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 n records per </a:t>
            </a:r>
            <a:r>
              <a:rPr lang="pt-BR" altLang="en-US" sz="1900" dirty="0" smtClean="0">
                <a:solidFill>
                  <a:srgbClr val="FF0000"/>
                </a:solidFill>
                <a:sym typeface="Wingdings" panose="05000000000000000000" pitchFamily="2" charset="2"/>
              </a:rPr>
              <a:t>interview &amp; item</a:t>
            </a:r>
            <a:endParaRPr lang="nl-BE" altLang="en-US" sz="19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77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updated 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30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822118" y="620610"/>
            <a:ext cx="6142492" cy="5724524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GB" altLang="en-US" sz="2400" b="1" dirty="0"/>
              <a:t>Data on </a:t>
            </a:r>
            <a:r>
              <a:rPr lang="en-GB" altLang="en-US" sz="2400" b="1" dirty="0" smtClean="0"/>
              <a:t>reported items – INTNUT</a:t>
            </a:r>
            <a:endParaRPr lang="en-GB" altLang="en-US" sz="2400" b="1" dirty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E</a:t>
            </a:r>
            <a:r>
              <a:rPr lang="pt-BR" sz="2400" dirty="0" smtClean="0"/>
              <a:t>nergy </a:t>
            </a:r>
            <a:r>
              <a:rPr lang="pt-BR" sz="2400" dirty="0"/>
              <a:t>&amp; macronutrient intakes per reported </a:t>
            </a:r>
            <a:r>
              <a:rPr lang="pt-BR" sz="2400" dirty="0" smtClean="0"/>
              <a:t>food/ingredient including:</a:t>
            </a:r>
            <a:endParaRPr lang="pt-BR" altLang="en-US" sz="24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u="sng" dirty="0" smtClean="0"/>
              <a:t>Key-variables</a:t>
            </a:r>
            <a:r>
              <a:rPr lang="pt-BR" altLang="en-US" sz="1900" b="1" dirty="0" smtClean="0"/>
              <a:t>:</a:t>
            </a:r>
            <a:r>
              <a:rPr lang="pt-BR" altLang="en-US" sz="1900" dirty="0" smtClean="0"/>
              <a:t> from Country to Type variables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FOODNUM</a:t>
            </a:r>
            <a:r>
              <a:rPr lang="pt-BR" altLang="en-US" sz="1900" dirty="0" smtClean="0"/>
              <a:t>: food or ingredient code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NTR_CODE</a:t>
            </a:r>
            <a:r>
              <a:rPr lang="pt-BR" altLang="en-US" sz="1900" dirty="0" smtClean="0"/>
              <a:t>: Nutrient code (1-energy, 2-total proteins, 3-carbohydrate, 4-total fats, 5-Alcohol, 6-water)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VALUE</a:t>
            </a:r>
            <a:r>
              <a:rPr lang="pt-BR" altLang="en-US" sz="1900" dirty="0" smtClean="0"/>
              <a:t>: </a:t>
            </a:r>
            <a:r>
              <a:rPr lang="pt-BR" altLang="en-US" sz="2000" dirty="0"/>
              <a:t>Nutrient intake for the attached food/ingredient</a:t>
            </a:r>
            <a:endParaRPr lang="pt-BR" altLang="en-US" sz="19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ITEM_SEQ</a:t>
            </a:r>
            <a:r>
              <a:rPr lang="pt-BR" altLang="en-US" sz="1900" dirty="0" smtClean="0"/>
              <a:t>: internal link number with INTERV file</a:t>
            </a:r>
            <a:endParaRPr lang="pt-BR" altLang="en-US" dirty="0" smtClean="0">
              <a:solidFill>
                <a:srgbClr val="FF0000"/>
              </a:solidFill>
            </a:endParaRPr>
          </a:p>
          <a:p>
            <a:pPr marL="0" lvl="2" algn="ctr">
              <a:lnSpc>
                <a:spcPct val="150000"/>
              </a:lnSpc>
              <a:buNone/>
            </a:pPr>
            <a:r>
              <a:rPr lang="pt-BR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 n records per </a:t>
            </a:r>
            <a:r>
              <a:rPr lang="pt-BR" altLang="en-US" sz="1600" dirty="0" smtClean="0">
                <a:solidFill>
                  <a:srgbClr val="FF0000"/>
                </a:solidFill>
                <a:sym typeface="Wingdings" panose="05000000000000000000" pitchFamily="2" charset="2"/>
              </a:rPr>
              <a:t>interview </a:t>
            </a:r>
            <a:r>
              <a:rPr lang="pt-BR" altLang="en-US" sz="1600" dirty="0">
                <a:solidFill>
                  <a:srgbClr val="FF0000"/>
                </a:solidFill>
                <a:sym typeface="Wingdings" panose="05000000000000000000" pitchFamily="2" charset="2"/>
              </a:rPr>
              <a:t>&amp; item</a:t>
            </a:r>
            <a:endParaRPr lang="nl-BE" altLang="en-US" sz="1600" dirty="0">
              <a:solidFill>
                <a:srgbClr val="FF0000"/>
              </a:solidFill>
            </a:endParaRPr>
          </a:p>
          <a:p>
            <a:pPr marL="0" lvl="2" algn="ctr">
              <a:lnSpc>
                <a:spcPct val="150000"/>
              </a:lnSpc>
              <a:buFontTx/>
              <a:buNone/>
            </a:pPr>
            <a:endParaRPr lang="pt-BR" altLang="en-US" sz="1000" dirty="0" smtClean="0">
              <a:solidFill>
                <a:srgbClr val="FF0000"/>
              </a:solidFill>
            </a:endParaRPr>
          </a:p>
          <a:p>
            <a:pPr marL="0" lvl="2" algn="ctr">
              <a:lnSpc>
                <a:spcPct val="150000"/>
              </a:lnSpc>
              <a:buFontTx/>
              <a:buNone/>
            </a:pPr>
            <a:r>
              <a:rPr lang="pt-BR" altLang="en-US" dirty="0" smtClean="0">
                <a:solidFill>
                  <a:srgbClr val="FF0000"/>
                </a:solidFill>
              </a:rPr>
              <a:t>Attention</a:t>
            </a:r>
            <a:r>
              <a:rPr lang="pt-BR" altLang="en-US" dirty="0">
                <a:solidFill>
                  <a:srgbClr val="FF0000"/>
                </a:solidFill>
              </a:rPr>
              <a:t>: Data not to be used as final nutrient intake</a:t>
            </a:r>
            <a:r>
              <a:rPr lang="pt-BR" altLang="en-US" dirty="0" smtClean="0">
                <a:solidFill>
                  <a:srgbClr val="FF0000"/>
                </a:solidFill>
              </a:rPr>
              <a:t>!!!</a:t>
            </a:r>
            <a:endParaRPr lang="pt-BR" altLang="en-US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sz="1900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15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updated 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Some final highlights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31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15770" y="620610"/>
            <a:ext cx="6048840" cy="5724524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GB" altLang="en-US" sz="2400" b="1" dirty="0"/>
              <a:t>Data on </a:t>
            </a:r>
            <a:r>
              <a:rPr lang="en-GB" altLang="en-US" sz="2400" b="1" dirty="0" smtClean="0"/>
              <a:t>reported items – NOTE</a:t>
            </a:r>
            <a:endParaRPr lang="en-GB" altLang="en-US" sz="2400" b="1" dirty="0"/>
          </a:p>
          <a:p>
            <a:pPr marL="273050" lvl="2" indent="-273050" eaLnBrk="1" hangingPunct="1"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2" pitchFamily="18" charset="2"/>
              <a:buChar char=""/>
            </a:pPr>
            <a:r>
              <a:rPr lang="pt-BR" altLang="en-US" sz="2400" b="1" dirty="0" smtClean="0"/>
              <a:t>Reported </a:t>
            </a:r>
            <a:r>
              <a:rPr lang="pt-BR" altLang="en-US" sz="2400" b="1" dirty="0"/>
              <a:t>notes </a:t>
            </a:r>
            <a:r>
              <a:rPr lang="pt-BR" altLang="en-US" sz="2400" dirty="0"/>
              <a:t>generated during the </a:t>
            </a:r>
            <a:r>
              <a:rPr lang="pt-BR" altLang="en-US" sz="2400" dirty="0" smtClean="0"/>
              <a:t>data collection, including:</a:t>
            </a:r>
            <a:endParaRPr lang="pt-BR" altLang="en-US" sz="2400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u="sng" dirty="0"/>
              <a:t>Key-variables</a:t>
            </a:r>
            <a:r>
              <a:rPr lang="pt-BR" altLang="en-US" sz="1900" b="1" dirty="0"/>
              <a:t>:</a:t>
            </a:r>
            <a:r>
              <a:rPr lang="pt-BR" altLang="en-US" sz="1900" dirty="0"/>
              <a:t> from Country to </a:t>
            </a:r>
            <a:r>
              <a:rPr lang="pt-BR" altLang="en-US" sz="1900" dirty="0" smtClean="0"/>
              <a:t>Type </a:t>
            </a:r>
            <a:r>
              <a:rPr lang="pt-BR" altLang="en-US" sz="1900" dirty="0"/>
              <a:t>variables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u="sng" dirty="0"/>
              <a:t>Record information</a:t>
            </a:r>
            <a:r>
              <a:rPr lang="pt-BR" altLang="en-US" sz="1900" dirty="0"/>
              <a:t>: as food or recipe type </a:t>
            </a:r>
            <a:r>
              <a:rPr lang="pt-BR" altLang="en-US" sz="1600" dirty="0"/>
              <a:t>(F_TYPE/R_TYPE/I_TYPE) </a:t>
            </a:r>
            <a:r>
              <a:rPr lang="pt-BR" altLang="en-US" sz="1900" dirty="0"/>
              <a:t>and type of modification done on recipe or ingredient </a:t>
            </a:r>
            <a:r>
              <a:rPr lang="pt-BR" altLang="en-US" sz="1600" dirty="0"/>
              <a:t>(R_MODIF, I_MODIF)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u="sng" dirty="0"/>
              <a:t>Item identification</a:t>
            </a:r>
            <a:r>
              <a:rPr lang="pt-BR" altLang="en-US" sz="1900" dirty="0"/>
              <a:t>: code </a:t>
            </a:r>
            <a:r>
              <a:rPr lang="pt-BR" altLang="en-US" sz="1600" dirty="0"/>
              <a:t>(FOODNUM)</a:t>
            </a:r>
            <a:r>
              <a:rPr lang="pt-BR" altLang="en-US" sz="1900" dirty="0"/>
              <a:t> + classification </a:t>
            </a:r>
            <a:r>
              <a:rPr lang="pt-BR" altLang="en-US" sz="1600" dirty="0" smtClean="0"/>
              <a:t>(GROUP, SUBGROUP1, SUBGROUP2) </a:t>
            </a:r>
            <a:r>
              <a:rPr lang="pt-BR" altLang="en-US" sz="1900" dirty="0" smtClean="0"/>
              <a:t>+ </a:t>
            </a:r>
            <a:r>
              <a:rPr lang="pt-BR" altLang="en-US" sz="1900" dirty="0"/>
              <a:t>name </a:t>
            </a:r>
            <a:r>
              <a:rPr lang="pt-BR" altLang="en-US" sz="1600" dirty="0"/>
              <a:t>(NAME)</a:t>
            </a:r>
            <a:r>
              <a:rPr lang="pt-BR" altLang="en-US" sz="1900" dirty="0"/>
              <a:t>  </a:t>
            </a:r>
            <a:endParaRPr lang="pt-BR" altLang="en-US" sz="19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u="sng" dirty="0"/>
              <a:t>Item </a:t>
            </a:r>
            <a:r>
              <a:rPr lang="pt-BR" altLang="en-US" sz="1900" b="1" u="sng" dirty="0" smtClean="0"/>
              <a:t>quantification</a:t>
            </a:r>
            <a:r>
              <a:rPr lang="pt-BR" altLang="en-US" sz="1900" dirty="0" smtClean="0"/>
              <a:t>: consumed quantity </a:t>
            </a:r>
            <a:r>
              <a:rPr lang="pt-BR" altLang="en-US" sz="1600" dirty="0" smtClean="0"/>
              <a:t>(CONS_QTY) </a:t>
            </a:r>
            <a:r>
              <a:rPr lang="pt-BR" altLang="en-US" sz="1900" dirty="0" smtClean="0"/>
              <a:t>+ quantification method </a:t>
            </a:r>
            <a:r>
              <a:rPr lang="pt-BR" altLang="en-US" sz="1600" dirty="0" smtClean="0"/>
              <a:t>(Q_METHOD)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</a:pPr>
            <a:r>
              <a:rPr lang="pt-BR" altLang="en-US" sz="1900" b="1" u="sng" dirty="0"/>
              <a:t>Note information</a:t>
            </a:r>
            <a:r>
              <a:rPr lang="pt-BR" altLang="en-US" sz="1600" dirty="0" smtClean="0"/>
              <a:t>: </a:t>
            </a:r>
            <a:r>
              <a:rPr lang="pt-BR" altLang="en-US" sz="1900" dirty="0"/>
              <a:t>Note Type </a:t>
            </a:r>
            <a:r>
              <a:rPr lang="pt-BR" altLang="en-US" sz="1600" dirty="0" smtClean="0"/>
              <a:t>(NOTE_TYPE)</a:t>
            </a:r>
            <a:r>
              <a:rPr lang="pt-BR" altLang="en-US" sz="1900" dirty="0" smtClean="0"/>
              <a:t> </a:t>
            </a:r>
            <a:r>
              <a:rPr lang="pt-BR" altLang="en-US" sz="1900" dirty="0"/>
              <a:t>+ Note status</a:t>
            </a:r>
            <a:r>
              <a:rPr lang="pt-BR" altLang="en-US" sz="1600" dirty="0" smtClean="0"/>
              <a:t> (NOTE_STATUS) </a:t>
            </a:r>
            <a:r>
              <a:rPr lang="pt-BR" altLang="en-US" sz="1900" dirty="0"/>
              <a:t>+ Date of last update on the note </a:t>
            </a:r>
            <a:r>
              <a:rPr lang="pt-BR" altLang="en-US" sz="1600" dirty="0" smtClean="0"/>
              <a:t>(DATE)</a:t>
            </a:r>
          </a:p>
          <a:p>
            <a:pPr marL="1522413" lvl="1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19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n </a:t>
            </a:r>
            <a:r>
              <a:rPr lang="pt-B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records per </a:t>
            </a:r>
            <a:r>
              <a:rPr lang="pt-BR" altLang="en-US" sz="1900" dirty="0" smtClean="0">
                <a:solidFill>
                  <a:srgbClr val="FF0000"/>
                </a:solidFill>
                <a:sym typeface="Wingdings" panose="05000000000000000000" pitchFamily="2" charset="2"/>
              </a:rPr>
              <a:t>interview</a:t>
            </a:r>
          </a:p>
          <a:p>
            <a:pPr marL="1522413" lvl="1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pt-BR" altLang="en-US" sz="19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altLang="en-US" sz="1900" dirty="0" smtClean="0">
                <a:solidFill>
                  <a:srgbClr val="FF0000"/>
                </a:solidFill>
                <a:sym typeface="Wingdings" panose="05000000000000000000" pitchFamily="2" charset="2"/>
              </a:rPr>
              <a:t>1 record   per interview &amp; item</a:t>
            </a:r>
            <a:endParaRPr lang="pt-BR" altLang="en-US" sz="19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74638" lvl="1" indent="0" algn="ctr" eaLnBrk="1" hangingPunct="1">
              <a:spcBef>
                <a:spcPts val="600"/>
              </a:spcBef>
              <a:spcAft>
                <a:spcPts val="600"/>
              </a:spcAft>
              <a:buNone/>
            </a:pPr>
            <a:endParaRPr lang="nl-BE" altLang="en-US" sz="1900" dirty="0">
              <a:solidFill>
                <a:srgbClr val="FF0000"/>
              </a:solidFill>
            </a:endParaRP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dirty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80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updated 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Some final highlights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32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15770" y="620610"/>
            <a:ext cx="6228230" cy="5724524"/>
          </a:xfrm>
        </p:spPr>
        <p:txBody>
          <a:bodyPr/>
          <a:lstStyle/>
          <a:p>
            <a:pPr marL="0" indent="0" algn="ctr" eaLnBrk="1" hangingPunct="1">
              <a:spcBef>
                <a:spcPts val="0"/>
              </a:spcBef>
              <a:buNone/>
            </a:pPr>
            <a:r>
              <a:rPr lang="en-GB" altLang="en-US" sz="2400" b="1" dirty="0" smtClean="0"/>
              <a:t>Some final highlights</a:t>
            </a:r>
          </a:p>
          <a:p>
            <a:pPr marL="0" indent="0" algn="ctr" eaLnBrk="1" hangingPunct="1">
              <a:spcBef>
                <a:spcPts val="0"/>
              </a:spcBef>
              <a:buNone/>
            </a:pPr>
            <a:endParaRPr lang="en-GB" altLang="en-US" sz="2400" b="1" dirty="0"/>
          </a:p>
          <a:p>
            <a:pPr marL="273050" lvl="2" indent="-273050" eaLnBrk="1" hangingPunct="1"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2" pitchFamily="18" charset="2"/>
              <a:buChar char=""/>
            </a:pPr>
            <a:r>
              <a:rPr lang="en-GB" sz="2400" dirty="0"/>
              <a:t>Working with exported csv-files</a:t>
            </a:r>
          </a:p>
          <a:p>
            <a:pPr lvl="1" eaLnBrk="1" hangingPunct="1">
              <a:spcBef>
                <a:spcPts val="600"/>
              </a:spcBef>
            </a:pPr>
            <a:r>
              <a:rPr lang="en-GB" sz="1900" dirty="0"/>
              <a:t>Selection of records/lines</a:t>
            </a:r>
          </a:p>
          <a:p>
            <a:pPr lvl="1" eaLnBrk="1" hangingPunct="1">
              <a:spcBef>
                <a:spcPts val="600"/>
              </a:spcBef>
            </a:pPr>
            <a:r>
              <a:rPr lang="en-GB" altLang="en-US" sz="1900" dirty="0"/>
              <a:t>Linkage between records/lines</a:t>
            </a:r>
          </a:p>
          <a:p>
            <a:pPr lvl="1" eaLnBrk="1" hangingPunct="1">
              <a:spcBef>
                <a:spcPts val="600"/>
              </a:spcBef>
            </a:pPr>
            <a:r>
              <a:rPr lang="en-GB" altLang="en-US" sz="1900" dirty="0"/>
              <a:t>Final cleaning steps</a:t>
            </a:r>
          </a:p>
          <a:p>
            <a:pPr marL="273050" lvl="2" indent="-273050" eaLnBrk="1" hangingPunct="1"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2" pitchFamily="18" charset="2"/>
              <a:buChar char=""/>
            </a:pPr>
            <a:r>
              <a:rPr lang="pt-BR" altLang="en-US" sz="2400" dirty="0"/>
              <a:t>Some suggestions on final data </a:t>
            </a:r>
            <a:r>
              <a:rPr lang="pt-BR" altLang="en-US" sz="2400" dirty="0" smtClean="0"/>
              <a:t>cleaning (SAS)</a:t>
            </a:r>
            <a:endParaRPr lang="pt-BR" altLang="en-US" sz="2400" dirty="0"/>
          </a:p>
          <a:p>
            <a:pPr marL="273050" lvl="2" indent="-273050" eaLnBrk="1" hangingPunct="1"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2" pitchFamily="18" charset="2"/>
              <a:buChar char=""/>
            </a:pPr>
            <a:r>
              <a:rPr lang="pt-BR" altLang="en-US" sz="2400" dirty="0"/>
              <a:t>Conclusion 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sz="1700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33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179390" y="1521006"/>
            <a:ext cx="8785220" cy="4860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t-BR" altLang="en-US" sz="2400" b="1" dirty="0" smtClean="0"/>
              <a:t>TYPE</a:t>
            </a:r>
            <a:r>
              <a:rPr lang="pt-BR" altLang="en-US" sz="2400" dirty="0" smtClean="0"/>
              <a:t> - Type of records values: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1 : </a:t>
            </a:r>
            <a:r>
              <a:rPr lang="pt-BR" altLang="en-US" sz="1900" dirty="0" smtClean="0"/>
              <a:t>Food consumption occasion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2 &amp; 2S : </a:t>
            </a:r>
            <a:r>
              <a:rPr lang="pt-BR" altLang="en-US" sz="1900" dirty="0" smtClean="0"/>
              <a:t>Quick list item 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4 : </a:t>
            </a:r>
            <a:r>
              <a:rPr lang="pt-BR" altLang="en-US" sz="1900" dirty="0" smtClean="0"/>
              <a:t>Food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6 : </a:t>
            </a:r>
            <a:r>
              <a:rPr lang="pt-BR" altLang="en-US" sz="1900" dirty="0" smtClean="0"/>
              <a:t>Fat during cooking for foods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3 : </a:t>
            </a:r>
            <a:r>
              <a:rPr lang="pt-BR" altLang="en-US" sz="1900" dirty="0" smtClean="0"/>
              <a:t>Mixed Recipe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5 : </a:t>
            </a:r>
            <a:r>
              <a:rPr lang="pt-BR" altLang="en-US" sz="1900" dirty="0" smtClean="0"/>
              <a:t>Ingredient of mixed recipe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7 : </a:t>
            </a:r>
            <a:r>
              <a:rPr lang="pt-BR" altLang="en-US" sz="1900" dirty="0" smtClean="0"/>
              <a:t>fat during cooking for ingredient of mixed recipe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A2 : </a:t>
            </a:r>
            <a:r>
              <a:rPr lang="pt-BR" altLang="en-US" sz="1900" dirty="0" smtClean="0"/>
              <a:t>Type of Fat used (facet 15)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/>
              <a:t>A3 : </a:t>
            </a:r>
            <a:r>
              <a:rPr lang="pt-BR" altLang="en-US" sz="1900" dirty="0" smtClean="0"/>
              <a:t>Type of milk/liquid used (facet 16)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 smtClean="0">
                <a:solidFill>
                  <a:srgbClr val="FF0000"/>
                </a:solidFill>
              </a:rPr>
              <a:t>8</a:t>
            </a:r>
            <a:r>
              <a:rPr lang="pt-BR" altLang="en-US" sz="1900" b="1" dirty="0" smtClean="0"/>
              <a:t> : </a:t>
            </a:r>
            <a:r>
              <a:rPr lang="pt-BR" altLang="en-US" sz="1900" dirty="0" smtClean="0"/>
              <a:t>Link between </a:t>
            </a:r>
            <a:r>
              <a:rPr lang="pt-BR" altLang="en-US" sz="1900" b="1" dirty="0" smtClean="0">
                <a:solidFill>
                  <a:srgbClr val="FF0000"/>
                </a:solidFill>
              </a:rPr>
              <a:t>Fat/Sauce/Sweetener</a:t>
            </a:r>
            <a:r>
              <a:rPr lang="pt-BR" altLang="en-US" sz="1900" dirty="0" smtClean="0"/>
              <a:t> </a:t>
            </a:r>
            <a:r>
              <a:rPr lang="pt-BR" altLang="en-US" sz="1900" dirty="0" smtClean="0">
                <a:solidFill>
                  <a:srgbClr val="FF0000"/>
                </a:solidFill>
              </a:rPr>
              <a:t>added</a:t>
            </a:r>
            <a:r>
              <a:rPr lang="pt-BR" altLang="en-US" sz="1900" dirty="0" smtClean="0"/>
              <a:t> &amp; </a:t>
            </a:r>
            <a:r>
              <a:rPr lang="pt-BR" altLang="en-US" sz="1900" dirty="0" smtClean="0"/>
              <a:t>its attached food/recipe </a:t>
            </a:r>
            <a:r>
              <a:rPr lang="pt-BR" altLang="en-US" sz="1900" dirty="0" smtClean="0"/>
              <a:t>                	</a:t>
            </a:r>
            <a:r>
              <a:rPr lang="pt-BR" altLang="en-US" sz="1900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pt-BR" altLang="en-US" sz="1900" b="1" dirty="0" smtClean="0">
                <a:solidFill>
                  <a:srgbClr val="FF0000"/>
                </a:solidFill>
              </a:rPr>
              <a:t>to be excluded </a:t>
            </a:r>
            <a:r>
              <a:rPr lang="pt-BR" altLang="en-US" sz="1900" dirty="0" smtClean="0"/>
              <a:t>for most analysis not to d</a:t>
            </a:r>
            <a:r>
              <a:rPr lang="pt-BR" altLang="en-US" sz="2000" dirty="0" smtClean="0"/>
              <a:t>ouble the reported quantities 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 smtClean="0"/>
              <a:t>9</a:t>
            </a:r>
            <a:r>
              <a:rPr lang="pt-BR" altLang="en-US" sz="2000" dirty="0" smtClean="0"/>
              <a:t> : Dietary supplement</a:t>
            </a:r>
            <a:endParaRPr lang="pt-BR" altLang="en-US" sz="1600" b="1" dirty="0" smtClean="0">
              <a:solidFill>
                <a:srgbClr val="00B050"/>
              </a:solidFill>
            </a:endParaRPr>
          </a:p>
          <a:p>
            <a:pPr lvl="1" eaLnBrk="1" hangingPunct="1">
              <a:spcBef>
                <a:spcPts val="600"/>
              </a:spcBef>
            </a:pPr>
            <a:endParaRPr lang="pt-BR" altLang="en-US" sz="1900" dirty="0" smtClean="0"/>
          </a:p>
          <a:p>
            <a:pPr lvl="1" eaLnBrk="1" hangingPunct="1">
              <a:spcBef>
                <a:spcPts val="600"/>
              </a:spcBef>
            </a:pPr>
            <a:endParaRPr lang="nl-BE" altLang="en-US" sz="1900" dirty="0" smtClean="0"/>
          </a:p>
          <a:p>
            <a:pPr marL="0" indent="0" eaLnBrk="1" hangingPunct="1">
              <a:spcBef>
                <a:spcPct val="0"/>
              </a:spcBef>
              <a:buFont typeface="Wingdings 2" pitchFamily="18" charset="2"/>
              <a:buNone/>
            </a:pPr>
            <a:r>
              <a:rPr lang="nl-BE" altLang="en-US" sz="2400" dirty="0" smtClean="0"/>
              <a:t> </a:t>
            </a: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9" name="Title 2"/>
          <p:cNvSpPr txBox="1">
            <a:spLocks/>
          </p:cNvSpPr>
          <p:nvPr/>
        </p:nvSpPr>
        <p:spPr bwMode="auto">
          <a:xfrm>
            <a:off x="179390" y="149825"/>
            <a:ext cx="8785219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rgbClr val="2780B7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9pPr>
          </a:lstStyle>
          <a:p>
            <a:pPr marL="0" lvl="1"/>
            <a:r>
              <a:rPr lang="en-GB" sz="3200" b="1" kern="0" dirty="0" smtClean="0"/>
              <a:t>Selection of records/lines</a:t>
            </a:r>
            <a:endParaRPr lang="en-GB" sz="3200" b="1" kern="0" dirty="0"/>
          </a:p>
        </p:txBody>
      </p:sp>
    </p:spTree>
    <p:extLst>
      <p:ext uri="{BB962C8B-B14F-4D97-AF65-F5344CB8AC3E}">
        <p14:creationId xmlns:p14="http://schemas.microsoft.com/office/powerpoint/2010/main" val="334243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Selection of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34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9053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521006"/>
            <a:ext cx="8785220" cy="4500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Examples of selection in INTERV table: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u="sng" dirty="0"/>
              <a:t>Food &amp; Ingredient intakes</a:t>
            </a:r>
            <a:r>
              <a:rPr lang="pt-BR" altLang="en-US" sz="1900" dirty="0"/>
              <a:t> –&gt; TYPE values: </a:t>
            </a:r>
            <a:r>
              <a:rPr lang="pt-BR" sz="2000" b="1" dirty="0"/>
              <a:t>4</a:t>
            </a:r>
            <a:r>
              <a:rPr lang="pt-BR" sz="2000" dirty="0"/>
              <a:t>-Food, </a:t>
            </a:r>
            <a:r>
              <a:rPr lang="pt-BR" sz="2000" b="1" dirty="0"/>
              <a:t>6</a:t>
            </a:r>
            <a:r>
              <a:rPr lang="pt-BR" sz="2000" dirty="0"/>
              <a:t>-Fat during cooking (FDC) for foods, </a:t>
            </a:r>
            <a:r>
              <a:rPr lang="pt-BR" sz="2000" b="1" dirty="0"/>
              <a:t>5</a:t>
            </a:r>
            <a:r>
              <a:rPr lang="pt-BR" sz="2000" dirty="0"/>
              <a:t>-Ingredient, </a:t>
            </a:r>
            <a:r>
              <a:rPr lang="pt-BR" sz="2000" b="1" dirty="0"/>
              <a:t>7</a:t>
            </a:r>
            <a:r>
              <a:rPr lang="pt-BR" sz="2000" dirty="0"/>
              <a:t>-FDC for ingredients of mixed recipe (Interv table)</a:t>
            </a:r>
            <a:endParaRPr lang="en-US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u="sng" dirty="0"/>
              <a:t>Food &amp; Recipe intakes</a:t>
            </a:r>
            <a:r>
              <a:rPr lang="pt-BR" altLang="en-US" sz="1900" dirty="0"/>
              <a:t> –&gt; TYPE values: </a:t>
            </a:r>
            <a:r>
              <a:rPr lang="pt-BR" sz="1900" b="1" dirty="0"/>
              <a:t>4-</a:t>
            </a:r>
            <a:r>
              <a:rPr lang="pt-BR" sz="1900" dirty="0"/>
              <a:t>Food, </a:t>
            </a:r>
            <a:r>
              <a:rPr lang="pt-BR" sz="1900" b="1" dirty="0"/>
              <a:t>6</a:t>
            </a:r>
            <a:r>
              <a:rPr lang="pt-BR" sz="1900" dirty="0"/>
              <a:t>-FDC</a:t>
            </a:r>
            <a:r>
              <a:rPr lang="pt-BR" sz="1900" b="1" dirty="0"/>
              <a:t> </a:t>
            </a:r>
            <a:r>
              <a:rPr lang="pt-BR" sz="1900" dirty="0"/>
              <a:t>for foods, 3-Mixed recipe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u="sng" dirty="0" smtClean="0"/>
              <a:t>Reported </a:t>
            </a:r>
            <a:r>
              <a:rPr lang="pt-BR" altLang="en-US" sz="1900" u="sng" dirty="0"/>
              <a:t>list of foods &amp; Ingredients</a:t>
            </a:r>
            <a:r>
              <a:rPr lang="pt-BR" altLang="en-US" sz="1900" dirty="0"/>
              <a:t> –&gt; TYPE values: </a:t>
            </a:r>
            <a:r>
              <a:rPr lang="pt-BR" sz="1900" b="1" dirty="0"/>
              <a:t>4-</a:t>
            </a:r>
            <a:r>
              <a:rPr lang="pt-BR" sz="1900" dirty="0"/>
              <a:t>Food, </a:t>
            </a:r>
            <a:r>
              <a:rPr lang="pt-BR" sz="1900" b="1" dirty="0"/>
              <a:t>6</a:t>
            </a:r>
            <a:r>
              <a:rPr lang="pt-BR" sz="1900" dirty="0"/>
              <a:t>-FDC</a:t>
            </a:r>
            <a:r>
              <a:rPr lang="pt-BR" sz="1900" b="1" dirty="0"/>
              <a:t> </a:t>
            </a:r>
            <a:r>
              <a:rPr lang="pt-BR" sz="1900" dirty="0"/>
              <a:t>for foods,        </a:t>
            </a:r>
            <a:r>
              <a:rPr lang="pt-BR" sz="1900" b="1" dirty="0"/>
              <a:t>5-</a:t>
            </a:r>
            <a:r>
              <a:rPr lang="pt-BR" sz="1900" dirty="0"/>
              <a:t>Ingredient, </a:t>
            </a:r>
            <a:r>
              <a:rPr lang="pt-BR" sz="1900" b="1" dirty="0"/>
              <a:t>7</a:t>
            </a:r>
            <a:r>
              <a:rPr lang="pt-BR" sz="1900" dirty="0"/>
              <a:t>-FDC for ingredients, </a:t>
            </a:r>
            <a:r>
              <a:rPr lang="pt-BR" sz="1900" b="1" dirty="0"/>
              <a:t>A2</a:t>
            </a:r>
            <a:r>
              <a:rPr lang="pt-BR" sz="1900" dirty="0"/>
              <a:t>-Type of Fat used (facet 15), </a:t>
            </a:r>
            <a:r>
              <a:rPr lang="pt-BR" sz="1900" b="1" dirty="0"/>
              <a:t>A3</a:t>
            </a:r>
            <a:r>
              <a:rPr lang="pt-BR" sz="1900" dirty="0"/>
              <a:t>-Type of liquid used (facet 16) </a:t>
            </a:r>
          </a:p>
          <a:p>
            <a:pPr marL="541338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900" dirty="0"/>
              <a:t>NOTE: Needed Variables = </a:t>
            </a:r>
            <a:r>
              <a:rPr lang="pt-BR" sz="1800" dirty="0"/>
              <a:t>COUNTRY, </a:t>
            </a:r>
            <a:r>
              <a:rPr lang="pt-BR" sz="1800" dirty="0" smtClean="0"/>
              <a:t>FOODNUM</a:t>
            </a:r>
            <a:r>
              <a:rPr lang="pt-BR" sz="1800" dirty="0"/>
              <a:t>, FACETS_STR, </a:t>
            </a:r>
            <a:r>
              <a:rPr lang="pt-BR" sz="1800" dirty="0" smtClean="0"/>
              <a:t>BRANDNAME</a:t>
            </a:r>
            <a:r>
              <a:rPr lang="pt-BR" sz="1800" dirty="0"/>
              <a:t>, GROUP, SUBGROUP1, SUBGROUP2, NAME,  FAT_1, FAT_2, FAT_3, </a:t>
            </a:r>
            <a:r>
              <a:rPr lang="pt-BR" sz="1800" dirty="0" smtClean="0"/>
              <a:t>FAT_4,..., FREQ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u="sng" dirty="0" smtClean="0"/>
              <a:t>Reported </a:t>
            </a:r>
            <a:r>
              <a:rPr lang="pt-BR" altLang="en-US" sz="1900" u="sng" dirty="0" smtClean="0"/>
              <a:t>Dietary supplements</a:t>
            </a:r>
            <a:r>
              <a:rPr lang="pt-BR" altLang="en-US" sz="1900" dirty="0" smtClean="0"/>
              <a:t> </a:t>
            </a:r>
            <a:r>
              <a:rPr lang="pt-BR" altLang="en-US" sz="1900" dirty="0"/>
              <a:t>–&gt; TYPE </a:t>
            </a:r>
            <a:r>
              <a:rPr lang="pt-BR" altLang="en-US" sz="1900" dirty="0" smtClean="0"/>
              <a:t>value: </a:t>
            </a:r>
            <a:r>
              <a:rPr lang="pt-BR" altLang="en-US" sz="1900" b="1" dirty="0" smtClean="0"/>
              <a:t>9</a:t>
            </a:r>
            <a:r>
              <a:rPr lang="pt-BR" sz="1900" dirty="0" smtClean="0"/>
              <a:t>-Dietary supplements</a:t>
            </a:r>
            <a:endParaRPr lang="en-US" sz="1900" dirty="0"/>
          </a:p>
          <a:p>
            <a:pPr lvl="1" eaLnBrk="1" hangingPunct="1">
              <a:spcBef>
                <a:spcPts val="600"/>
              </a:spcBef>
            </a:pPr>
            <a:endParaRPr lang="nl-BE" altLang="en-US" sz="1900" dirty="0" smtClean="0"/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nl-BE" altLang="en-US" sz="2400" dirty="0" smtClean="0"/>
              <a:t>	 </a:t>
            </a:r>
            <a:r>
              <a:rPr lang="en-GB" sz="2400" dirty="0">
                <a:solidFill>
                  <a:srgbClr val="FF0000"/>
                </a:solidFill>
                <a:sym typeface="Wingdings" panose="05000000000000000000" pitchFamily="2" charset="2"/>
              </a:rPr>
              <a:t> see Appendix </a:t>
            </a:r>
            <a:r>
              <a:rPr lang="en-GB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6_Export_guidelines.doc</a:t>
            </a:r>
            <a:r>
              <a:rPr lang="en-GB" sz="2400" dirty="0" smtClean="0">
                <a:sym typeface="Wingdings" panose="05000000000000000000" pitchFamily="2" charset="2"/>
              </a:rPr>
              <a:t> </a:t>
            </a:r>
            <a:r>
              <a:rPr lang="en-GB" sz="2000" dirty="0">
                <a:solidFill>
                  <a:srgbClr val="2780B7"/>
                </a:solidFill>
                <a:sym typeface="Wingdings" panose="05000000000000000000" pitchFamily="2" charset="2"/>
              </a:rPr>
              <a:t>(point 7.)</a:t>
            </a:r>
            <a:endParaRPr lang="en-GB" altLang="en-US" sz="2000" dirty="0">
              <a:solidFill>
                <a:srgbClr val="2780B7"/>
              </a:solidFill>
            </a:endParaRPr>
          </a:p>
          <a:p>
            <a:pPr eaLnBrk="1" hangingPunct="1">
              <a:spcBef>
                <a:spcPct val="0"/>
              </a:spcBef>
            </a:pPr>
            <a:endParaRPr lang="en-GB" altLang="en-US" sz="2400" dirty="0" smtClean="0"/>
          </a:p>
          <a:p>
            <a:pPr eaLnBrk="1" hangingPunct="1">
              <a:spcBef>
                <a:spcPct val="0"/>
              </a:spcBef>
            </a:pPr>
            <a:endParaRPr lang="en-GB" altLang="en-US" sz="2400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1137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35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521006"/>
            <a:ext cx="8785220" cy="4860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The key variables allowing to link records are: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/>
              <a:t>COUNTRY</a:t>
            </a:r>
            <a:r>
              <a:rPr lang="pt-BR" altLang="en-US" sz="1900" dirty="0"/>
              <a:t>: Country code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/>
              <a:t>CENTER</a:t>
            </a:r>
            <a:r>
              <a:rPr lang="pt-BR" altLang="en-US" sz="1900" dirty="0"/>
              <a:t>: Center/Region code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/>
              <a:t>ID_NUM</a:t>
            </a:r>
            <a:r>
              <a:rPr lang="pt-BR" altLang="en-US" sz="1900" dirty="0"/>
              <a:t>: ID number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1900" b="1" dirty="0"/>
              <a:t>DATE_REC</a:t>
            </a:r>
            <a:r>
              <a:rPr lang="pt-BR" altLang="en-US" sz="1900" dirty="0"/>
              <a:t>: Date of recall/record</a:t>
            </a:r>
            <a:endParaRPr lang="pt-BR" altLang="en-US" sz="2000" dirty="0"/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/>
              <a:t>FCO_CODE</a:t>
            </a:r>
            <a:r>
              <a:rPr lang="pt-BR" altLang="en-US" sz="2000" dirty="0"/>
              <a:t>: Food consumption occasion code (FCO)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/>
              <a:t>HOUR</a:t>
            </a:r>
            <a:r>
              <a:rPr lang="pt-BR" altLang="en-US" sz="2000" dirty="0"/>
              <a:t>: FCO hour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/>
              <a:t>PLACE_CODE</a:t>
            </a:r>
            <a:r>
              <a:rPr lang="pt-BR" altLang="en-US" sz="2000" dirty="0"/>
              <a:t>:  place of consumption code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/>
              <a:t>TOK</a:t>
            </a:r>
            <a:r>
              <a:rPr lang="pt-BR" altLang="en-US" sz="2000" dirty="0"/>
              <a:t>: Sequential number of the Quick List Item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/>
              <a:t>QLINUM</a:t>
            </a:r>
            <a:r>
              <a:rPr lang="pt-BR" altLang="en-US" sz="2000" dirty="0"/>
              <a:t>: Sequential number within the quick list item</a:t>
            </a:r>
          </a:p>
          <a:p>
            <a:pPr lvl="1" eaLnBrk="1" hangingPunct="1">
              <a:spcBef>
                <a:spcPts val="600"/>
              </a:spcBef>
            </a:pPr>
            <a:r>
              <a:rPr lang="pt-BR" altLang="en-US" sz="2000" b="1" dirty="0"/>
              <a:t>ING_NUM</a:t>
            </a:r>
            <a:r>
              <a:rPr lang="pt-BR" altLang="en-US" sz="2000" dirty="0"/>
              <a:t>: Sequential number of ingredient within a mixed </a:t>
            </a:r>
            <a:r>
              <a:rPr lang="pt-BR" altLang="en-US" sz="2000" dirty="0" smtClean="0"/>
              <a:t>recipe</a:t>
            </a:r>
            <a:endParaRPr lang="en-GB" altLang="en-US" sz="2400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dirty="0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36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0998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521006"/>
            <a:ext cx="8785220" cy="4860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Variables identifying an interview: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u="sng" dirty="0"/>
              <a:t>COUNTRY</a:t>
            </a:r>
            <a:r>
              <a:rPr lang="pt-BR" altLang="en-US" sz="1900" dirty="0"/>
              <a:t>: Country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u="sng" dirty="0"/>
              <a:t>CENTER</a:t>
            </a:r>
            <a:r>
              <a:rPr lang="pt-BR" altLang="en-US" sz="1900" dirty="0"/>
              <a:t>: Center/Region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b="1" u="sng" dirty="0"/>
              <a:t>ID_NUM</a:t>
            </a:r>
            <a:r>
              <a:rPr lang="pt-BR" altLang="en-US" sz="1900" dirty="0"/>
              <a:t>: ID </a:t>
            </a:r>
            <a:r>
              <a:rPr lang="pt-BR" altLang="en-US" sz="1900" dirty="0" smtClean="0"/>
              <a:t>number</a:t>
            </a:r>
          </a:p>
          <a:p>
            <a:pPr lvl="1" eaLnBrk="1" hangingPunct="1">
              <a:spcBef>
                <a:spcPts val="0"/>
              </a:spcBef>
            </a:pPr>
            <a:r>
              <a:rPr lang="pt-BR" sz="2000" b="1" u="sng" dirty="0"/>
              <a:t>DATE_REC</a:t>
            </a:r>
            <a:r>
              <a:rPr lang="pt-BR" sz="2000" dirty="0"/>
              <a:t>: 	Date of </a:t>
            </a:r>
            <a:r>
              <a:rPr lang="pt-BR" sz="2000" dirty="0" smtClean="0"/>
              <a:t>recall</a:t>
            </a:r>
          </a:p>
          <a:p>
            <a:pPr lvl="1" eaLnBrk="1" hangingPunct="1">
              <a:spcBef>
                <a:spcPts val="0"/>
              </a:spcBef>
            </a:pPr>
            <a:endParaRPr lang="pt-BR" altLang="en-US" sz="1900" dirty="0" smtClean="0"/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/>
              <a:t>Variables identifying a FCO within an interview: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dirty="0" smtClean="0"/>
              <a:t>COUNTRY</a:t>
            </a:r>
            <a:r>
              <a:rPr lang="pt-BR" altLang="en-US" sz="1900" dirty="0"/>
              <a:t>: Country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dirty="0"/>
              <a:t>CENTER: Center/Region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900" dirty="0"/>
              <a:t>ID_NUM: ID number</a:t>
            </a:r>
          </a:p>
          <a:p>
            <a:pPr lvl="1" eaLnBrk="1" hangingPunct="1">
              <a:spcBef>
                <a:spcPts val="0"/>
              </a:spcBef>
            </a:pPr>
            <a:r>
              <a:rPr lang="pt-BR" sz="2000" dirty="0" smtClean="0"/>
              <a:t>DATE_REC: Date </a:t>
            </a:r>
            <a:r>
              <a:rPr lang="pt-BR" sz="2000" dirty="0"/>
              <a:t>of recall</a:t>
            </a:r>
            <a:endParaRPr lang="pt-BR" altLang="en-US" sz="1900" dirty="0"/>
          </a:p>
          <a:p>
            <a:pPr lvl="1">
              <a:spcBef>
                <a:spcPts val="0"/>
              </a:spcBef>
            </a:pPr>
            <a:r>
              <a:rPr lang="pt-BR" sz="2000" b="1" u="sng" dirty="0" smtClean="0"/>
              <a:t>FCO_CODE</a:t>
            </a:r>
            <a:r>
              <a:rPr lang="pt-BR" sz="2000" dirty="0" smtClean="0"/>
              <a:t>: FCO code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pt-BR" sz="2000" b="1" u="sng" dirty="0"/>
              <a:t>HOUR</a:t>
            </a:r>
            <a:r>
              <a:rPr lang="pt-BR" sz="2000" dirty="0"/>
              <a:t>: </a:t>
            </a:r>
            <a:r>
              <a:rPr lang="pt-BR" sz="2000" dirty="0" smtClean="0"/>
              <a:t>FCO </a:t>
            </a:r>
            <a:r>
              <a:rPr lang="pt-BR" sz="2000" dirty="0"/>
              <a:t>hour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pt-BR" sz="2000" b="1" u="sng" dirty="0"/>
              <a:t>PLACE_CODE</a:t>
            </a:r>
            <a:r>
              <a:rPr lang="pt-BR" sz="2000" dirty="0"/>
              <a:t>: </a:t>
            </a:r>
            <a:r>
              <a:rPr lang="pt-BR" sz="2000" dirty="0" smtClean="0"/>
              <a:t>place </a:t>
            </a:r>
            <a:r>
              <a:rPr lang="pt-BR" sz="2000" dirty="0"/>
              <a:t>of </a:t>
            </a:r>
            <a:r>
              <a:rPr lang="pt-BR" sz="2000" dirty="0" smtClean="0"/>
              <a:t>consumption code </a:t>
            </a:r>
          </a:p>
          <a:p>
            <a:pPr marL="274638" lvl="1" indent="0">
              <a:spcBef>
                <a:spcPts val="0"/>
              </a:spcBef>
              <a:buNone/>
            </a:pPr>
            <a:r>
              <a:rPr lang="pt-BR" sz="2000" dirty="0" smtClean="0"/>
              <a:t>-&gt; As some FCOs can be selected several times, Hour &amp; Place are important </a:t>
            </a:r>
            <a:endParaRPr lang="en-US" sz="2000" dirty="0"/>
          </a:p>
          <a:p>
            <a:pPr lvl="1" eaLnBrk="1" hangingPunct="1">
              <a:spcBef>
                <a:spcPts val="600"/>
              </a:spcBef>
            </a:pPr>
            <a:endParaRPr lang="pt-BR" altLang="en-US" sz="19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00"/>
          <a:stretch/>
        </p:blipFill>
        <p:spPr bwMode="auto">
          <a:xfrm>
            <a:off x="6228230" y="1844780"/>
            <a:ext cx="2266950" cy="1629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410" y="4005080"/>
            <a:ext cx="38862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644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37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412720"/>
            <a:ext cx="8785220" cy="496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/>
              <a:t>Variables identifying </a:t>
            </a:r>
            <a:r>
              <a:rPr lang="pt-BR" altLang="en-US" sz="2400" dirty="0" smtClean="0"/>
              <a:t>QLI and its items </a:t>
            </a:r>
            <a:r>
              <a:rPr lang="pt-BR" altLang="en-US" sz="2000" dirty="0" smtClean="0"/>
              <a:t>(within </a:t>
            </a:r>
            <a:r>
              <a:rPr lang="pt-BR" altLang="en-US" sz="2000" dirty="0"/>
              <a:t>an </a:t>
            </a:r>
            <a:r>
              <a:rPr lang="pt-BR" altLang="en-US" sz="2000" dirty="0" smtClean="0"/>
              <a:t>interview &amp; a FCO)</a:t>
            </a:r>
            <a:r>
              <a:rPr lang="pt-BR" altLang="en-US" sz="2400" dirty="0" smtClean="0"/>
              <a:t>:</a:t>
            </a:r>
            <a:endParaRPr lang="pt-BR" altLang="en-US" sz="2400" dirty="0"/>
          </a:p>
          <a:p>
            <a:pPr lvl="1" eaLnBrk="1" hangingPunct="1">
              <a:spcBef>
                <a:spcPts val="0"/>
              </a:spcBef>
            </a:pPr>
            <a:r>
              <a:rPr lang="pt-BR" altLang="en-US" sz="1800" dirty="0"/>
              <a:t>COUNTRY: Country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800" dirty="0"/>
              <a:t>CENTER: Center/Region code</a:t>
            </a:r>
          </a:p>
          <a:p>
            <a:pPr lvl="1" eaLnBrk="1" hangingPunct="1">
              <a:spcBef>
                <a:spcPts val="0"/>
              </a:spcBef>
            </a:pPr>
            <a:r>
              <a:rPr lang="pt-BR" altLang="en-US" sz="1800" dirty="0"/>
              <a:t>ID_NUM: ID number</a:t>
            </a:r>
          </a:p>
          <a:p>
            <a:pPr lvl="1" eaLnBrk="1" hangingPunct="1">
              <a:spcBef>
                <a:spcPts val="0"/>
              </a:spcBef>
            </a:pPr>
            <a:r>
              <a:rPr lang="pt-BR" sz="1800" dirty="0"/>
              <a:t>DATE_REC: Date of recall</a:t>
            </a:r>
            <a:endParaRPr lang="pt-BR" altLang="en-US" sz="1800" dirty="0"/>
          </a:p>
          <a:p>
            <a:pPr lvl="1">
              <a:spcBef>
                <a:spcPts val="0"/>
              </a:spcBef>
            </a:pPr>
            <a:r>
              <a:rPr lang="pt-BR" sz="1800" dirty="0"/>
              <a:t>FCO_CODE: FCO code</a:t>
            </a:r>
            <a:endParaRPr lang="en-US" sz="1800" dirty="0"/>
          </a:p>
          <a:p>
            <a:pPr lvl="1">
              <a:spcBef>
                <a:spcPts val="0"/>
              </a:spcBef>
            </a:pPr>
            <a:r>
              <a:rPr lang="pt-BR" sz="1800" dirty="0"/>
              <a:t>HOUR: FCO hour</a:t>
            </a:r>
            <a:endParaRPr lang="en-US" sz="1800" dirty="0"/>
          </a:p>
          <a:p>
            <a:pPr lvl="1">
              <a:spcBef>
                <a:spcPts val="0"/>
              </a:spcBef>
            </a:pPr>
            <a:r>
              <a:rPr lang="pt-BR" sz="1800" dirty="0"/>
              <a:t>PLACE_CODE: place of consumption code </a:t>
            </a:r>
            <a:endParaRPr lang="pt-BR" sz="1800" dirty="0" smtClean="0"/>
          </a:p>
          <a:p>
            <a:pPr lvl="1">
              <a:spcBef>
                <a:spcPts val="0"/>
              </a:spcBef>
            </a:pPr>
            <a:r>
              <a:rPr lang="pt-BR" sz="1800" b="1" u="sng" dirty="0"/>
              <a:t>TOK</a:t>
            </a:r>
            <a:r>
              <a:rPr lang="pt-BR" sz="1800" dirty="0" smtClean="0"/>
              <a:t>: Sequential </a:t>
            </a:r>
            <a:r>
              <a:rPr lang="pt-BR" sz="1800" dirty="0"/>
              <a:t>number of the Quick List </a:t>
            </a:r>
            <a:r>
              <a:rPr lang="pt-BR" sz="1800" dirty="0" smtClean="0"/>
              <a:t>Item </a:t>
            </a:r>
            <a:endParaRPr lang="en-US" sz="1800" dirty="0"/>
          </a:p>
          <a:p>
            <a:pPr lvl="1">
              <a:spcBef>
                <a:spcPts val="0"/>
              </a:spcBef>
            </a:pPr>
            <a:r>
              <a:rPr lang="pt-BR" sz="1800" b="1" u="sng" dirty="0"/>
              <a:t>QLINUM</a:t>
            </a:r>
            <a:r>
              <a:rPr lang="pt-BR" sz="1800" dirty="0"/>
              <a:t>: </a:t>
            </a:r>
            <a:r>
              <a:rPr lang="pt-BR" sz="1800" dirty="0" smtClean="0"/>
              <a:t>Sequential </a:t>
            </a:r>
            <a:r>
              <a:rPr lang="pt-BR" sz="1800" dirty="0"/>
              <a:t>number within the quick list </a:t>
            </a:r>
            <a:r>
              <a:rPr lang="pt-BR" sz="1800" dirty="0" smtClean="0"/>
              <a:t>item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GB" sz="1800" b="1" dirty="0" smtClean="0"/>
              <a:t>Example 1: </a:t>
            </a:r>
            <a:r>
              <a:rPr lang="en-GB" sz="1800" dirty="0" smtClean="0"/>
              <a:t>QLI ‘Bread’ (TOK=1) with the 2 following foods attached: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1800" dirty="0" smtClean="0"/>
              <a:t>“</a:t>
            </a:r>
            <a:r>
              <a:rPr lang="en-US" sz="1800" dirty="0"/>
              <a:t>Bread, </a:t>
            </a:r>
            <a:r>
              <a:rPr lang="en-US" sz="1800" dirty="0" err="1"/>
              <a:t>wholemeal</a:t>
            </a:r>
            <a:r>
              <a:rPr lang="en-US" sz="1800" dirty="0"/>
              <a:t>” with </a:t>
            </a:r>
            <a:r>
              <a:rPr lang="en-US" sz="1800" dirty="0" smtClean="0"/>
              <a:t>QLINUM=1</a:t>
            </a:r>
          </a:p>
          <a:p>
            <a:pPr lvl="1">
              <a:spcBef>
                <a:spcPts val="0"/>
              </a:spcBef>
              <a:buFontTx/>
              <a:buChar char="-"/>
            </a:pPr>
            <a:r>
              <a:rPr lang="en-US" sz="1800" dirty="0"/>
              <a:t>“Margarine, dairy/ butter spread” with QLINUM=2 </a:t>
            </a:r>
            <a:r>
              <a:rPr lang="en-US" sz="1800" dirty="0" smtClean="0"/>
              <a:t> </a:t>
            </a:r>
            <a:r>
              <a:rPr lang="en-GB" sz="1800" dirty="0" smtClean="0"/>
              <a:t>   </a:t>
            </a:r>
            <a:endParaRPr lang="en-US" sz="2000" dirty="0"/>
          </a:p>
          <a:p>
            <a:pPr lvl="1" eaLnBrk="1" hangingPunct="1">
              <a:spcBef>
                <a:spcPts val="600"/>
              </a:spcBef>
            </a:pPr>
            <a:endParaRPr lang="pt-BR" altLang="en-US" sz="19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20" y="5301260"/>
            <a:ext cx="8343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260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38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412720"/>
            <a:ext cx="8785220" cy="496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/>
              <a:t>Variables identifying </a:t>
            </a:r>
            <a:r>
              <a:rPr lang="pt-BR" altLang="en-US" sz="2400" dirty="0" smtClean="0"/>
              <a:t>a recipe and its attached ingredients </a:t>
            </a:r>
            <a:r>
              <a:rPr lang="pt-BR" altLang="en-US" sz="2000" dirty="0" smtClean="0"/>
              <a:t>(within </a:t>
            </a:r>
            <a:r>
              <a:rPr lang="pt-BR" altLang="en-US" sz="2000" dirty="0"/>
              <a:t>an </a:t>
            </a:r>
            <a:r>
              <a:rPr lang="pt-BR" altLang="en-US" sz="2000" dirty="0" smtClean="0"/>
              <a:t>interview, a FCO &amp; a QLI)</a:t>
            </a:r>
            <a:r>
              <a:rPr lang="pt-BR" altLang="en-US" sz="2400" dirty="0" smtClean="0"/>
              <a:t>:</a:t>
            </a:r>
            <a:endParaRPr lang="pt-BR" altLang="en-US" sz="2400" dirty="0"/>
          </a:p>
          <a:p>
            <a:pPr marL="542925" lvl="1" indent="-268288" eaLnBrk="1" hangingPunct="1">
              <a:spcBef>
                <a:spcPts val="0"/>
              </a:spcBef>
              <a:tabLst>
                <a:tab pos="3048000" algn="l"/>
                <a:tab pos="5648325" algn="l"/>
              </a:tabLst>
            </a:pPr>
            <a:r>
              <a:rPr lang="pt-BR" altLang="en-US" sz="1800" dirty="0"/>
              <a:t>COUNTRY: Country </a:t>
            </a:r>
            <a:r>
              <a:rPr lang="pt-BR" altLang="en-US" sz="1800" dirty="0" smtClean="0"/>
              <a:t>code 	CENTER</a:t>
            </a:r>
            <a:r>
              <a:rPr lang="pt-BR" altLang="en-US" sz="1800" dirty="0"/>
              <a:t>: Center/Region code</a:t>
            </a:r>
          </a:p>
          <a:p>
            <a:pPr marL="542925" lvl="1" indent="-268288" eaLnBrk="1" hangingPunct="1">
              <a:spcBef>
                <a:spcPts val="0"/>
              </a:spcBef>
              <a:tabLst>
                <a:tab pos="3048000" algn="l"/>
                <a:tab pos="5648325" algn="l"/>
              </a:tabLst>
            </a:pPr>
            <a:r>
              <a:rPr lang="pt-BR" altLang="en-US" sz="1800" dirty="0"/>
              <a:t>ID_NUM: ID </a:t>
            </a:r>
            <a:r>
              <a:rPr lang="pt-BR" altLang="en-US" sz="1800" dirty="0" smtClean="0"/>
              <a:t>number	</a:t>
            </a:r>
            <a:r>
              <a:rPr lang="pt-BR" sz="1800" dirty="0" smtClean="0"/>
              <a:t>DATE_REC</a:t>
            </a:r>
            <a:r>
              <a:rPr lang="pt-BR" sz="1800" dirty="0"/>
              <a:t>: Date of recall</a:t>
            </a:r>
            <a:endParaRPr lang="pt-BR" altLang="en-US" sz="1800" dirty="0"/>
          </a:p>
          <a:p>
            <a:pPr marL="542925" lvl="1" indent="-268288">
              <a:spcBef>
                <a:spcPts val="0"/>
              </a:spcBef>
              <a:tabLst>
                <a:tab pos="3048000" algn="l"/>
                <a:tab pos="5648325" algn="l"/>
              </a:tabLst>
            </a:pPr>
            <a:r>
              <a:rPr lang="pt-BR" sz="1800" dirty="0"/>
              <a:t>FCO_CODE: FCO </a:t>
            </a:r>
            <a:r>
              <a:rPr lang="pt-BR" sz="1800" dirty="0" smtClean="0"/>
              <a:t>code	HOUR</a:t>
            </a:r>
            <a:r>
              <a:rPr lang="pt-BR" sz="1800" dirty="0"/>
              <a:t>: FCO </a:t>
            </a:r>
            <a:r>
              <a:rPr lang="pt-BR" sz="1800" dirty="0" smtClean="0"/>
              <a:t>hour 	PLACE_CODE</a:t>
            </a:r>
            <a:r>
              <a:rPr lang="pt-BR" sz="1800" dirty="0"/>
              <a:t>: place of </a:t>
            </a:r>
            <a:r>
              <a:rPr lang="pt-BR" sz="1800" dirty="0" smtClean="0"/>
              <a:t>FCO 	</a:t>
            </a:r>
          </a:p>
          <a:p>
            <a:pPr lvl="1">
              <a:spcBef>
                <a:spcPts val="0"/>
              </a:spcBef>
            </a:pPr>
            <a:r>
              <a:rPr lang="pt-BR" sz="1800" dirty="0" smtClean="0"/>
              <a:t>TOK</a:t>
            </a:r>
            <a:r>
              <a:rPr lang="pt-BR" sz="1800" dirty="0"/>
              <a:t>: Sequential number of </a:t>
            </a:r>
            <a:r>
              <a:rPr lang="pt-BR" sz="1800" dirty="0" smtClean="0"/>
              <a:t>QLI </a:t>
            </a:r>
            <a:endParaRPr lang="en-US" sz="1800" dirty="0"/>
          </a:p>
          <a:p>
            <a:pPr lvl="1">
              <a:spcBef>
                <a:spcPts val="0"/>
              </a:spcBef>
            </a:pPr>
            <a:r>
              <a:rPr lang="pt-BR" sz="1800" dirty="0"/>
              <a:t>QLINUM: Sequential number within </a:t>
            </a:r>
            <a:r>
              <a:rPr lang="pt-BR" sz="1800" dirty="0" smtClean="0"/>
              <a:t>the QLI</a:t>
            </a:r>
            <a:endParaRPr lang="pt-BR" sz="1800" dirty="0"/>
          </a:p>
          <a:p>
            <a:pPr lvl="1">
              <a:spcBef>
                <a:spcPts val="0"/>
              </a:spcBef>
            </a:pPr>
            <a:r>
              <a:rPr lang="pt-BR" sz="1800" b="1" u="sng" dirty="0" smtClean="0"/>
              <a:t>ING_NUM</a:t>
            </a:r>
            <a:r>
              <a:rPr lang="pt-BR" sz="1800" b="1" dirty="0" smtClean="0"/>
              <a:t>: </a:t>
            </a:r>
            <a:r>
              <a:rPr lang="pt-BR" sz="1800" dirty="0" smtClean="0"/>
              <a:t>Sequential </a:t>
            </a:r>
            <a:r>
              <a:rPr lang="pt-BR" sz="1800" dirty="0"/>
              <a:t>number of </a:t>
            </a:r>
            <a:r>
              <a:rPr lang="pt-BR" sz="1800" dirty="0" smtClean="0"/>
              <a:t>ingredient within </a:t>
            </a:r>
            <a:r>
              <a:rPr lang="pt-BR" sz="1800" dirty="0"/>
              <a:t>a mixed </a:t>
            </a:r>
            <a:r>
              <a:rPr lang="pt-BR" sz="1800" dirty="0" smtClean="0"/>
              <a:t>recipe</a:t>
            </a:r>
          </a:p>
          <a:p>
            <a:pPr marL="0" lvl="1" indent="0">
              <a:spcBef>
                <a:spcPts val="0"/>
              </a:spcBef>
              <a:buNone/>
            </a:pPr>
            <a:endParaRPr lang="en-GB" sz="1800" b="1" dirty="0" smtClean="0"/>
          </a:p>
          <a:p>
            <a:pPr marL="0" lvl="1" indent="0">
              <a:spcBef>
                <a:spcPts val="0"/>
              </a:spcBef>
              <a:buNone/>
            </a:pPr>
            <a:r>
              <a:rPr lang="en-GB" sz="1800" b="1" dirty="0" smtClean="0"/>
              <a:t>Example 2:  </a:t>
            </a:r>
            <a:r>
              <a:rPr lang="en-GB" sz="1800" dirty="0" smtClean="0"/>
              <a:t>Within QLI ‘potato’ (TOK=1), </a:t>
            </a:r>
            <a:r>
              <a:rPr lang="en-GB" sz="1800" u="sng" dirty="0" smtClean="0"/>
              <a:t>Recipe ‘</a:t>
            </a:r>
            <a:r>
              <a:rPr lang="en-US" sz="1800" u="sng" dirty="0" smtClean="0"/>
              <a:t>Coleslaw</a:t>
            </a:r>
            <a:r>
              <a:rPr lang="en-GB" sz="1800" u="sng" dirty="0" smtClean="0"/>
              <a:t>’ </a:t>
            </a:r>
            <a:r>
              <a:rPr lang="en-GB" sz="1800" dirty="0" smtClean="0"/>
              <a:t>(QLINUM=2) </a:t>
            </a:r>
            <a:r>
              <a:rPr lang="en-GB" sz="1800" u="sng" dirty="0" smtClean="0"/>
              <a:t>with 4 attached ingredients</a:t>
            </a:r>
            <a:r>
              <a:rPr lang="en-GB" sz="1800" dirty="0" smtClean="0"/>
              <a:t> (QLINUM=2 &amp; </a:t>
            </a:r>
            <a:r>
              <a:rPr lang="en-US" sz="1800" dirty="0"/>
              <a:t>ING_NUM value &gt; </a:t>
            </a:r>
            <a:r>
              <a:rPr lang="en-US" sz="1800" dirty="0" smtClean="0"/>
              <a:t>0)</a:t>
            </a:r>
            <a:endParaRPr lang="pt-BR" altLang="en-US" sz="1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4941209"/>
            <a:ext cx="862946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96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39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412720"/>
            <a:ext cx="8785220" cy="496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Particular case of fat during cooking – FDC  </a:t>
            </a:r>
            <a:r>
              <a:rPr lang="pt-BR" altLang="en-US" sz="2000" dirty="0" smtClean="0"/>
              <a:t>(TYPE=6 or 7):</a:t>
            </a:r>
            <a:endParaRPr lang="pt-BR" altLang="en-US" sz="2400" dirty="0"/>
          </a:p>
          <a:p>
            <a:pPr marL="542925" lvl="1" indent="-268288" eaLnBrk="1" hangingPunct="1">
              <a:spcBef>
                <a:spcPts val="600"/>
              </a:spcBef>
              <a:spcAft>
                <a:spcPts val="600"/>
              </a:spcAft>
              <a:tabLst>
                <a:tab pos="3048000" algn="l"/>
                <a:tab pos="5648325" algn="l"/>
              </a:tabLst>
            </a:pPr>
            <a:r>
              <a:rPr lang="pt-BR" sz="1800" dirty="0" smtClean="0"/>
              <a:t>For foods cooked with fat, e.g. “fried</a:t>
            </a:r>
            <a:r>
              <a:rPr lang="pt-BR" sz="1800" dirty="0"/>
              <a:t>” </a:t>
            </a:r>
            <a:endParaRPr lang="pt-BR" sz="1800" dirty="0" smtClean="0"/>
          </a:p>
          <a:p>
            <a:pPr marL="542925" lvl="1" indent="-268288" eaLnBrk="1" hangingPunct="1">
              <a:spcBef>
                <a:spcPts val="600"/>
              </a:spcBef>
              <a:spcAft>
                <a:spcPts val="600"/>
              </a:spcAft>
              <a:tabLst>
                <a:tab pos="3048000" algn="l"/>
                <a:tab pos="5648325" algn="l"/>
              </a:tabLst>
            </a:pPr>
            <a:r>
              <a:rPr lang="pt-BR" sz="1800" dirty="0" smtClean="0"/>
              <a:t>For ingredients  described as “deep </a:t>
            </a:r>
            <a:r>
              <a:rPr lang="pt-BR" sz="1800" dirty="0"/>
              <a:t>fried</a:t>
            </a:r>
            <a:r>
              <a:rPr lang="pt-BR" sz="1800" dirty="0" smtClean="0"/>
              <a:t>”</a:t>
            </a:r>
            <a:r>
              <a:rPr lang="pt-BR" sz="1800" dirty="0"/>
              <a:t>	</a:t>
            </a:r>
            <a:endParaRPr lang="pt-BR" sz="1800" dirty="0" smtClean="0"/>
          </a:p>
          <a:p>
            <a:pPr marL="542925" lvl="1" indent="-268288" eaLnBrk="1" hangingPunct="1">
              <a:spcBef>
                <a:spcPts val="600"/>
              </a:spcBef>
              <a:spcAft>
                <a:spcPts val="600"/>
              </a:spcAft>
              <a:tabLst>
                <a:tab pos="3048000" algn="l"/>
                <a:tab pos="5648325" algn="l"/>
              </a:tabLst>
            </a:pPr>
            <a:r>
              <a:rPr lang="pt-BR" sz="1800" dirty="0" smtClean="0"/>
              <a:t>The </a:t>
            </a:r>
            <a:r>
              <a:rPr lang="pt-BR" sz="1800" dirty="0"/>
              <a:t>link between </a:t>
            </a:r>
            <a:r>
              <a:rPr lang="pt-BR" sz="1800" dirty="0" smtClean="0"/>
              <a:t>the cooked item and its fat(s) </a:t>
            </a:r>
            <a:r>
              <a:rPr lang="pt-BR" sz="1800" dirty="0"/>
              <a:t>is </a:t>
            </a:r>
            <a:r>
              <a:rPr lang="pt-BR" sz="1800" dirty="0" smtClean="0"/>
              <a:t>kept and described below.</a:t>
            </a:r>
          </a:p>
          <a:p>
            <a:pPr marL="0" lvl="1" indent="0">
              <a:spcBef>
                <a:spcPts val="600"/>
              </a:spcBef>
              <a:spcAft>
                <a:spcPts val="0"/>
              </a:spcAft>
              <a:buNone/>
            </a:pPr>
            <a:endParaRPr lang="en-GB" sz="1800" b="1" dirty="0" smtClean="0"/>
          </a:p>
          <a:p>
            <a:pPr marL="0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 b="1" dirty="0" smtClean="0"/>
              <a:t>Example 3: </a:t>
            </a:r>
            <a:r>
              <a:rPr lang="en-US" sz="1800" dirty="0" smtClean="0"/>
              <a:t>A </a:t>
            </a:r>
            <a:r>
              <a:rPr lang="en-US" sz="1800" u="sng" dirty="0" smtClean="0"/>
              <a:t>stir fried food with 1 attached fat </a:t>
            </a:r>
            <a:r>
              <a:rPr lang="en-US" sz="1800" dirty="0" smtClean="0"/>
              <a:t>(TYPE=6). </a:t>
            </a:r>
          </a:p>
          <a:p>
            <a:pPr marL="542925" lvl="1" indent="-268288" eaLnBrk="1" hangingPunct="1">
              <a:spcBef>
                <a:spcPts val="60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en-US" sz="1800" dirty="0"/>
              <a:t>Under the QLI ‘beef’ (TOK=1), we </a:t>
            </a:r>
            <a:r>
              <a:rPr lang="en-US" sz="1800" dirty="0" smtClean="0"/>
              <a:t>have:</a:t>
            </a:r>
          </a:p>
          <a:p>
            <a:pPr marL="817562" lvl="2" indent="-268288" eaLnBrk="1" hangingPunct="1">
              <a:spcBef>
                <a:spcPts val="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en-US" sz="1600" dirty="0"/>
              <a:t>The fried food “Beef, steak </a:t>
            </a:r>
            <a:r>
              <a:rPr lang="en-US" sz="1600" dirty="0" err="1"/>
              <a:t>n.s</a:t>
            </a:r>
            <a:r>
              <a:rPr lang="en-US" sz="1600" dirty="0"/>
              <a:t>.” (QLINUM=1</a:t>
            </a:r>
            <a:r>
              <a:rPr lang="en-US" sz="1600" dirty="0" smtClean="0"/>
              <a:t>)</a:t>
            </a:r>
          </a:p>
          <a:p>
            <a:pPr marL="817562" lvl="2" indent="-268288" eaLnBrk="1" hangingPunct="1">
              <a:spcBef>
                <a:spcPts val="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en-US" sz="1600" dirty="0"/>
              <a:t>The attached ‘Oil, vegetable’ with the same QLINUM=1</a:t>
            </a:r>
            <a:endParaRPr lang="en-US" sz="1600" dirty="0" smtClean="0"/>
          </a:p>
          <a:p>
            <a:pPr marL="274637" lvl="1" indent="0" eaLnBrk="1" hangingPunct="1">
              <a:spcBef>
                <a:spcPts val="600"/>
              </a:spcBef>
              <a:spcAft>
                <a:spcPts val="600"/>
              </a:spcAft>
              <a:buNone/>
              <a:tabLst>
                <a:tab pos="542925" algn="l"/>
                <a:tab pos="5648325" algn="l"/>
              </a:tabLst>
            </a:pPr>
            <a:endParaRPr lang="en-US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0" y="4509150"/>
            <a:ext cx="8632508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Brace 1"/>
          <p:cNvSpPr/>
          <p:nvPr/>
        </p:nvSpPr>
        <p:spPr>
          <a:xfrm>
            <a:off x="5148080" y="2060809"/>
            <a:ext cx="288040" cy="57432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5940190" y="1988800"/>
            <a:ext cx="2376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2780B7"/>
                </a:solidFill>
                <a:latin typeface="+mn-lt"/>
                <a:cs typeface="+mn-cs"/>
              </a:rPr>
              <a:t>FDC is automatically computed.</a:t>
            </a:r>
            <a:endParaRPr lang="en-GB" dirty="0">
              <a:solidFill>
                <a:srgbClr val="2780B7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44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40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412720"/>
            <a:ext cx="8785220" cy="496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Particular case of </a:t>
            </a:r>
            <a:r>
              <a:rPr lang="pt-BR" altLang="en-US" sz="2400" u="sng" dirty="0" smtClean="0"/>
              <a:t>fat during cooking </a:t>
            </a:r>
            <a:r>
              <a:rPr lang="pt-BR" altLang="en-US" sz="2400" dirty="0" smtClean="0"/>
              <a:t>– FDC  </a:t>
            </a:r>
            <a:r>
              <a:rPr lang="pt-BR" altLang="en-US" sz="2000" dirty="0" smtClean="0"/>
              <a:t>(TYPE=6 or 7):</a:t>
            </a:r>
            <a:endParaRPr lang="pt-BR" altLang="en-US" sz="2400" dirty="0"/>
          </a:p>
          <a:p>
            <a:pPr marL="542925" lvl="1" indent="-268288" eaLnBrk="1" hangingPunct="1">
              <a:spcBef>
                <a:spcPts val="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pt-BR" sz="1800" dirty="0"/>
              <a:t>For foods cooked with fat, e.g. “fried” </a:t>
            </a:r>
          </a:p>
          <a:p>
            <a:pPr marL="542925" lvl="1" indent="-268288" eaLnBrk="1" hangingPunct="1">
              <a:spcBef>
                <a:spcPts val="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pt-BR" sz="1800" dirty="0"/>
              <a:t>For ingredients  described as “deep fried”	</a:t>
            </a:r>
          </a:p>
          <a:p>
            <a:pPr marL="542925" lvl="1" indent="-268288" eaLnBrk="1" hangingPunct="1">
              <a:spcBef>
                <a:spcPts val="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pt-BR" sz="1800" dirty="0"/>
              <a:t>The link between the cooked item and its fat(s) is kept and described below</a:t>
            </a:r>
            <a:r>
              <a:rPr lang="pt-BR" sz="1800" dirty="0" smtClean="0"/>
              <a:t>.</a:t>
            </a:r>
            <a:endParaRPr lang="en-GB" sz="1800" b="1" dirty="0" smtClean="0"/>
          </a:p>
          <a:p>
            <a:pPr marL="0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 b="1" dirty="0" smtClean="0"/>
              <a:t>Example 4: </a:t>
            </a:r>
            <a:r>
              <a:rPr lang="en-US" sz="1800" dirty="0"/>
              <a:t>A </a:t>
            </a:r>
            <a:r>
              <a:rPr lang="en-US" sz="1800" u="sng" dirty="0"/>
              <a:t>deep fried ingredient with 1 attached fat </a:t>
            </a:r>
            <a:r>
              <a:rPr lang="en-US" sz="1800" dirty="0"/>
              <a:t>(TYPE=7</a:t>
            </a:r>
            <a:r>
              <a:rPr lang="en-US" sz="1800" dirty="0" smtClean="0"/>
              <a:t>) </a:t>
            </a:r>
            <a:endParaRPr lang="en-US" sz="1800" dirty="0"/>
          </a:p>
          <a:p>
            <a:pPr marL="542925" lvl="1" indent="-268288" eaLnBrk="1" hangingPunct="1">
              <a:spcBef>
                <a:spcPts val="60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en-US" sz="1800" dirty="0"/>
              <a:t>Under the QLI </a:t>
            </a:r>
            <a:r>
              <a:rPr lang="en-US" sz="1800" dirty="0" smtClean="0"/>
              <a:t>‘potato &amp; vegetable’ </a:t>
            </a:r>
            <a:r>
              <a:rPr lang="en-US" sz="1800" dirty="0"/>
              <a:t>(</a:t>
            </a:r>
            <a:r>
              <a:rPr lang="en-US" sz="1800" dirty="0" smtClean="0"/>
              <a:t>TOK=2), </a:t>
            </a:r>
            <a:r>
              <a:rPr lang="en-US" sz="1800" dirty="0"/>
              <a:t>we have:</a:t>
            </a:r>
          </a:p>
          <a:p>
            <a:pPr lvl="2"/>
            <a:r>
              <a:rPr lang="en-US" sz="1800" dirty="0"/>
              <a:t>The recipe “Puree with vegetable” </a:t>
            </a:r>
            <a:r>
              <a:rPr lang="en-US" sz="1800" dirty="0" smtClean="0"/>
              <a:t>(</a:t>
            </a:r>
            <a:r>
              <a:rPr lang="en-US" sz="1800" dirty="0"/>
              <a:t>QLINUM=1) </a:t>
            </a:r>
          </a:p>
          <a:p>
            <a:pPr lvl="2"/>
            <a:r>
              <a:rPr lang="en-US" sz="1800" dirty="0"/>
              <a:t>The deep fried ingredient “Potato” </a:t>
            </a:r>
            <a:r>
              <a:rPr lang="en-US" sz="1800" dirty="0" smtClean="0"/>
              <a:t>(</a:t>
            </a:r>
            <a:r>
              <a:rPr lang="en-US" sz="1800" dirty="0"/>
              <a:t>ING_NUM=1</a:t>
            </a:r>
            <a:r>
              <a:rPr lang="en-US" sz="1800" dirty="0" smtClean="0"/>
              <a:t>)</a:t>
            </a:r>
          </a:p>
          <a:p>
            <a:pPr lvl="2"/>
            <a:r>
              <a:rPr lang="en-US" sz="1800" dirty="0"/>
              <a:t>The attached fat “Fat </a:t>
            </a:r>
            <a:r>
              <a:rPr lang="en-US" sz="1800" dirty="0" err="1"/>
              <a:t>n.s</a:t>
            </a:r>
            <a:r>
              <a:rPr lang="en-US" sz="1800" dirty="0"/>
              <a:t>.” </a:t>
            </a:r>
            <a:r>
              <a:rPr lang="en-US" sz="1800" dirty="0" smtClean="0"/>
              <a:t>with </a:t>
            </a:r>
            <a:r>
              <a:rPr lang="en-US" sz="1800" dirty="0"/>
              <a:t>the same QLINUM=1 and ING_NUM=1</a:t>
            </a:r>
            <a:endParaRPr lang="en-US" sz="1800" dirty="0" smtClean="0"/>
          </a:p>
          <a:p>
            <a:pPr marL="0" lvl="1" indent="0">
              <a:spcBef>
                <a:spcPts val="0"/>
              </a:spcBef>
              <a:buNone/>
            </a:pPr>
            <a:endParaRPr lang="pt-BR" altLang="en-US" sz="1900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75" y="4437140"/>
            <a:ext cx="8314849" cy="179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Brace 8"/>
          <p:cNvSpPr/>
          <p:nvPr/>
        </p:nvSpPr>
        <p:spPr>
          <a:xfrm>
            <a:off x="5148080" y="1916790"/>
            <a:ext cx="288040" cy="502311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5508130" y="1979518"/>
            <a:ext cx="3384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2780B7"/>
                </a:solidFill>
                <a:latin typeface="+mn-lt"/>
                <a:cs typeface="+mn-cs"/>
              </a:rPr>
              <a:t>FDC is automatically computed.</a:t>
            </a:r>
            <a:endParaRPr lang="en-GB" dirty="0">
              <a:solidFill>
                <a:srgbClr val="2780B7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65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149825"/>
            <a:ext cx="8785219" cy="758825"/>
          </a:xfrm>
        </p:spPr>
        <p:txBody>
          <a:bodyPr/>
          <a:lstStyle/>
          <a:p>
            <a:pPr lvl="1"/>
            <a:r>
              <a:rPr lang="en-GB" sz="3200" b="1" dirty="0" smtClean="0"/>
              <a:t>Linkages between records/lines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41</a:t>
            </a:fld>
            <a:endParaRPr lang="en-US" sz="1800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8" name="Tijdelijke aanduiding voor inhoud 12"/>
          <p:cNvSpPr txBox="1">
            <a:spLocks/>
          </p:cNvSpPr>
          <p:nvPr/>
        </p:nvSpPr>
        <p:spPr bwMode="auto">
          <a:xfrm>
            <a:off x="179390" y="1412720"/>
            <a:ext cx="8785220" cy="4968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2400" dirty="0" smtClean="0"/>
              <a:t>Particular case of </a:t>
            </a:r>
            <a:r>
              <a:rPr lang="pt-BR" altLang="en-US" sz="2400" u="sng" dirty="0" smtClean="0"/>
              <a:t>facets 15-‘Type of fat used’</a:t>
            </a:r>
            <a:r>
              <a:rPr lang="pt-BR" altLang="en-US" sz="2400" dirty="0" smtClean="0"/>
              <a:t> (TYPE=A2) and </a:t>
            </a:r>
            <a:r>
              <a:rPr lang="pt-BR" altLang="en-US" sz="2400" u="sng" dirty="0" smtClean="0"/>
              <a:t>16-‘Type of liquid used’</a:t>
            </a:r>
            <a:r>
              <a:rPr lang="pt-BR" altLang="en-US" sz="2400" dirty="0" smtClean="0"/>
              <a:t> (TYPE=A3)</a:t>
            </a:r>
          </a:p>
          <a:p>
            <a:pPr lvl="1" eaLnBrk="1" hangingPunct="1">
              <a:spcBef>
                <a:spcPts val="600"/>
              </a:spcBef>
              <a:spcAft>
                <a:spcPts val="0"/>
              </a:spcAft>
            </a:pPr>
            <a:r>
              <a:rPr lang="pt-BR" altLang="en-US" sz="1900" dirty="0" smtClean="0"/>
              <a:t>These records are only </a:t>
            </a:r>
            <a:r>
              <a:rPr lang="pt-BR" altLang="en-US" sz="1900" b="1" dirty="0" smtClean="0"/>
              <a:t>qualitative</a:t>
            </a:r>
            <a:r>
              <a:rPr lang="pt-BR" altLang="en-US" sz="1900" dirty="0" smtClean="0"/>
              <a:t> information (no quantity attached) and are used to describe foods/ingredients</a:t>
            </a: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pt-BR" sz="1900" dirty="0" smtClean="0"/>
              <a:t>The link between the complex food and its qualitative ingredient(s) is kept as:</a:t>
            </a:r>
            <a:endParaRPr lang="pt-BR" altLang="en-US" sz="2400" dirty="0" smtClean="0"/>
          </a:p>
          <a:p>
            <a:pPr marL="0" lvl="1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800" b="1" dirty="0" smtClean="0"/>
              <a:t>Example 5: </a:t>
            </a:r>
            <a:r>
              <a:rPr lang="en-US" sz="1800" dirty="0" smtClean="0"/>
              <a:t>A </a:t>
            </a:r>
            <a:r>
              <a:rPr lang="en-US" sz="1800" u="sng" dirty="0" smtClean="0"/>
              <a:t>cake described with butter (TYPE=A2) &amp; milk (TYPE=A3)</a:t>
            </a:r>
          </a:p>
          <a:p>
            <a:pPr marL="542925" lvl="1" indent="-268288" eaLnBrk="1" hangingPunct="1">
              <a:spcBef>
                <a:spcPts val="600"/>
              </a:spcBef>
              <a:spcAft>
                <a:spcPts val="0"/>
              </a:spcAft>
              <a:tabLst>
                <a:tab pos="3048000" algn="l"/>
                <a:tab pos="5648325" algn="l"/>
              </a:tabLst>
            </a:pPr>
            <a:r>
              <a:rPr lang="en-US" sz="1800" dirty="0" smtClean="0"/>
              <a:t>Under the QLI ‘cake’ (TOK=1), we have:</a:t>
            </a:r>
          </a:p>
          <a:p>
            <a:pPr lvl="2"/>
            <a:r>
              <a:rPr lang="en-US" sz="1800" dirty="0"/>
              <a:t>The food “Cake </a:t>
            </a:r>
            <a:r>
              <a:rPr lang="en-US" sz="1800" dirty="0" err="1"/>
              <a:t>n.s</a:t>
            </a:r>
            <a:r>
              <a:rPr lang="en-US" sz="1800" dirty="0" smtClean="0"/>
              <a:t>.” (QLINUM=1) </a:t>
            </a:r>
          </a:p>
          <a:p>
            <a:pPr lvl="2"/>
            <a:r>
              <a:rPr lang="en-US" sz="1800" dirty="0"/>
              <a:t>The attached type of fat used “Butter </a:t>
            </a:r>
            <a:r>
              <a:rPr lang="en-US" sz="1800" dirty="0" err="1"/>
              <a:t>n.s</a:t>
            </a:r>
            <a:r>
              <a:rPr lang="en-US" sz="1800" dirty="0" smtClean="0"/>
              <a:t>.” TYPE=A2  (</a:t>
            </a:r>
            <a:r>
              <a:rPr lang="en-US" sz="1800" dirty="0"/>
              <a:t>QLINUM=1</a:t>
            </a:r>
            <a:r>
              <a:rPr lang="en-US" sz="1800" dirty="0" smtClean="0"/>
              <a:t>)</a:t>
            </a:r>
          </a:p>
          <a:p>
            <a:pPr lvl="2"/>
            <a:r>
              <a:rPr lang="en-US" sz="1800" dirty="0" smtClean="0"/>
              <a:t>The attached </a:t>
            </a:r>
            <a:r>
              <a:rPr lang="en-US" sz="1800" dirty="0"/>
              <a:t>type liquid used “Milk </a:t>
            </a:r>
            <a:r>
              <a:rPr lang="en-US" sz="1800" dirty="0" err="1"/>
              <a:t>n.s</a:t>
            </a:r>
            <a:r>
              <a:rPr lang="en-US" sz="1800" dirty="0"/>
              <a:t>.” </a:t>
            </a:r>
            <a:r>
              <a:rPr lang="en-US" sz="1800" dirty="0" smtClean="0"/>
              <a:t> TYPE=A3 (QLINUM=1)</a:t>
            </a:r>
          </a:p>
          <a:p>
            <a:pPr marL="0" lvl="1" indent="0">
              <a:spcBef>
                <a:spcPts val="0"/>
              </a:spcBef>
              <a:buNone/>
            </a:pPr>
            <a:endParaRPr lang="pt-BR" altLang="en-US" sz="19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88" y="5020472"/>
            <a:ext cx="8710422" cy="92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0125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42</a:t>
            </a:fld>
            <a:endParaRPr lang="en-US" sz="1800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179390" y="228600"/>
            <a:ext cx="8785220" cy="758825"/>
          </a:xfrm>
        </p:spPr>
        <p:txBody>
          <a:bodyPr/>
          <a:lstStyle/>
          <a:p>
            <a:r>
              <a:rPr lang="pt-BR" altLang="en-US" sz="3200" b="1" dirty="0"/>
              <a:t>Final Cleaning steps: </a:t>
            </a:r>
            <a:r>
              <a:rPr lang="pt-BR" altLang="en-US" sz="3200" b="1" dirty="0" smtClean="0"/>
              <a:t>  </a:t>
            </a:r>
            <a:r>
              <a:rPr lang="en-GB" altLang="en-US" sz="3200" b="1" dirty="0" smtClean="0"/>
              <a:t>SAS program examples</a:t>
            </a:r>
            <a:endParaRPr lang="en-GB" sz="3200" b="1" dirty="0"/>
          </a:p>
        </p:txBody>
      </p:sp>
      <p:sp>
        <p:nvSpPr>
          <p:cNvPr id="11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51400" y="1448996"/>
            <a:ext cx="8771492" cy="496133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400" dirty="0" smtClean="0">
                <a:sym typeface="Wingdings" panose="05000000000000000000" pitchFamily="2" charset="2"/>
              </a:rPr>
              <a:t> </a:t>
            </a:r>
            <a:r>
              <a:rPr lang="en-US" altLang="en-US" sz="2400" dirty="0" smtClean="0"/>
              <a:t>See guideline </a:t>
            </a:r>
            <a:r>
              <a:rPr lang="en-US" altLang="en-US" sz="2400" dirty="0" smtClean="0">
                <a:solidFill>
                  <a:srgbClr val="FF0000"/>
                </a:solidFill>
              </a:rPr>
              <a:t>Appendix 7 read_of_export_with_SAS_program</a:t>
            </a:r>
            <a:r>
              <a:rPr lang="en-US" altLang="en-US" sz="2400" dirty="0" smtClean="0"/>
              <a:t>.doc</a:t>
            </a:r>
          </a:p>
          <a:p>
            <a:pPr eaLnBrk="1" hangingPunct="1">
              <a:spcBef>
                <a:spcPts val="600"/>
              </a:spcBef>
            </a:pPr>
            <a:endParaRPr lang="en-US" sz="1000" dirty="0" smtClean="0"/>
          </a:p>
          <a:p>
            <a:pPr eaLnBrk="1" hangingPunct="1">
              <a:spcBef>
                <a:spcPts val="600"/>
              </a:spcBef>
            </a:pPr>
            <a:r>
              <a:rPr lang="en-US" sz="2400" dirty="0" smtClean="0"/>
              <a:t>Examples of transformation of the 5 csv-files to 5 SAS databases including the generation of a SAS Library:</a:t>
            </a:r>
          </a:p>
          <a:p>
            <a:pPr lvl="1" eaLnBrk="1" hangingPunct="1">
              <a:spcBef>
                <a:spcPts val="600"/>
              </a:spcBef>
            </a:pPr>
            <a:r>
              <a:rPr lang="en-GB" sz="1900" dirty="0" smtClean="0"/>
              <a:t>How to read several CSV-files with same topic (INTGI) in 1 SAS database:</a:t>
            </a:r>
          </a:p>
          <a:p>
            <a:pPr lvl="2" eaLnBrk="1" hangingPunct="1">
              <a:spcBef>
                <a:spcPts val="600"/>
              </a:spcBef>
            </a:pPr>
            <a:r>
              <a:rPr lang="en-GB" sz="1600" dirty="0" err="1" smtClean="0"/>
              <a:t>Infile</a:t>
            </a:r>
            <a:r>
              <a:rPr lang="en-GB" sz="1600" dirty="0" smtClean="0"/>
              <a:t> ‘d:\database\*intgi*.</a:t>
            </a:r>
            <a:r>
              <a:rPr lang="en-GB" sz="1600" dirty="0"/>
              <a:t>csv </a:t>
            </a:r>
            <a:r>
              <a:rPr lang="en-GB" sz="1600" dirty="0" smtClean="0"/>
              <a:t>‘ </a:t>
            </a:r>
            <a:r>
              <a:rPr lang="en-US" sz="1600" dirty="0" smtClean="0"/>
              <a:t>delimiter='|' </a:t>
            </a:r>
            <a:r>
              <a:rPr lang="en-US" sz="1600" dirty="0" err="1" smtClean="0"/>
              <a:t>missover</a:t>
            </a:r>
            <a:r>
              <a:rPr lang="en-US" sz="1600" dirty="0" smtClean="0"/>
              <a:t> </a:t>
            </a:r>
            <a:r>
              <a:rPr lang="en-US" sz="1600" dirty="0" err="1" smtClean="0"/>
              <a:t>dsd</a:t>
            </a:r>
            <a:r>
              <a:rPr lang="en-US" sz="1600" dirty="0" smtClean="0"/>
              <a:t> ; </a:t>
            </a:r>
            <a:endParaRPr lang="en-GB" sz="1600" dirty="0" smtClean="0"/>
          </a:p>
          <a:p>
            <a:pPr lvl="1" eaLnBrk="1" hangingPunct="1">
              <a:spcBef>
                <a:spcPts val="600"/>
              </a:spcBef>
            </a:pPr>
            <a:endParaRPr lang="en-GB" sz="1000" dirty="0" smtClean="0"/>
          </a:p>
          <a:p>
            <a:pPr lvl="1" eaLnBrk="1" hangingPunct="1">
              <a:spcBef>
                <a:spcPts val="600"/>
              </a:spcBef>
            </a:pPr>
            <a:r>
              <a:rPr lang="en-GB" sz="1900" dirty="0" smtClean="0"/>
              <a:t>How to read the Note CSV-files using UTF-8 format</a:t>
            </a:r>
          </a:p>
          <a:p>
            <a:pPr lvl="2" eaLnBrk="1" hangingPunct="1">
              <a:spcBef>
                <a:spcPts val="600"/>
              </a:spcBef>
            </a:pPr>
            <a:r>
              <a:rPr lang="en-US" sz="1600" dirty="0"/>
              <a:t>filename </a:t>
            </a:r>
            <a:r>
              <a:rPr lang="en-US" sz="1600" dirty="0" err="1" smtClean="0"/>
              <a:t>extfile</a:t>
            </a:r>
            <a:r>
              <a:rPr lang="en-US" sz="1600" dirty="0" smtClean="0"/>
              <a:t> </a:t>
            </a:r>
            <a:r>
              <a:rPr lang="en-GB" sz="1600" dirty="0"/>
              <a:t>‘d:\database</a:t>
            </a:r>
            <a:r>
              <a:rPr lang="en-GB" sz="1600" dirty="0" smtClean="0"/>
              <a:t>\*Notes*.</a:t>
            </a:r>
            <a:r>
              <a:rPr lang="en-GB" sz="1600" dirty="0"/>
              <a:t>csv </a:t>
            </a:r>
            <a:r>
              <a:rPr lang="en-GB" sz="1600" dirty="0" smtClean="0"/>
              <a:t>‘</a:t>
            </a:r>
            <a:r>
              <a:rPr lang="en-US" sz="1600" dirty="0"/>
              <a:t>encoding="utf-8</a:t>
            </a:r>
            <a:r>
              <a:rPr lang="en-US" sz="1600" dirty="0" smtClean="0"/>
              <a:t>";</a:t>
            </a:r>
          </a:p>
          <a:p>
            <a:pPr lvl="2" eaLnBrk="1" hangingPunct="1">
              <a:spcBef>
                <a:spcPts val="600"/>
              </a:spcBef>
            </a:pPr>
            <a:r>
              <a:rPr lang="en-GB" sz="1600" dirty="0" smtClean="0"/>
              <a:t>Data NOTES; </a:t>
            </a:r>
            <a:r>
              <a:rPr lang="en-US" sz="1600" dirty="0"/>
              <a:t>filename </a:t>
            </a:r>
            <a:r>
              <a:rPr lang="en-US" sz="1600" dirty="0" err="1"/>
              <a:t>extfile</a:t>
            </a:r>
            <a:r>
              <a:rPr lang="en-US" sz="1600" dirty="0"/>
              <a:t> 'D:\databases\Pilot'\*NOTES*.csv' encoding="utf-8</a:t>
            </a:r>
            <a:r>
              <a:rPr lang="en-US" sz="1600" dirty="0" smtClean="0"/>
              <a:t>";</a:t>
            </a:r>
          </a:p>
          <a:p>
            <a:pPr lvl="1" eaLnBrk="1" hangingPunct="1">
              <a:spcBef>
                <a:spcPts val="600"/>
              </a:spcBef>
            </a:pPr>
            <a:endParaRPr lang="en-GB" sz="1000" dirty="0"/>
          </a:p>
          <a:p>
            <a:pPr lvl="1" eaLnBrk="1" hangingPunct="1">
              <a:spcBef>
                <a:spcPts val="600"/>
              </a:spcBef>
            </a:pPr>
            <a:r>
              <a:rPr lang="en-GB" sz="1900" dirty="0"/>
              <a:t>How to correct some wrong ID number or Recall date:</a:t>
            </a:r>
          </a:p>
          <a:p>
            <a:pPr lvl="2" eaLnBrk="1" hangingPunct="1">
              <a:spcBef>
                <a:spcPts val="600"/>
              </a:spcBef>
            </a:pPr>
            <a:r>
              <a:rPr lang="en-US" sz="1600" dirty="0"/>
              <a:t>IF (ID_NUM='020205') and DATE_REC=MDY(01,21,2014) THEN DO;</a:t>
            </a:r>
          </a:p>
          <a:p>
            <a:pPr marL="593725" lvl="2" indent="0" eaLnBrk="1" hangingPunct="1">
              <a:spcBef>
                <a:spcPts val="600"/>
              </a:spcBef>
              <a:buNone/>
            </a:pPr>
            <a:r>
              <a:rPr lang="en-US" sz="1600" dirty="0"/>
              <a:t>          ID_NUM='010102'; DATE_REC=MDY(11,20,2014);                END;</a:t>
            </a:r>
            <a:endParaRPr lang="en-GB" sz="1600" dirty="0"/>
          </a:p>
          <a:p>
            <a:pPr lvl="2" eaLnBrk="1" hangingPunct="1">
              <a:spcBef>
                <a:spcPts val="600"/>
              </a:spcBef>
            </a:pPr>
            <a:endParaRPr lang="en-GB" sz="1600" dirty="0" smtClean="0"/>
          </a:p>
        </p:txBody>
      </p:sp>
      <p:sp>
        <p:nvSpPr>
          <p:cNvPr id="12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781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43</a:t>
            </a:fld>
            <a:endParaRPr lang="en-US" sz="1800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0" name="Title 2"/>
          <p:cNvSpPr>
            <a:spLocks noGrp="1"/>
          </p:cNvSpPr>
          <p:nvPr>
            <p:ph type="title"/>
          </p:nvPr>
        </p:nvSpPr>
        <p:spPr>
          <a:xfrm>
            <a:off x="179390" y="228600"/>
            <a:ext cx="8785220" cy="758825"/>
          </a:xfrm>
        </p:spPr>
        <p:txBody>
          <a:bodyPr/>
          <a:lstStyle/>
          <a:p>
            <a:r>
              <a:rPr lang="pt-BR" altLang="en-US" sz="3200" b="1" dirty="0"/>
              <a:t>Final Cleaning steps: </a:t>
            </a:r>
            <a:r>
              <a:rPr lang="pt-BR" altLang="en-US" sz="3200" b="1" dirty="0" smtClean="0"/>
              <a:t>  </a:t>
            </a:r>
            <a:r>
              <a:rPr lang="en-GB" altLang="en-US" sz="3200" b="1" dirty="0" smtClean="0"/>
              <a:t>SAS program examples</a:t>
            </a:r>
            <a:endParaRPr lang="en-GB" sz="3200" b="1" dirty="0"/>
          </a:p>
        </p:txBody>
      </p:sp>
      <p:sp>
        <p:nvSpPr>
          <p:cNvPr id="11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179390" y="1448996"/>
            <a:ext cx="8843502" cy="496133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sz="2400" dirty="0" smtClean="0"/>
              <a:t>Examples of how to compute/manage some data:</a:t>
            </a:r>
          </a:p>
          <a:p>
            <a:pPr lvl="1" eaLnBrk="1" hangingPunct="1">
              <a:spcBef>
                <a:spcPts val="0"/>
              </a:spcBef>
            </a:pPr>
            <a:r>
              <a:rPr lang="en-GB" sz="1900" dirty="0" smtClean="0"/>
              <a:t>How to compute the number of reported foods/recipes/ingredients per interview and to store them in INTGI database</a:t>
            </a:r>
          </a:p>
          <a:p>
            <a:pPr lvl="2" eaLnBrk="1" hangingPunct="1">
              <a:spcBef>
                <a:spcPts val="0"/>
              </a:spcBef>
            </a:pPr>
            <a:r>
              <a:rPr lang="en-GB" sz="1600" dirty="0"/>
              <a:t>See point </a:t>
            </a:r>
            <a:r>
              <a:rPr lang="en-GB" sz="1600" dirty="0" smtClean="0"/>
              <a:t>4- </a:t>
            </a:r>
            <a:r>
              <a:rPr lang="en-GB" sz="1600" dirty="0"/>
              <a:t>Read of </a:t>
            </a:r>
            <a:r>
              <a:rPr lang="en-GB" sz="1600" dirty="0" smtClean="0"/>
              <a:t>INTERV </a:t>
            </a:r>
            <a:r>
              <a:rPr lang="en-GB" sz="1600" dirty="0"/>
              <a:t>file  </a:t>
            </a:r>
            <a:endParaRPr lang="en-GB" sz="1600" dirty="0" smtClean="0"/>
          </a:p>
          <a:p>
            <a:pPr lvl="1" eaLnBrk="1" hangingPunct="1">
              <a:spcBef>
                <a:spcPts val="0"/>
              </a:spcBef>
            </a:pPr>
            <a:r>
              <a:rPr lang="en-GB" sz="1900" dirty="0" smtClean="0"/>
              <a:t>How to identify new foods to be updated</a:t>
            </a:r>
          </a:p>
          <a:p>
            <a:pPr lvl="2" eaLnBrk="1" hangingPunct="1">
              <a:spcBef>
                <a:spcPts val="0"/>
              </a:spcBef>
            </a:pPr>
            <a:r>
              <a:rPr lang="en-GB" sz="1600" dirty="0"/>
              <a:t>See point 4- Read of INTERV file  </a:t>
            </a:r>
            <a:r>
              <a:rPr lang="en-GB" sz="1900" dirty="0" smtClean="0"/>
              <a:t> 	</a:t>
            </a:r>
          </a:p>
          <a:p>
            <a:pPr lvl="1" eaLnBrk="1" hangingPunct="1">
              <a:spcBef>
                <a:spcPts val="0"/>
              </a:spcBef>
            </a:pPr>
            <a:r>
              <a:rPr lang="en-GB" sz="1900" dirty="0" smtClean="0"/>
              <a:t>How to identify the quantification method “Percentage” (e.g. % of fat automatically computed by </a:t>
            </a:r>
            <a:r>
              <a:rPr lang="en-GB" sz="1900" dirty="0" err="1" smtClean="0"/>
              <a:t>GloboDiet</a:t>
            </a:r>
            <a:r>
              <a:rPr lang="en-GB" sz="1900" dirty="0" smtClean="0"/>
              <a:t>) </a:t>
            </a:r>
          </a:p>
          <a:p>
            <a:pPr lvl="2" eaLnBrk="1" hangingPunct="1">
              <a:spcBef>
                <a:spcPts val="0"/>
              </a:spcBef>
            </a:pPr>
            <a:r>
              <a:rPr lang="en-GB" sz="1600" dirty="0"/>
              <a:t>See point 4- Read of INTERV file   </a:t>
            </a:r>
            <a:endParaRPr lang="en-GB" sz="1900" dirty="0" smtClean="0"/>
          </a:p>
          <a:p>
            <a:pPr lvl="1" eaLnBrk="1" hangingPunct="1">
              <a:spcBef>
                <a:spcPts val="0"/>
              </a:spcBef>
            </a:pPr>
            <a:r>
              <a:rPr lang="en-GB" sz="1900" dirty="0" smtClean="0"/>
              <a:t>How </a:t>
            </a:r>
            <a:r>
              <a:rPr lang="en-GB" sz="1900" dirty="0"/>
              <a:t>to </a:t>
            </a:r>
            <a:r>
              <a:rPr lang="en-GB" sz="1900" dirty="0" smtClean="0"/>
              <a:t>compute the nutrient intakes per subject and to store them in INTGI database:</a:t>
            </a:r>
          </a:p>
          <a:p>
            <a:pPr lvl="2" eaLnBrk="1" hangingPunct="1">
              <a:spcBef>
                <a:spcPts val="0"/>
              </a:spcBef>
            </a:pPr>
            <a:r>
              <a:rPr lang="en-GB" sz="1600" dirty="0"/>
              <a:t>See point 5- Read of </a:t>
            </a:r>
            <a:r>
              <a:rPr lang="en-GB" sz="1600" dirty="0" smtClean="0"/>
              <a:t>INTNUT file</a:t>
            </a:r>
          </a:p>
          <a:p>
            <a:pPr lvl="1" eaLnBrk="1" hangingPunct="1">
              <a:spcBef>
                <a:spcPts val="0"/>
              </a:spcBef>
            </a:pPr>
            <a:r>
              <a:rPr lang="en-GB" sz="1900" dirty="0"/>
              <a:t>How to </a:t>
            </a:r>
            <a:r>
              <a:rPr lang="en-GB" sz="1900" dirty="0" smtClean="0"/>
              <a:t>prepare &amp; export the list of reported foods/ingredients including their description, brand name and type of fat or liquid used (called Raw occurrences)</a:t>
            </a:r>
            <a:endParaRPr lang="en-GB" sz="1900" dirty="0"/>
          </a:p>
          <a:p>
            <a:pPr lvl="2" eaLnBrk="1" hangingPunct="1">
              <a:spcBef>
                <a:spcPts val="0"/>
              </a:spcBef>
            </a:pPr>
            <a:r>
              <a:rPr lang="en-GB" sz="1600" dirty="0"/>
              <a:t>See point </a:t>
            </a:r>
            <a:r>
              <a:rPr lang="en-GB" sz="1600" dirty="0" smtClean="0"/>
              <a:t>7- Preparation of the reported occurrence list</a:t>
            </a:r>
          </a:p>
          <a:p>
            <a:pPr lvl="1" eaLnBrk="1" hangingPunct="1">
              <a:spcBef>
                <a:spcPts val="0"/>
              </a:spcBef>
            </a:pPr>
            <a:r>
              <a:rPr lang="en-GB" sz="1900" dirty="0"/>
              <a:t>How to manage the item description </a:t>
            </a:r>
            <a:r>
              <a:rPr lang="en-GB" sz="1900" dirty="0" smtClean="0"/>
              <a:t>called </a:t>
            </a:r>
            <a:r>
              <a:rPr lang="en-GB" sz="1900" dirty="0"/>
              <a:t>facet string </a:t>
            </a:r>
            <a:r>
              <a:rPr lang="en-GB" sz="1900" dirty="0" smtClean="0"/>
              <a:t>variable (FACETS_STR)</a:t>
            </a:r>
          </a:p>
          <a:p>
            <a:pPr lvl="2" eaLnBrk="1" hangingPunct="1">
              <a:spcBef>
                <a:spcPts val="0"/>
              </a:spcBef>
            </a:pPr>
            <a:r>
              <a:rPr lang="en-GB" sz="1600" dirty="0"/>
              <a:t>See point </a:t>
            </a:r>
            <a:r>
              <a:rPr lang="en-GB" sz="1600" dirty="0" smtClean="0"/>
              <a:t>8- Example on how to manage the facet string</a:t>
            </a:r>
            <a:endParaRPr lang="en-GB" sz="1600" dirty="0"/>
          </a:p>
          <a:p>
            <a:pPr lvl="1" eaLnBrk="1" hangingPunct="1">
              <a:spcBef>
                <a:spcPts val="0"/>
              </a:spcBef>
            </a:pPr>
            <a:endParaRPr lang="en-US" sz="1900" dirty="0"/>
          </a:p>
        </p:txBody>
      </p:sp>
      <p:sp>
        <p:nvSpPr>
          <p:cNvPr id="12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397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9390" y="228600"/>
            <a:ext cx="8785219" cy="758825"/>
          </a:xfrm>
        </p:spPr>
        <p:txBody>
          <a:bodyPr/>
          <a:lstStyle/>
          <a:p>
            <a:r>
              <a:rPr lang="pt-BR" altLang="en-US" sz="3200" b="1" u="sng" dirty="0" smtClean="0"/>
              <a:t>Reminder</a:t>
            </a:r>
            <a:r>
              <a:rPr lang="pt-BR" altLang="en-US" sz="3200" b="1" dirty="0" smtClean="0"/>
              <a:t>: Final </a:t>
            </a:r>
            <a:r>
              <a:rPr lang="pt-BR" altLang="en-US" sz="3200" b="1" dirty="0"/>
              <a:t>Cleaning </a:t>
            </a:r>
            <a:r>
              <a:rPr lang="pt-BR" altLang="en-US" sz="3200" b="1" dirty="0" smtClean="0"/>
              <a:t>steps - </a:t>
            </a:r>
            <a:r>
              <a:rPr lang="en-GB" altLang="en-US" sz="3200" b="1" dirty="0" smtClean="0"/>
              <a:t>Some </a:t>
            </a:r>
            <a:r>
              <a:rPr lang="en-GB" altLang="en-US" sz="3200" b="1" dirty="0"/>
              <a:t>suggestions</a:t>
            </a:r>
            <a:endParaRPr lang="en-GB" sz="3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44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251400" y="1484730"/>
            <a:ext cx="8785220" cy="449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Checks in data processing: during food linkage/merging </a:t>
            </a:r>
            <a:r>
              <a:rPr lang="en-US" altLang="en-US" sz="2000" dirty="0" smtClean="0"/>
              <a:t>(e.g. ID-numbers, sex, birth date) with ID correction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All New foods have been handled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No New foods anymore in database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All New unknown recipes have been handled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No New Unknown recipes anymore in database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Check distribution of the consumed quantities by </a:t>
            </a:r>
            <a:r>
              <a:rPr lang="en-US" altLang="en-US" sz="2400" dirty="0" err="1" smtClean="0"/>
              <a:t>GloboDiet</a:t>
            </a:r>
            <a:r>
              <a:rPr lang="en-US" altLang="en-US" sz="2400" dirty="0" smtClean="0"/>
              <a:t> food classification at group, subgroup and sub-subgroup levels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mean, SD, min, percentiles, max…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Ten lowest &amp; Ten highest nutrient intakes of the nutrients of interest </a:t>
            </a:r>
            <a:r>
              <a:rPr lang="en-US" altLang="en-US" sz="2000" dirty="0" smtClean="0"/>
              <a:t>(e.g. energy &amp; macronutrients)</a:t>
            </a:r>
            <a:r>
              <a:rPr lang="en-US" altLang="en-US" sz="2400" dirty="0" smtClean="0"/>
              <a:t> should be evaluated.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900" dirty="0" smtClean="0"/>
              <a:t>Strange values should be checked with original interview files</a:t>
            </a:r>
            <a:endParaRPr lang="pt-BR" altLang="en-US" sz="1900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9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983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45</a:t>
            </a:fld>
            <a:endParaRPr lang="en-US" sz="1800" dirty="0"/>
          </a:p>
        </p:txBody>
      </p:sp>
      <p:sp>
        <p:nvSpPr>
          <p:cNvPr id="7" name="Tijdelijke aanduiding voor inhoud 12"/>
          <p:cNvSpPr txBox="1">
            <a:spLocks/>
          </p:cNvSpPr>
          <p:nvPr/>
        </p:nvSpPr>
        <p:spPr bwMode="auto">
          <a:xfrm>
            <a:off x="251400" y="1484730"/>
            <a:ext cx="8785220" cy="4493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</a:pPr>
            <a:endParaRPr lang="pt-BR" altLang="en-US" sz="1900" dirty="0" smtClean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0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51400" y="1448995"/>
            <a:ext cx="8771492" cy="435633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Number </a:t>
            </a:r>
            <a:r>
              <a:rPr lang="en-US" altLang="en-US" sz="2400" dirty="0"/>
              <a:t>of interviews (1, 2, etc</a:t>
            </a:r>
            <a:r>
              <a:rPr lang="en-US" altLang="en-US" sz="2400" dirty="0" smtClean="0"/>
              <a:t>…)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Distribution of interviews over the </a:t>
            </a:r>
            <a:r>
              <a:rPr lang="en-US" altLang="en-US" sz="2400" dirty="0" smtClean="0"/>
              <a:t>week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Duration of the </a:t>
            </a:r>
            <a:r>
              <a:rPr lang="en-US" altLang="en-US" sz="2400" dirty="0" smtClean="0"/>
              <a:t>interviews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Subject characteristics </a:t>
            </a:r>
            <a:r>
              <a:rPr lang="en-US" altLang="en-US" sz="2000" dirty="0"/>
              <a:t>(gender, </a:t>
            </a:r>
            <a:r>
              <a:rPr lang="en-US" altLang="en-US" sz="2000" dirty="0" smtClean="0"/>
              <a:t>age, socioeconomic status…)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Number of items per </a:t>
            </a:r>
            <a:r>
              <a:rPr lang="en-US" altLang="en-US" sz="2400" dirty="0" smtClean="0"/>
              <a:t>interview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Number of days between the </a:t>
            </a:r>
            <a:r>
              <a:rPr lang="en-US" altLang="en-US" sz="2400" dirty="0" smtClean="0"/>
              <a:t>interviews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Number of errors with regard to </a:t>
            </a:r>
            <a:r>
              <a:rPr lang="en-US" altLang="en-US" sz="2400" dirty="0" smtClean="0"/>
              <a:t>design/planning (e.g. season, week day…)</a:t>
            </a:r>
            <a:endParaRPr lang="en-US" altLang="en-US" sz="24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 smtClean="0"/>
              <a:t>Energy </a:t>
            </a:r>
            <a:r>
              <a:rPr lang="en-US" altLang="en-US" sz="2400" dirty="0"/>
              <a:t>ratio (energy intake </a:t>
            </a:r>
            <a:r>
              <a:rPr lang="en-US" altLang="en-US" sz="2400" i="1" dirty="0" smtClean="0"/>
              <a:t>vs.</a:t>
            </a:r>
            <a:r>
              <a:rPr lang="en-US" altLang="en-US" sz="2400" dirty="0" smtClean="0"/>
              <a:t> </a:t>
            </a:r>
            <a:r>
              <a:rPr lang="en-US" altLang="en-US" sz="2400" dirty="0"/>
              <a:t>required</a:t>
            </a:r>
            <a:r>
              <a:rPr lang="en-US" altLang="en-US" sz="2400" dirty="0" smtClean="0"/>
              <a:t>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/>
              <a:t>Energy ratio (Goldberg &amp; Black) </a:t>
            </a:r>
            <a:endParaRPr lang="en-US" altLang="en-US" sz="2400" dirty="0" smtClean="0"/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en-US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900" dirty="0" smtClean="0">
                <a:solidFill>
                  <a:srgbClr val="FF0000"/>
                </a:solidFill>
              </a:rPr>
              <a:t>See annex on data cleaning protocol guideline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AutoNum type="arabicPeriod" startAt="6"/>
            </a:pPr>
            <a:endParaRPr lang="en-US" altLang="en-US" sz="2000" dirty="0"/>
          </a:p>
          <a:p>
            <a:pPr>
              <a:spcBef>
                <a:spcPts val="600"/>
              </a:spcBef>
              <a:spcAft>
                <a:spcPts val="600"/>
              </a:spcAft>
              <a:buFontTx/>
              <a:buAutoNum type="arabicPeriod" startAt="6"/>
            </a:pPr>
            <a:endParaRPr lang="en-GB" altLang="en-US" sz="2000" dirty="0"/>
          </a:p>
        </p:txBody>
      </p:sp>
      <p:sp>
        <p:nvSpPr>
          <p:cNvPr id="11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12" name="Title 2"/>
          <p:cNvSpPr txBox="1">
            <a:spLocks/>
          </p:cNvSpPr>
          <p:nvPr/>
        </p:nvSpPr>
        <p:spPr bwMode="auto">
          <a:xfrm>
            <a:off x="179390" y="221835"/>
            <a:ext cx="8785219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rgbClr val="2780B7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2780B7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Calibri" pitchFamily="34" charset="0"/>
              </a:defRPr>
            </a:lvl9pPr>
          </a:lstStyle>
          <a:p>
            <a:r>
              <a:rPr lang="pt-BR" altLang="en-US" sz="3200" b="1" u="sng" dirty="0" smtClean="0"/>
              <a:t>Reminder</a:t>
            </a:r>
            <a:r>
              <a:rPr lang="pt-BR" altLang="en-US" sz="3200" b="1" dirty="0" smtClean="0"/>
              <a:t>: Final Cleaning steps - </a:t>
            </a:r>
            <a:r>
              <a:rPr lang="en-GB" altLang="en-US" sz="3200" b="1" dirty="0" smtClean="0"/>
              <a:t>Some suggestions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3156961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updated 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Some final highlights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46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15770" y="620610"/>
            <a:ext cx="6048840" cy="5724524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GB" altLang="en-US" sz="2400" b="1" dirty="0" smtClean="0"/>
              <a:t>Some final highlights</a:t>
            </a:r>
            <a:endParaRPr lang="en-GB" altLang="en-US" sz="2400" b="1" dirty="0"/>
          </a:p>
          <a:p>
            <a:pPr marL="273050" lvl="2" indent="-273050" eaLnBrk="1" hangingPunct="1"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2" pitchFamily="18" charset="2"/>
              <a:buChar char=""/>
            </a:pPr>
            <a:r>
              <a:rPr lang="pt-BR" altLang="en-US" sz="2400" dirty="0"/>
              <a:t>The </a:t>
            </a:r>
            <a:r>
              <a:rPr lang="pt-BR" altLang="en-US" sz="2400" b="1" dirty="0"/>
              <a:t>detailed information collected </a:t>
            </a:r>
            <a:r>
              <a:rPr lang="pt-BR" altLang="en-US" sz="2400" dirty="0"/>
              <a:t>with </a:t>
            </a:r>
            <a:r>
              <a:rPr lang="pt-BR" altLang="en-US" sz="2400" dirty="0" smtClean="0"/>
              <a:t>GloboDiet allows: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An easy </a:t>
            </a:r>
            <a:r>
              <a:rPr lang="pt-BR" altLang="en-US" sz="1900" b="1" dirty="0"/>
              <a:t>extraction of data </a:t>
            </a:r>
            <a:r>
              <a:rPr lang="pt-BR" altLang="en-US" sz="1900" b="1" dirty="0" smtClean="0"/>
              <a:t>with many possibilities </a:t>
            </a:r>
            <a:r>
              <a:rPr lang="pt-BR" altLang="en-US" sz="1900" dirty="0" smtClean="0"/>
              <a:t>such as the </a:t>
            </a:r>
            <a:r>
              <a:rPr lang="pt-BR" altLang="en-US" sz="1900" dirty="0"/>
              <a:t>use of facets </a:t>
            </a:r>
            <a:r>
              <a:rPr lang="pt-BR" altLang="en-US" sz="1900" dirty="0" smtClean="0"/>
              <a:t>&amp; descriptors </a:t>
            </a:r>
            <a:r>
              <a:rPr lang="pt-BR" altLang="en-US" sz="1700" dirty="0" smtClean="0"/>
              <a:t>(e.g. information on cooking), </a:t>
            </a:r>
            <a:r>
              <a:rPr lang="pt-BR" altLang="en-US" sz="1900" dirty="0" smtClean="0"/>
              <a:t>the use of quantification methods </a:t>
            </a:r>
            <a:r>
              <a:rPr lang="pt-BR" altLang="en-US" sz="1700" dirty="0" smtClean="0"/>
              <a:t>(e.g. photo used)... 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sz="1000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To Reclassify foods, ingredients (e.g. To FoodEX2)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sz="1000" b="1" dirty="0" smtClean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b="1" dirty="0" smtClean="0"/>
              <a:t>To Link the food intakes with food composition table</a:t>
            </a:r>
          </a:p>
          <a:p>
            <a:pPr lvl="3" eaLnBrk="1" hangingPunct="1">
              <a:spcBef>
                <a:spcPct val="0"/>
              </a:spcBef>
              <a:buFont typeface="Wingdings" pitchFamily="2" charset="2"/>
              <a:buChar char="à"/>
            </a:pPr>
            <a:r>
              <a:rPr lang="pt-BR" altLang="en-US" sz="1800" dirty="0" smtClean="0"/>
              <a:t>IARC </a:t>
            </a:r>
            <a:r>
              <a:rPr lang="pt-BR" altLang="en-US" sz="1800" dirty="0"/>
              <a:t>can provide guidelines for this linkage if needed for the time being</a:t>
            </a:r>
          </a:p>
          <a:p>
            <a:pPr lvl="2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sz="1700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829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14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2538413"/>
          </a:xfrm>
          <a:solidFill>
            <a:srgbClr val="F0F4F0"/>
          </a:solidFill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nl-BE" sz="1700" dirty="0" smtClean="0"/>
              <a:t>International agency </a:t>
            </a:r>
            <a:r>
              <a:rPr lang="nl-BE" sz="1700" dirty="0" err="1" smtClean="0"/>
              <a:t>for</a:t>
            </a:r>
            <a:r>
              <a:rPr lang="nl-BE" sz="1700" dirty="0" smtClean="0"/>
              <a:t> research on </a:t>
            </a:r>
            <a:r>
              <a:rPr lang="nl-BE" sz="1700" dirty="0" err="1" smtClean="0"/>
              <a:t>cancer</a:t>
            </a:r>
            <a:r>
              <a:rPr lang="nl-BE" sz="1700" smtClean="0"/>
              <a:t> lyon</a:t>
            </a:r>
            <a:r>
              <a:rPr lang="nl-BE" sz="1700" dirty="0" smtClean="0"/>
              <a:t> - </a:t>
            </a:r>
            <a:r>
              <a:rPr lang="nl-BE" sz="1700" dirty="0" err="1" smtClean="0"/>
              <a:t>france</a:t>
            </a:r>
            <a:endParaRPr lang="nl-BE" sz="1700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390" y="188550"/>
            <a:ext cx="878522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Quality control and data handling of the </a:t>
            </a:r>
            <a:r>
              <a:rPr lang="en-US" altLang="en-US" dirty="0" err="1" smtClean="0"/>
              <a:t>GloboDiet</a:t>
            </a:r>
            <a:r>
              <a:rPr lang="en-US" altLang="en-US" dirty="0" smtClean="0"/>
              <a:t> </a:t>
            </a:r>
            <a:r>
              <a:rPr lang="en-US" altLang="en-US" dirty="0"/>
              <a:t>24-HDR </a:t>
            </a:r>
            <a:r>
              <a:rPr lang="en-US" altLang="en-US" dirty="0" smtClean="0"/>
              <a:t>interviews</a:t>
            </a:r>
            <a:endParaRPr lang="nl-BE" altLang="en-US" dirty="0" smtClean="0"/>
          </a:p>
        </p:txBody>
      </p:sp>
      <p:pic>
        <p:nvPicPr>
          <p:cNvPr id="13316" name="Picture 7" descr="http://monographs.iarc.fr/images/logoiarc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5429250"/>
            <a:ext cx="304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380288" y="5602288"/>
            <a:ext cx="1223962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nl-BE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e-SMP</a:t>
            </a:r>
          </a:p>
        </p:txBody>
      </p:sp>
    </p:spTree>
    <p:extLst>
      <p:ext uri="{BB962C8B-B14F-4D97-AF65-F5344CB8AC3E}">
        <p14:creationId xmlns:p14="http://schemas.microsoft.com/office/powerpoint/2010/main" val="169814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 smtClean="0"/>
              <a:t>Sources </a:t>
            </a:r>
            <a:r>
              <a:rPr lang="en-GB" altLang="en-US" sz="3600" b="1" dirty="0"/>
              <a:t>of </a:t>
            </a:r>
            <a:r>
              <a:rPr lang="en-GB" altLang="en-US" sz="3600" b="1" dirty="0" smtClean="0"/>
              <a:t>information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BE" smtClean="0"/>
              <a:t>IARC, Lyon - France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B4BD64-DF49-43F5-9C3C-3B3DB0DC59A2}" type="slidenum">
              <a:rPr lang="en-US" smtClean="0"/>
              <a:pPr>
                <a:defRPr/>
              </a:pPr>
              <a:t>48</a:t>
            </a:fld>
            <a:endParaRPr lang="en-US" sz="180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8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  <p:sp>
        <p:nvSpPr>
          <p:cNvPr id="9" name="Tijdelijke aanduiding voor inhoud 12"/>
          <p:cNvSpPr txBox="1">
            <a:spLocks/>
          </p:cNvSpPr>
          <p:nvPr/>
        </p:nvSpPr>
        <p:spPr bwMode="auto">
          <a:xfrm>
            <a:off x="2857488" y="685800"/>
            <a:ext cx="6107122" cy="572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§"/>
              <a:defRPr sz="2200" kern="1200">
                <a:solidFill>
                  <a:srgbClr val="2780B7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pt-BR" altLang="en-US" sz="2400" dirty="0" smtClean="0"/>
          </a:p>
          <a:p>
            <a:pPr eaLnBrk="1" hangingPunct="1">
              <a:spcBef>
                <a:spcPct val="0"/>
              </a:spcBef>
            </a:pPr>
            <a:endParaRPr lang="pt-BR" altLang="en-US" sz="2400" dirty="0" smtClean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66" y="1669165"/>
            <a:ext cx="41338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40" y="2204830"/>
            <a:ext cx="3676650" cy="1474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391" y="3937425"/>
            <a:ext cx="4680650" cy="162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34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91842"/>
            <a:ext cx="2362200" cy="704848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ffectLst>
                  <a:reflection blurRad="6350" stA="55000" endA="300" endPos="45500" dir="5400000" sy="-100000" algn="bl" rotWithShape="0"/>
                </a:effectLst>
              </a:rPr>
              <a:t>Outline</a:t>
            </a:r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idx="2"/>
          </p:nvPr>
        </p:nvSpPr>
        <p:spPr>
          <a:xfrm>
            <a:off x="179390" y="1340710"/>
            <a:ext cx="2678098" cy="5066440"/>
          </a:xfrm>
          <a:ln>
            <a:miter lim="800000"/>
            <a:headEnd/>
            <a:tailEnd/>
          </a:ln>
          <a:extLst/>
        </p:spPr>
        <p:txBody>
          <a:bodyPr>
            <a:noAutofit/>
          </a:bodyPr>
          <a:lstStyle/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Before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Quality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 During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cleaning phase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Quality control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After: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 updated data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 output of data handling (csv-files)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general information – INTGI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items – INTERV &amp; INTERV_QT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energy &amp; nutrient intakes – INTNUT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on reported notes - NOTE </a:t>
            </a:r>
          </a:p>
          <a:p>
            <a:pPr marL="265113" indent="-265113" eaLnBrk="1" fontAlgn="auto" hangingPunct="1">
              <a:spcAft>
                <a:spcPts val="300"/>
              </a:spcAft>
              <a:buFont typeface="+mj-lt"/>
              <a:buAutoNum type="arabicPeriod"/>
              <a:defRPr/>
            </a:pPr>
            <a:r>
              <a:rPr lang="en-US" b="1" dirty="0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Some final highlights</a:t>
            </a:r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FBEA7F-A8F6-4BE1-8E3D-5253FF8EC092}" type="slidenum">
              <a:rPr lang="en-US" smtClean="0"/>
              <a:pPr>
                <a:defRPr/>
              </a:pPr>
              <a:t>49</a:t>
            </a:fld>
            <a:endParaRPr lang="en-US" sz="1800" dirty="0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BE"/>
              <a:t>IARC, Lyon - France</a:t>
            </a:r>
            <a:endParaRPr lang="en-US" dirty="0"/>
          </a:p>
        </p:txBody>
      </p:sp>
      <p:sp>
        <p:nvSpPr>
          <p:cNvPr id="15367" name="Tijdelijke aanduiding voor inhoud 12"/>
          <p:cNvSpPr>
            <a:spLocks noGrp="1"/>
          </p:cNvSpPr>
          <p:nvPr>
            <p:ph sz="quarter" idx="1"/>
          </p:nvPr>
        </p:nvSpPr>
        <p:spPr>
          <a:xfrm>
            <a:off x="2915770" y="620610"/>
            <a:ext cx="6048840" cy="5724524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buNone/>
            </a:pPr>
            <a:r>
              <a:rPr lang="en-GB" altLang="en-US" sz="2400" b="1" dirty="0" smtClean="0"/>
              <a:t>Some final highlights</a:t>
            </a:r>
            <a:endParaRPr lang="en-GB" altLang="en-US" sz="2400" b="1" dirty="0"/>
          </a:p>
          <a:p>
            <a:pPr marL="342900" lvl="2" indent="-342900" eaLnBrk="1" hangingPunct="1"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rial" panose="020B0604020202020204" pitchFamily="34" charset="0"/>
              <a:buChar char="•"/>
            </a:pPr>
            <a:r>
              <a:rPr lang="pt-BR" altLang="en-US" sz="2400" dirty="0" smtClean="0"/>
              <a:t>Good communication practices between </a:t>
            </a:r>
            <a:r>
              <a:rPr lang="pt-BR" altLang="en-US" sz="2400" dirty="0"/>
              <a:t>IARC team and local </a:t>
            </a:r>
            <a:r>
              <a:rPr lang="pt-BR" altLang="en-US" sz="2400" dirty="0" smtClean="0"/>
              <a:t>Coordinators</a:t>
            </a:r>
            <a:endParaRPr lang="pt-BR" altLang="en-US" sz="2400" dirty="0"/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dirty="0"/>
              <a:t>No contact between IARC and local interviewers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dirty="0"/>
              <a:t>Communication In English/French 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dirty="0" smtClean="0"/>
              <a:t>Communication with people in potential sub-contracted institutes to be clarified at the beginning of the project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dirty="0" smtClean="0"/>
              <a:t>Gather </a:t>
            </a:r>
            <a:r>
              <a:rPr lang="pt-BR" altLang="en-US" sz="1900" dirty="0"/>
              <a:t>the questions before contacting IARC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r>
              <a:rPr lang="pt-BR" altLang="en-US" sz="1900" dirty="0" smtClean="0"/>
              <a:t>With all people involved in copy (e.g. At IARC: Inge, Geneviève and Corinne)</a:t>
            </a:r>
          </a:p>
          <a:p>
            <a:pPr lvl="1" eaLnBrk="1" hangingPunct="1">
              <a:spcBef>
                <a:spcPts val="600"/>
              </a:spcBef>
              <a:spcAft>
                <a:spcPts val="600"/>
              </a:spcAft>
            </a:pPr>
            <a:endParaRPr lang="pt-BR" altLang="en-US" sz="1900" dirty="0" smtClean="0"/>
          </a:p>
        </p:txBody>
      </p:sp>
      <p:pic>
        <p:nvPicPr>
          <p:cNvPr id="15" name="Afbeelding 14" descr="124741-matte-white-square-icon-business-home7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1338" y="642918"/>
            <a:ext cx="536150" cy="536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57787" y="6410325"/>
            <a:ext cx="3694113" cy="331788"/>
          </a:xfrm>
        </p:spPr>
        <p:txBody>
          <a:bodyPr/>
          <a:lstStyle/>
          <a:p>
            <a:pPr>
              <a:defRPr/>
            </a:pPr>
            <a:r>
              <a:rPr lang="nl-BE" dirty="0" smtClean="0"/>
              <a:t>GloboDiet </a:t>
            </a:r>
            <a:r>
              <a:rPr lang="nl-BE" dirty="0"/>
              <a:t>training:</a:t>
            </a:r>
            <a:endParaRPr lang="en-US" dirty="0"/>
          </a:p>
        </p:txBody>
      </p:sp>
      <p:sp>
        <p:nvSpPr>
          <p:cNvPr id="14" name="Tekstvak 8"/>
          <p:cNvSpPr txBox="1"/>
          <p:nvPr/>
        </p:nvSpPr>
        <p:spPr>
          <a:xfrm>
            <a:off x="1643063" y="6410325"/>
            <a:ext cx="5593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Quality control and data handling of the </a:t>
            </a:r>
            <a:r>
              <a:rPr lang="en-US" altLang="en-US" sz="1400" dirty="0" err="1" smtClean="0">
                <a:solidFill>
                  <a:srgbClr val="FFFFFF"/>
                </a:solidFill>
                <a:latin typeface="+mj-lt"/>
                <a:cs typeface="+mn-cs"/>
              </a:rPr>
              <a:t>GloboDiet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 </a:t>
            </a:r>
            <a:r>
              <a:rPr lang="en-US" altLang="en-US" sz="1400" dirty="0">
                <a:solidFill>
                  <a:srgbClr val="FFFFFF"/>
                </a:solidFill>
                <a:latin typeface="+mj-lt"/>
                <a:cs typeface="+mn-cs"/>
              </a:rPr>
              <a:t>24-HDR </a:t>
            </a:r>
            <a:r>
              <a:rPr lang="en-US" altLang="en-US" sz="1400" dirty="0" smtClean="0">
                <a:solidFill>
                  <a:srgbClr val="FFFFFF"/>
                </a:solidFill>
                <a:latin typeface="+mj-lt"/>
                <a:cs typeface="+mn-cs"/>
              </a:rPr>
              <a:t>interviews</a:t>
            </a:r>
            <a:endParaRPr lang="nl-BE" sz="1400" dirty="0">
              <a:solidFill>
                <a:srgbClr val="FFFFFF"/>
              </a:solidFill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19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el">
  <a:themeElements>
    <a:clrScheme name="EPIC-IARC">
      <a:dk1>
        <a:sysClr val="windowText" lastClr="000000"/>
      </a:dk1>
      <a:lt1>
        <a:sysClr val="window" lastClr="FFFFFF"/>
      </a:lt1>
      <a:dk2>
        <a:srgbClr val="646B86"/>
      </a:dk2>
      <a:lt2>
        <a:srgbClr val="F0F4F0"/>
      </a:lt2>
      <a:accent1>
        <a:srgbClr val="4BA2D9"/>
      </a:accent1>
      <a:accent2>
        <a:srgbClr val="CCB400"/>
      </a:accent2>
      <a:accent3>
        <a:srgbClr val="99CC33"/>
      </a:accent3>
      <a:accent4>
        <a:srgbClr val="8C7B70"/>
      </a:accent4>
      <a:accent5>
        <a:srgbClr val="8FB08C"/>
      </a:accent5>
      <a:accent6>
        <a:srgbClr val="D19049"/>
      </a:accent6>
      <a:hlink>
        <a:srgbClr val="4BA2D9"/>
      </a:hlink>
      <a:folHlink>
        <a:srgbClr val="4BA2D9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e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3117C618FBFB40856EC52F4C60CBC5" ma:contentTypeVersion="18" ma:contentTypeDescription="Create a new document." ma:contentTypeScope="" ma:versionID="49df8a4e50af2e0b35fb1d2cbeaf40b9">
  <xsd:schema xmlns:xsd="http://www.w3.org/2001/XMLSchema" xmlns:xs="http://www.w3.org/2001/XMLSchema" xmlns:p="http://schemas.microsoft.com/office/2006/metadata/properties" xmlns:ns2="8340c1bc-d1cd-4b41-91bb-2c2f20a57517" xmlns:ns3="1891344d-db52-4f9c-9457-ef23ea7639fb" targetNamespace="http://schemas.microsoft.com/office/2006/metadata/properties" ma:root="true" ma:fieldsID="ba476b508b474beda7edf354cc99a575" ns2:_="" ns3:_="">
    <xsd:import namespace="8340c1bc-d1cd-4b41-91bb-2c2f20a57517"/>
    <xsd:import namespace="1891344d-db52-4f9c-9457-ef23ea7639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40c1bc-d1cd-4b41-91bb-2c2f20a575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a4eac88-8ae6-4a96-90c7-97bc93c844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91344d-db52-4f9c-9457-ef23ea7639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25c54d7-cef0-400e-a044-5cf48fe0a388}" ma:internalName="TaxCatchAll" ma:showField="CatchAllData" ma:web="1891344d-db52-4f9c-9457-ef23ea7639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340c1bc-d1cd-4b41-91bb-2c2f20a57517">
      <Terms xmlns="http://schemas.microsoft.com/office/infopath/2007/PartnerControls"/>
    </lcf76f155ced4ddcb4097134ff3c332f>
    <TaxCatchAll xmlns="1891344d-db52-4f9c-9457-ef23ea7639fb" xsi:nil="true"/>
  </documentManagement>
</p:properties>
</file>

<file path=customXml/itemProps1.xml><?xml version="1.0" encoding="utf-8"?>
<ds:datastoreItem xmlns:ds="http://schemas.openxmlformats.org/officeDocument/2006/customXml" ds:itemID="{54B733CE-7B84-4802-BD95-A6C0BBFF1FD2}"/>
</file>

<file path=customXml/itemProps2.xml><?xml version="1.0" encoding="utf-8"?>
<ds:datastoreItem xmlns:ds="http://schemas.openxmlformats.org/officeDocument/2006/customXml" ds:itemID="{9A258688-656D-4956-87E2-02F12B7019A5}"/>
</file>

<file path=customXml/itemProps3.xml><?xml version="1.0" encoding="utf-8"?>
<ds:datastoreItem xmlns:ds="http://schemas.openxmlformats.org/officeDocument/2006/customXml" ds:itemID="{FD58563D-DB3D-454D-A947-6783E50DFCC9}"/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13099</TotalTime>
  <Words>4690</Words>
  <Application>Microsoft Office PowerPoint</Application>
  <PresentationFormat>On-screen Show (4:3)</PresentationFormat>
  <Paragraphs>785</Paragraphs>
  <Slides>49</Slides>
  <Notes>48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Civiel</vt:lpstr>
      <vt:lpstr>Quality control and data handling of the GloboDiet 24-HDR interviews Part I – Data collection &amp; Note management</vt:lpstr>
      <vt:lpstr>Outline</vt:lpstr>
      <vt:lpstr>Outline</vt:lpstr>
      <vt:lpstr>Quality control before the data collection:  Example 1</vt:lpstr>
      <vt:lpstr>Quality control before the data collection:  Example 2</vt:lpstr>
      <vt:lpstr>Quality control before the data collection:  Example 3</vt:lpstr>
      <vt:lpstr>Outline</vt:lpstr>
      <vt:lpstr>Quality control during the data collection:  Example 1</vt:lpstr>
      <vt:lpstr>Quality control during the data collection:  Example 2</vt:lpstr>
      <vt:lpstr>Quality control during the data collection:  Example 3</vt:lpstr>
      <vt:lpstr>Quality control during the data collection:  Example 4</vt:lpstr>
      <vt:lpstr>Quality control during the data collection:  Example 5</vt:lpstr>
      <vt:lpstr>Quality control during the data collection:  Example 5</vt:lpstr>
      <vt:lpstr>Outline</vt:lpstr>
      <vt:lpstr>Note Handling</vt:lpstr>
      <vt:lpstr>PowerPoint Presentation</vt:lpstr>
      <vt:lpstr>PowerPoint Presentation</vt:lpstr>
      <vt:lpstr>Outline</vt:lpstr>
      <vt:lpstr>Some suggestions</vt:lpstr>
      <vt:lpstr>Some more suggestions</vt:lpstr>
      <vt:lpstr>Quality control and data handling of the GloboDiet 24-HDR interviews Part II – Management of exported files</vt:lpstr>
      <vt:lpstr>Outline</vt:lpstr>
      <vt:lpstr>Outline</vt:lpstr>
      <vt:lpstr>Final output of data handling  (csv-files) </vt:lpstr>
      <vt:lpstr>Reminder: Recompute program</vt:lpstr>
      <vt:lpstr>Outline</vt:lpstr>
      <vt:lpstr>Outline</vt:lpstr>
      <vt:lpstr>Data on reported items – INTERV/INTERV_QT</vt:lpstr>
      <vt:lpstr>Data on reported items – INTERV/INTERV_QT</vt:lpstr>
      <vt:lpstr>Outline</vt:lpstr>
      <vt:lpstr>Outline</vt:lpstr>
      <vt:lpstr>Outline</vt:lpstr>
      <vt:lpstr>PowerPoint Presentation</vt:lpstr>
      <vt:lpstr>Selection of records/lines</vt:lpstr>
      <vt:lpstr>Linkages between records/lines</vt:lpstr>
      <vt:lpstr>Linkages between records/lines</vt:lpstr>
      <vt:lpstr>Linkages between records/lines</vt:lpstr>
      <vt:lpstr>Linkages between records/lines</vt:lpstr>
      <vt:lpstr>Linkages between records/lines</vt:lpstr>
      <vt:lpstr>Linkages between records/lines</vt:lpstr>
      <vt:lpstr>Linkages between records/lines</vt:lpstr>
      <vt:lpstr>Final Cleaning steps:   SAS program examples</vt:lpstr>
      <vt:lpstr>Final Cleaning steps:   SAS program examples</vt:lpstr>
      <vt:lpstr>Reminder: Final Cleaning steps - Some suggestions</vt:lpstr>
      <vt:lpstr>PowerPoint Presentation</vt:lpstr>
      <vt:lpstr>Outline</vt:lpstr>
      <vt:lpstr>Quality control and data handling of the GloboDiet 24-HDR interviews</vt:lpstr>
      <vt:lpstr>Sources of information</vt:lpstr>
      <vt:lpstr>Outline</vt:lpstr>
    </vt:vector>
  </TitlesOfParts>
  <Company>WHO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interview techniques</dc:title>
  <dc:creator>IARC</dc:creator>
  <cp:lastModifiedBy>Casagrande Corinne</cp:lastModifiedBy>
  <cp:revision>665</cp:revision>
  <cp:lastPrinted>2016-04-27T09:20:41Z</cp:lastPrinted>
  <dcterms:created xsi:type="dcterms:W3CDTF">2011-05-26T07:56:24Z</dcterms:created>
  <dcterms:modified xsi:type="dcterms:W3CDTF">2016-04-27T12:55:54Z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0x010100E43117C618FBFB40856EC52F4C60CBC5</vt:lpwstr>
  </property>
</Properties>
</file>