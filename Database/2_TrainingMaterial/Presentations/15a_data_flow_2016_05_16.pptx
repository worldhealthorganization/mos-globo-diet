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6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7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7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6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6" r:id="rId1"/>
  </p:sldMasterIdLst>
  <p:notesMasterIdLst>
    <p:notesMasterId r:id="rId19"/>
  </p:notesMasterIdLst>
  <p:handoutMasterIdLst>
    <p:handoutMasterId r:id="rId20"/>
  </p:handoutMasterIdLst>
  <p:sldIdLst>
    <p:sldId id="256" r:id="rId2"/>
    <p:sldId id="347" r:id="rId3"/>
    <p:sldId id="418" r:id="rId4"/>
    <p:sldId id="416" r:id="rId5"/>
    <p:sldId id="419" r:id="rId6"/>
    <p:sldId id="431" r:id="rId7"/>
    <p:sldId id="432" r:id="rId8"/>
    <p:sldId id="423" r:id="rId9"/>
    <p:sldId id="433" r:id="rId10"/>
    <p:sldId id="434" r:id="rId11"/>
    <p:sldId id="435" r:id="rId12"/>
    <p:sldId id="436" r:id="rId13"/>
    <p:sldId id="437" r:id="rId14"/>
    <p:sldId id="439" r:id="rId15"/>
    <p:sldId id="428" r:id="rId16"/>
    <p:sldId id="441" r:id="rId17"/>
    <p:sldId id="440" r:id="rId18"/>
  </p:sldIdLst>
  <p:sldSz cx="9144000" cy="6858000" type="screen4x3"/>
  <p:notesSz cx="9926638" cy="67976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2A89C4"/>
    <a:srgbClr val="2780B7"/>
    <a:srgbClr val="2476A8"/>
    <a:srgbClr val="206A98"/>
    <a:srgbClr val="3799D5"/>
    <a:srgbClr val="CC0000"/>
    <a:srgbClr val="C9D4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8504" autoAdjust="0"/>
    <p:restoredTop sz="98713" autoAdjust="0"/>
  </p:normalViewPr>
  <p:slideViewPr>
    <p:cSldViewPr>
      <p:cViewPr>
        <p:scale>
          <a:sx n="110" d="100"/>
          <a:sy n="110" d="100"/>
        </p:scale>
        <p:origin x="-1560" y="-1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2796" y="-96"/>
      </p:cViewPr>
      <p:guideLst>
        <p:guide orient="horz" pos="2141"/>
        <p:guide pos="3127"/>
      </p:guideLst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125" cy="3397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2925" y="0"/>
            <a:ext cx="4302125" cy="3397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C09FF3F9-24B3-4750-B7F0-524E6ABB15F7}" type="datetimeFigureOut">
              <a:rPr lang="en-GB"/>
              <a:pPr>
                <a:defRPr/>
              </a:pPr>
              <a:t>16/05/2016</a:t>
            </a:fld>
            <a:endParaRPr lang="en-GB"/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6363"/>
            <a:ext cx="4302125" cy="3397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2925" y="6456363"/>
            <a:ext cx="4302125" cy="3397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677AE9A9-0189-47CD-AE1A-4F4B3750B3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06170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925" y="0"/>
            <a:ext cx="4302125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64F51C86-4FFA-4AD1-BF12-DEE1FA0751BD}" type="datetimeFigureOut">
              <a:rPr lang="nl-BE"/>
              <a:pPr>
                <a:defRPr/>
              </a:pPr>
              <a:t>16/05/2016</a:t>
            </a:fld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nl-BE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188" y="3228975"/>
            <a:ext cx="7942262" cy="30591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nl-BE" noProof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363"/>
            <a:ext cx="4302125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F9E24803-DA92-4672-8F0D-DE27A16DA1FB}" type="slidenum">
              <a:rPr lang="nl-BE"/>
              <a:pPr>
                <a:defRPr/>
              </a:pPr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4231356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nl-BE" altLang="en-US" smtClean="0"/>
          </a:p>
        </p:txBody>
      </p:sp>
      <p:sp>
        <p:nvSpPr>
          <p:cNvPr id="59396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C34E3FFE-A068-4800-AC08-3CFA6E7BD107}" type="slidenum">
              <a:rPr lang="nl-BE" smtClean="0"/>
              <a:pPr eaLnBrk="1" hangingPunct="1">
                <a:defRPr/>
              </a:pPr>
              <a:t>1</a:t>
            </a:fld>
            <a:endParaRPr lang="nl-BE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79F574AF-F216-4257-947C-2BBA481635FA}" type="slidenum">
              <a:rPr lang="en-US" smtClean="0"/>
              <a:pPr eaLnBrk="1" hangingPunct="1">
                <a:defRPr/>
              </a:pPr>
              <a:t>2</a:t>
            </a:fld>
            <a:endParaRPr lang="en-US" smtClean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l-BE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21D2CEA7-413C-4FFA-9232-71CC58007CA6}" type="slidenum">
              <a:rPr lang="en-US" smtClean="0"/>
              <a:pPr eaLnBrk="1" hangingPunct="1">
                <a:defRPr/>
              </a:pPr>
              <a:t>3</a:t>
            </a:fld>
            <a:endParaRPr lang="en-US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l-BE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21D2CEA7-413C-4FFA-9232-71CC58007CA6}" type="slidenum">
              <a:rPr lang="en-US" smtClean="0"/>
              <a:pPr eaLnBrk="1" hangingPunct="1">
                <a:defRPr/>
              </a:pPr>
              <a:t>5</a:t>
            </a:fld>
            <a:endParaRPr lang="en-US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l-BE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21D2CEA7-413C-4FFA-9232-71CC58007CA6}" type="slidenum">
              <a:rPr lang="en-US" smtClean="0"/>
              <a:pPr eaLnBrk="1" hangingPunct="1">
                <a:defRPr/>
              </a:pPr>
              <a:t>8</a:t>
            </a:fld>
            <a:endParaRPr lang="en-US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l-BE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E24803-DA92-4672-8F0D-DE27A16DA1FB}" type="slidenum">
              <a:rPr lang="nl-BE" smtClean="0"/>
              <a:pPr>
                <a:defRPr/>
              </a:pPr>
              <a:t>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925748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E24803-DA92-4672-8F0D-DE27A16DA1FB}" type="slidenum">
              <a:rPr lang="nl-BE" smtClean="0"/>
              <a:pPr>
                <a:defRPr/>
              </a:pPr>
              <a:t>10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925748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E24803-DA92-4672-8F0D-DE27A16DA1FB}" type="slidenum">
              <a:rPr lang="nl-BE" smtClean="0"/>
              <a:pPr>
                <a:defRPr/>
              </a:pPr>
              <a:t>11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925748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E24803-DA92-4672-8F0D-DE27A16DA1FB}" type="slidenum">
              <a:rPr lang="nl-BE" smtClean="0"/>
              <a:pPr>
                <a:defRPr/>
              </a:pPr>
              <a:t>12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925748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E24803-DA92-4672-8F0D-DE27A16DA1FB}" type="slidenum">
              <a:rPr lang="nl-BE" smtClean="0"/>
              <a:pPr>
                <a:defRPr/>
              </a:pPr>
              <a:t>13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925748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21D2CEA7-413C-4FFA-9232-71CC58007CA6}" type="slidenum">
              <a:rPr lang="en-US" smtClean="0"/>
              <a:pPr eaLnBrk="1" hangingPunct="1">
                <a:defRPr/>
              </a:pPr>
              <a:t>14</a:t>
            </a:fld>
            <a:endParaRPr lang="en-US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l-BE" alt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21D2CEA7-413C-4FFA-9232-71CC58007CA6}" type="slidenum">
              <a:rPr lang="en-US" smtClean="0"/>
              <a:pPr eaLnBrk="1" hangingPunct="1">
                <a:defRPr/>
              </a:pPr>
              <a:t>15</a:t>
            </a:fld>
            <a:endParaRPr lang="en-US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l-BE" alt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nl-BE" altLang="en-US" smtClean="0"/>
          </a:p>
        </p:txBody>
      </p:sp>
      <p:sp>
        <p:nvSpPr>
          <p:cNvPr id="59396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C34E3FFE-A068-4800-AC08-3CFA6E7BD107}" type="slidenum">
              <a:rPr lang="nl-BE" smtClean="0"/>
              <a:pPr eaLnBrk="1" hangingPunct="1">
                <a:defRPr/>
              </a:pPr>
              <a:t>17</a:t>
            </a:fld>
            <a:endParaRPr lang="nl-BE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19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5" name="Rechthoek 20"/>
          <p:cNvSpPr>
            <a:spLocks noChangeArrowheads="1"/>
          </p:cNvSpPr>
          <p:nvPr/>
        </p:nvSpPr>
        <p:spPr bwMode="white">
          <a:xfrm>
            <a:off x="8991600" y="3175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6" name="Rechthoek 23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7" name="Rechthoek 24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10" name="Rechthoek 25"/>
          <p:cNvSpPr>
            <a:spLocks noChangeArrowheads="1"/>
          </p:cNvSpPr>
          <p:nvPr/>
        </p:nvSpPr>
        <p:spPr bwMode="auto">
          <a:xfrm>
            <a:off x="142875" y="6405563"/>
            <a:ext cx="8858250" cy="30956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1" name="Rechte verbindingslijn 26"/>
          <p:cNvSpPr>
            <a:spLocks noChangeShapeType="1"/>
          </p:cNvSpPr>
          <p:nvPr/>
        </p:nvSpPr>
        <p:spPr bwMode="auto">
          <a:xfrm>
            <a:off x="155575" y="241935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2" name="Rechthoek 27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3" name="Ovaal 28"/>
          <p:cNvSpPr/>
          <p:nvPr/>
        </p:nvSpPr>
        <p:spPr>
          <a:xfrm>
            <a:off x="4267200" y="211455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Ovaal 29"/>
          <p:cNvSpPr/>
          <p:nvPr/>
        </p:nvSpPr>
        <p:spPr>
          <a:xfrm>
            <a:off x="4362450" y="2209800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Ondertitel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nl-NL" dirty="0" smtClean="0"/>
              <a:t>Klik om het opmaakprofiel van de modelondertitel te bewerken</a:t>
            </a:r>
            <a:endParaRPr lang="en-US" dirty="0"/>
          </a:p>
        </p:txBody>
      </p:sp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/>
          <a:lstStyle>
            <a:lvl1pPr>
              <a:defRPr sz="4200">
                <a:solidFill>
                  <a:srgbClr val="2780B7"/>
                </a:solidFill>
              </a:defRPr>
            </a:lvl1pPr>
          </a:lstStyle>
          <a:p>
            <a:r>
              <a:rPr lang="nl-NL" dirty="0" smtClean="0"/>
              <a:t>Klik om de stijl te bewerken</a:t>
            </a:r>
            <a:endParaRPr lang="en-US" dirty="0"/>
          </a:p>
        </p:txBody>
      </p:sp>
      <p:sp>
        <p:nvSpPr>
          <p:cNvPr id="15" name="Tijdelijke aanduiding voor datum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6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  <p:sp>
        <p:nvSpPr>
          <p:cNvPr id="17" name="Tijdelijke aanduiding voor dianummer 28"/>
          <p:cNvSpPr>
            <a:spLocks noGrp="1"/>
          </p:cNvSpPr>
          <p:nvPr>
            <p:ph type="sldNum" sz="quarter" idx="12"/>
          </p:nvPr>
        </p:nvSpPr>
        <p:spPr>
          <a:xfrm>
            <a:off x="4343400" y="2198688"/>
            <a:ext cx="457200" cy="441325"/>
          </a:xfrm>
        </p:spPr>
        <p:txBody>
          <a:bodyPr/>
          <a:lstStyle>
            <a:lvl1pPr>
              <a:defRPr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08C5678E-E54B-4394-AF6F-DCB93C41BA5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526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inhoud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>
            <a:lvl2pPr>
              <a:buClr>
                <a:schemeClr val="accent1"/>
              </a:buClr>
              <a:defRPr>
                <a:solidFill>
                  <a:srgbClr val="2780B7"/>
                </a:solidFill>
              </a:defRPr>
            </a:lvl2pPr>
          </a:lstStyle>
          <a:p>
            <a:pPr lvl="0"/>
            <a:r>
              <a:rPr lang="nl-NL" dirty="0" smtClean="0"/>
              <a:t>Klik om de modelstijlen te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en-US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780B7"/>
                </a:solidFill>
              </a:defRPr>
            </a:lvl1pPr>
          </a:lstStyle>
          <a:p>
            <a:r>
              <a:rPr lang="nl-NL" dirty="0" smtClean="0"/>
              <a:t>Klik om de stijl te bewerken</a:t>
            </a:r>
            <a:endParaRPr lang="nl-BE" dirty="0"/>
          </a:p>
        </p:txBody>
      </p:sp>
      <p:sp>
        <p:nvSpPr>
          <p:cNvPr id="4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eaLnBrk="1" latinLnBrk="0" hangingPunct="1">
              <a:defRPr/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5" name="Tijdelijke aanduiding voor dianumm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600"/>
            </a:lvl1pPr>
          </a:lstStyle>
          <a:p>
            <a:pPr>
              <a:defRPr/>
            </a:pPr>
            <a:fld id="{A1E1A012-FD19-4C4E-A2E3-D003F54E857E}" type="slidenum">
              <a:rPr lang="en-US"/>
              <a:pPr>
                <a:defRPr/>
              </a:pPr>
              <a:t>‹#›</a:t>
            </a:fld>
            <a:endParaRPr lang="en-US" sz="1800" dirty="0"/>
          </a:p>
        </p:txBody>
      </p:sp>
      <p:sp>
        <p:nvSpPr>
          <p:cNvPr id="6" name="Tijdelijke aanduiding voor voettekst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374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1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5" name="Rechthoek 20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6" name="Rechthoek 23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7" name="Rechthoek 24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8" name="Rechthoek 25"/>
          <p:cNvSpPr>
            <a:spLocks noChangeArrowheads="1"/>
          </p:cNvSpPr>
          <p:nvPr/>
        </p:nvSpPr>
        <p:spPr bwMode="white">
          <a:xfrm>
            <a:off x="152400" y="2286000"/>
            <a:ext cx="8832850" cy="304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9" name="Rechthoek 26"/>
          <p:cNvSpPr>
            <a:spLocks noChangeArrowheads="1"/>
          </p:cNvSpPr>
          <p:nvPr/>
        </p:nvSpPr>
        <p:spPr bwMode="auto">
          <a:xfrm>
            <a:off x="155575" y="142875"/>
            <a:ext cx="8832850" cy="21399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10" name="Rechthoek 27"/>
          <p:cNvSpPr>
            <a:spLocks noChangeArrowheads="1"/>
          </p:cNvSpPr>
          <p:nvPr/>
        </p:nvSpPr>
        <p:spPr bwMode="auto">
          <a:xfrm>
            <a:off x="142875" y="6405563"/>
            <a:ext cx="8858250" cy="30956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1" name="Rechthoek 28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2" name="Rechte verbindingslijn 29"/>
          <p:cNvSpPr>
            <a:spLocks noChangeShapeType="1"/>
          </p:cNvSpPr>
          <p:nvPr/>
        </p:nvSpPr>
        <p:spPr bwMode="auto">
          <a:xfrm>
            <a:off x="152400" y="2438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3" name="Ovaal 30"/>
          <p:cNvSpPr/>
          <p:nvPr/>
        </p:nvSpPr>
        <p:spPr>
          <a:xfrm>
            <a:off x="4267200" y="211455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Ovaal 31"/>
          <p:cNvSpPr/>
          <p:nvPr/>
        </p:nvSpPr>
        <p:spPr>
          <a:xfrm>
            <a:off x="4362450" y="2209800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15" name="Tijdelijke aanduiding voor voettekst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  <p:sp>
        <p:nvSpPr>
          <p:cNvPr id="16" name="Tijdelijke aanduiding voor datum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7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4343400" y="219868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7AAD1646-EECB-4326-A085-09FB35108AD0}" type="slidenum">
              <a:rPr lang="en-US"/>
              <a:pPr>
                <a:defRPr/>
              </a:pPr>
              <a:t>‹#›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040193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 verbindingslijn 19"/>
          <p:cNvSpPr>
            <a:spLocks noChangeShapeType="1"/>
          </p:cNvSpPr>
          <p:nvPr/>
        </p:nvSpPr>
        <p:spPr bwMode="auto">
          <a:xfrm flipV="1">
            <a:off x="4562475" y="1576388"/>
            <a:ext cx="9525" cy="4818062"/>
          </a:xfrm>
          <a:prstGeom prst="line">
            <a:avLst/>
          </a:prstGeom>
          <a:noFill/>
          <a:ln w="9525" algn="ctr">
            <a:solidFill>
              <a:schemeClr val="tx2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10" name="Tijdelijke aanduiding voor inhoud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  <a:lvl2pPr>
              <a:defRPr>
                <a:solidFill>
                  <a:srgbClr val="2780B7"/>
                </a:solidFill>
              </a:defRPr>
            </a:lvl2pPr>
          </a:lstStyle>
          <a:p>
            <a:pPr lvl="0"/>
            <a:r>
              <a:rPr lang="nl-NL" dirty="0" smtClean="0"/>
              <a:t>Klik om de modelstijlen te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en-US" dirty="0"/>
          </a:p>
        </p:txBody>
      </p:sp>
      <p:sp>
        <p:nvSpPr>
          <p:cNvPr id="12" name="Tijdelijke aanduiding voor inhoud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/>
            <a:r>
              <a:rPr lang="nl-NL" dirty="0" smtClean="0"/>
              <a:t>Klik om de modelstijlen te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en-US" dirty="0"/>
          </a:p>
        </p:txBody>
      </p:sp>
      <p:sp>
        <p:nvSpPr>
          <p:cNvPr id="6" name="Tijdelijke aanduiding voor datum 4"/>
          <p:cNvSpPr>
            <a:spLocks noGrp="1"/>
          </p:cNvSpPr>
          <p:nvPr>
            <p:ph type="dt" sz="half" idx="10"/>
          </p:nvPr>
        </p:nvSpPr>
        <p:spPr>
          <a:xfrm>
            <a:off x="5791200" y="6410325"/>
            <a:ext cx="304482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7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  <p:sp>
        <p:nvSpPr>
          <p:cNvPr id="8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pPr>
              <a:defRPr/>
            </a:pPr>
            <a:fld id="{F9AF5E19-A88D-422C-A18B-4166910C21F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2817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Vergelijk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 verbindingslijn 19"/>
          <p:cNvSpPr>
            <a:spLocks noChangeShapeType="1"/>
          </p:cNvSpPr>
          <p:nvPr/>
        </p:nvSpPr>
        <p:spPr bwMode="auto">
          <a:xfrm flipV="1">
            <a:off x="4572000" y="2200275"/>
            <a:ext cx="0" cy="4187825"/>
          </a:xfrm>
          <a:prstGeom prst="line">
            <a:avLst/>
          </a:prstGeom>
          <a:noFill/>
          <a:ln w="9525" algn="ctr">
            <a:solidFill>
              <a:schemeClr val="tx2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" name="Rechthoek 20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9" name="Rechthoek 23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10" name="Rechthoek 24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11" name="Rechthoek 2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12" name="Rechthoek 26"/>
          <p:cNvSpPr/>
          <p:nvPr/>
        </p:nvSpPr>
        <p:spPr>
          <a:xfrm>
            <a:off x="152400" y="1371600"/>
            <a:ext cx="8832850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Rechthoek 27"/>
          <p:cNvSpPr>
            <a:spLocks noChangeArrowheads="1"/>
          </p:cNvSpPr>
          <p:nvPr/>
        </p:nvSpPr>
        <p:spPr bwMode="auto">
          <a:xfrm>
            <a:off x="146050" y="6403975"/>
            <a:ext cx="8855075" cy="31115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4" name="Rechte verbindingslijn 28"/>
          <p:cNvSpPr>
            <a:spLocks noChangeShapeType="1"/>
          </p:cNvSpPr>
          <p:nvPr/>
        </p:nvSpPr>
        <p:spPr bwMode="auto">
          <a:xfrm>
            <a:off x="152400" y="1279525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5" name="Rechthoek 29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6" name="Ovaal 30"/>
          <p:cNvSpPr/>
          <p:nvPr/>
        </p:nvSpPr>
        <p:spPr>
          <a:xfrm>
            <a:off x="4267200" y="955675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" name="Ovaal 31"/>
          <p:cNvSpPr/>
          <p:nvPr/>
        </p:nvSpPr>
        <p:spPr>
          <a:xfrm>
            <a:off x="4362450" y="1050925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24" name="Tijdelijke aanduiding voor inhoud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en-US"/>
          </a:p>
        </p:txBody>
      </p:sp>
      <p:sp>
        <p:nvSpPr>
          <p:cNvPr id="26" name="Tijdelijke aanduiding voor inhoud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>
            <a:lvl2pPr>
              <a:defRPr>
                <a:solidFill>
                  <a:srgbClr val="2780B7"/>
                </a:solidFill>
              </a:defRPr>
            </a:lvl2pPr>
          </a:lstStyle>
          <a:p>
            <a:pPr lvl="0"/>
            <a:r>
              <a:rPr lang="nl-NL" dirty="0" smtClean="0"/>
              <a:t>Klik om de modelstijlen te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en-US" dirty="0"/>
          </a:p>
        </p:txBody>
      </p:sp>
      <p:sp>
        <p:nvSpPr>
          <p:cNvPr id="23" name="Titel 2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18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9" name="Tijdelijke aanduiding voor voettekst 7"/>
          <p:cNvSpPr>
            <a:spLocks noGrp="1"/>
          </p:cNvSpPr>
          <p:nvPr>
            <p:ph type="ftr" sz="quarter" idx="11"/>
          </p:nvPr>
        </p:nvSpPr>
        <p:spPr>
          <a:xfrm>
            <a:off x="304800" y="6410325"/>
            <a:ext cx="3581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  <p:sp>
        <p:nvSpPr>
          <p:cNvPr id="20" name="Tijdelijke aanduiding voor dianummer 8"/>
          <p:cNvSpPr>
            <a:spLocks noGrp="1"/>
          </p:cNvSpPr>
          <p:nvPr>
            <p:ph type="sldNum" sz="quarter" idx="12"/>
          </p:nvPr>
        </p:nvSpPr>
        <p:spPr>
          <a:xfrm>
            <a:off x="4343400" y="1042988"/>
            <a:ext cx="457200" cy="441325"/>
          </a:xfrm>
        </p:spPr>
        <p:txBody>
          <a:bodyPr/>
          <a:lstStyle>
            <a:lvl1pPr algn="ctr">
              <a:defRPr sz="1600"/>
            </a:lvl1pPr>
          </a:lstStyle>
          <a:p>
            <a:pPr>
              <a:defRPr/>
            </a:pPr>
            <a:fld id="{F1F1D134-AA6C-4A21-A3FA-3844ACA206E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2244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>
          <a:xfrm>
            <a:off x="4343400" y="1036638"/>
            <a:ext cx="457200" cy="441325"/>
          </a:xfrm>
        </p:spPr>
        <p:txBody>
          <a:bodyPr/>
          <a:lstStyle>
            <a:lvl1pPr>
              <a:defRPr sz="1600"/>
            </a:lvl1pPr>
          </a:lstStyle>
          <a:p>
            <a:pPr>
              <a:defRPr/>
            </a:pPr>
            <a:fld id="{13DA8317-9CF1-498E-ACB1-8B4331946C8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878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27"/>
          <p:cNvSpPr>
            <a:spLocks noChangeArrowheads="1"/>
          </p:cNvSpPr>
          <p:nvPr userDrawn="1"/>
        </p:nvSpPr>
        <p:spPr bwMode="auto">
          <a:xfrm>
            <a:off x="146050" y="6403975"/>
            <a:ext cx="8855075" cy="31115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" name="Rechthoek 19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4" name="Rechthoek 20"/>
          <p:cNvSpPr>
            <a:spLocks noChangeArrowheads="1"/>
          </p:cNvSpPr>
          <p:nvPr/>
        </p:nvSpPr>
        <p:spPr bwMode="white">
          <a:xfrm>
            <a:off x="0" y="0"/>
            <a:ext cx="9144000" cy="1555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5" name="Rechthoek 23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6" name="Rechthoek 24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7" name="Ovaal 31"/>
          <p:cNvSpPr/>
          <p:nvPr userDrawn="1"/>
        </p:nvSpPr>
        <p:spPr>
          <a:xfrm>
            <a:off x="4357688" y="6357938"/>
            <a:ext cx="428625" cy="428625"/>
          </a:xfrm>
          <a:prstGeom prst="ellipse">
            <a:avLst/>
          </a:prstGeom>
          <a:noFill/>
          <a:ln w="50800" cap="rnd" cmpd="dbl" algn="ctr">
            <a:solidFill>
              <a:schemeClr val="bg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hthoek 29"/>
          <p:cNvSpPr>
            <a:spLocks noChangeArrowheads="1"/>
          </p:cNvSpPr>
          <p:nvPr userDrawn="1"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0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  <p:sp>
        <p:nvSpPr>
          <p:cNvPr id="11" name="Tijdelijke aanduiding voor dianummer 3"/>
          <p:cNvSpPr>
            <a:spLocks noGrp="1"/>
          </p:cNvSpPr>
          <p:nvPr>
            <p:ph type="sldNum" sz="quarter" idx="12"/>
          </p:nvPr>
        </p:nvSpPr>
        <p:spPr>
          <a:xfrm>
            <a:off x="4286250" y="6345238"/>
            <a:ext cx="609600" cy="4413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F579951-B407-43F7-B533-311E6349BBD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936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19"/>
          <p:cNvSpPr>
            <a:spLocks noChangeArrowheads="1"/>
          </p:cNvSpPr>
          <p:nvPr/>
        </p:nvSpPr>
        <p:spPr bwMode="auto">
          <a:xfrm>
            <a:off x="152400" y="152400"/>
            <a:ext cx="8832850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6" name="Rechthoek 20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7" name="Rechthoek 23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8" name="Rechthoek 24"/>
          <p:cNvSpPr>
            <a:spLocks noChangeArrowheads="1"/>
          </p:cNvSpPr>
          <p:nvPr/>
        </p:nvSpPr>
        <p:spPr bwMode="white">
          <a:xfrm>
            <a:off x="0" y="0"/>
            <a:ext cx="9144000" cy="11906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9" name="Rechthoek 25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10" name="Rechthoek 26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Rechthoek 27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2" name="Rechte verbindingslijn 28"/>
          <p:cNvSpPr>
            <a:spLocks noChangeShapeType="1"/>
          </p:cNvSpPr>
          <p:nvPr/>
        </p:nvSpPr>
        <p:spPr bwMode="auto">
          <a:xfrm>
            <a:off x="152400" y="533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3" name="Ovaal 2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Ovaal 30"/>
          <p:cNvSpPr/>
          <p:nvPr/>
        </p:nvSpPr>
        <p:spPr>
          <a:xfrm>
            <a:off x="1390650" y="323850"/>
            <a:ext cx="419100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Rechthoek 31"/>
          <p:cNvSpPr>
            <a:spLocks noChangeArrowheads="1"/>
          </p:cNvSpPr>
          <p:nvPr/>
        </p:nvSpPr>
        <p:spPr bwMode="auto">
          <a:xfrm>
            <a:off x="142875" y="6405563"/>
            <a:ext cx="8858250" cy="30956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20" name="Tijdelijke aanduiding voor inhoud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>
            <a:lvl2pPr>
              <a:defRPr>
                <a:solidFill>
                  <a:srgbClr val="2780B7"/>
                </a:solidFill>
              </a:defRPr>
            </a:lvl2pPr>
          </a:lstStyle>
          <a:p>
            <a:pPr lvl="0"/>
            <a:r>
              <a:rPr lang="nl-NL" dirty="0" smtClean="0"/>
              <a:t>Klik om de modelstijlen te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en-US" dirty="0"/>
          </a:p>
        </p:txBody>
      </p:sp>
      <p:sp>
        <p:nvSpPr>
          <p:cNvPr id="16" name="Tijdelijke aanduiding voor dianummer 6"/>
          <p:cNvSpPr>
            <a:spLocks noGrp="1"/>
          </p:cNvSpPr>
          <p:nvPr>
            <p:ph type="sldNum" sz="quarter" idx="10"/>
          </p:nvPr>
        </p:nvSpPr>
        <p:spPr>
          <a:xfrm>
            <a:off x="1371600" y="312738"/>
            <a:ext cx="457200" cy="441325"/>
          </a:xfrm>
        </p:spPr>
        <p:txBody>
          <a:bodyPr>
            <a:noAutofit/>
          </a:bodyPr>
          <a:lstStyle>
            <a:lvl1pPr>
              <a:defRPr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799C6E9B-786E-46B8-8C30-72B5FD8E940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7" name="Tijdelijke aanduiding voor datum 4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8" name="Tijdelijke aanduiding voor voettekst 5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382963" cy="3667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448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 verbindingslijn 19"/>
          <p:cNvSpPr>
            <a:spLocks noChangeShapeType="1"/>
          </p:cNvSpPr>
          <p:nvPr/>
        </p:nvSpPr>
        <p:spPr bwMode="auto">
          <a:xfrm>
            <a:off x="152400" y="533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6" name="Rechthoek 20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7" name="Rechthoek 23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8" name="Rechthoek 24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9" name="Rechthoek 25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10" name="Rechthoek 26"/>
          <p:cNvSpPr>
            <a:spLocks noChangeArrowheads="1"/>
          </p:cNvSpPr>
          <p:nvPr/>
        </p:nvSpPr>
        <p:spPr bwMode="auto">
          <a:xfrm>
            <a:off x="152400" y="152400"/>
            <a:ext cx="8832850" cy="301625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1" name="Rechthoek 2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Rechthoek 28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3" name="Ovaal 2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Ovaal 30"/>
          <p:cNvSpPr/>
          <p:nvPr/>
        </p:nvSpPr>
        <p:spPr>
          <a:xfrm>
            <a:off x="1390650" y="323850"/>
            <a:ext cx="419100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Rechthoek 31"/>
          <p:cNvSpPr>
            <a:spLocks noChangeArrowheads="1"/>
          </p:cNvSpPr>
          <p:nvPr/>
        </p:nvSpPr>
        <p:spPr bwMode="auto"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nl-NL" dirty="0" smtClean="0"/>
              <a:t>Klik om de stijl te bewerken</a:t>
            </a:r>
            <a:endParaRPr lang="en-US" dirty="0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nl-NL" noProof="0" smtClean="0"/>
              <a:t>Klik op het pictogram als u een afbeelding wilt toevoegen</a:t>
            </a:r>
            <a:endParaRPr lang="en-US" noProof="0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16" name="Tijdelijke aanduiding voor dianummer 6"/>
          <p:cNvSpPr>
            <a:spLocks noGrp="1"/>
          </p:cNvSpPr>
          <p:nvPr>
            <p:ph type="sldNum" sz="quarter" idx="10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 sz="1600"/>
            </a:lvl1pPr>
          </a:lstStyle>
          <a:p>
            <a:pPr>
              <a:defRPr/>
            </a:pPr>
            <a:fld id="{39899CE7-ADE9-4379-8025-B6BBAA13F03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7" name="Tijdelijke aanduiding voor datum 4"/>
          <p:cNvSpPr>
            <a:spLocks noGrp="1"/>
          </p:cNvSpPr>
          <p:nvPr>
            <p:ph type="dt" sz="half" idx="11"/>
          </p:nvPr>
        </p:nvSpPr>
        <p:spPr>
          <a:xfrm>
            <a:off x="5788025" y="6405563"/>
            <a:ext cx="304482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8" name="Tijdelijke aanduiding voor voettekst 5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584575" cy="3667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708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 dirty="0" smtClean="0"/>
              <a:t>Klik om de modelstijlen te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en-US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pPr>
              <a:defRPr/>
            </a:pPr>
            <a:fld id="{6331C572-F708-4428-A724-3DA05F21F4A0}" type="slidenum">
              <a:rPr lang="en-US"/>
              <a:pPr>
                <a:defRPr/>
              </a:pPr>
              <a:t>‹#›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713137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e titel en teks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19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5" name="Rechthoek 20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6" name="Rechthoek 23"/>
          <p:cNvSpPr>
            <a:spLocks noChangeArrowheads="1"/>
          </p:cNvSpPr>
          <p:nvPr/>
        </p:nvSpPr>
        <p:spPr bwMode="white">
          <a:xfrm>
            <a:off x="0" y="0"/>
            <a:ext cx="9144000" cy="1555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7" name="Rechthoek 24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8" name="Rechthoek 25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9" name="Rechthoek 26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0" name="Rechte verbindingslijn 27"/>
          <p:cNvSpPr>
            <a:spLocks noChangeShapeType="1"/>
          </p:cNvSpPr>
          <p:nvPr/>
        </p:nvSpPr>
        <p:spPr bwMode="auto">
          <a:xfrm rot="5400000">
            <a:off x="4021137" y="3278188"/>
            <a:ext cx="6245225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1" name="Ovaal 28"/>
          <p:cNvSpPr/>
          <p:nvPr/>
        </p:nvSpPr>
        <p:spPr>
          <a:xfrm>
            <a:off x="6838950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Ovaal 29"/>
          <p:cNvSpPr/>
          <p:nvPr/>
        </p:nvSpPr>
        <p:spPr>
          <a:xfrm>
            <a:off x="6934200" y="3021013"/>
            <a:ext cx="420688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/>
            <a:r>
              <a:rPr lang="nl-NL" dirty="0" smtClean="0"/>
              <a:t>Klik om de modelstijlen te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en-US" dirty="0"/>
          </a:p>
        </p:txBody>
      </p:sp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13" name="Tijdelijke aanduiding voor dianummer 5"/>
          <p:cNvSpPr>
            <a:spLocks noGrp="1"/>
          </p:cNvSpPr>
          <p:nvPr>
            <p:ph type="sldNum" sz="quarter" idx="10"/>
          </p:nvPr>
        </p:nvSpPr>
        <p:spPr>
          <a:xfrm>
            <a:off x="6915150" y="3009900"/>
            <a:ext cx="457200" cy="441325"/>
          </a:xfrm>
        </p:spPr>
        <p:txBody>
          <a:bodyPr/>
          <a:lstStyle>
            <a:lvl1pPr>
              <a:defRPr sz="1600"/>
            </a:lvl1pPr>
          </a:lstStyle>
          <a:p>
            <a:pPr>
              <a:defRPr/>
            </a:pPr>
            <a:fld id="{E3DB121A-74E3-4162-900F-BD3B061F5A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Tijdelijke aanduiding voor datum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6333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hthoek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1027" name="Rechthoek 15"/>
          <p:cNvSpPr>
            <a:spLocks noChangeArrowheads="1"/>
          </p:cNvSpPr>
          <p:nvPr/>
        </p:nvSpPr>
        <p:spPr bwMode="white">
          <a:xfrm>
            <a:off x="0" y="0"/>
            <a:ext cx="9144000" cy="13938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1028" name="Rechthoek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1029" name="Rechthoek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BE" altLang="en-US" smtClean="0"/>
          </a:p>
        </p:txBody>
      </p:sp>
      <p:sp>
        <p:nvSpPr>
          <p:cNvPr id="9" name="Rechthoek 8"/>
          <p:cNvSpPr>
            <a:spLocks noChangeArrowheads="1"/>
          </p:cNvSpPr>
          <p:nvPr/>
        </p:nvSpPr>
        <p:spPr bwMode="auto">
          <a:xfrm>
            <a:off x="142875" y="6405563"/>
            <a:ext cx="8858250" cy="30956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"/>
          </p:nvPr>
        </p:nvSpPr>
        <p:spPr>
          <a:xfrm>
            <a:off x="5791200" y="6405563"/>
            <a:ext cx="3044825" cy="3651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3"/>
          </p:nvPr>
        </p:nvSpPr>
        <p:spPr>
          <a:xfrm>
            <a:off x="304800" y="6410325"/>
            <a:ext cx="3581400" cy="366713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rgbClr val="FFFFFF"/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  <p:sp>
        <p:nvSpPr>
          <p:cNvPr id="8" name="Rechthoek 7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0" name="Rechte verbindingslijn 9"/>
          <p:cNvSpPr>
            <a:spLocks noChangeShapeType="1"/>
          </p:cNvSpPr>
          <p:nvPr/>
        </p:nvSpPr>
        <p:spPr bwMode="auto">
          <a:xfrm>
            <a:off x="152400" y="1276350"/>
            <a:ext cx="8832850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2" name="Ovaal 11"/>
          <p:cNvSpPr/>
          <p:nvPr/>
        </p:nvSpPr>
        <p:spPr>
          <a:xfrm>
            <a:off x="4267200" y="955675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Ovaal 14"/>
          <p:cNvSpPr/>
          <p:nvPr/>
        </p:nvSpPr>
        <p:spPr>
          <a:xfrm>
            <a:off x="4362450" y="1050925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Tijdelijke aanduiding voor dianummer 22"/>
          <p:cNvSpPr>
            <a:spLocks noGrp="1"/>
          </p:cNvSpPr>
          <p:nvPr>
            <p:ph type="sldNum" sz="quarter" idx="4"/>
          </p:nvPr>
        </p:nvSpPr>
        <p:spPr>
          <a:xfrm>
            <a:off x="4343400" y="1039813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fld id="{172E985E-29C4-423C-892F-21FE73CB291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38" name="Tijdelijke aanduiding voor titel 21"/>
          <p:cNvSpPr>
            <a:spLocks noGrp="1"/>
          </p:cNvSpPr>
          <p:nvPr>
            <p:ph type="title"/>
          </p:nvPr>
        </p:nvSpPr>
        <p:spPr bwMode="auto">
          <a:xfrm>
            <a:off x="301625" y="228600"/>
            <a:ext cx="8534400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nl-NL" altLang="en-US" smtClean="0"/>
              <a:t>Klik om de stijl te bewerken</a:t>
            </a:r>
            <a:endParaRPr lang="en-US" altLang="en-US" smtClean="0"/>
          </a:p>
        </p:txBody>
      </p:sp>
      <p:sp>
        <p:nvSpPr>
          <p:cNvPr id="1039" name="Tijdelijke aanduiding voor tekst 12"/>
          <p:cNvSpPr>
            <a:spLocks noGrp="1"/>
          </p:cNvSpPr>
          <p:nvPr>
            <p:ph type="body" idx="1"/>
          </p:nvPr>
        </p:nvSpPr>
        <p:spPr bwMode="auto">
          <a:xfrm>
            <a:off x="301625" y="1524000"/>
            <a:ext cx="8534400" cy="459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altLang="en-US" smtClean="0"/>
              <a:t>Klik om de modelstijlen te bewerken</a:t>
            </a:r>
          </a:p>
          <a:p>
            <a:pPr lvl="1"/>
            <a:r>
              <a:rPr lang="nl-NL" altLang="en-US" smtClean="0"/>
              <a:t>Tweede niveau</a:t>
            </a:r>
          </a:p>
          <a:p>
            <a:pPr lvl="2"/>
            <a:r>
              <a:rPr lang="nl-NL" altLang="en-US" smtClean="0"/>
              <a:t>Derde niveau</a:t>
            </a:r>
          </a:p>
          <a:p>
            <a:pPr lvl="3"/>
            <a:r>
              <a:rPr lang="nl-NL" altLang="en-US" smtClean="0"/>
              <a:t>Vierde niveau</a:t>
            </a:r>
          </a:p>
          <a:p>
            <a:pPr lvl="4"/>
            <a:r>
              <a:rPr lang="nl-NL" altLang="en-US" smtClean="0"/>
              <a:t>Vijfde niveau</a:t>
            </a:r>
            <a:endParaRPr lang="en-US" alt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75" r:id="rId1"/>
    <p:sldLayoutId id="2147484476" r:id="rId2"/>
    <p:sldLayoutId id="2147484477" r:id="rId3"/>
    <p:sldLayoutId id="2147484478" r:id="rId4"/>
    <p:sldLayoutId id="2147484479" r:id="rId5"/>
    <p:sldLayoutId id="2147484480" r:id="rId6"/>
    <p:sldLayoutId id="2147484481" r:id="rId7"/>
    <p:sldLayoutId id="2147484482" r:id="rId8"/>
    <p:sldLayoutId id="2147484483" r:id="rId9"/>
    <p:sldLayoutId id="2147484484" r:id="rId10"/>
    <p:sldLayoutId id="2147484485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 kern="1200">
          <a:solidFill>
            <a:srgbClr val="2780B7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2780B7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2780B7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2780B7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2780B7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SzPct val="85000"/>
        <a:buFont typeface="Wingdings 2" pitchFamily="18" charset="2"/>
        <a:buChar char="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§"/>
        <a:defRPr sz="2200" kern="1200">
          <a:solidFill>
            <a:srgbClr val="2780B7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 2" pitchFamily="18" charset="2"/>
        <a:buChar char="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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emf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ndertitel 14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2538413"/>
          </a:xfrm>
          <a:solidFill>
            <a:schemeClr val="bg1"/>
          </a:solidFill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nl-BE" sz="1700" smtClean="0"/>
              <a:t>International </a:t>
            </a:r>
            <a:r>
              <a:rPr lang="nl-BE" sz="1700" dirty="0" smtClean="0"/>
              <a:t>agency </a:t>
            </a:r>
            <a:r>
              <a:rPr lang="nl-BE" sz="1700" dirty="0" err="1" smtClean="0"/>
              <a:t>for</a:t>
            </a:r>
            <a:r>
              <a:rPr lang="nl-BE" sz="1700" dirty="0" smtClean="0"/>
              <a:t> research on </a:t>
            </a:r>
            <a:r>
              <a:rPr lang="nl-BE" sz="1700" dirty="0" err="1" smtClean="0"/>
              <a:t>cancer</a:t>
            </a:r>
            <a:r>
              <a:rPr lang="nl-BE" sz="1700" dirty="0" smtClean="0"/>
              <a:t> </a:t>
            </a:r>
            <a:r>
              <a:rPr lang="nl-BE" sz="1700" dirty="0" err="1" smtClean="0"/>
              <a:t>lyon</a:t>
            </a:r>
            <a:r>
              <a:rPr lang="nl-BE" sz="1700" dirty="0" smtClean="0"/>
              <a:t> - </a:t>
            </a:r>
            <a:r>
              <a:rPr lang="nl-BE" sz="1700" dirty="0" err="1" smtClean="0"/>
              <a:t>france</a:t>
            </a:r>
            <a:endParaRPr lang="nl-BE" sz="1700" dirty="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nl-BE" altLang="en-US" dirty="0" smtClean="0"/>
              <a:t>GloboDiet Data Flow between interviewer(s) &amp; Collaborator(s)</a:t>
            </a:r>
          </a:p>
        </p:txBody>
      </p:sp>
      <p:pic>
        <p:nvPicPr>
          <p:cNvPr id="13316" name="Picture 7" descr="http://monographs.iarc.fr/images/logoiarc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5429250"/>
            <a:ext cx="3048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380288" y="5602288"/>
            <a:ext cx="1223962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nl-BE" sz="28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e-SMP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88" y="2743200"/>
            <a:ext cx="8286750" cy="3543300"/>
          </a:xfrm>
        </p:spPr>
        <p:txBody>
          <a:bodyPr>
            <a:noAutofit/>
          </a:bodyPr>
          <a:lstStyle/>
          <a:p>
            <a:pPr marL="514350" indent="-514350" algn="l" eaLnBrk="1" fontAlgn="auto" hangingPunct="1">
              <a:spcAft>
                <a:spcPts val="0"/>
              </a:spcAft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GB" sz="2000" u="sng" cap="none" dirty="0" smtClean="0">
                <a:solidFill>
                  <a:srgbClr val="2A89C4"/>
                </a:solidFill>
              </a:rPr>
              <a:t>Introduction</a:t>
            </a:r>
            <a:endParaRPr lang="en-US" sz="2000" u="sng" cap="none" dirty="0" smtClean="0">
              <a:solidFill>
                <a:srgbClr val="2A89C4"/>
              </a:solidFill>
            </a:endParaRPr>
          </a:p>
          <a:p>
            <a:pPr marL="514350" indent="-514350" algn="l" eaLnBrk="1" fontAlgn="auto" hangingPunct="1">
              <a:spcAft>
                <a:spcPts val="0"/>
              </a:spcAft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2000" u="sng" cap="none" dirty="0">
                <a:solidFill>
                  <a:srgbClr val="2A89C4"/>
                </a:solidFill>
              </a:rPr>
              <a:t>Workflow </a:t>
            </a:r>
            <a:r>
              <a:rPr lang="en-US" sz="2000" u="sng" cap="none" dirty="0" smtClean="0">
                <a:solidFill>
                  <a:srgbClr val="2A89C4"/>
                </a:solidFill>
              </a:rPr>
              <a:t>for the Interviewers </a:t>
            </a:r>
            <a:endParaRPr lang="en-US" sz="2000" u="sng" cap="none" dirty="0">
              <a:solidFill>
                <a:srgbClr val="2A89C4"/>
              </a:solidFill>
            </a:endParaRPr>
          </a:p>
          <a:p>
            <a:pPr marL="514350" indent="-514350" algn="l" eaLnBrk="1" fontAlgn="auto" hangingPunct="1">
              <a:spcAft>
                <a:spcPts val="0"/>
              </a:spcAft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GB" sz="2000" u="sng" cap="none" dirty="0">
                <a:solidFill>
                  <a:srgbClr val="2A89C4"/>
                </a:solidFill>
              </a:rPr>
              <a:t>Workflow </a:t>
            </a:r>
            <a:r>
              <a:rPr lang="en-GB" sz="2000" u="sng" cap="none" dirty="0" smtClean="0">
                <a:solidFill>
                  <a:srgbClr val="2A89C4"/>
                </a:solidFill>
              </a:rPr>
              <a:t>for the Coordinators</a:t>
            </a:r>
            <a:endParaRPr lang="en-US" sz="2000" u="sng" cap="none" dirty="0">
              <a:solidFill>
                <a:srgbClr val="2A89C4"/>
              </a:solidFill>
            </a:endParaRPr>
          </a:p>
          <a:p>
            <a:pPr marL="514350" indent="-514350" algn="l" eaLnBrk="1" fontAlgn="auto" hangingPunct="1">
              <a:spcAft>
                <a:spcPts val="0"/>
              </a:spcAft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2000" u="sng" cap="none" dirty="0" smtClean="0">
                <a:solidFill>
                  <a:srgbClr val="2780B7"/>
                </a:solidFill>
              </a:rPr>
              <a:t>Reminders</a:t>
            </a:r>
            <a:endParaRPr lang="en-US" sz="1800" dirty="0" smtClean="0"/>
          </a:p>
        </p:txBody>
      </p:sp>
      <p:sp>
        <p:nvSpPr>
          <p:cNvPr id="3379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04800" y="6410325"/>
            <a:ext cx="3906838" cy="350838"/>
          </a:xfrm>
        </p:spPr>
        <p:txBody>
          <a:bodyPr/>
          <a:lstStyle/>
          <a:p>
            <a:pPr>
              <a:defRPr/>
            </a:pPr>
            <a:r>
              <a:rPr lang="en-GB" dirty="0"/>
              <a:t>Data Flow in </a:t>
            </a:r>
            <a:r>
              <a:rPr lang="en-GB" dirty="0" err="1"/>
              <a:t>GloboDiet</a:t>
            </a:r>
            <a:endParaRPr lang="en-GB" dirty="0"/>
          </a:p>
          <a:p>
            <a:pPr>
              <a:defRPr/>
            </a:pPr>
            <a:endParaRPr lang="en-GB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 smtClean="0"/>
              <a:t>IARC, Lyon - France</a:t>
            </a:r>
            <a:endParaRPr lang="en-US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E3F358-777F-4651-B3B2-98E87EF3896B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>
          <a:ln>
            <a:miter lim="800000"/>
            <a:headEnd/>
            <a:tailEnd/>
          </a:ln>
          <a:extLst/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effectLst>
                  <a:reflection blurRad="6350" stA="55000" endA="300" endPos="45500" dir="5400000" sy="-100000" algn="bl" rotWithShape="0"/>
                </a:effectLst>
              </a:rPr>
              <a:t>Outline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071546"/>
            <a:ext cx="2362200" cy="704848"/>
          </a:xfrm>
          <a:ln>
            <a:miter lim="800000"/>
            <a:headEnd/>
            <a:tailEnd/>
          </a:ln>
          <a:extLst/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effectLst>
                  <a:reflection blurRad="6350" stA="55000" endA="300" endPos="45500" dir="5400000" sy="-100000" algn="bl" rotWithShape="0"/>
                </a:effectLst>
              </a:rPr>
              <a:t>Outline</a:t>
            </a:r>
            <a:endParaRPr lang="en-US" dirty="0" smtClean="0"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idx="2"/>
          </p:nvPr>
        </p:nvSpPr>
        <p:spPr>
          <a:xfrm>
            <a:off x="381000" y="1857364"/>
            <a:ext cx="2362200" cy="4144963"/>
          </a:xfrm>
          <a:ln>
            <a:miter lim="800000"/>
            <a:headEnd/>
            <a:tailEnd/>
          </a:ln>
          <a:extLst/>
        </p:spPr>
        <p:txBody>
          <a:bodyPr>
            <a:noAutofit/>
          </a:bodyPr>
          <a:lstStyle/>
          <a:p>
            <a:pPr marL="265113" indent="-265113" eaLnBrk="1" fontAlgn="auto" hangingPunct="1">
              <a:spcAft>
                <a:spcPts val="300"/>
              </a:spcAft>
              <a:buClr>
                <a:schemeClr val="bg1"/>
              </a:buClr>
              <a:buFont typeface="+mj-lt"/>
              <a:buAutoNum type="arabicPeriod"/>
              <a:defRPr/>
            </a:pPr>
            <a:r>
              <a:rPr lang="en-US" b="1" dirty="0" smtClean="0"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Introduction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Interviewer workflow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Coordinator workflow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Reminders</a:t>
            </a:r>
          </a:p>
          <a:p>
            <a:pPr eaLnBrk="1" fontAlgn="auto" hangingPunct="1">
              <a:spcAft>
                <a:spcPts val="300"/>
              </a:spcAft>
              <a:buFont typeface="Wingdings 2"/>
              <a:buNone/>
              <a:defRPr/>
            </a:pPr>
            <a:endParaRPr lang="nl-BE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F4DFE2-AFF4-4035-A7DB-E7432115D04C}" type="slidenum">
              <a:rPr lang="en-US" smtClean="0"/>
              <a:pPr>
                <a:defRPr/>
              </a:pPr>
              <a:t>3</a:t>
            </a:fld>
            <a:endParaRPr lang="en-US" sz="1800" dirty="0"/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5367" name="Tijdelijke aanduiding voor inhoud 12"/>
          <p:cNvSpPr>
            <a:spLocks noGrp="1"/>
          </p:cNvSpPr>
          <p:nvPr>
            <p:ph sz="quarter" idx="1"/>
          </p:nvPr>
        </p:nvSpPr>
        <p:spPr>
          <a:xfrm>
            <a:off x="2987675" y="639763"/>
            <a:ext cx="5976938" cy="5597525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  <a:defRPr/>
            </a:pPr>
            <a:r>
              <a:rPr lang="en-GB" sz="2600" dirty="0" smtClean="0"/>
              <a:t>During </a:t>
            </a:r>
            <a:r>
              <a:rPr lang="en-GB" sz="2600" dirty="0"/>
              <a:t>the data collection phase, we have identified 2 main </a:t>
            </a:r>
            <a:r>
              <a:rPr lang="en-GB" sz="2600" dirty="0" smtClean="0"/>
              <a:t>contributors:</a:t>
            </a:r>
            <a:endParaRPr lang="en-US" sz="2600" dirty="0"/>
          </a:p>
          <a:p>
            <a:pPr lvl="0"/>
            <a:r>
              <a:rPr lang="en-GB" sz="2400" dirty="0"/>
              <a:t>The </a:t>
            </a:r>
            <a:r>
              <a:rPr lang="en-GB" sz="2400" b="1" dirty="0" smtClean="0"/>
              <a:t>Interviewers</a:t>
            </a:r>
            <a:r>
              <a:rPr lang="en-GB" sz="2400" dirty="0" smtClean="0"/>
              <a:t> </a:t>
            </a:r>
            <a:r>
              <a:rPr lang="en-GB" sz="2400" dirty="0"/>
              <a:t>in charge of data collection</a:t>
            </a:r>
            <a:endParaRPr lang="en-US" sz="2400" dirty="0"/>
          </a:p>
          <a:p>
            <a:pPr lvl="0"/>
            <a:r>
              <a:rPr lang="en-GB" sz="2400" dirty="0"/>
              <a:t>The </a:t>
            </a:r>
            <a:r>
              <a:rPr lang="en-GB" sz="2400" b="1" dirty="0" smtClean="0"/>
              <a:t>Coordinators</a:t>
            </a:r>
            <a:r>
              <a:rPr lang="en-GB" sz="2400" dirty="0" smtClean="0"/>
              <a:t> </a:t>
            </a:r>
            <a:r>
              <a:rPr lang="en-GB" sz="2400" dirty="0"/>
              <a:t>in charge of data </a:t>
            </a:r>
            <a:r>
              <a:rPr lang="en-GB" sz="2400" dirty="0" smtClean="0"/>
              <a:t>cleaning </a:t>
            </a:r>
            <a:r>
              <a:rPr lang="en-GB" sz="2400" dirty="0"/>
              <a:t> </a:t>
            </a:r>
            <a:r>
              <a:rPr lang="en-GB" sz="2400" dirty="0" smtClean="0"/>
              <a:t> including </a:t>
            </a:r>
            <a:r>
              <a:rPr lang="en-GB" sz="2400" dirty="0"/>
              <a:t>note management </a:t>
            </a:r>
            <a:r>
              <a:rPr lang="en-GB" sz="2400" dirty="0" smtClean="0"/>
              <a:t>&amp; interview update</a:t>
            </a:r>
          </a:p>
          <a:p>
            <a:pPr marL="0" lvl="0" indent="0">
              <a:buNone/>
            </a:pPr>
            <a:endParaRPr lang="en-GB" sz="2400" dirty="0"/>
          </a:p>
          <a:p>
            <a:pPr marL="0" lvl="0" indent="0" eaLnBrk="1" hangingPunct="1">
              <a:buNone/>
              <a:defRPr/>
            </a:pPr>
            <a:r>
              <a:rPr lang="en-GB" sz="2600" dirty="0"/>
              <a:t>The following figure </a:t>
            </a:r>
            <a:r>
              <a:rPr lang="en-GB" sz="2600" dirty="0" smtClean="0"/>
              <a:t>represents the usual steps of a field work stressing on the:</a:t>
            </a:r>
            <a:endParaRPr lang="en-GB" sz="2600" dirty="0"/>
          </a:p>
          <a:p>
            <a:r>
              <a:rPr lang="en-GB" sz="2400" dirty="0" smtClean="0"/>
              <a:t>Two contributors’ tasks</a:t>
            </a:r>
            <a:endParaRPr lang="en-GB" sz="2400" dirty="0"/>
          </a:p>
          <a:p>
            <a:r>
              <a:rPr lang="en-GB" sz="2400" dirty="0" smtClean="0"/>
              <a:t>Data Flow </a:t>
            </a:r>
            <a:endParaRPr lang="en-GB" sz="2400" dirty="0"/>
          </a:p>
          <a:p>
            <a:pPr marL="0" indent="0" eaLnBrk="1" hangingPunct="1">
              <a:buFont typeface="Wingdings 2" pitchFamily="18" charset="2"/>
              <a:buNone/>
              <a:defRPr/>
            </a:pPr>
            <a:endParaRPr lang="en-US" sz="2500" dirty="0"/>
          </a:p>
          <a:p>
            <a:pPr marL="514350" indent="-514350" eaLnBrk="1" hangingPunct="1">
              <a:buFont typeface="+mj-lt"/>
              <a:buAutoNum type="arabicPeriod"/>
              <a:defRPr/>
            </a:pPr>
            <a:endParaRPr lang="nl-BE" dirty="0" smtClean="0"/>
          </a:p>
        </p:txBody>
      </p:sp>
      <p:pic>
        <p:nvPicPr>
          <p:cNvPr id="15" name="Afbeelding 14" descr="124741-matte-white-square-icon-business-home7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321338" y="642918"/>
            <a:ext cx="536150" cy="536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77825" y="6381750"/>
            <a:ext cx="3906838" cy="350838"/>
          </a:xfrm>
        </p:spPr>
        <p:txBody>
          <a:bodyPr lIns="45720" rIns="45720" anchor="ctr">
            <a:noAutofit/>
          </a:bodyPr>
          <a:lstStyle/>
          <a:p>
            <a:pPr>
              <a:defRPr/>
            </a:pPr>
            <a:r>
              <a:rPr lang="en-GB" dirty="0"/>
              <a:t>Data Flow in </a:t>
            </a:r>
            <a:r>
              <a:rPr lang="en-GB" dirty="0" err="1" smtClean="0"/>
              <a:t>GloboDiet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6210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>
          <a:xfrm>
            <a:off x="5791200" y="6381410"/>
            <a:ext cx="3044825" cy="365125"/>
          </a:xfrm>
        </p:spPr>
        <p:txBody>
          <a:bodyPr/>
          <a:lstStyle/>
          <a:p>
            <a:pPr>
              <a:defRPr/>
            </a:pPr>
            <a:r>
              <a:rPr lang="nl-BE" smtClean="0">
                <a:latin typeface="+mn-lt"/>
              </a:rPr>
              <a:t>IARC, Lyon - France</a:t>
            </a:r>
            <a:endParaRPr lang="en-US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86250" y="6444155"/>
            <a:ext cx="609600" cy="441325"/>
          </a:xfrm>
        </p:spPr>
        <p:txBody>
          <a:bodyPr/>
          <a:lstStyle/>
          <a:p>
            <a:pPr>
              <a:defRPr/>
            </a:pPr>
            <a:fld id="{C2EC30BA-8C43-4B6C-B4A1-4D564912CC0F}" type="slidenum">
              <a:rPr lang="en-US" smtClean="0">
                <a:latin typeface="+mn-lt"/>
              </a:rPr>
              <a:pPr>
                <a:defRPr/>
              </a:pPr>
              <a:t>4</a:t>
            </a:fld>
            <a:endParaRPr lang="en-US" dirty="0">
              <a:latin typeface="+mn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31550" y="4752053"/>
            <a:ext cx="1388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0000FF"/>
                </a:solidFill>
                <a:latin typeface="+mn-lt"/>
              </a:rPr>
              <a:t>3</a:t>
            </a:r>
            <a:r>
              <a:rPr lang="en-GB" b="1" dirty="0" smtClean="0">
                <a:solidFill>
                  <a:srgbClr val="0000FF"/>
                </a:solidFill>
                <a:latin typeface="+mn-lt"/>
              </a:rPr>
              <a:t>.  Import</a:t>
            </a:r>
            <a:endParaRPr lang="en-GB" b="1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1520" y="2850222"/>
            <a:ext cx="2088170" cy="461665"/>
          </a:xfrm>
          <a:prstGeom prst="rect">
            <a:avLst/>
          </a:prstGeom>
          <a:noFill/>
          <a:ln w="25400">
            <a:solidFill>
              <a:srgbClr val="0000FF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>
                <a:solidFill>
                  <a:srgbClr val="0000FF"/>
                </a:solidFill>
                <a:latin typeface="+mn-lt"/>
              </a:rPr>
              <a:t>COORDINATOR</a:t>
            </a:r>
            <a:endParaRPr lang="en-GB" sz="2400" b="1" dirty="0">
              <a:solidFill>
                <a:srgbClr val="0000FF"/>
              </a:solidFill>
              <a:latin typeface="+mn-lt"/>
            </a:endParaRPr>
          </a:p>
        </p:txBody>
      </p:sp>
      <p:pic>
        <p:nvPicPr>
          <p:cNvPr id="1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4608037"/>
            <a:ext cx="741600" cy="74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539552" y="5301260"/>
            <a:ext cx="22785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>
                <a:latin typeface="+mn-lt"/>
              </a:rPr>
              <a:t>The received XML-file has to be imported in </a:t>
            </a:r>
            <a:r>
              <a:rPr lang="en-GB" sz="1400" dirty="0" err="1" smtClean="0">
                <a:latin typeface="+mn-lt"/>
              </a:rPr>
              <a:t>GloboDiet</a:t>
            </a:r>
            <a:r>
              <a:rPr lang="en-GB" sz="1400" dirty="0" smtClean="0">
                <a:latin typeface="+mn-lt"/>
              </a:rPr>
              <a:t> or Data entry application</a:t>
            </a:r>
            <a:endParaRPr lang="en-GB" sz="1400" dirty="0"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73414" y="5301260"/>
            <a:ext cx="1961194" cy="153888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80975" indent="-180975">
              <a:buFontTx/>
              <a:buChar char="-"/>
            </a:pPr>
            <a:r>
              <a:rPr lang="en-GB" sz="1400" dirty="0" smtClean="0">
                <a:latin typeface="+mn-lt"/>
              </a:rPr>
              <a:t>Preparation of</a:t>
            </a:r>
          </a:p>
          <a:p>
            <a:pPr marL="180975"/>
            <a:r>
              <a:rPr lang="en-GB" sz="1400" dirty="0" smtClean="0">
                <a:latin typeface="+mn-lt"/>
              </a:rPr>
              <a:t>Note file in Excel</a:t>
            </a:r>
          </a:p>
          <a:p>
            <a:pPr marL="180975" indent="-180975">
              <a:buFontTx/>
              <a:buChar char="-"/>
            </a:pPr>
            <a:r>
              <a:rPr lang="en-GB" sz="1400" dirty="0" smtClean="0">
                <a:latin typeface="+mn-lt"/>
              </a:rPr>
              <a:t>Update of:</a:t>
            </a:r>
          </a:p>
          <a:p>
            <a:pPr marL="180975"/>
            <a:r>
              <a:rPr lang="en-GB" sz="1400" dirty="0" smtClean="0">
                <a:latin typeface="+mn-lt"/>
              </a:rPr>
              <a:t> + Note files</a:t>
            </a:r>
          </a:p>
          <a:p>
            <a:pPr marL="180975"/>
            <a:r>
              <a:rPr lang="en-GB" sz="1400" dirty="0" smtClean="0">
                <a:latin typeface="+mn-lt"/>
              </a:rPr>
              <a:t> + Interviews</a:t>
            </a:r>
          </a:p>
          <a:p>
            <a:pPr marL="180975"/>
            <a:endParaRPr lang="en-GB" sz="1000" dirty="0" smtClean="0">
              <a:latin typeface="+mn-lt"/>
            </a:endParaRPr>
          </a:p>
          <a:p>
            <a:pPr marL="180975"/>
            <a:endParaRPr lang="en-GB" sz="1400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31739" y="4608037"/>
            <a:ext cx="2661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>
                <a:solidFill>
                  <a:srgbClr val="0000FF"/>
                </a:solidFill>
                <a:latin typeface="+mn-lt"/>
              </a:rPr>
              <a:t>4.  Update Notes</a:t>
            </a:r>
          </a:p>
          <a:p>
            <a:pPr algn="ctr"/>
            <a:r>
              <a:rPr lang="en-GB" b="1" dirty="0" smtClean="0">
                <a:solidFill>
                  <a:srgbClr val="0000FF"/>
                </a:solidFill>
                <a:latin typeface="+mn-lt"/>
              </a:rPr>
              <a:t>7.  Update interviews</a:t>
            </a:r>
            <a:endParaRPr lang="en-GB" b="1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6" name="Pentagon 25"/>
          <p:cNvSpPr/>
          <p:nvPr/>
        </p:nvSpPr>
        <p:spPr>
          <a:xfrm>
            <a:off x="1439652" y="4608037"/>
            <a:ext cx="1404156" cy="646370"/>
          </a:xfrm>
          <a:prstGeom prst="homePlat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8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921776" y="5832173"/>
            <a:ext cx="1522432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rgbClr val="FF9900"/>
                </a:solidFill>
                <a:latin typeface="+mn-lt"/>
              </a:rPr>
              <a:t>Backup(*) has to be </a:t>
            </a:r>
            <a:r>
              <a:rPr lang="en-GB" sz="1400" dirty="0">
                <a:solidFill>
                  <a:srgbClr val="FF9900"/>
                </a:solidFill>
                <a:latin typeface="+mn-lt"/>
              </a:rPr>
              <a:t>done </a:t>
            </a:r>
            <a:r>
              <a:rPr lang="en-GB" sz="1400" dirty="0" smtClean="0">
                <a:solidFill>
                  <a:srgbClr val="FF9900"/>
                </a:solidFill>
                <a:latin typeface="+mn-lt"/>
              </a:rPr>
              <a:t>regularly</a:t>
            </a:r>
            <a:endParaRPr lang="en-GB" sz="1400" dirty="0">
              <a:solidFill>
                <a:srgbClr val="FF9900"/>
              </a:solidFill>
              <a:latin typeface="+mn-lt"/>
            </a:endParaRPr>
          </a:p>
          <a:p>
            <a:r>
              <a:rPr lang="en-GB" sz="1400" dirty="0" smtClean="0">
                <a:solidFill>
                  <a:srgbClr val="FF9900"/>
                </a:solidFill>
                <a:latin typeface="+mn-lt"/>
              </a:rPr>
              <a:t>(BAK &amp; CSV-files)</a:t>
            </a:r>
          </a:p>
          <a:p>
            <a:endParaRPr lang="en-GB" sz="1400" dirty="0">
              <a:solidFill>
                <a:srgbClr val="FF9900"/>
              </a:solidFill>
              <a:latin typeface="+mn-lt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4197555" y="6365097"/>
            <a:ext cx="518465" cy="448373"/>
            <a:chOff x="3995936" y="6381328"/>
            <a:chExt cx="518465" cy="448373"/>
          </a:xfrm>
        </p:grpSpPr>
        <p:pic>
          <p:nvPicPr>
            <p:cNvPr id="29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95936" y="6381328"/>
              <a:ext cx="376527" cy="3710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7874" y="6458631"/>
              <a:ext cx="376527" cy="3710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9" name="Group 48"/>
          <p:cNvGrpSpPr/>
          <p:nvPr/>
        </p:nvGrpSpPr>
        <p:grpSpPr>
          <a:xfrm>
            <a:off x="251520" y="230955"/>
            <a:ext cx="8266152" cy="3049592"/>
            <a:chOff x="251520" y="230955"/>
            <a:chExt cx="8266152" cy="3049592"/>
          </a:xfrm>
        </p:grpSpPr>
        <p:sp>
          <p:nvSpPr>
            <p:cNvPr id="6" name="TextBox 5"/>
            <p:cNvSpPr txBox="1"/>
            <p:nvPr/>
          </p:nvSpPr>
          <p:spPr>
            <a:xfrm>
              <a:off x="2913249" y="764707"/>
              <a:ext cx="23453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 smtClean="0">
                  <a:solidFill>
                    <a:srgbClr val="006600"/>
                  </a:solidFill>
                  <a:latin typeface="+mn-lt"/>
                </a:rPr>
                <a:t>1.  Data Collection</a:t>
              </a:r>
            </a:p>
          </p:txBody>
        </p:sp>
        <p:sp>
          <p:nvSpPr>
            <p:cNvPr id="7" name="Pentagon 6"/>
            <p:cNvSpPr/>
            <p:nvPr/>
          </p:nvSpPr>
          <p:spPr>
            <a:xfrm>
              <a:off x="2913249" y="620690"/>
              <a:ext cx="2680220" cy="646371"/>
            </a:xfrm>
            <a:prstGeom prst="homePlate">
              <a:avLst/>
            </a:prstGeom>
            <a:noFill/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006600"/>
                </a:solidFill>
              </a:endParaRPr>
            </a:p>
          </p:txBody>
        </p:sp>
        <p:sp>
          <p:nvSpPr>
            <p:cNvPr id="8" name="Pentagon 7"/>
            <p:cNvSpPr/>
            <p:nvPr/>
          </p:nvSpPr>
          <p:spPr>
            <a:xfrm>
              <a:off x="5656262" y="620691"/>
              <a:ext cx="2012082" cy="646370"/>
            </a:xfrm>
            <a:prstGeom prst="homePlate">
              <a:avLst/>
            </a:prstGeom>
            <a:noFill/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006600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672186" y="755415"/>
              <a:ext cx="17081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solidFill>
                    <a:srgbClr val="006600"/>
                  </a:solidFill>
                  <a:latin typeface="+mn-lt"/>
                </a:rPr>
                <a:t>2</a:t>
              </a:r>
              <a:r>
                <a:rPr lang="en-GB" b="1" dirty="0" smtClean="0">
                  <a:solidFill>
                    <a:srgbClr val="006600"/>
                  </a:solidFill>
                  <a:latin typeface="+mn-lt"/>
                </a:rPr>
                <a:t>.  Export</a:t>
              </a:r>
              <a:endParaRPr lang="en-GB" b="1" dirty="0">
                <a:solidFill>
                  <a:srgbClr val="006600"/>
                </a:solidFill>
                <a:latin typeface="+mn-lt"/>
              </a:endParaRPr>
            </a:p>
          </p:txBody>
        </p:sp>
        <p:pic>
          <p:nvPicPr>
            <p:cNvPr id="11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76072" y="675339"/>
              <a:ext cx="741600" cy="741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TextBox 11"/>
            <p:cNvSpPr txBox="1"/>
            <p:nvPr/>
          </p:nvSpPr>
          <p:spPr>
            <a:xfrm>
              <a:off x="251520" y="230955"/>
              <a:ext cx="2088170" cy="461665"/>
            </a:xfrm>
            <a:prstGeom prst="rect">
              <a:avLst/>
            </a:prstGeom>
            <a:noFill/>
            <a:ln w="25400">
              <a:solidFill>
                <a:srgbClr val="006600"/>
              </a:solidFill>
              <a:prstDash val="sysDash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 smtClean="0">
                  <a:solidFill>
                    <a:srgbClr val="006600"/>
                  </a:solidFill>
                  <a:latin typeface="+mn-lt"/>
                </a:rPr>
                <a:t>INTERVIEWER</a:t>
              </a:r>
              <a:endParaRPr lang="en-GB" sz="2400" b="1" dirty="0">
                <a:solidFill>
                  <a:srgbClr val="006600"/>
                </a:solidFill>
                <a:latin typeface="+mn-lt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843760" y="1268762"/>
              <a:ext cx="151265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 smtClean="0">
                  <a:latin typeface="+mn-lt"/>
                </a:rPr>
                <a:t>Using </a:t>
              </a:r>
              <a:r>
                <a:rPr lang="en-GB" sz="1400" dirty="0" err="1" smtClean="0">
                  <a:latin typeface="+mn-lt"/>
                </a:rPr>
                <a:t>GloboDiet</a:t>
              </a:r>
              <a:endParaRPr lang="en-GB" sz="1400" dirty="0" smtClean="0">
                <a:latin typeface="+mn-lt"/>
              </a:endParaRPr>
            </a:p>
            <a:p>
              <a:r>
                <a:rPr lang="en-GB" sz="1400" dirty="0" smtClean="0">
                  <a:latin typeface="+mn-lt"/>
                </a:rPr>
                <a:t>or Data entry application</a:t>
              </a:r>
              <a:endParaRPr lang="en-GB" sz="1400" dirty="0">
                <a:latin typeface="+mn-lt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656261" y="1394194"/>
              <a:ext cx="285047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 smtClean="0">
                  <a:latin typeface="+mn-lt"/>
                </a:rPr>
                <a:t>Export(*) has to be </a:t>
              </a:r>
              <a:r>
                <a:rPr lang="en-GB" sz="1400" dirty="0">
                  <a:latin typeface="+mn-lt"/>
                </a:rPr>
                <a:t>done regularly. </a:t>
              </a:r>
            </a:p>
            <a:p>
              <a:r>
                <a:rPr lang="en-GB" sz="1400" dirty="0" smtClean="0">
                  <a:latin typeface="+mn-lt"/>
                </a:rPr>
                <a:t>The generated XML &amp; CSV-files have to be sent to the Coordinator</a:t>
              </a:r>
              <a:endParaRPr lang="en-GB" sz="1400" dirty="0">
                <a:latin typeface="+mn-lt"/>
              </a:endParaRPr>
            </a:p>
          </p:txBody>
        </p:sp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4295" y="2667013"/>
              <a:ext cx="607705" cy="607705"/>
            </a:xfrm>
            <a:prstGeom prst="rect">
              <a:avLst/>
            </a:prstGeom>
          </p:spPr>
        </p:pic>
        <p:sp>
          <p:nvSpPr>
            <p:cNvPr id="21" name="Pentagon 20"/>
            <p:cNvSpPr/>
            <p:nvPr/>
          </p:nvSpPr>
          <p:spPr>
            <a:xfrm rot="8834423">
              <a:off x="1391245" y="1277941"/>
              <a:ext cx="1471358" cy="363012"/>
            </a:xfrm>
            <a:prstGeom prst="homePlate">
              <a:avLst/>
            </a:prstGeom>
            <a:noFill/>
            <a:ln>
              <a:solidFill>
                <a:srgbClr val="FF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331550" y="1872010"/>
              <a:ext cx="188316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 smtClean="0">
                  <a:solidFill>
                    <a:srgbClr val="FF9900"/>
                  </a:solidFill>
                  <a:latin typeface="+mn-lt"/>
                </a:rPr>
                <a:t>Backup(*) has to be </a:t>
              </a:r>
              <a:r>
                <a:rPr lang="en-GB" sz="1400" dirty="0">
                  <a:solidFill>
                    <a:srgbClr val="FF9900"/>
                  </a:solidFill>
                  <a:latin typeface="+mn-lt"/>
                </a:rPr>
                <a:t>done </a:t>
              </a:r>
              <a:r>
                <a:rPr lang="en-GB" sz="1400" dirty="0" smtClean="0">
                  <a:solidFill>
                    <a:srgbClr val="FF9900"/>
                  </a:solidFill>
                  <a:latin typeface="+mn-lt"/>
                </a:rPr>
                <a:t>regularly </a:t>
              </a:r>
            </a:p>
            <a:p>
              <a:r>
                <a:rPr lang="en-GB" sz="1400" dirty="0" smtClean="0">
                  <a:solidFill>
                    <a:srgbClr val="FF9900"/>
                  </a:solidFill>
                  <a:latin typeface="+mn-lt"/>
                </a:rPr>
                <a:t>(BAK </a:t>
              </a:r>
              <a:r>
                <a:rPr lang="en-GB" sz="1400" dirty="0">
                  <a:solidFill>
                    <a:srgbClr val="FF9900"/>
                  </a:solidFill>
                  <a:latin typeface="+mn-lt"/>
                </a:rPr>
                <a:t>&amp; CSV-files</a:t>
              </a:r>
              <a:r>
                <a:rPr lang="en-GB" sz="1400" dirty="0" smtClean="0">
                  <a:solidFill>
                    <a:srgbClr val="FF9900"/>
                  </a:solidFill>
                  <a:latin typeface="+mn-lt"/>
                </a:rPr>
                <a:t>)</a:t>
              </a:r>
              <a:endParaRPr lang="en-GB" sz="1400" dirty="0">
                <a:solidFill>
                  <a:srgbClr val="FF9900"/>
                </a:solidFill>
                <a:latin typeface="+mn-lt"/>
              </a:endParaRPr>
            </a:p>
          </p:txBody>
        </p:sp>
        <p:pic>
          <p:nvPicPr>
            <p:cNvPr id="23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9592" y="1533526"/>
              <a:ext cx="376527" cy="3710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1530" y="1610829"/>
              <a:ext cx="376527" cy="3710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TextBox 24"/>
            <p:cNvSpPr txBox="1"/>
            <p:nvPr/>
          </p:nvSpPr>
          <p:spPr>
            <a:xfrm rot="19607738">
              <a:off x="1438026" y="1278168"/>
              <a:ext cx="136455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FF9900"/>
                  </a:solidFill>
                  <a:latin typeface="+mn-lt"/>
                </a:rPr>
                <a:t>Backup</a:t>
              </a:r>
              <a:endParaRPr lang="en-GB" dirty="0">
                <a:solidFill>
                  <a:srgbClr val="FF9900"/>
                </a:solidFill>
                <a:latin typeface="+mn-lt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488661" y="2634216"/>
              <a:ext cx="137951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 err="1" smtClean="0">
                  <a:solidFill>
                    <a:schemeClr val="bg1">
                      <a:lumMod val="50000"/>
                    </a:schemeClr>
                  </a:solidFill>
                  <a:latin typeface="+mn-lt"/>
                </a:rPr>
                <a:t>GloboDiet</a:t>
              </a:r>
              <a:r>
                <a:rPr lang="en-GB" b="1" dirty="0" smtClean="0">
                  <a:solidFill>
                    <a:schemeClr val="bg1">
                      <a:lumMod val="50000"/>
                    </a:schemeClr>
                  </a:solidFill>
                  <a:latin typeface="+mn-lt"/>
                </a:rPr>
                <a:t> Database</a:t>
              </a:r>
              <a:endParaRPr lang="en-GB" b="1" dirty="0">
                <a:solidFill>
                  <a:schemeClr val="bg1">
                    <a:lumMod val="50000"/>
                  </a:schemeClr>
                </a:solidFill>
                <a:latin typeface="+mn-lt"/>
              </a:endParaRPr>
            </a:p>
          </p:txBody>
        </p:sp>
        <p:grpSp>
          <p:nvGrpSpPr>
            <p:cNvPr id="32" name="Group 31"/>
            <p:cNvGrpSpPr/>
            <p:nvPr/>
          </p:nvGrpSpPr>
          <p:grpSpPr>
            <a:xfrm>
              <a:off x="4232041" y="1394193"/>
              <a:ext cx="411967" cy="1314707"/>
              <a:chOff x="4232041" y="1363417"/>
              <a:chExt cx="411967" cy="1185988"/>
            </a:xfrm>
          </p:grpSpPr>
          <p:sp>
            <p:nvSpPr>
              <p:cNvPr id="33" name="TextBox 32"/>
              <p:cNvSpPr txBox="1"/>
              <p:nvPr/>
            </p:nvSpPr>
            <p:spPr>
              <a:xfrm rot="16200000">
                <a:off x="3870000" y="1800000"/>
                <a:ext cx="11294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b="1" dirty="0">
                    <a:solidFill>
                      <a:schemeClr val="bg1">
                        <a:lumMod val="50000"/>
                      </a:schemeClr>
                    </a:solidFill>
                    <a:latin typeface="+mn-lt"/>
                  </a:rPr>
                  <a:t>6</a:t>
                </a:r>
                <a:r>
                  <a:rPr lang="en-GB" b="1" dirty="0" smtClean="0">
                    <a:solidFill>
                      <a:schemeClr val="bg1">
                        <a:lumMod val="50000"/>
                      </a:schemeClr>
                    </a:solidFill>
                    <a:latin typeface="+mn-lt"/>
                  </a:rPr>
                  <a:t>. Import</a:t>
                </a:r>
                <a:endParaRPr lang="en-GB" b="1" dirty="0">
                  <a:solidFill>
                    <a:schemeClr val="bg1">
                      <a:lumMod val="50000"/>
                    </a:schemeClr>
                  </a:solidFill>
                  <a:latin typeface="+mn-lt"/>
                </a:endParaRPr>
              </a:p>
            </p:txBody>
          </p:sp>
          <p:sp>
            <p:nvSpPr>
              <p:cNvPr id="34" name="Pentagon 33"/>
              <p:cNvSpPr/>
              <p:nvPr/>
            </p:nvSpPr>
            <p:spPr>
              <a:xfrm rot="16200000">
                <a:off x="3873285" y="1722173"/>
                <a:ext cx="1129479" cy="411967"/>
              </a:xfrm>
              <a:prstGeom prst="homePlate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35" name="Group 34"/>
          <p:cNvGrpSpPr/>
          <p:nvPr/>
        </p:nvGrpSpPr>
        <p:grpSpPr>
          <a:xfrm>
            <a:off x="3059790" y="2981991"/>
            <a:ext cx="1182496" cy="807060"/>
            <a:chOff x="557586" y="1986170"/>
            <a:chExt cx="1232808" cy="780985"/>
          </a:xfrm>
        </p:grpSpPr>
        <p:sp>
          <p:nvSpPr>
            <p:cNvPr id="36" name="Curved Down Arrow 35"/>
            <p:cNvSpPr/>
            <p:nvPr/>
          </p:nvSpPr>
          <p:spPr>
            <a:xfrm rot="19771645">
              <a:off x="588878" y="1986170"/>
              <a:ext cx="1008244" cy="381215"/>
            </a:xfrm>
            <a:prstGeom prst="curvedDown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bg1">
                    <a:lumMod val="65000"/>
                  </a:schemeClr>
                </a:solidFill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7" name="Curved Down Arrow 36"/>
            <p:cNvSpPr/>
            <p:nvPr/>
          </p:nvSpPr>
          <p:spPr>
            <a:xfrm rot="9038331">
              <a:off x="753174" y="2385940"/>
              <a:ext cx="1037220" cy="381215"/>
            </a:xfrm>
            <a:prstGeom prst="curvedDown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bg1">
                    <a:lumMod val="65000"/>
                  </a:schemeClr>
                </a:solidFill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 rot="20228859">
              <a:off x="557586" y="2012374"/>
              <a:ext cx="1170076" cy="646331"/>
            </a:xfrm>
            <a:prstGeom prst="rect">
              <a:avLst/>
            </a:prstGeom>
            <a:ln w="254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altLang="en-US" b="1" i="1" dirty="0">
                  <a:solidFill>
                    <a:schemeClr val="bg1">
                      <a:lumMod val="50000"/>
                    </a:schemeClr>
                  </a:solidFill>
                  <a:latin typeface="+mn-lt"/>
                  <a:ea typeface="Tahoma" panose="020B0604030504040204" pitchFamily="34" charset="0"/>
                  <a:cs typeface="Tahoma" panose="020B0604030504040204" pitchFamily="34" charset="0"/>
                </a:rPr>
                <a:t>5</a:t>
              </a:r>
              <a:r>
                <a:rPr lang="en-GB" altLang="en-US" b="1" i="1" dirty="0" smtClean="0">
                  <a:solidFill>
                    <a:schemeClr val="bg1">
                      <a:lumMod val="50000"/>
                    </a:schemeClr>
                  </a:solidFill>
                  <a:latin typeface="+mn-lt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</a:p>
            <a:p>
              <a:pPr algn="ctr"/>
              <a:r>
                <a:rPr lang="en-GB" altLang="en-US" b="1" i="1" dirty="0" smtClean="0">
                  <a:solidFill>
                    <a:schemeClr val="bg1">
                      <a:lumMod val="50000"/>
                    </a:schemeClr>
                  </a:solidFill>
                  <a:latin typeface="+mn-lt"/>
                  <a:ea typeface="Tahoma" panose="020B0604030504040204" pitchFamily="34" charset="0"/>
                  <a:cs typeface="Tahoma" panose="020B0604030504040204" pitchFamily="34" charset="0"/>
                </a:rPr>
                <a:t>Update</a:t>
              </a:r>
              <a:endParaRPr lang="en-GB" b="1" i="1" dirty="0">
                <a:solidFill>
                  <a:schemeClr val="bg1">
                    <a:lumMod val="50000"/>
                  </a:schemeClr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39" name="Pentagon 38"/>
          <p:cNvSpPr/>
          <p:nvPr/>
        </p:nvSpPr>
        <p:spPr>
          <a:xfrm rot="5400000">
            <a:off x="4219315" y="5768026"/>
            <a:ext cx="1052701" cy="363012"/>
          </a:xfrm>
          <a:prstGeom prst="homePlate">
            <a:avLst/>
          </a:prstGeom>
          <a:solidFill>
            <a:schemeClr val="bg1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99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 rot="16173315">
            <a:off x="4194075" y="5741612"/>
            <a:ext cx="1103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>
                <a:solidFill>
                  <a:srgbClr val="FF9900"/>
                </a:solidFill>
                <a:latin typeface="+mn-lt"/>
              </a:rPr>
              <a:t>Backup</a:t>
            </a:r>
            <a:endParaRPr lang="en-GB" dirty="0">
              <a:solidFill>
                <a:srgbClr val="FF9900"/>
              </a:solidFill>
              <a:latin typeface="+mn-lt"/>
            </a:endParaRPr>
          </a:p>
        </p:txBody>
      </p:sp>
      <p:sp>
        <p:nvSpPr>
          <p:cNvPr id="41" name="Pentagon 40"/>
          <p:cNvSpPr/>
          <p:nvPr/>
        </p:nvSpPr>
        <p:spPr>
          <a:xfrm>
            <a:off x="2915816" y="4609738"/>
            <a:ext cx="2680220" cy="646371"/>
          </a:xfrm>
          <a:prstGeom prst="homePlat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8000"/>
              </a:solidFill>
            </a:endParaRPr>
          </a:p>
        </p:txBody>
      </p:sp>
      <p:sp>
        <p:nvSpPr>
          <p:cNvPr id="42" name="Pentagon 41"/>
          <p:cNvSpPr/>
          <p:nvPr/>
        </p:nvSpPr>
        <p:spPr>
          <a:xfrm>
            <a:off x="5688123" y="4608037"/>
            <a:ext cx="1980221" cy="646370"/>
          </a:xfrm>
          <a:prstGeom prst="homePlat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800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472042" y="4742761"/>
            <a:ext cx="2340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>
                <a:solidFill>
                  <a:srgbClr val="0000FF"/>
                </a:solidFill>
                <a:latin typeface="+mn-lt"/>
              </a:rPr>
              <a:t>8.  CSV-file Export</a:t>
            </a:r>
            <a:endParaRPr lang="en-GB" b="1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688123" y="5301260"/>
            <a:ext cx="29884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dirty="0" smtClean="0">
                <a:latin typeface="+mn-lt"/>
              </a:rPr>
              <a:t>Export of </a:t>
            </a:r>
            <a:r>
              <a:rPr lang="en-US" altLang="en-US" sz="1400" dirty="0">
                <a:latin typeface="+mn-lt"/>
              </a:rPr>
              <a:t>CSV-files </a:t>
            </a:r>
            <a:r>
              <a:rPr lang="en-US" altLang="en-US" sz="1400" dirty="0" smtClean="0">
                <a:latin typeface="+mn-lt"/>
              </a:rPr>
              <a:t>for statistical analyses using the backup(*) function</a:t>
            </a:r>
            <a:endParaRPr lang="en-US" altLang="en-US" sz="1400" dirty="0">
              <a:latin typeface="+mn-lt"/>
            </a:endParaRPr>
          </a:p>
        </p:txBody>
      </p:sp>
      <p:pic>
        <p:nvPicPr>
          <p:cNvPr id="45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6072" y="4562917"/>
            <a:ext cx="730669" cy="741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6" name="Group 45"/>
          <p:cNvGrpSpPr/>
          <p:nvPr/>
        </p:nvGrpSpPr>
        <p:grpSpPr>
          <a:xfrm rot="10800000">
            <a:off x="4244638" y="3284980"/>
            <a:ext cx="411967" cy="1261323"/>
            <a:chOff x="4232040" y="1363417"/>
            <a:chExt cx="411967" cy="1193960"/>
          </a:xfrm>
        </p:grpSpPr>
        <p:sp>
          <p:nvSpPr>
            <p:cNvPr id="47" name="TextBox 46"/>
            <p:cNvSpPr txBox="1"/>
            <p:nvPr/>
          </p:nvSpPr>
          <p:spPr>
            <a:xfrm rot="16200000">
              <a:off x="3869993" y="1807972"/>
              <a:ext cx="11294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bg1">
                      <a:lumMod val="50000"/>
                    </a:schemeClr>
                  </a:solidFill>
                  <a:latin typeface="+mn-lt"/>
                </a:rPr>
                <a:t>6</a:t>
              </a:r>
              <a:r>
                <a:rPr lang="en-GB" b="1" dirty="0" smtClean="0">
                  <a:solidFill>
                    <a:schemeClr val="bg1">
                      <a:lumMod val="50000"/>
                    </a:schemeClr>
                  </a:solidFill>
                  <a:latin typeface="+mn-lt"/>
                </a:rPr>
                <a:t>. Import</a:t>
              </a:r>
              <a:endParaRPr lang="en-GB" b="1" dirty="0">
                <a:solidFill>
                  <a:schemeClr val="bg1">
                    <a:lumMod val="50000"/>
                  </a:schemeClr>
                </a:solidFill>
                <a:latin typeface="+mn-lt"/>
              </a:endParaRPr>
            </a:p>
          </p:txBody>
        </p:sp>
        <p:sp>
          <p:nvSpPr>
            <p:cNvPr id="48" name="Pentagon 47"/>
            <p:cNvSpPr/>
            <p:nvPr/>
          </p:nvSpPr>
          <p:spPr>
            <a:xfrm rot="16200000">
              <a:off x="3873284" y="1722173"/>
              <a:ext cx="1129479" cy="411967"/>
            </a:xfrm>
            <a:prstGeom prst="homePlat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6408416" y="6246000"/>
            <a:ext cx="255619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en-US" sz="1200" dirty="0" smtClean="0">
                <a:latin typeface="+mn-lt"/>
              </a:rPr>
              <a:t>(*) Data </a:t>
            </a:r>
            <a:r>
              <a:rPr lang="en-US" altLang="en-US" sz="1200" dirty="0" err="1" smtClean="0">
                <a:latin typeface="+mn-lt"/>
              </a:rPr>
              <a:t>Recompute</a:t>
            </a:r>
            <a:r>
              <a:rPr lang="en-US" altLang="en-US" sz="1200" dirty="0" smtClean="0">
                <a:latin typeface="+mn-lt"/>
              </a:rPr>
              <a:t> is automatically running during Backup &amp; Export</a:t>
            </a:r>
            <a:endParaRPr lang="en-US" altLang="en-US" sz="1200" dirty="0">
              <a:latin typeface="+mn-lt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162000" y="6264000"/>
            <a:ext cx="2877317" cy="522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071546"/>
            <a:ext cx="2362200" cy="704848"/>
          </a:xfrm>
          <a:ln>
            <a:miter lim="800000"/>
            <a:headEnd/>
            <a:tailEnd/>
          </a:ln>
          <a:extLst/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effectLst>
                  <a:reflection blurRad="6350" stA="55000" endA="300" endPos="45500" dir="5400000" sy="-100000" algn="bl" rotWithShape="0"/>
                </a:effectLst>
              </a:rPr>
              <a:t>Outline</a:t>
            </a:r>
            <a:endParaRPr lang="en-US" dirty="0" smtClean="0"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idx="2"/>
          </p:nvPr>
        </p:nvSpPr>
        <p:spPr>
          <a:xfrm>
            <a:off x="381000" y="1857364"/>
            <a:ext cx="2362200" cy="4144963"/>
          </a:xfrm>
          <a:ln>
            <a:miter lim="800000"/>
            <a:headEnd/>
            <a:tailEnd/>
          </a:ln>
          <a:extLst/>
        </p:spPr>
        <p:txBody>
          <a:bodyPr>
            <a:noAutofit/>
          </a:bodyPr>
          <a:lstStyle/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GB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Introduction</a:t>
            </a:r>
            <a:endParaRPr lang="en-US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Interviewer workflow</a:t>
            </a:r>
            <a:endParaRPr lang="en-US" b="1" dirty="0"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Coordinator workflow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Reminders</a:t>
            </a:r>
            <a:endParaRPr lang="en-US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eaLnBrk="1" fontAlgn="auto" hangingPunct="1">
              <a:spcAft>
                <a:spcPts val="300"/>
              </a:spcAft>
              <a:buFont typeface="Wingdings 2"/>
              <a:buNone/>
              <a:defRPr/>
            </a:pPr>
            <a:endParaRPr lang="nl-BE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F4DFE2-AFF4-4035-A7DB-E7432115D04C}" type="slidenum">
              <a:rPr lang="en-US" smtClean="0"/>
              <a:pPr>
                <a:defRPr/>
              </a:pPr>
              <a:t>5</a:t>
            </a:fld>
            <a:endParaRPr lang="en-US" sz="1800" dirty="0"/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5367" name="Tijdelijke aanduiding voor inhoud 12"/>
          <p:cNvSpPr>
            <a:spLocks noGrp="1"/>
          </p:cNvSpPr>
          <p:nvPr>
            <p:ph sz="quarter" idx="1"/>
          </p:nvPr>
        </p:nvSpPr>
        <p:spPr>
          <a:xfrm>
            <a:off x="2987675" y="639763"/>
            <a:ext cx="5976938" cy="5597525"/>
          </a:xfrm>
        </p:spPr>
        <p:txBody>
          <a:bodyPr>
            <a:normAutofit fontScale="92500" lnSpcReduction="10000"/>
          </a:bodyPr>
          <a:lstStyle/>
          <a:p>
            <a:pPr marL="0" indent="0" algn="ctr" eaLnBrk="1" hangingPunct="1">
              <a:buNone/>
              <a:defRPr/>
            </a:pPr>
            <a:r>
              <a:rPr lang="en-GB" sz="2600" dirty="0"/>
              <a:t>The </a:t>
            </a:r>
            <a:r>
              <a:rPr lang="en-GB" sz="2600" dirty="0" smtClean="0"/>
              <a:t>Interviewer workflow</a:t>
            </a:r>
            <a:endParaRPr lang="en-GB" sz="2600" dirty="0"/>
          </a:p>
          <a:p>
            <a:pPr marL="0" indent="0" eaLnBrk="1" hangingPunct="1">
              <a:buNone/>
              <a:defRPr/>
            </a:pPr>
            <a:endParaRPr lang="en-GB" sz="2600" dirty="0" smtClean="0"/>
          </a:p>
          <a:p>
            <a:pPr marL="0" indent="0" eaLnBrk="1" hangingPunct="1">
              <a:buNone/>
              <a:defRPr/>
            </a:pPr>
            <a:endParaRPr lang="en-GB" sz="2600" dirty="0"/>
          </a:p>
          <a:p>
            <a:pPr marL="0" indent="0" eaLnBrk="1" hangingPunct="1">
              <a:buNone/>
              <a:defRPr/>
            </a:pPr>
            <a:endParaRPr lang="en-GB" sz="2600" dirty="0" smtClean="0"/>
          </a:p>
          <a:p>
            <a:pPr marL="0" indent="0" eaLnBrk="1" hangingPunct="1">
              <a:buNone/>
              <a:defRPr/>
            </a:pPr>
            <a:endParaRPr lang="en-GB" sz="2600" dirty="0"/>
          </a:p>
          <a:p>
            <a:pPr marL="0" indent="0" eaLnBrk="1" hangingPunct="1">
              <a:buNone/>
              <a:defRPr/>
            </a:pPr>
            <a:endParaRPr lang="en-US" sz="2600" dirty="0"/>
          </a:p>
          <a:p>
            <a:pPr lvl="0"/>
            <a:endParaRPr lang="en-GB" sz="2400" dirty="0" smtClean="0"/>
          </a:p>
          <a:p>
            <a:pPr lvl="0"/>
            <a:r>
              <a:rPr lang="en-GB" sz="2400" dirty="0" smtClean="0"/>
              <a:t>The data Collection (1)</a:t>
            </a:r>
          </a:p>
          <a:p>
            <a:pPr lvl="1"/>
            <a:r>
              <a:rPr lang="en-GB" sz="1900" dirty="0" smtClean="0"/>
              <a:t>Interview collection using </a:t>
            </a:r>
            <a:r>
              <a:rPr lang="en-GB" sz="1900" dirty="0" err="1" smtClean="0"/>
              <a:t>GloboDiet</a:t>
            </a:r>
            <a:r>
              <a:rPr lang="en-GB" sz="1900" dirty="0" smtClean="0"/>
              <a:t> or Data Entry application</a:t>
            </a:r>
          </a:p>
          <a:p>
            <a:pPr lvl="0"/>
            <a:r>
              <a:rPr lang="en-GB" sz="2400" dirty="0" smtClean="0"/>
              <a:t>The interview Backup</a:t>
            </a:r>
          </a:p>
          <a:p>
            <a:pPr lvl="1"/>
            <a:r>
              <a:rPr lang="en-GB" sz="1900" dirty="0"/>
              <a:t>I</a:t>
            </a:r>
            <a:r>
              <a:rPr lang="en-GB" sz="1900" dirty="0" smtClean="0"/>
              <a:t>nterview Backup has to be done regularly </a:t>
            </a:r>
            <a:r>
              <a:rPr lang="en-GB" sz="1900" dirty="0"/>
              <a:t>(</a:t>
            </a:r>
            <a:r>
              <a:rPr lang="en-GB" sz="1900" dirty="0" smtClean="0"/>
              <a:t>one or twice a day) using </a:t>
            </a:r>
            <a:r>
              <a:rPr lang="en-GB" sz="1900" dirty="0" err="1" smtClean="0"/>
              <a:t>GloboDiet</a:t>
            </a:r>
            <a:r>
              <a:rPr lang="en-GB" sz="1900" dirty="0" smtClean="0"/>
              <a:t> functionalities.</a:t>
            </a:r>
          </a:p>
          <a:p>
            <a:pPr lvl="1"/>
            <a:r>
              <a:rPr lang="en-GB" sz="1900" dirty="0" smtClean="0"/>
              <a:t>The generated BAK &amp; CSV-files are to be saved in, at least, 2 different supports (e.g. PC + central server…)</a:t>
            </a:r>
          </a:p>
          <a:p>
            <a:pPr lvl="1"/>
            <a:r>
              <a:rPr lang="en-GB" sz="1900" dirty="0" smtClean="0"/>
              <a:t>During the backup, the data re-compute is running</a:t>
            </a:r>
          </a:p>
          <a:p>
            <a:pPr lvl="0"/>
            <a:endParaRPr lang="en-US" sz="2400" dirty="0"/>
          </a:p>
          <a:p>
            <a:pPr marL="0" lvl="0" indent="0">
              <a:buNone/>
            </a:pPr>
            <a:endParaRPr lang="en-GB" sz="2400" dirty="0"/>
          </a:p>
          <a:p>
            <a:pPr marL="0" indent="0" eaLnBrk="1" hangingPunct="1">
              <a:buFont typeface="Wingdings 2" pitchFamily="18" charset="2"/>
              <a:buNone/>
              <a:defRPr/>
            </a:pPr>
            <a:endParaRPr lang="en-US" sz="2500" dirty="0"/>
          </a:p>
          <a:p>
            <a:pPr marL="514350" indent="-514350" eaLnBrk="1" hangingPunct="1">
              <a:buFont typeface="+mj-lt"/>
              <a:buAutoNum type="arabicPeriod"/>
              <a:defRPr/>
            </a:pPr>
            <a:endParaRPr lang="nl-BE" dirty="0" smtClean="0"/>
          </a:p>
        </p:txBody>
      </p:sp>
      <p:pic>
        <p:nvPicPr>
          <p:cNvPr id="15" name="Afbeelding 14" descr="124741-matte-white-square-icon-business-home7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321338" y="642918"/>
            <a:ext cx="536150" cy="536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77825" y="6381750"/>
            <a:ext cx="3906838" cy="350838"/>
          </a:xfrm>
        </p:spPr>
        <p:txBody>
          <a:bodyPr lIns="45720" rIns="45720" anchor="ctr">
            <a:noAutofit/>
          </a:bodyPr>
          <a:lstStyle/>
          <a:p>
            <a:pPr>
              <a:defRPr/>
            </a:pPr>
            <a:r>
              <a:rPr lang="en-GB" dirty="0" smtClean="0"/>
              <a:t>Data Flow in </a:t>
            </a:r>
            <a:r>
              <a:rPr lang="en-GB" dirty="0" err="1" smtClean="0"/>
              <a:t>GloboDiet</a:t>
            </a:r>
            <a:endParaRPr lang="en-GB" dirty="0"/>
          </a:p>
        </p:txBody>
      </p:sp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790" y="1084926"/>
            <a:ext cx="5767255" cy="2200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ight Arrow 1"/>
          <p:cNvSpPr/>
          <p:nvPr/>
        </p:nvSpPr>
        <p:spPr>
          <a:xfrm rot="2192937">
            <a:off x="4435704" y="1165164"/>
            <a:ext cx="504070" cy="38235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236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BE" smtClean="0"/>
              <a:t>IARC, Lyon - France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579951-B407-43F7-B533-311E6349BBDC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77825" y="6381750"/>
            <a:ext cx="3906838" cy="350838"/>
          </a:xfrm>
        </p:spPr>
        <p:txBody>
          <a:bodyPr lIns="45720" rIns="45720" anchor="ctr">
            <a:noAutofit/>
          </a:bodyPr>
          <a:lstStyle/>
          <a:p>
            <a:pPr algn="l">
              <a:defRPr/>
            </a:pPr>
            <a:r>
              <a:rPr lang="en-GB" dirty="0" smtClean="0"/>
              <a:t>Data Flow in </a:t>
            </a:r>
            <a:r>
              <a:rPr lang="en-GB" dirty="0" err="1" smtClean="0"/>
              <a:t>GloboDiet</a:t>
            </a: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402157" y="3144236"/>
            <a:ext cx="8497180" cy="3093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lvl="0" indent="-273050"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</a:pPr>
            <a:r>
              <a:rPr lang="en-GB" sz="2400" dirty="0">
                <a:solidFill>
                  <a:prstClr val="black"/>
                </a:solidFill>
                <a:latin typeface="Calibri"/>
                <a:cs typeface="+mn-cs"/>
              </a:rPr>
              <a:t>The Interview Export (2) </a:t>
            </a:r>
          </a:p>
          <a:p>
            <a:pPr marL="547688" lvl="1" indent="-273050" eaLnBrk="0" hangingPunct="0">
              <a:spcBef>
                <a:spcPct val="20000"/>
              </a:spcBef>
              <a:buClr>
                <a:srgbClr val="4BA2D9"/>
              </a:buClr>
              <a:buSzPct val="70000"/>
              <a:buFont typeface="Wingdings" pitchFamily="2" charset="2"/>
              <a:buChar char="§"/>
            </a:pPr>
            <a:r>
              <a:rPr lang="en-GB" sz="1900" dirty="0" smtClean="0">
                <a:solidFill>
                  <a:srgbClr val="2780B7"/>
                </a:solidFill>
                <a:latin typeface="Calibri"/>
                <a:cs typeface="+mn-cs"/>
              </a:rPr>
              <a:t>Interview </a:t>
            </a:r>
            <a:r>
              <a:rPr lang="en-GB" sz="1900" dirty="0">
                <a:solidFill>
                  <a:srgbClr val="2780B7"/>
                </a:solidFill>
                <a:latin typeface="Calibri"/>
                <a:cs typeface="+mn-cs"/>
              </a:rPr>
              <a:t>Export has to be done </a:t>
            </a:r>
            <a:r>
              <a:rPr lang="en-GB" sz="1900" dirty="0" smtClean="0">
                <a:solidFill>
                  <a:srgbClr val="2780B7"/>
                </a:solidFill>
                <a:latin typeface="Calibri"/>
                <a:cs typeface="+mn-cs"/>
              </a:rPr>
              <a:t>regularly (e.g</a:t>
            </a:r>
            <a:r>
              <a:rPr lang="en-GB" sz="1900" dirty="0">
                <a:solidFill>
                  <a:srgbClr val="2780B7"/>
                </a:solidFill>
                <a:latin typeface="Calibri"/>
                <a:cs typeface="+mn-cs"/>
              </a:rPr>
              <a:t>. once a week, monthly…) using </a:t>
            </a:r>
            <a:r>
              <a:rPr lang="en-GB" sz="1900" dirty="0" err="1">
                <a:solidFill>
                  <a:srgbClr val="2780B7"/>
                </a:solidFill>
                <a:latin typeface="Calibri"/>
                <a:cs typeface="+mn-cs"/>
              </a:rPr>
              <a:t>GloboDiet</a:t>
            </a:r>
            <a:r>
              <a:rPr lang="en-GB" sz="1900" dirty="0">
                <a:solidFill>
                  <a:srgbClr val="2780B7"/>
                </a:solidFill>
                <a:latin typeface="Calibri"/>
                <a:cs typeface="+mn-cs"/>
              </a:rPr>
              <a:t> functionalities</a:t>
            </a:r>
          </a:p>
          <a:p>
            <a:pPr marL="547688" lvl="1" indent="-273050" eaLnBrk="0" hangingPunct="0">
              <a:spcBef>
                <a:spcPct val="20000"/>
              </a:spcBef>
              <a:buClr>
                <a:srgbClr val="4BA2D9"/>
              </a:buClr>
              <a:buSzPct val="70000"/>
              <a:buFont typeface="Wingdings" pitchFamily="2" charset="2"/>
              <a:buChar char="§"/>
            </a:pPr>
            <a:r>
              <a:rPr lang="en-GB" sz="1900" dirty="0">
                <a:solidFill>
                  <a:srgbClr val="2780B7"/>
                </a:solidFill>
                <a:latin typeface="Calibri"/>
                <a:cs typeface="+mn-cs"/>
              </a:rPr>
              <a:t>XML &amp; CSV-files are generated and the </a:t>
            </a:r>
            <a:r>
              <a:rPr lang="en-GB" sz="1900" u="sng" dirty="0">
                <a:solidFill>
                  <a:srgbClr val="2780B7"/>
                </a:solidFill>
                <a:latin typeface="Calibri"/>
                <a:cs typeface="+mn-cs"/>
              </a:rPr>
              <a:t>exported interviews will be suppressed </a:t>
            </a:r>
            <a:r>
              <a:rPr lang="en-GB" sz="1900" dirty="0">
                <a:solidFill>
                  <a:srgbClr val="2780B7"/>
                </a:solidFill>
                <a:latin typeface="Calibri"/>
                <a:cs typeface="+mn-cs"/>
              </a:rPr>
              <a:t>on the Interviewer’s PC</a:t>
            </a:r>
          </a:p>
          <a:p>
            <a:pPr marL="547688" lvl="1" indent="-273050" eaLnBrk="0" hangingPunct="0">
              <a:spcBef>
                <a:spcPct val="20000"/>
              </a:spcBef>
              <a:buClr>
                <a:srgbClr val="4BA2D9"/>
              </a:buClr>
              <a:buSzPct val="70000"/>
              <a:buFont typeface="Wingdings" pitchFamily="2" charset="2"/>
              <a:buChar char="§"/>
            </a:pPr>
            <a:r>
              <a:rPr lang="en-GB" sz="1900" dirty="0">
                <a:solidFill>
                  <a:srgbClr val="2780B7"/>
                </a:solidFill>
                <a:latin typeface="Calibri"/>
                <a:cs typeface="+mn-cs"/>
              </a:rPr>
              <a:t>The generated XML &amp;  CSV-files have to be </a:t>
            </a:r>
            <a:r>
              <a:rPr lang="en-GB" sz="1900" u="sng" dirty="0">
                <a:solidFill>
                  <a:srgbClr val="2780B7"/>
                </a:solidFill>
                <a:latin typeface="Calibri"/>
                <a:cs typeface="+mn-cs"/>
              </a:rPr>
              <a:t>saved and sent to the Coordinator</a:t>
            </a:r>
          </a:p>
          <a:p>
            <a:pPr marL="547688" lvl="1" indent="-273050" eaLnBrk="0" hangingPunct="0">
              <a:spcBef>
                <a:spcPct val="20000"/>
              </a:spcBef>
              <a:buClr>
                <a:srgbClr val="4BA2D9"/>
              </a:buClr>
              <a:buSzPct val="70000"/>
              <a:buFont typeface="Wingdings" pitchFamily="2" charset="2"/>
              <a:buChar char="§"/>
            </a:pPr>
            <a:r>
              <a:rPr lang="en-GB" sz="1900" dirty="0">
                <a:solidFill>
                  <a:srgbClr val="2780B7"/>
                </a:solidFill>
                <a:latin typeface="Calibri"/>
                <a:cs typeface="+mn-cs"/>
              </a:rPr>
              <a:t>Then the Interviewer will continue with a new empty interview database automatically generated</a:t>
            </a:r>
          </a:p>
          <a:p>
            <a:pPr marL="547688" lvl="1" indent="-273050" eaLnBrk="0" hangingPunct="0">
              <a:spcBef>
                <a:spcPct val="20000"/>
              </a:spcBef>
              <a:buClr>
                <a:srgbClr val="4BA2D9"/>
              </a:buClr>
              <a:buSzPct val="70000"/>
              <a:buFont typeface="Wingdings" pitchFamily="2" charset="2"/>
              <a:buChar char="§"/>
            </a:pPr>
            <a:r>
              <a:rPr lang="en-GB" sz="1900" dirty="0">
                <a:solidFill>
                  <a:srgbClr val="2780B7"/>
                </a:solidFill>
                <a:latin typeface="Calibri"/>
                <a:cs typeface="+mn-cs"/>
              </a:rPr>
              <a:t>During the export, the data re-compute is running</a:t>
            </a:r>
            <a:endParaRPr lang="en-US" sz="2400" dirty="0">
              <a:solidFill>
                <a:srgbClr val="2780B7"/>
              </a:solidFill>
              <a:latin typeface="Calibri"/>
              <a:cs typeface="+mn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13" y="241300"/>
            <a:ext cx="8358187" cy="318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ight Arrow 7"/>
          <p:cNvSpPr/>
          <p:nvPr/>
        </p:nvSpPr>
        <p:spPr>
          <a:xfrm rot="2192937">
            <a:off x="5788446" y="557818"/>
            <a:ext cx="504070" cy="38235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2321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BE" smtClean="0"/>
              <a:t>IARC, Lyon - France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579951-B407-43F7-B533-311E6349BBDC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77825" y="6381750"/>
            <a:ext cx="3906838" cy="350838"/>
          </a:xfrm>
        </p:spPr>
        <p:txBody>
          <a:bodyPr lIns="45720" rIns="45720" anchor="ctr">
            <a:noAutofit/>
          </a:bodyPr>
          <a:lstStyle/>
          <a:p>
            <a:pPr algn="l">
              <a:defRPr/>
            </a:pPr>
            <a:r>
              <a:rPr lang="en-GB" dirty="0" smtClean="0"/>
              <a:t>Data Flow in </a:t>
            </a:r>
            <a:r>
              <a:rPr lang="en-GB" dirty="0" err="1" smtClean="0"/>
              <a:t>GloboDiet</a:t>
            </a:r>
            <a:endParaRPr lang="en-GB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13" y="241300"/>
            <a:ext cx="8358187" cy="318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392113" y="3511711"/>
            <a:ext cx="8428477" cy="27976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lvl="0" indent="-273050"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</a:pPr>
            <a:r>
              <a:rPr lang="en-GB" sz="2400" dirty="0">
                <a:solidFill>
                  <a:prstClr val="black"/>
                </a:solidFill>
                <a:latin typeface="Calibri"/>
                <a:cs typeface="+mn-cs"/>
              </a:rPr>
              <a:t>The </a:t>
            </a:r>
            <a:r>
              <a:rPr lang="en-GB" sz="2400" dirty="0" err="1">
                <a:solidFill>
                  <a:prstClr val="black"/>
                </a:solidFill>
                <a:latin typeface="Calibri"/>
                <a:cs typeface="+mn-cs"/>
              </a:rPr>
              <a:t>GloboDiet</a:t>
            </a:r>
            <a:r>
              <a:rPr lang="en-GB" sz="2400" dirty="0">
                <a:solidFill>
                  <a:prstClr val="black"/>
                </a:solidFill>
                <a:latin typeface="Calibri"/>
                <a:cs typeface="+mn-cs"/>
              </a:rPr>
              <a:t> database Import (6)</a:t>
            </a:r>
          </a:p>
          <a:p>
            <a:pPr marL="547688" lvl="1" indent="-273050" eaLnBrk="0" hangingPunct="0">
              <a:spcBef>
                <a:spcPct val="20000"/>
              </a:spcBef>
              <a:buClr>
                <a:srgbClr val="4BA2D9"/>
              </a:buClr>
              <a:buSzPct val="70000"/>
              <a:buFont typeface="Wingdings" pitchFamily="2" charset="2"/>
              <a:buChar char="§"/>
            </a:pPr>
            <a:r>
              <a:rPr lang="en-GB" sz="2300" dirty="0">
                <a:solidFill>
                  <a:srgbClr val="2780B7"/>
                </a:solidFill>
                <a:latin typeface="Calibri"/>
                <a:cs typeface="+mn-cs"/>
              </a:rPr>
              <a:t>An updated </a:t>
            </a:r>
            <a:r>
              <a:rPr lang="en-GB" sz="2300" dirty="0" err="1">
                <a:solidFill>
                  <a:srgbClr val="2780B7"/>
                </a:solidFill>
                <a:latin typeface="Calibri"/>
                <a:cs typeface="+mn-cs"/>
              </a:rPr>
              <a:t>GloboDiet</a:t>
            </a:r>
            <a:r>
              <a:rPr lang="en-GB" sz="2300" dirty="0">
                <a:solidFill>
                  <a:srgbClr val="2780B7"/>
                </a:solidFill>
                <a:latin typeface="Calibri"/>
                <a:cs typeface="+mn-cs"/>
              </a:rPr>
              <a:t> parameter database is  periodically prepared by the Coordinator and IARC, together.</a:t>
            </a:r>
            <a:endParaRPr lang="en-US" sz="2400" dirty="0">
              <a:solidFill>
                <a:srgbClr val="2780B7"/>
              </a:solidFill>
              <a:latin typeface="Calibri"/>
              <a:cs typeface="+mn-cs"/>
            </a:endParaRPr>
          </a:p>
          <a:p>
            <a:pPr marL="547688" lvl="1" indent="-273050" eaLnBrk="0" hangingPunct="0">
              <a:spcBef>
                <a:spcPct val="20000"/>
              </a:spcBef>
              <a:buClr>
                <a:srgbClr val="4BA2D9"/>
              </a:buClr>
              <a:buSzPct val="70000"/>
              <a:buFont typeface="Wingdings" pitchFamily="2" charset="2"/>
              <a:buChar char="§"/>
            </a:pPr>
            <a:r>
              <a:rPr lang="en-GB" sz="2300" dirty="0">
                <a:solidFill>
                  <a:srgbClr val="2780B7"/>
                </a:solidFill>
                <a:latin typeface="Calibri"/>
                <a:cs typeface="+mn-cs"/>
              </a:rPr>
              <a:t>The Coordinator has to send this updated </a:t>
            </a:r>
            <a:r>
              <a:rPr lang="en-GB" sz="2300" dirty="0" err="1">
                <a:solidFill>
                  <a:srgbClr val="2780B7"/>
                </a:solidFill>
                <a:latin typeface="Calibri"/>
                <a:cs typeface="+mn-cs"/>
              </a:rPr>
              <a:t>GloboDiet</a:t>
            </a:r>
            <a:r>
              <a:rPr lang="en-GB" sz="2300" dirty="0">
                <a:solidFill>
                  <a:srgbClr val="2780B7"/>
                </a:solidFill>
                <a:latin typeface="Calibri"/>
                <a:cs typeface="+mn-cs"/>
              </a:rPr>
              <a:t> parameter database to Interviewer(s)</a:t>
            </a:r>
            <a:endParaRPr lang="en-US" sz="2200" dirty="0">
              <a:solidFill>
                <a:srgbClr val="2780B7"/>
              </a:solidFill>
              <a:latin typeface="Calibri"/>
              <a:cs typeface="+mn-cs"/>
            </a:endParaRPr>
          </a:p>
          <a:p>
            <a:pPr marL="547688" lvl="1" indent="-273050" eaLnBrk="0" hangingPunct="0">
              <a:spcBef>
                <a:spcPct val="20000"/>
              </a:spcBef>
              <a:buClr>
                <a:srgbClr val="4BA2D9"/>
              </a:buClr>
              <a:buSzPct val="70000"/>
              <a:buFont typeface="Wingdings" pitchFamily="2" charset="2"/>
              <a:buChar char="§"/>
            </a:pPr>
            <a:r>
              <a:rPr lang="en-GB" sz="2300" dirty="0">
                <a:solidFill>
                  <a:srgbClr val="2780B7"/>
                </a:solidFill>
                <a:latin typeface="Calibri"/>
                <a:cs typeface="+mn-cs"/>
              </a:rPr>
              <a:t>The received </a:t>
            </a:r>
            <a:r>
              <a:rPr lang="en-GB" sz="2300" dirty="0" err="1">
                <a:solidFill>
                  <a:srgbClr val="2780B7"/>
                </a:solidFill>
                <a:latin typeface="Calibri"/>
                <a:cs typeface="+mn-cs"/>
              </a:rPr>
              <a:t>GloboDiet</a:t>
            </a:r>
            <a:r>
              <a:rPr lang="en-GB" sz="2300" dirty="0">
                <a:solidFill>
                  <a:srgbClr val="2780B7"/>
                </a:solidFill>
                <a:latin typeface="Calibri"/>
                <a:cs typeface="+mn-cs"/>
              </a:rPr>
              <a:t> database </a:t>
            </a:r>
            <a:r>
              <a:rPr lang="en-GB" sz="2300" u="sng" dirty="0">
                <a:solidFill>
                  <a:srgbClr val="2780B7"/>
                </a:solidFill>
                <a:latin typeface="Calibri"/>
                <a:cs typeface="+mn-cs"/>
              </a:rPr>
              <a:t>has to be RESTORED </a:t>
            </a:r>
            <a:r>
              <a:rPr lang="en-GB" sz="2300" dirty="0">
                <a:solidFill>
                  <a:srgbClr val="2780B7"/>
                </a:solidFill>
                <a:latin typeface="Calibri"/>
                <a:cs typeface="+mn-cs"/>
              </a:rPr>
              <a:t>on the Interviewer’s PC using the </a:t>
            </a:r>
            <a:r>
              <a:rPr lang="en-GB" sz="2300" dirty="0" err="1">
                <a:solidFill>
                  <a:srgbClr val="2780B7"/>
                </a:solidFill>
                <a:latin typeface="Calibri"/>
                <a:cs typeface="+mn-cs"/>
              </a:rPr>
              <a:t>GloboDiet</a:t>
            </a:r>
            <a:r>
              <a:rPr lang="en-GB" sz="2300" dirty="0">
                <a:solidFill>
                  <a:srgbClr val="2780B7"/>
                </a:solidFill>
                <a:latin typeface="Calibri"/>
                <a:cs typeface="+mn-cs"/>
              </a:rPr>
              <a:t>/Data Entry functionalities</a:t>
            </a:r>
            <a:endParaRPr lang="en-US" sz="2500" dirty="0">
              <a:solidFill>
                <a:srgbClr val="2780B7"/>
              </a:solidFill>
              <a:latin typeface="Calibri"/>
              <a:cs typeface="+mn-cs"/>
            </a:endParaRPr>
          </a:p>
        </p:txBody>
      </p:sp>
      <p:sp>
        <p:nvSpPr>
          <p:cNvPr id="8" name="Right Arrow 7"/>
          <p:cNvSpPr/>
          <p:nvPr/>
        </p:nvSpPr>
        <p:spPr>
          <a:xfrm rot="2192937">
            <a:off x="4056598" y="1953519"/>
            <a:ext cx="504070" cy="38235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2818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071546"/>
            <a:ext cx="2362200" cy="704848"/>
          </a:xfrm>
          <a:ln>
            <a:miter lim="800000"/>
            <a:headEnd/>
            <a:tailEnd/>
          </a:ln>
          <a:extLst/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effectLst>
                  <a:reflection blurRad="6350" stA="55000" endA="300" endPos="45500" dir="5400000" sy="-100000" algn="bl" rotWithShape="0"/>
                </a:effectLst>
              </a:rPr>
              <a:t>Outline</a:t>
            </a:r>
            <a:endParaRPr lang="en-US" dirty="0" smtClean="0"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idx="2"/>
          </p:nvPr>
        </p:nvSpPr>
        <p:spPr>
          <a:xfrm>
            <a:off x="381000" y="1857364"/>
            <a:ext cx="2362200" cy="4144963"/>
          </a:xfrm>
          <a:ln>
            <a:miter lim="800000"/>
            <a:headEnd/>
            <a:tailEnd/>
          </a:ln>
          <a:extLst/>
        </p:spPr>
        <p:txBody>
          <a:bodyPr>
            <a:noAutofit/>
          </a:bodyPr>
          <a:lstStyle/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GB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Introduction</a:t>
            </a:r>
            <a:endParaRPr lang="en-US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Interviewer workflow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Coordinator workflow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Reminders</a:t>
            </a:r>
            <a:endParaRPr lang="en-US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eaLnBrk="1" fontAlgn="auto" hangingPunct="1">
              <a:spcAft>
                <a:spcPts val="300"/>
              </a:spcAft>
              <a:buFont typeface="Wingdings 2"/>
              <a:buNone/>
              <a:defRPr/>
            </a:pPr>
            <a:endParaRPr lang="nl-BE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F4DFE2-AFF4-4035-A7DB-E7432115D04C}" type="slidenum">
              <a:rPr lang="en-US" smtClean="0"/>
              <a:pPr>
                <a:defRPr/>
              </a:pPr>
              <a:t>8</a:t>
            </a:fld>
            <a:endParaRPr lang="en-US" sz="1800" dirty="0"/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5367" name="Tijdelijke aanduiding voor inhoud 12"/>
          <p:cNvSpPr>
            <a:spLocks noGrp="1"/>
          </p:cNvSpPr>
          <p:nvPr>
            <p:ph sz="quarter" idx="1"/>
          </p:nvPr>
        </p:nvSpPr>
        <p:spPr>
          <a:xfrm>
            <a:off x="2915770" y="548600"/>
            <a:ext cx="6228229" cy="5904820"/>
          </a:xfrm>
        </p:spPr>
        <p:txBody>
          <a:bodyPr>
            <a:normAutofit fontScale="92500" lnSpcReduction="20000"/>
          </a:bodyPr>
          <a:lstStyle/>
          <a:p>
            <a:pPr marL="0" indent="0" algn="ctr" eaLnBrk="1" hangingPunct="1">
              <a:buNone/>
              <a:defRPr/>
            </a:pPr>
            <a:r>
              <a:rPr lang="en-GB" sz="2600" dirty="0"/>
              <a:t>The </a:t>
            </a:r>
            <a:r>
              <a:rPr lang="en-GB" sz="2600" dirty="0" smtClean="0"/>
              <a:t>Coordinator workflow</a:t>
            </a:r>
            <a:endParaRPr lang="en-GB" sz="2600" dirty="0"/>
          </a:p>
          <a:p>
            <a:pPr marL="0" indent="0" eaLnBrk="1" hangingPunct="1">
              <a:buNone/>
              <a:defRPr/>
            </a:pPr>
            <a:endParaRPr lang="en-GB" sz="2600" dirty="0" smtClean="0"/>
          </a:p>
          <a:p>
            <a:pPr marL="0" indent="0" eaLnBrk="1" hangingPunct="1">
              <a:buNone/>
              <a:defRPr/>
            </a:pPr>
            <a:endParaRPr lang="en-GB" sz="2600" dirty="0"/>
          </a:p>
          <a:p>
            <a:pPr marL="0" indent="0" eaLnBrk="1" hangingPunct="1">
              <a:buNone/>
              <a:defRPr/>
            </a:pPr>
            <a:endParaRPr lang="en-GB" sz="2600" dirty="0" smtClean="0"/>
          </a:p>
          <a:p>
            <a:pPr marL="0" indent="0" eaLnBrk="1" hangingPunct="1">
              <a:buNone/>
              <a:defRPr/>
            </a:pPr>
            <a:endParaRPr lang="en-GB" sz="2600" dirty="0"/>
          </a:p>
          <a:p>
            <a:pPr marL="0" indent="0" eaLnBrk="1" hangingPunct="1">
              <a:buNone/>
              <a:defRPr/>
            </a:pPr>
            <a:endParaRPr lang="en-GB" sz="2600" dirty="0" smtClean="0"/>
          </a:p>
          <a:p>
            <a:pPr marL="0" indent="0" eaLnBrk="1" hangingPunct="1">
              <a:buNone/>
              <a:defRPr/>
            </a:pPr>
            <a:endParaRPr lang="en-GB" sz="2600" dirty="0"/>
          </a:p>
          <a:p>
            <a:pPr lvl="0"/>
            <a:endParaRPr lang="en-GB" sz="2400" dirty="0" smtClean="0"/>
          </a:p>
          <a:p>
            <a:pPr lvl="0"/>
            <a:endParaRPr lang="en-GB" sz="2400" dirty="0"/>
          </a:p>
          <a:p>
            <a:pPr lvl="0"/>
            <a:endParaRPr lang="en-GB" sz="2400" dirty="0" smtClean="0"/>
          </a:p>
          <a:p>
            <a:pPr lvl="0"/>
            <a:r>
              <a:rPr lang="en-GB" sz="2400" dirty="0" smtClean="0"/>
              <a:t>The interview Import (3)</a:t>
            </a:r>
          </a:p>
          <a:p>
            <a:pPr lvl="1"/>
            <a:r>
              <a:rPr lang="en-GB" sz="2000" dirty="0"/>
              <a:t>The received </a:t>
            </a:r>
            <a:r>
              <a:rPr lang="en-GB" sz="2000" dirty="0" smtClean="0"/>
              <a:t>interview XML-files have </a:t>
            </a:r>
            <a:r>
              <a:rPr lang="en-GB" sz="2000" dirty="0"/>
              <a:t>to be imported </a:t>
            </a:r>
            <a:r>
              <a:rPr lang="en-GB" sz="2000" dirty="0" smtClean="0"/>
              <a:t>on the Coordinator’s PC using </a:t>
            </a:r>
            <a:r>
              <a:rPr lang="en-GB" sz="2000" dirty="0" err="1"/>
              <a:t>GloboDiet</a:t>
            </a:r>
            <a:r>
              <a:rPr lang="en-GB" sz="2000" dirty="0"/>
              <a:t> </a:t>
            </a:r>
            <a:r>
              <a:rPr lang="en-GB" sz="2000" dirty="0" smtClean="0"/>
              <a:t>functionalities.</a:t>
            </a:r>
          </a:p>
          <a:p>
            <a:pPr lvl="1"/>
            <a:r>
              <a:rPr lang="en-GB" sz="2000" dirty="0"/>
              <a:t>The new generated interview database has to be saved using the </a:t>
            </a:r>
            <a:r>
              <a:rPr lang="en-GB" sz="2000" dirty="0" err="1"/>
              <a:t>GloboDiet</a:t>
            </a:r>
            <a:r>
              <a:rPr lang="en-GB" sz="2000" dirty="0"/>
              <a:t> </a:t>
            </a:r>
            <a:r>
              <a:rPr lang="en-GB" sz="2000" dirty="0" smtClean="0"/>
              <a:t>backup </a:t>
            </a:r>
            <a:r>
              <a:rPr lang="en-GB" sz="2000" dirty="0"/>
              <a:t>interview </a:t>
            </a:r>
            <a:r>
              <a:rPr lang="en-GB" sz="2000" dirty="0" smtClean="0"/>
              <a:t>function </a:t>
            </a:r>
            <a:endParaRPr lang="en-GB" sz="1900" dirty="0" smtClean="0"/>
          </a:p>
          <a:p>
            <a:pPr marL="274638" lvl="1" indent="0">
              <a:buNone/>
            </a:pPr>
            <a:r>
              <a:rPr lang="en-GB" sz="2000" u="sng" dirty="0" smtClean="0"/>
              <a:t>Remark:</a:t>
            </a:r>
            <a:r>
              <a:rPr lang="en-GB" sz="2000" dirty="0" smtClean="0"/>
              <a:t> a new function allowing to import several XML-files in one </a:t>
            </a:r>
            <a:r>
              <a:rPr lang="en-GB" sz="2000" dirty="0" err="1"/>
              <a:t>GloboDiet</a:t>
            </a:r>
            <a:r>
              <a:rPr lang="en-GB" sz="2000" dirty="0"/>
              <a:t> </a:t>
            </a:r>
            <a:r>
              <a:rPr lang="en-GB" sz="2000" dirty="0" smtClean="0"/>
              <a:t>Interview database is under development.</a:t>
            </a:r>
            <a:endParaRPr lang="en-US" sz="2500" dirty="0"/>
          </a:p>
          <a:p>
            <a:pPr marL="514350" indent="-514350" eaLnBrk="1" hangingPunct="1">
              <a:buFont typeface="+mj-lt"/>
              <a:buAutoNum type="arabicPeriod"/>
              <a:defRPr/>
            </a:pPr>
            <a:endParaRPr lang="nl-BE" dirty="0" smtClean="0"/>
          </a:p>
        </p:txBody>
      </p:sp>
      <p:pic>
        <p:nvPicPr>
          <p:cNvPr id="15" name="Afbeelding 14" descr="124741-matte-white-square-icon-business-home7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321338" y="642918"/>
            <a:ext cx="536150" cy="536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77825" y="6381750"/>
            <a:ext cx="3906838" cy="350838"/>
          </a:xfrm>
        </p:spPr>
        <p:txBody>
          <a:bodyPr lIns="45720" rIns="45720" anchor="ctr">
            <a:noAutofit/>
          </a:bodyPr>
          <a:lstStyle/>
          <a:p>
            <a:pPr>
              <a:defRPr/>
            </a:pPr>
            <a:r>
              <a:rPr lang="en-GB" dirty="0" smtClean="0"/>
              <a:t>Data Flow in </a:t>
            </a:r>
            <a:r>
              <a:rPr lang="en-GB" dirty="0" err="1" smtClean="0"/>
              <a:t>GloboDiet</a:t>
            </a:r>
            <a:endParaRPr lang="en-GB" dirty="0"/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790" y="836640"/>
            <a:ext cx="6738896" cy="3152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ight Arrow 13"/>
          <p:cNvSpPr/>
          <p:nvPr/>
        </p:nvSpPr>
        <p:spPr>
          <a:xfrm rot="2192937">
            <a:off x="3628146" y="2101294"/>
            <a:ext cx="504070" cy="38235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3929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BE" smtClean="0"/>
              <a:t>IARC, Lyon - France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579951-B407-43F7-B533-311E6349BBDC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83" y="-99490"/>
            <a:ext cx="8664295" cy="4053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251400" y="3764136"/>
            <a:ext cx="856919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lvl="0" indent="-273050"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</a:pPr>
            <a:r>
              <a:rPr lang="en-GB" sz="2400" dirty="0">
                <a:solidFill>
                  <a:prstClr val="black"/>
                </a:solidFill>
                <a:latin typeface="Calibri"/>
                <a:cs typeface="+mn-cs"/>
              </a:rPr>
              <a:t>The Note update (4)</a:t>
            </a:r>
          </a:p>
          <a:p>
            <a:pPr marL="547688" lvl="1" indent="-273050" eaLnBrk="0" hangingPunct="0">
              <a:spcBef>
                <a:spcPct val="20000"/>
              </a:spcBef>
              <a:buClr>
                <a:srgbClr val="4BA2D9"/>
              </a:buClr>
              <a:buSzPct val="70000"/>
              <a:buFont typeface="Wingdings" pitchFamily="2" charset="2"/>
              <a:buChar char="§"/>
            </a:pPr>
            <a:r>
              <a:rPr lang="en-GB" sz="2000" dirty="0">
                <a:solidFill>
                  <a:srgbClr val="2780B7"/>
                </a:solidFill>
                <a:latin typeface="Calibri"/>
                <a:cs typeface="+mn-cs"/>
              </a:rPr>
              <a:t>The received NOTE.CSV files can be imported into </a:t>
            </a:r>
            <a:r>
              <a:rPr lang="en-GB" sz="2000" dirty="0" smtClean="0">
                <a:solidFill>
                  <a:srgbClr val="2780B7"/>
                </a:solidFill>
                <a:latin typeface="Calibri"/>
                <a:cs typeface="+mn-cs"/>
              </a:rPr>
              <a:t>ONE</a:t>
            </a:r>
            <a:r>
              <a:rPr lang="en-GB" sz="2000" dirty="0" smtClean="0">
                <a:solidFill>
                  <a:srgbClr val="2780B7"/>
                </a:solidFill>
                <a:latin typeface="Calibri"/>
                <a:cs typeface="+mn-cs"/>
              </a:rPr>
              <a:t> </a:t>
            </a:r>
            <a:r>
              <a:rPr lang="en-GB" sz="2000" dirty="0">
                <a:solidFill>
                  <a:srgbClr val="2780B7"/>
                </a:solidFill>
                <a:latin typeface="Calibri"/>
                <a:cs typeface="+mn-cs"/>
              </a:rPr>
              <a:t>Excel file.</a:t>
            </a:r>
          </a:p>
          <a:p>
            <a:pPr marL="547688" lvl="1" indent="-273050" eaLnBrk="0" hangingPunct="0">
              <a:spcBef>
                <a:spcPct val="20000"/>
              </a:spcBef>
              <a:buClr>
                <a:srgbClr val="4BA2D9"/>
              </a:buClr>
              <a:buSzPct val="70000"/>
              <a:buFont typeface="Wingdings" pitchFamily="2" charset="2"/>
              <a:buChar char="§"/>
            </a:pPr>
            <a:r>
              <a:rPr lang="en-GB" sz="2000" dirty="0">
                <a:solidFill>
                  <a:srgbClr val="2780B7"/>
                </a:solidFill>
                <a:latin typeface="Calibri"/>
                <a:cs typeface="+mn-cs"/>
              </a:rPr>
              <a:t>Depending on the Note type, content, comment and depending on the project rules, each Note Status </a:t>
            </a:r>
            <a:r>
              <a:rPr lang="en-GB" sz="2000" dirty="0" smtClean="0">
                <a:solidFill>
                  <a:srgbClr val="2780B7"/>
                </a:solidFill>
                <a:latin typeface="Calibri"/>
                <a:cs typeface="+mn-cs"/>
              </a:rPr>
              <a:t>has </a:t>
            </a:r>
            <a:r>
              <a:rPr lang="en-GB" sz="2000" dirty="0">
                <a:solidFill>
                  <a:srgbClr val="2780B7"/>
                </a:solidFill>
                <a:latin typeface="Calibri"/>
                <a:cs typeface="+mn-cs"/>
              </a:rPr>
              <a:t>to be reviewed (e.g. </a:t>
            </a:r>
            <a:r>
              <a:rPr lang="en-GB" sz="2000" dirty="0" smtClean="0">
                <a:solidFill>
                  <a:srgbClr val="2780B7"/>
                </a:solidFill>
                <a:latin typeface="Calibri"/>
                <a:cs typeface="+mn-cs"/>
              </a:rPr>
              <a:t>changed from </a:t>
            </a:r>
            <a:r>
              <a:rPr lang="en-GB" sz="2000" dirty="0">
                <a:solidFill>
                  <a:srgbClr val="2780B7"/>
                </a:solidFill>
                <a:latin typeface="Calibri"/>
                <a:cs typeface="+mn-cs"/>
              </a:rPr>
              <a:t>“New” to “Nothing to do”) and </a:t>
            </a:r>
            <a:r>
              <a:rPr lang="en-GB" sz="2000" dirty="0" smtClean="0">
                <a:solidFill>
                  <a:srgbClr val="2780B7"/>
                </a:solidFill>
                <a:latin typeface="Calibri"/>
                <a:cs typeface="+mn-cs"/>
              </a:rPr>
              <a:t>comments </a:t>
            </a:r>
            <a:r>
              <a:rPr lang="en-GB" sz="2000" dirty="0">
                <a:solidFill>
                  <a:srgbClr val="2780B7"/>
                </a:solidFill>
                <a:latin typeface="Calibri"/>
                <a:cs typeface="+mn-cs"/>
              </a:rPr>
              <a:t>can be added.</a:t>
            </a:r>
          </a:p>
          <a:p>
            <a:pPr marL="274638" lvl="1" eaLnBrk="0" hangingPunct="0">
              <a:spcBef>
                <a:spcPct val="20000"/>
              </a:spcBef>
              <a:buClr>
                <a:srgbClr val="4BA2D9"/>
              </a:buClr>
              <a:buSzPct val="70000"/>
            </a:pPr>
            <a:r>
              <a:rPr lang="en-GB" sz="2000" dirty="0">
                <a:solidFill>
                  <a:srgbClr val="FF0000"/>
                </a:solidFill>
                <a:latin typeface="Calibri"/>
                <a:cs typeface="+mn-cs"/>
                <a:sym typeface="Wingdings" panose="05000000000000000000" pitchFamily="2" charset="2"/>
              </a:rPr>
              <a:t> </a:t>
            </a:r>
            <a:r>
              <a:rPr lang="en-GB" sz="2000" dirty="0">
                <a:solidFill>
                  <a:srgbClr val="2780B7"/>
                </a:solidFill>
                <a:latin typeface="Calibri"/>
                <a:cs typeface="+mn-cs"/>
                <a:sym typeface="Wingdings" panose="05000000000000000000" pitchFamily="2" charset="2"/>
              </a:rPr>
              <a:t>see guideline on </a:t>
            </a:r>
            <a:r>
              <a:rPr lang="en-GB" sz="2000" dirty="0">
                <a:solidFill>
                  <a:srgbClr val="FF0000"/>
                </a:solidFill>
                <a:latin typeface="Calibri"/>
                <a:cs typeface="+mn-cs"/>
                <a:sym typeface="Wingdings" panose="05000000000000000000" pitchFamily="2" charset="2"/>
              </a:rPr>
              <a:t>Data Cleaning protocol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77825" y="6381750"/>
            <a:ext cx="3906838" cy="350838"/>
          </a:xfrm>
        </p:spPr>
        <p:txBody>
          <a:bodyPr lIns="45720" rIns="45720" anchor="ctr">
            <a:noAutofit/>
          </a:bodyPr>
          <a:lstStyle/>
          <a:p>
            <a:pPr algn="l">
              <a:defRPr/>
            </a:pPr>
            <a:r>
              <a:rPr lang="en-GB" dirty="0" smtClean="0"/>
              <a:t>Data Flow in </a:t>
            </a:r>
            <a:r>
              <a:rPr lang="en-GB" dirty="0" err="1" smtClean="0"/>
              <a:t>GloboDiet</a:t>
            </a:r>
            <a:endParaRPr lang="en-GB" dirty="0"/>
          </a:p>
        </p:txBody>
      </p:sp>
      <p:sp>
        <p:nvSpPr>
          <p:cNvPr id="7" name="Right Arrow 6"/>
          <p:cNvSpPr/>
          <p:nvPr/>
        </p:nvSpPr>
        <p:spPr>
          <a:xfrm rot="2192937">
            <a:off x="2908046" y="1669234"/>
            <a:ext cx="504070" cy="38235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687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BE" smtClean="0"/>
              <a:t>IARC, Lyon - France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579951-B407-43F7-B533-311E6349BBDC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83" y="-99490"/>
            <a:ext cx="8664295" cy="4053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77825" y="6381750"/>
            <a:ext cx="3906838" cy="350838"/>
          </a:xfrm>
        </p:spPr>
        <p:txBody>
          <a:bodyPr lIns="45720" rIns="45720" anchor="ctr">
            <a:noAutofit/>
          </a:bodyPr>
          <a:lstStyle/>
          <a:p>
            <a:pPr algn="l">
              <a:defRPr/>
            </a:pPr>
            <a:r>
              <a:rPr lang="en-GB" dirty="0" smtClean="0"/>
              <a:t>Data Flow in </a:t>
            </a:r>
            <a:r>
              <a:rPr lang="en-GB" dirty="0" err="1" smtClean="0"/>
              <a:t>GloboDiet</a:t>
            </a:r>
            <a:endParaRPr lang="en-GB" dirty="0"/>
          </a:p>
        </p:txBody>
      </p:sp>
      <p:sp>
        <p:nvSpPr>
          <p:cNvPr id="3" name="Rectangle 2"/>
          <p:cNvSpPr/>
          <p:nvPr/>
        </p:nvSpPr>
        <p:spPr>
          <a:xfrm>
            <a:off x="323410" y="3935808"/>
            <a:ext cx="8353160" cy="23329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lvl="0" indent="-273050"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</a:pPr>
            <a:r>
              <a:rPr lang="en-GB" sz="2400" dirty="0">
                <a:solidFill>
                  <a:prstClr val="black"/>
                </a:solidFill>
                <a:latin typeface="Calibri"/>
                <a:cs typeface="+mn-cs"/>
              </a:rPr>
              <a:t>Update of </a:t>
            </a:r>
            <a:r>
              <a:rPr lang="en-GB" sz="2400" dirty="0" err="1">
                <a:solidFill>
                  <a:prstClr val="black"/>
                </a:solidFill>
                <a:latin typeface="Calibri"/>
                <a:cs typeface="+mn-cs"/>
              </a:rPr>
              <a:t>GloboDiet</a:t>
            </a:r>
            <a:r>
              <a:rPr lang="en-GB" sz="2400" dirty="0">
                <a:solidFill>
                  <a:prstClr val="black"/>
                </a:solidFill>
                <a:latin typeface="Calibri"/>
                <a:cs typeface="+mn-cs"/>
              </a:rPr>
              <a:t> parameter database (5)</a:t>
            </a:r>
          </a:p>
          <a:p>
            <a:pPr marL="547688" lvl="1" indent="-273050" eaLnBrk="0" hangingPunct="0">
              <a:spcBef>
                <a:spcPct val="20000"/>
              </a:spcBef>
              <a:buClr>
                <a:srgbClr val="4BA2D9"/>
              </a:buClr>
              <a:buSzPct val="70000"/>
              <a:buFont typeface="Wingdings" pitchFamily="2" charset="2"/>
              <a:buChar char="§"/>
            </a:pPr>
            <a:r>
              <a:rPr lang="en-GB" sz="2000" dirty="0" smtClean="0">
                <a:solidFill>
                  <a:srgbClr val="2780B7"/>
                </a:solidFill>
                <a:latin typeface="Calibri"/>
                <a:cs typeface="+mn-cs"/>
              </a:rPr>
              <a:t>Based on the information in the notes</a:t>
            </a:r>
            <a:r>
              <a:rPr lang="en-GB" sz="2000" dirty="0">
                <a:solidFill>
                  <a:srgbClr val="2780B7"/>
                </a:solidFill>
                <a:latin typeface="Calibri"/>
                <a:cs typeface="+mn-cs"/>
              </a:rPr>
              <a:t>, some items have to be reviewed/added (e.g. add new foods, change maximum values, etc…)</a:t>
            </a:r>
          </a:p>
          <a:p>
            <a:pPr marL="547688" lvl="1" indent="-273050" eaLnBrk="0" hangingPunct="0">
              <a:spcBef>
                <a:spcPct val="20000"/>
              </a:spcBef>
              <a:buClr>
                <a:srgbClr val="4BA2D9"/>
              </a:buClr>
              <a:buSzPct val="70000"/>
              <a:buFont typeface="Wingdings" pitchFamily="2" charset="2"/>
              <a:buChar char="§"/>
            </a:pPr>
            <a:r>
              <a:rPr lang="en-GB" sz="2000" dirty="0">
                <a:solidFill>
                  <a:srgbClr val="2780B7"/>
                </a:solidFill>
                <a:latin typeface="Calibri"/>
                <a:cs typeface="+mn-cs"/>
              </a:rPr>
              <a:t>With the IARC help, a new </a:t>
            </a:r>
            <a:r>
              <a:rPr lang="en-GB" sz="2000" dirty="0" err="1">
                <a:solidFill>
                  <a:srgbClr val="2780B7"/>
                </a:solidFill>
                <a:latin typeface="Calibri"/>
                <a:cs typeface="+mn-cs"/>
              </a:rPr>
              <a:t>GloboDiet</a:t>
            </a:r>
            <a:r>
              <a:rPr lang="en-GB" sz="2000" dirty="0">
                <a:solidFill>
                  <a:srgbClr val="2780B7"/>
                </a:solidFill>
                <a:latin typeface="Calibri"/>
                <a:cs typeface="+mn-cs"/>
              </a:rPr>
              <a:t> database has to be generated (e.g. using FUF, RUF, doc-files…)</a:t>
            </a:r>
          </a:p>
          <a:p>
            <a:pPr marL="547688" lvl="1" indent="-273050" eaLnBrk="0" hangingPunct="0">
              <a:spcBef>
                <a:spcPct val="20000"/>
              </a:spcBef>
              <a:buClr>
                <a:srgbClr val="4BA2D9"/>
              </a:buClr>
              <a:buSzPct val="70000"/>
              <a:buFont typeface="Wingdings" pitchFamily="2" charset="2"/>
              <a:buChar char="§"/>
            </a:pPr>
            <a:endParaRPr lang="en-GB" sz="800" dirty="0">
              <a:solidFill>
                <a:srgbClr val="2780B7"/>
              </a:solidFill>
              <a:latin typeface="Calibri"/>
              <a:cs typeface="+mn-cs"/>
            </a:endParaRPr>
          </a:p>
          <a:p>
            <a:pPr marL="274638" lvl="1" eaLnBrk="0" hangingPunct="0">
              <a:spcBef>
                <a:spcPct val="20000"/>
              </a:spcBef>
              <a:buClr>
                <a:srgbClr val="4BA2D9"/>
              </a:buClr>
              <a:buSzPct val="70000"/>
            </a:pPr>
            <a:r>
              <a:rPr lang="en-GB" sz="2000" dirty="0">
                <a:solidFill>
                  <a:srgbClr val="FF0000"/>
                </a:solidFill>
                <a:latin typeface="Calibri"/>
                <a:cs typeface="+mn-cs"/>
                <a:sym typeface="Wingdings" panose="05000000000000000000" pitchFamily="2" charset="2"/>
              </a:rPr>
              <a:t> </a:t>
            </a:r>
            <a:r>
              <a:rPr lang="en-GB" sz="2000" dirty="0">
                <a:solidFill>
                  <a:srgbClr val="2780B7"/>
                </a:solidFill>
                <a:latin typeface="Calibri"/>
                <a:cs typeface="+mn-cs"/>
                <a:sym typeface="Wingdings" panose="05000000000000000000" pitchFamily="2" charset="2"/>
              </a:rPr>
              <a:t>see guideline on </a:t>
            </a:r>
            <a:r>
              <a:rPr lang="en-GB" sz="2000" dirty="0">
                <a:solidFill>
                  <a:srgbClr val="FF0000"/>
                </a:solidFill>
                <a:latin typeface="Calibri"/>
                <a:cs typeface="+mn-cs"/>
                <a:sym typeface="Wingdings" panose="05000000000000000000" pitchFamily="2" charset="2"/>
              </a:rPr>
              <a:t>Maintenance</a:t>
            </a:r>
          </a:p>
        </p:txBody>
      </p:sp>
      <p:sp>
        <p:nvSpPr>
          <p:cNvPr id="7" name="Right Arrow 6"/>
          <p:cNvSpPr/>
          <p:nvPr/>
        </p:nvSpPr>
        <p:spPr>
          <a:xfrm rot="2192937">
            <a:off x="2908046" y="229033"/>
            <a:ext cx="504070" cy="38235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9561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BE" smtClean="0"/>
              <a:t>IARC, Lyon - France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579951-B407-43F7-B533-311E6349BBDC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83" y="-99490"/>
            <a:ext cx="8664295" cy="4053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77825" y="6381750"/>
            <a:ext cx="3906838" cy="350838"/>
          </a:xfrm>
        </p:spPr>
        <p:txBody>
          <a:bodyPr lIns="45720" rIns="45720" anchor="ctr">
            <a:noAutofit/>
          </a:bodyPr>
          <a:lstStyle/>
          <a:p>
            <a:pPr algn="l">
              <a:defRPr/>
            </a:pPr>
            <a:r>
              <a:rPr lang="en-GB" dirty="0" smtClean="0"/>
              <a:t>Data Flow in </a:t>
            </a:r>
            <a:r>
              <a:rPr lang="en-GB" dirty="0" err="1" smtClean="0"/>
              <a:t>GloboDiet</a:t>
            </a:r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323410" y="3789050"/>
            <a:ext cx="8569190" cy="25945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lvl="0" indent="-273050"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</a:pPr>
            <a:r>
              <a:rPr lang="en-GB" sz="2400" dirty="0">
                <a:solidFill>
                  <a:prstClr val="black"/>
                </a:solidFill>
                <a:latin typeface="Calibri"/>
                <a:cs typeface="+mn-cs"/>
              </a:rPr>
              <a:t>Import of </a:t>
            </a:r>
            <a:r>
              <a:rPr lang="en-GB" sz="2400" dirty="0" err="1">
                <a:solidFill>
                  <a:prstClr val="black"/>
                </a:solidFill>
                <a:latin typeface="Calibri"/>
                <a:cs typeface="+mn-cs"/>
              </a:rPr>
              <a:t>GloboDiet</a:t>
            </a:r>
            <a:r>
              <a:rPr lang="en-GB" sz="2400" dirty="0">
                <a:solidFill>
                  <a:prstClr val="black"/>
                </a:solidFill>
                <a:latin typeface="Calibri"/>
                <a:cs typeface="+mn-cs"/>
              </a:rPr>
              <a:t> parameter database (6)</a:t>
            </a:r>
          </a:p>
          <a:p>
            <a:pPr marL="547688" lvl="1" indent="-273050" eaLnBrk="0" hangingPunct="0">
              <a:spcBef>
                <a:spcPct val="20000"/>
              </a:spcBef>
              <a:buClr>
                <a:srgbClr val="4BA2D9"/>
              </a:buClr>
              <a:buSzPct val="70000"/>
              <a:buFont typeface="Wingdings" pitchFamily="2" charset="2"/>
              <a:buChar char="§"/>
            </a:pPr>
            <a:r>
              <a:rPr lang="en-GB" sz="2100" dirty="0">
                <a:solidFill>
                  <a:srgbClr val="2780B7"/>
                </a:solidFill>
                <a:latin typeface="Calibri"/>
                <a:cs typeface="+mn-cs"/>
              </a:rPr>
              <a:t>The new </a:t>
            </a:r>
            <a:r>
              <a:rPr lang="en-GB" sz="2100" dirty="0" err="1">
                <a:solidFill>
                  <a:srgbClr val="2780B7"/>
                </a:solidFill>
                <a:latin typeface="Calibri"/>
                <a:cs typeface="+mn-cs"/>
              </a:rPr>
              <a:t>GloboDiet</a:t>
            </a:r>
            <a:r>
              <a:rPr lang="en-GB" sz="2100" dirty="0">
                <a:solidFill>
                  <a:srgbClr val="2780B7"/>
                </a:solidFill>
                <a:latin typeface="Calibri"/>
                <a:cs typeface="+mn-cs"/>
              </a:rPr>
              <a:t> database, received from IARC, has to be </a:t>
            </a:r>
            <a:r>
              <a:rPr lang="en-GB" sz="2100" u="sng" dirty="0">
                <a:solidFill>
                  <a:srgbClr val="2780B7"/>
                </a:solidFill>
                <a:latin typeface="Calibri"/>
                <a:cs typeface="+mn-cs"/>
              </a:rPr>
              <a:t>imported in the coordinator’s PC</a:t>
            </a:r>
            <a:r>
              <a:rPr lang="en-GB" sz="2100" dirty="0">
                <a:solidFill>
                  <a:srgbClr val="2780B7"/>
                </a:solidFill>
                <a:latin typeface="Calibri"/>
                <a:cs typeface="+mn-cs"/>
              </a:rPr>
              <a:t> using </a:t>
            </a:r>
            <a:r>
              <a:rPr lang="en-GB" sz="2100" dirty="0" err="1">
                <a:solidFill>
                  <a:srgbClr val="2780B7"/>
                </a:solidFill>
                <a:latin typeface="Calibri"/>
                <a:cs typeface="+mn-cs"/>
              </a:rPr>
              <a:t>GloboDiet</a:t>
            </a:r>
            <a:r>
              <a:rPr lang="en-GB" sz="2100" dirty="0">
                <a:solidFill>
                  <a:srgbClr val="2780B7"/>
                </a:solidFill>
                <a:latin typeface="Calibri"/>
                <a:cs typeface="+mn-cs"/>
              </a:rPr>
              <a:t> functionalities</a:t>
            </a:r>
          </a:p>
          <a:p>
            <a:pPr marL="547688" lvl="1" indent="-273050" eaLnBrk="0" hangingPunct="0">
              <a:spcBef>
                <a:spcPct val="20000"/>
              </a:spcBef>
              <a:buClr>
                <a:srgbClr val="4BA2D9"/>
              </a:buClr>
              <a:buSzPct val="70000"/>
              <a:buFont typeface="Wingdings" pitchFamily="2" charset="2"/>
              <a:buChar char="§"/>
            </a:pPr>
            <a:r>
              <a:rPr lang="en-GB" sz="2100" dirty="0">
                <a:solidFill>
                  <a:srgbClr val="2780B7"/>
                </a:solidFill>
                <a:latin typeface="Calibri"/>
                <a:cs typeface="+mn-cs"/>
              </a:rPr>
              <a:t>This new </a:t>
            </a:r>
            <a:r>
              <a:rPr lang="en-GB" sz="2100" dirty="0" err="1">
                <a:solidFill>
                  <a:srgbClr val="2780B7"/>
                </a:solidFill>
                <a:latin typeface="Calibri"/>
                <a:cs typeface="+mn-cs"/>
              </a:rPr>
              <a:t>GloboDiet</a:t>
            </a:r>
            <a:r>
              <a:rPr lang="en-GB" sz="2100" dirty="0">
                <a:solidFill>
                  <a:srgbClr val="2780B7"/>
                </a:solidFill>
                <a:latin typeface="Calibri"/>
                <a:cs typeface="+mn-cs"/>
              </a:rPr>
              <a:t> database has also to be sent to the Interviewers </a:t>
            </a:r>
            <a:r>
              <a:rPr lang="en-GB" sz="2100" u="sng" dirty="0">
                <a:solidFill>
                  <a:srgbClr val="2780B7"/>
                </a:solidFill>
                <a:latin typeface="Calibri"/>
                <a:cs typeface="+mn-cs"/>
              </a:rPr>
              <a:t>to be imported in each interviewer’s PC</a:t>
            </a:r>
            <a:r>
              <a:rPr lang="en-GB" sz="2100" dirty="0">
                <a:solidFill>
                  <a:srgbClr val="2780B7"/>
                </a:solidFill>
                <a:latin typeface="Calibri"/>
                <a:cs typeface="+mn-cs"/>
              </a:rPr>
              <a:t>.</a:t>
            </a:r>
          </a:p>
          <a:p>
            <a:pPr marL="547688" lvl="1" indent="-273050" eaLnBrk="0" hangingPunct="0">
              <a:spcBef>
                <a:spcPct val="20000"/>
              </a:spcBef>
              <a:buClr>
                <a:srgbClr val="4BA2D9"/>
              </a:buClr>
              <a:buSzPct val="70000"/>
              <a:buFont typeface="Wingdings" pitchFamily="2" charset="2"/>
              <a:buChar char="§"/>
            </a:pPr>
            <a:r>
              <a:rPr lang="en-GB" sz="2100" dirty="0">
                <a:solidFill>
                  <a:srgbClr val="2780B7"/>
                </a:solidFill>
                <a:latin typeface="Calibri"/>
                <a:cs typeface="+mn-cs"/>
              </a:rPr>
              <a:t>After this import, it is important to re-compute </a:t>
            </a:r>
            <a:r>
              <a:rPr lang="en-GB" sz="2100" u="sng" dirty="0">
                <a:solidFill>
                  <a:srgbClr val="2780B7"/>
                </a:solidFill>
                <a:latin typeface="Calibri"/>
                <a:cs typeface="+mn-cs"/>
              </a:rPr>
              <a:t>the available interviews by backing-up all</a:t>
            </a:r>
            <a:r>
              <a:rPr lang="en-GB" sz="2100" dirty="0">
                <a:solidFill>
                  <a:srgbClr val="2780B7"/>
                </a:solidFill>
                <a:latin typeface="Calibri"/>
                <a:cs typeface="+mn-cs"/>
              </a:rPr>
              <a:t> of them</a:t>
            </a:r>
            <a:endParaRPr lang="en-GB" dirty="0">
              <a:solidFill>
                <a:srgbClr val="2780B7"/>
              </a:solidFill>
              <a:latin typeface="Calibri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7" name="Right Arrow 6"/>
          <p:cNvSpPr/>
          <p:nvPr/>
        </p:nvSpPr>
        <p:spPr>
          <a:xfrm rot="2192937">
            <a:off x="3628145" y="1021144"/>
            <a:ext cx="504070" cy="38235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8407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BE" smtClean="0"/>
              <a:t>IARC, Lyon - France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579951-B407-43F7-B533-311E6349BBDC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83" y="-99490"/>
            <a:ext cx="8664295" cy="4053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77825" y="6381750"/>
            <a:ext cx="3906838" cy="350838"/>
          </a:xfrm>
        </p:spPr>
        <p:txBody>
          <a:bodyPr lIns="45720" rIns="45720" anchor="ctr">
            <a:noAutofit/>
          </a:bodyPr>
          <a:lstStyle/>
          <a:p>
            <a:pPr algn="l">
              <a:defRPr/>
            </a:pPr>
            <a:r>
              <a:rPr lang="en-GB" dirty="0" smtClean="0"/>
              <a:t>Data Flow in </a:t>
            </a:r>
            <a:r>
              <a:rPr lang="en-GB" dirty="0" err="1" smtClean="0"/>
              <a:t>GloboDiet</a:t>
            </a:r>
            <a:endParaRPr lang="en-GB" dirty="0"/>
          </a:p>
        </p:txBody>
      </p:sp>
      <p:sp>
        <p:nvSpPr>
          <p:cNvPr id="3" name="Rectangle 2"/>
          <p:cNvSpPr/>
          <p:nvPr/>
        </p:nvSpPr>
        <p:spPr>
          <a:xfrm>
            <a:off x="251400" y="3861060"/>
            <a:ext cx="8569190" cy="2456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lvl="0" indent="-273050"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</a:pPr>
            <a:r>
              <a:rPr lang="en-GB" sz="2400" dirty="0">
                <a:solidFill>
                  <a:prstClr val="black"/>
                </a:solidFill>
                <a:latin typeface="Calibri"/>
                <a:cs typeface="+mn-cs"/>
              </a:rPr>
              <a:t>Update of Interviews (7)</a:t>
            </a:r>
          </a:p>
          <a:p>
            <a:pPr marL="547688" lvl="1" indent="-273050" eaLnBrk="0" hangingPunct="0">
              <a:spcBef>
                <a:spcPct val="20000"/>
              </a:spcBef>
              <a:buClr>
                <a:srgbClr val="4BA2D9"/>
              </a:buClr>
              <a:buSzPct val="70000"/>
              <a:buFont typeface="Wingdings" pitchFamily="2" charset="2"/>
              <a:buChar char="§"/>
            </a:pPr>
            <a:r>
              <a:rPr lang="en-GB" sz="2400" dirty="0" smtClean="0">
                <a:solidFill>
                  <a:srgbClr val="2780B7"/>
                </a:solidFill>
                <a:latin typeface="Calibri"/>
                <a:cs typeface="+mn-cs"/>
              </a:rPr>
              <a:t>Based on the information in the </a:t>
            </a:r>
            <a:r>
              <a:rPr lang="en-GB" sz="2400" dirty="0" smtClean="0">
                <a:solidFill>
                  <a:srgbClr val="2780B7"/>
                </a:solidFill>
                <a:latin typeface="Calibri"/>
                <a:cs typeface="+mn-cs"/>
              </a:rPr>
              <a:t>Excel Notes</a:t>
            </a:r>
            <a:r>
              <a:rPr lang="en-GB" sz="2400" dirty="0">
                <a:solidFill>
                  <a:srgbClr val="2780B7"/>
                </a:solidFill>
                <a:latin typeface="Calibri"/>
                <a:cs typeface="+mn-cs"/>
              </a:rPr>
              <a:t>, attached Type and Status, the Coordinator can open and </a:t>
            </a:r>
            <a:r>
              <a:rPr lang="en-GB" sz="2400" dirty="0" smtClean="0">
                <a:solidFill>
                  <a:srgbClr val="2780B7"/>
                </a:solidFill>
                <a:latin typeface="Calibri"/>
                <a:cs typeface="+mn-cs"/>
              </a:rPr>
              <a:t>update (edit) </a:t>
            </a:r>
            <a:r>
              <a:rPr lang="en-GB" sz="2400" dirty="0">
                <a:solidFill>
                  <a:srgbClr val="2780B7"/>
                </a:solidFill>
                <a:latin typeface="Calibri"/>
                <a:cs typeface="+mn-cs"/>
              </a:rPr>
              <a:t>interviews that need it using </a:t>
            </a:r>
            <a:r>
              <a:rPr lang="en-GB" sz="2400" dirty="0" err="1">
                <a:solidFill>
                  <a:srgbClr val="2780B7"/>
                </a:solidFill>
                <a:latin typeface="Calibri"/>
                <a:cs typeface="+mn-cs"/>
              </a:rPr>
              <a:t>GloboDiet</a:t>
            </a:r>
            <a:r>
              <a:rPr lang="en-GB" sz="2400" dirty="0">
                <a:solidFill>
                  <a:srgbClr val="2780B7"/>
                </a:solidFill>
                <a:latin typeface="Calibri"/>
                <a:cs typeface="+mn-cs"/>
              </a:rPr>
              <a:t> functionalities.</a:t>
            </a:r>
          </a:p>
          <a:p>
            <a:pPr marL="547688" lvl="1" indent="-273050" eaLnBrk="0" hangingPunct="0">
              <a:spcBef>
                <a:spcPct val="20000"/>
              </a:spcBef>
              <a:buClr>
                <a:srgbClr val="4BA2D9"/>
              </a:buClr>
              <a:buSzPct val="70000"/>
              <a:buFont typeface="Wingdings" pitchFamily="2" charset="2"/>
              <a:buChar char="§"/>
            </a:pPr>
            <a:r>
              <a:rPr lang="en-GB" sz="2400" u="sng" dirty="0" smtClean="0">
                <a:solidFill>
                  <a:srgbClr val="2780B7"/>
                </a:solidFill>
                <a:latin typeface="Calibri"/>
                <a:cs typeface="+mn-cs"/>
              </a:rPr>
              <a:t>Backup</a:t>
            </a:r>
            <a:r>
              <a:rPr lang="en-GB" sz="2400" dirty="0" smtClean="0">
                <a:solidFill>
                  <a:srgbClr val="2780B7"/>
                </a:solidFill>
                <a:latin typeface="Calibri"/>
                <a:cs typeface="+mn-cs"/>
              </a:rPr>
              <a:t> </a:t>
            </a:r>
            <a:r>
              <a:rPr lang="en-GB" sz="2400" dirty="0">
                <a:solidFill>
                  <a:srgbClr val="2780B7"/>
                </a:solidFill>
                <a:latin typeface="Calibri"/>
                <a:cs typeface="+mn-cs"/>
              </a:rPr>
              <a:t>has to be run </a:t>
            </a:r>
            <a:r>
              <a:rPr lang="en-GB" sz="2400" dirty="0" err="1" smtClean="0">
                <a:solidFill>
                  <a:srgbClr val="2780B7"/>
                </a:solidFill>
                <a:latin typeface="Calibri"/>
                <a:cs typeface="+mn-cs"/>
              </a:rPr>
              <a:t>regurlarly</a:t>
            </a:r>
            <a:r>
              <a:rPr lang="en-GB" sz="2400" dirty="0" smtClean="0">
                <a:solidFill>
                  <a:srgbClr val="2780B7"/>
                </a:solidFill>
                <a:latin typeface="Calibri"/>
                <a:cs typeface="+mn-cs"/>
              </a:rPr>
              <a:t> </a:t>
            </a:r>
            <a:r>
              <a:rPr lang="en-GB" sz="2400" u="sng" dirty="0" smtClean="0">
                <a:solidFill>
                  <a:srgbClr val="2780B7"/>
                </a:solidFill>
                <a:latin typeface="Calibri"/>
                <a:cs typeface="+mn-cs"/>
              </a:rPr>
              <a:t>on </a:t>
            </a:r>
            <a:r>
              <a:rPr lang="en-GB" sz="2400" u="sng" dirty="0">
                <a:solidFill>
                  <a:srgbClr val="2780B7"/>
                </a:solidFill>
                <a:latin typeface="Calibri"/>
                <a:cs typeface="+mn-cs"/>
              </a:rPr>
              <a:t>the updated interview databases</a:t>
            </a:r>
            <a:r>
              <a:rPr lang="en-GB" sz="2400" dirty="0">
                <a:solidFill>
                  <a:srgbClr val="2780B7"/>
                </a:solidFill>
                <a:latin typeface="Calibri"/>
                <a:cs typeface="+mn-cs"/>
              </a:rPr>
              <a:t>.</a:t>
            </a:r>
          </a:p>
        </p:txBody>
      </p:sp>
      <p:sp>
        <p:nvSpPr>
          <p:cNvPr id="7" name="Right Arrow 6"/>
          <p:cNvSpPr/>
          <p:nvPr/>
        </p:nvSpPr>
        <p:spPr>
          <a:xfrm rot="2192937">
            <a:off x="2692015" y="1957272"/>
            <a:ext cx="504070" cy="38235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9316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BE" smtClean="0"/>
              <a:t>IARC, Lyon - France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579951-B407-43F7-B533-311E6349BBDC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83" y="-99490"/>
            <a:ext cx="8664295" cy="4053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77825" y="6381750"/>
            <a:ext cx="3906838" cy="350838"/>
          </a:xfrm>
        </p:spPr>
        <p:txBody>
          <a:bodyPr lIns="45720" rIns="45720" anchor="ctr">
            <a:noAutofit/>
          </a:bodyPr>
          <a:lstStyle/>
          <a:p>
            <a:pPr algn="l">
              <a:defRPr/>
            </a:pPr>
            <a:r>
              <a:rPr lang="en-GB" dirty="0" smtClean="0"/>
              <a:t>Data Flow in </a:t>
            </a:r>
            <a:r>
              <a:rPr lang="en-GB" dirty="0" err="1" smtClean="0"/>
              <a:t>GloboDiet</a:t>
            </a:r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276129" y="3501010"/>
            <a:ext cx="8641200" cy="2973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lvl="0" indent="-273050"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</a:pPr>
            <a:r>
              <a:rPr lang="en-GB" sz="2400" dirty="0">
                <a:solidFill>
                  <a:prstClr val="black"/>
                </a:solidFill>
                <a:latin typeface="Calibri"/>
                <a:cs typeface="+mn-cs"/>
              </a:rPr>
              <a:t>Final Export (8)</a:t>
            </a:r>
          </a:p>
          <a:p>
            <a:pPr marL="547688" lvl="1" indent="-273050" eaLnBrk="0" hangingPunct="0">
              <a:spcBef>
                <a:spcPct val="20000"/>
              </a:spcBef>
              <a:buClr>
                <a:srgbClr val="4BA2D9"/>
              </a:buClr>
              <a:buSzPct val="70000"/>
              <a:buFont typeface="Wingdings" pitchFamily="2" charset="2"/>
              <a:buChar char="§"/>
            </a:pPr>
            <a:r>
              <a:rPr lang="en-US" altLang="en-US" sz="2400" dirty="0">
                <a:solidFill>
                  <a:srgbClr val="2780B7"/>
                </a:solidFill>
                <a:latin typeface="Calibri"/>
                <a:cs typeface="+mn-cs"/>
              </a:rPr>
              <a:t>The Coordinator can export the interview database when needed (e.g. when a database is completely updated).</a:t>
            </a:r>
          </a:p>
          <a:p>
            <a:pPr marL="547688" lvl="1" indent="-273050" eaLnBrk="0" hangingPunct="0">
              <a:spcBef>
                <a:spcPct val="20000"/>
              </a:spcBef>
              <a:buClr>
                <a:srgbClr val="4BA2D9"/>
              </a:buClr>
              <a:buSzPct val="70000"/>
              <a:buFont typeface="Wingdings" pitchFamily="2" charset="2"/>
              <a:buChar char="§"/>
            </a:pPr>
            <a:r>
              <a:rPr lang="en-US" altLang="en-US" sz="2400" dirty="0">
                <a:solidFill>
                  <a:srgbClr val="2780B7"/>
                </a:solidFill>
                <a:latin typeface="Calibri"/>
                <a:cs typeface="+mn-cs"/>
              </a:rPr>
              <a:t>Using the backup function, 5 CSV-files are generated and can be read with statistical programs (e.g. SAS</a:t>
            </a:r>
            <a:r>
              <a:rPr lang="en-US" altLang="en-US" sz="2400" dirty="0" smtClean="0">
                <a:solidFill>
                  <a:srgbClr val="2780B7"/>
                </a:solidFill>
                <a:latin typeface="Calibri"/>
                <a:cs typeface="+mn-cs"/>
              </a:rPr>
              <a:t>, Stata</a:t>
            </a:r>
            <a:r>
              <a:rPr lang="en-US" altLang="en-US" sz="2400" dirty="0">
                <a:solidFill>
                  <a:srgbClr val="2780B7"/>
                </a:solidFill>
                <a:latin typeface="Calibri"/>
                <a:cs typeface="+mn-cs"/>
              </a:rPr>
              <a:t>…) for analyses.</a:t>
            </a:r>
          </a:p>
          <a:p>
            <a:pPr marL="274638" lvl="1" eaLnBrk="0" hangingPunct="0">
              <a:spcBef>
                <a:spcPct val="20000"/>
              </a:spcBef>
              <a:buClr>
                <a:srgbClr val="4BA2D9"/>
              </a:buClr>
              <a:buSzPct val="70000"/>
            </a:pPr>
            <a:r>
              <a:rPr lang="en-GB" sz="2400" dirty="0">
                <a:solidFill>
                  <a:srgbClr val="FF0000"/>
                </a:solidFill>
                <a:latin typeface="Calibri"/>
                <a:cs typeface="+mn-cs"/>
                <a:sym typeface="Wingdings" panose="05000000000000000000" pitchFamily="2" charset="2"/>
              </a:rPr>
              <a:t> </a:t>
            </a:r>
            <a:r>
              <a:rPr lang="en-GB" sz="2400" dirty="0">
                <a:solidFill>
                  <a:srgbClr val="2780B7"/>
                </a:solidFill>
                <a:latin typeface="Calibri"/>
                <a:cs typeface="+mn-cs"/>
                <a:sym typeface="Wingdings" panose="05000000000000000000" pitchFamily="2" charset="2"/>
              </a:rPr>
              <a:t>see </a:t>
            </a:r>
            <a:r>
              <a:rPr lang="en-GB" sz="2400" dirty="0" smtClean="0">
                <a:solidFill>
                  <a:srgbClr val="FF0000"/>
                </a:solidFill>
                <a:latin typeface="Calibri"/>
                <a:cs typeface="+mn-cs"/>
                <a:sym typeface="Wingdings" panose="05000000000000000000" pitchFamily="2" charset="2"/>
              </a:rPr>
              <a:t>Appendix </a:t>
            </a:r>
            <a:r>
              <a:rPr lang="en-GB" sz="2400" dirty="0">
                <a:solidFill>
                  <a:srgbClr val="FF0000"/>
                </a:solidFill>
                <a:latin typeface="Calibri"/>
                <a:cs typeface="+mn-cs"/>
                <a:sym typeface="Wingdings" panose="05000000000000000000" pitchFamily="2" charset="2"/>
              </a:rPr>
              <a:t>6 Export guideline</a:t>
            </a:r>
          </a:p>
          <a:p>
            <a:pPr marL="274638" lvl="1" eaLnBrk="0" hangingPunct="0">
              <a:spcBef>
                <a:spcPct val="20000"/>
              </a:spcBef>
              <a:buClr>
                <a:srgbClr val="4BA2D9"/>
              </a:buClr>
              <a:buSzPct val="70000"/>
            </a:pPr>
            <a:r>
              <a:rPr lang="en-GB" sz="2400" dirty="0">
                <a:solidFill>
                  <a:srgbClr val="FF0000"/>
                </a:solidFill>
                <a:latin typeface="Calibri"/>
                <a:cs typeface="+mn-cs"/>
                <a:sym typeface="Wingdings" panose="05000000000000000000" pitchFamily="2" charset="2"/>
              </a:rPr>
              <a:t> </a:t>
            </a:r>
            <a:r>
              <a:rPr lang="en-GB" sz="2400" dirty="0">
                <a:solidFill>
                  <a:srgbClr val="2780B7"/>
                </a:solidFill>
                <a:latin typeface="Calibri"/>
                <a:cs typeface="+mn-cs"/>
                <a:sym typeface="Wingdings" panose="05000000000000000000" pitchFamily="2" charset="2"/>
              </a:rPr>
              <a:t>see </a:t>
            </a:r>
            <a:r>
              <a:rPr lang="en-GB" sz="2400" dirty="0" smtClean="0">
                <a:solidFill>
                  <a:srgbClr val="FF0000"/>
                </a:solidFill>
                <a:latin typeface="Calibri"/>
                <a:cs typeface="+mn-cs"/>
                <a:sym typeface="Wingdings" panose="05000000000000000000" pitchFamily="2" charset="2"/>
              </a:rPr>
              <a:t>Appendix </a:t>
            </a:r>
            <a:r>
              <a:rPr lang="en-GB" sz="2400" dirty="0">
                <a:solidFill>
                  <a:srgbClr val="FF0000"/>
                </a:solidFill>
                <a:latin typeface="Calibri"/>
                <a:cs typeface="+mn-cs"/>
                <a:sym typeface="Wingdings" panose="05000000000000000000" pitchFamily="2" charset="2"/>
              </a:rPr>
              <a:t>7 Example of SAS programs</a:t>
            </a:r>
          </a:p>
        </p:txBody>
      </p:sp>
      <p:sp>
        <p:nvSpPr>
          <p:cNvPr id="7" name="Right Arrow 6"/>
          <p:cNvSpPr/>
          <p:nvPr/>
        </p:nvSpPr>
        <p:spPr>
          <a:xfrm rot="2192937">
            <a:off x="5068346" y="1813254"/>
            <a:ext cx="504070" cy="38235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1851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071546"/>
            <a:ext cx="2362200" cy="704848"/>
          </a:xfrm>
          <a:ln>
            <a:miter lim="800000"/>
            <a:headEnd/>
            <a:tailEnd/>
          </a:ln>
          <a:extLst/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effectLst>
                  <a:reflection blurRad="6350" stA="55000" endA="300" endPos="45500" dir="5400000" sy="-100000" algn="bl" rotWithShape="0"/>
                </a:effectLst>
              </a:rPr>
              <a:t>Outline</a:t>
            </a:r>
            <a:endParaRPr lang="en-US" dirty="0" smtClean="0"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idx="2"/>
          </p:nvPr>
        </p:nvSpPr>
        <p:spPr>
          <a:xfrm>
            <a:off x="381000" y="1857364"/>
            <a:ext cx="2362200" cy="4144963"/>
          </a:xfrm>
          <a:ln>
            <a:miter lim="800000"/>
            <a:headEnd/>
            <a:tailEnd/>
          </a:ln>
          <a:extLst/>
        </p:spPr>
        <p:txBody>
          <a:bodyPr>
            <a:noAutofit/>
          </a:bodyPr>
          <a:lstStyle/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GB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Introduction</a:t>
            </a:r>
            <a:endParaRPr lang="en-US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Interviewer workflow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Coordinator workflow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err="1" smtClean="0"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Recompute</a:t>
            </a:r>
            <a:endParaRPr lang="en-US" b="1" dirty="0" smtClean="0"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GB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Reminders</a:t>
            </a:r>
            <a:endParaRPr lang="nl-BE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F4DFE2-AFF4-4035-A7DB-E7432115D04C}" type="slidenum">
              <a:rPr lang="en-US" smtClean="0"/>
              <a:pPr>
                <a:defRPr/>
              </a:pPr>
              <a:t>14</a:t>
            </a:fld>
            <a:endParaRPr lang="en-US" sz="1800" dirty="0"/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5367" name="Tijdelijke aanduiding voor inhoud 12"/>
          <p:cNvSpPr>
            <a:spLocks noGrp="1"/>
          </p:cNvSpPr>
          <p:nvPr>
            <p:ph sz="quarter" idx="1"/>
          </p:nvPr>
        </p:nvSpPr>
        <p:spPr>
          <a:xfrm>
            <a:off x="2822118" y="476590"/>
            <a:ext cx="6286512" cy="6192859"/>
          </a:xfrm>
        </p:spPr>
        <p:txBody>
          <a:bodyPr>
            <a:normAutofit/>
          </a:bodyPr>
          <a:lstStyle/>
          <a:p>
            <a:pPr marL="0" indent="0" algn="ctr" eaLnBrk="1" hangingPunct="1">
              <a:buNone/>
              <a:defRPr/>
            </a:pPr>
            <a:r>
              <a:rPr lang="en-GB" sz="2600" dirty="0" err="1" smtClean="0"/>
              <a:t>Recompute</a:t>
            </a:r>
            <a:endParaRPr lang="en-GB" sz="2600" dirty="0"/>
          </a:p>
          <a:p>
            <a:pPr lvl="0"/>
            <a:r>
              <a:rPr lang="en-GB" sz="2400" dirty="0"/>
              <a:t>Interview </a:t>
            </a:r>
            <a:r>
              <a:rPr lang="en-GB" sz="2400" dirty="0" err="1"/>
              <a:t>Recompute</a:t>
            </a:r>
            <a:endParaRPr lang="en-GB" sz="2400" dirty="0"/>
          </a:p>
          <a:p>
            <a:pPr lvl="1"/>
            <a:r>
              <a:rPr lang="en-GB" sz="1900" dirty="0"/>
              <a:t>The </a:t>
            </a:r>
            <a:r>
              <a:rPr lang="en-GB" sz="1900" dirty="0" err="1"/>
              <a:t>Recompute</a:t>
            </a:r>
            <a:r>
              <a:rPr lang="en-GB" sz="1900" dirty="0"/>
              <a:t> programme runs during Backup and Export of Interview databases.</a:t>
            </a:r>
          </a:p>
          <a:p>
            <a:pPr lvl="1"/>
            <a:r>
              <a:rPr lang="en-GB" sz="1900" dirty="0"/>
              <a:t>When a new </a:t>
            </a:r>
            <a:r>
              <a:rPr lang="en-GB" sz="1900" dirty="0" err="1"/>
              <a:t>GloboDiet</a:t>
            </a:r>
            <a:r>
              <a:rPr lang="en-GB" sz="1900" dirty="0"/>
              <a:t> database is available, the </a:t>
            </a:r>
            <a:r>
              <a:rPr lang="en-GB" sz="1900" dirty="0" err="1"/>
              <a:t>Recompute</a:t>
            </a:r>
            <a:r>
              <a:rPr lang="en-GB" sz="1900" dirty="0"/>
              <a:t> programme allows to re-calculate</a:t>
            </a:r>
            <a:r>
              <a:rPr lang="en-GB" sz="1900" dirty="0" smtClean="0"/>
              <a:t>:</a:t>
            </a:r>
          </a:p>
          <a:p>
            <a:pPr lvl="2"/>
            <a:r>
              <a:rPr lang="en-GB" sz="1800" dirty="0"/>
              <a:t>The reported </a:t>
            </a:r>
            <a:r>
              <a:rPr lang="en-GB" sz="1800" u="sng" dirty="0"/>
              <a:t>consumed quantities </a:t>
            </a:r>
            <a:r>
              <a:rPr lang="en-GB" sz="1800" dirty="0"/>
              <a:t>of each item </a:t>
            </a:r>
            <a:r>
              <a:rPr lang="en-US" sz="1800" dirty="0"/>
              <a:t>taking into account the new/updated coefficients and percentages. </a:t>
            </a:r>
          </a:p>
          <a:p>
            <a:pPr lvl="2"/>
            <a:r>
              <a:rPr lang="en-US" sz="1800" dirty="0"/>
              <a:t>The </a:t>
            </a:r>
            <a:r>
              <a:rPr lang="en-US" sz="1800" u="sng" dirty="0"/>
              <a:t>energy and macro-nutrients </a:t>
            </a:r>
            <a:r>
              <a:rPr lang="en-US" sz="1800" dirty="0"/>
              <a:t>are also re-calculated based on updated quantities and/or new sets of nutrients</a:t>
            </a:r>
            <a:r>
              <a:rPr lang="en-GB" dirty="0" smtClean="0"/>
              <a:t>.</a:t>
            </a:r>
            <a:endParaRPr lang="en-GB" sz="1900" dirty="0" smtClean="0"/>
          </a:p>
          <a:p>
            <a:pPr lvl="1"/>
            <a:r>
              <a:rPr lang="en-GB" sz="1900" dirty="0" smtClean="0"/>
              <a:t>Using: </a:t>
            </a:r>
          </a:p>
          <a:p>
            <a:pPr lvl="2"/>
            <a:r>
              <a:rPr lang="en-US" sz="1800" dirty="0"/>
              <a:t>The information included in the </a:t>
            </a:r>
            <a:r>
              <a:rPr lang="en-US" sz="1800" u="sng" dirty="0"/>
              <a:t>current </a:t>
            </a:r>
            <a:r>
              <a:rPr lang="en-US" sz="1800" u="sng" dirty="0" err="1"/>
              <a:t>GloboDiet</a:t>
            </a:r>
            <a:r>
              <a:rPr lang="en-US" sz="1800" u="sng" dirty="0"/>
              <a:t> database.</a:t>
            </a:r>
            <a:endParaRPr lang="en-GB" sz="1700" u="sng" dirty="0"/>
          </a:p>
          <a:p>
            <a:pPr lvl="2"/>
            <a:r>
              <a:rPr lang="en-GB" sz="1800" dirty="0" smtClean="0"/>
              <a:t>The </a:t>
            </a:r>
            <a:r>
              <a:rPr lang="en-GB" sz="1800" u="sng" dirty="0"/>
              <a:t>information </a:t>
            </a:r>
            <a:r>
              <a:rPr lang="en-GB" sz="1800" u="sng" dirty="0" smtClean="0"/>
              <a:t>reported </a:t>
            </a:r>
            <a:r>
              <a:rPr lang="en-GB" sz="1800" u="sng" dirty="0"/>
              <a:t>by the subjects,</a:t>
            </a:r>
            <a:r>
              <a:rPr lang="en-GB" sz="1800" dirty="0"/>
              <a:t> for example, the selected standard unit, photo, the item description (Facet string) for which </a:t>
            </a:r>
            <a:r>
              <a:rPr lang="en-GB" sz="1800" u="sng" dirty="0" smtClean="0"/>
              <a:t>reported codes </a:t>
            </a:r>
            <a:r>
              <a:rPr lang="en-GB" sz="1800" u="sng" dirty="0"/>
              <a:t>are not changed</a:t>
            </a:r>
            <a:r>
              <a:rPr lang="en-GB" sz="1800" dirty="0"/>
              <a:t>. </a:t>
            </a:r>
            <a:endParaRPr lang="en-US" altLang="en-US" sz="1800" dirty="0"/>
          </a:p>
          <a:p>
            <a:pPr lvl="1"/>
            <a:endParaRPr lang="en-US" altLang="en-US" sz="2400" dirty="0"/>
          </a:p>
          <a:p>
            <a:pPr lvl="1"/>
            <a:endParaRPr lang="en-GB" sz="2400" dirty="0" smtClean="0"/>
          </a:p>
          <a:p>
            <a:pPr lvl="1"/>
            <a:endParaRPr lang="en-GB" sz="2100" dirty="0" smtClean="0"/>
          </a:p>
          <a:p>
            <a:pPr lvl="1"/>
            <a:endParaRPr lang="en-GB" sz="1800" dirty="0" smtClean="0">
              <a:sym typeface="Wingdings" panose="05000000000000000000" pitchFamily="2" charset="2"/>
            </a:endParaRPr>
          </a:p>
          <a:p>
            <a:pPr lvl="1"/>
            <a:endParaRPr lang="nl-BE" dirty="0" smtClean="0"/>
          </a:p>
        </p:txBody>
      </p:sp>
      <p:pic>
        <p:nvPicPr>
          <p:cNvPr id="15" name="Afbeelding 14" descr="124741-matte-white-square-icon-business-home7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321338" y="642918"/>
            <a:ext cx="536150" cy="536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77825" y="6381750"/>
            <a:ext cx="3906838" cy="350838"/>
          </a:xfrm>
        </p:spPr>
        <p:txBody>
          <a:bodyPr lIns="45720" rIns="45720" anchor="ctr">
            <a:noAutofit/>
          </a:bodyPr>
          <a:lstStyle/>
          <a:p>
            <a:pPr>
              <a:defRPr/>
            </a:pPr>
            <a:r>
              <a:rPr lang="en-GB" dirty="0" smtClean="0"/>
              <a:t>Data Flow in </a:t>
            </a:r>
            <a:r>
              <a:rPr lang="en-GB" dirty="0" err="1" smtClean="0"/>
              <a:t>GloboDiet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7044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071546"/>
            <a:ext cx="2362200" cy="704848"/>
          </a:xfrm>
          <a:ln>
            <a:miter lim="800000"/>
            <a:headEnd/>
            <a:tailEnd/>
          </a:ln>
          <a:extLst/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effectLst>
                  <a:reflection blurRad="6350" stA="55000" endA="300" endPos="45500" dir="5400000" sy="-100000" algn="bl" rotWithShape="0"/>
                </a:effectLst>
              </a:rPr>
              <a:t>Outline</a:t>
            </a:r>
            <a:endParaRPr lang="en-US" dirty="0" smtClean="0"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idx="2"/>
          </p:nvPr>
        </p:nvSpPr>
        <p:spPr>
          <a:xfrm>
            <a:off x="381000" y="1857364"/>
            <a:ext cx="2362200" cy="4144963"/>
          </a:xfrm>
          <a:ln>
            <a:miter lim="800000"/>
            <a:headEnd/>
            <a:tailEnd/>
          </a:ln>
          <a:extLst/>
        </p:spPr>
        <p:txBody>
          <a:bodyPr>
            <a:noAutofit/>
          </a:bodyPr>
          <a:lstStyle/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GB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Introduction</a:t>
            </a:r>
            <a:endParaRPr lang="en-US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Interviewer workflow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Coordinator workflow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Recompute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GB" b="1" dirty="0" smtClean="0"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Reminders</a:t>
            </a:r>
            <a:endParaRPr lang="nl-BE" b="1" dirty="0"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F4DFE2-AFF4-4035-A7DB-E7432115D04C}" type="slidenum">
              <a:rPr lang="en-US" smtClean="0"/>
              <a:pPr>
                <a:defRPr/>
              </a:pPr>
              <a:t>15</a:t>
            </a:fld>
            <a:endParaRPr lang="en-US" sz="1800" dirty="0"/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5367" name="Tijdelijke aanduiding voor inhoud 12"/>
          <p:cNvSpPr>
            <a:spLocks noGrp="1"/>
          </p:cNvSpPr>
          <p:nvPr>
            <p:ph sz="quarter" idx="1"/>
          </p:nvPr>
        </p:nvSpPr>
        <p:spPr>
          <a:xfrm>
            <a:off x="2822118" y="476590"/>
            <a:ext cx="6286512" cy="6192859"/>
          </a:xfrm>
        </p:spPr>
        <p:txBody>
          <a:bodyPr>
            <a:normAutofit/>
          </a:bodyPr>
          <a:lstStyle/>
          <a:p>
            <a:pPr marL="0" indent="0" algn="ctr" eaLnBrk="1" hangingPunct="1">
              <a:buNone/>
              <a:defRPr/>
            </a:pPr>
            <a:r>
              <a:rPr lang="en-GB" sz="2600" dirty="0" smtClean="0"/>
              <a:t>Reminders</a:t>
            </a:r>
          </a:p>
          <a:p>
            <a:pPr marL="0" indent="0" algn="ctr" eaLnBrk="1" hangingPunct="1">
              <a:buNone/>
              <a:defRPr/>
            </a:pPr>
            <a:endParaRPr lang="en-GB" sz="2600" dirty="0"/>
          </a:p>
          <a:p>
            <a:pPr marL="0" indent="0" algn="ctr" eaLnBrk="1" hangingPunct="1">
              <a:buNone/>
              <a:defRPr/>
            </a:pPr>
            <a:endParaRPr lang="en-GB" sz="2600" dirty="0"/>
          </a:p>
          <a:p>
            <a:pPr lvl="0"/>
            <a:r>
              <a:rPr lang="en-GB" sz="2400" dirty="0" smtClean="0"/>
              <a:t>Interview Backup function</a:t>
            </a:r>
          </a:p>
          <a:p>
            <a:pPr lvl="1"/>
            <a:r>
              <a:rPr lang="en-GB" sz="1900" dirty="0"/>
              <a:t>B</a:t>
            </a:r>
            <a:r>
              <a:rPr lang="en-GB" sz="1900" dirty="0" smtClean="0"/>
              <a:t>ackup has to be done regularly </a:t>
            </a:r>
            <a:r>
              <a:rPr lang="en-GB" sz="1900" dirty="0"/>
              <a:t>(</a:t>
            </a:r>
            <a:r>
              <a:rPr lang="en-GB" sz="1900" dirty="0" smtClean="0"/>
              <a:t>BAK &amp; CSV-files)</a:t>
            </a:r>
          </a:p>
          <a:p>
            <a:pPr lvl="1"/>
            <a:r>
              <a:rPr lang="en-GB" sz="1900" dirty="0" smtClean="0"/>
              <a:t>The interviews remain available on PC using </a:t>
            </a:r>
            <a:r>
              <a:rPr lang="en-GB" sz="1900" dirty="0" err="1" smtClean="0"/>
              <a:t>GloboDiet</a:t>
            </a:r>
            <a:r>
              <a:rPr lang="en-GB" sz="1900" dirty="0" smtClean="0"/>
              <a:t> </a:t>
            </a:r>
          </a:p>
          <a:p>
            <a:pPr lvl="1"/>
            <a:r>
              <a:rPr lang="en-GB" sz="1900" dirty="0" smtClean="0"/>
              <a:t>Both Interviewers and Coordinators have to run Backups</a:t>
            </a:r>
          </a:p>
          <a:p>
            <a:pPr lvl="1"/>
            <a:r>
              <a:rPr lang="en-GB" sz="1900" dirty="0" smtClean="0"/>
              <a:t>The BAK-files are only restored in case of PC crash.</a:t>
            </a:r>
          </a:p>
          <a:p>
            <a:pPr lvl="1"/>
            <a:r>
              <a:rPr lang="en-GB" sz="1900" dirty="0" smtClean="0"/>
              <a:t>The generated CSV-files can be used for statistical analyses.</a:t>
            </a:r>
          </a:p>
          <a:p>
            <a:pPr lvl="0"/>
            <a:r>
              <a:rPr lang="en-GB" sz="2400" dirty="0"/>
              <a:t>Interview </a:t>
            </a:r>
            <a:r>
              <a:rPr lang="en-GB" sz="2400" dirty="0" smtClean="0"/>
              <a:t>Export function</a:t>
            </a:r>
          </a:p>
          <a:p>
            <a:pPr lvl="1"/>
            <a:r>
              <a:rPr lang="en-GB" sz="1900" dirty="0" smtClean="0"/>
              <a:t>Export has to be done regularly </a:t>
            </a:r>
            <a:r>
              <a:rPr lang="en-GB" sz="1900" dirty="0"/>
              <a:t>by </a:t>
            </a:r>
            <a:r>
              <a:rPr lang="en-GB" sz="1900" dirty="0" smtClean="0"/>
              <a:t>the Interviewers (XML &amp; CSV-files)</a:t>
            </a:r>
          </a:p>
          <a:p>
            <a:pPr lvl="1"/>
            <a:r>
              <a:rPr lang="en-GB" sz="1900" dirty="0"/>
              <a:t>The interviews </a:t>
            </a:r>
            <a:r>
              <a:rPr lang="en-GB" sz="1900" dirty="0" smtClean="0"/>
              <a:t>are suppressed from the interviewer’s PC </a:t>
            </a:r>
            <a:endParaRPr lang="en-GB" sz="1900" dirty="0"/>
          </a:p>
          <a:p>
            <a:pPr lvl="1"/>
            <a:r>
              <a:rPr lang="en-GB" sz="1900" dirty="0" smtClean="0"/>
              <a:t> The Generated XML-files are used for communication between the Interviewer and the Coordinator</a:t>
            </a:r>
            <a:endParaRPr lang="en-US" altLang="en-US" sz="2400" dirty="0"/>
          </a:p>
          <a:p>
            <a:pPr lvl="1"/>
            <a:endParaRPr lang="en-GB" sz="2400" dirty="0" smtClean="0"/>
          </a:p>
          <a:p>
            <a:pPr lvl="1"/>
            <a:endParaRPr lang="en-GB" sz="2100" dirty="0" smtClean="0"/>
          </a:p>
          <a:p>
            <a:pPr lvl="1"/>
            <a:endParaRPr lang="en-GB" sz="1800" dirty="0" smtClean="0">
              <a:sym typeface="Wingdings" panose="05000000000000000000" pitchFamily="2" charset="2"/>
            </a:endParaRPr>
          </a:p>
          <a:p>
            <a:pPr lvl="1"/>
            <a:endParaRPr lang="nl-BE" dirty="0" smtClean="0"/>
          </a:p>
        </p:txBody>
      </p:sp>
      <p:pic>
        <p:nvPicPr>
          <p:cNvPr id="15" name="Afbeelding 14" descr="124741-matte-white-square-icon-business-home7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321338" y="642918"/>
            <a:ext cx="536150" cy="536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77825" y="6381750"/>
            <a:ext cx="3906838" cy="350838"/>
          </a:xfrm>
        </p:spPr>
        <p:txBody>
          <a:bodyPr lIns="45720" rIns="45720" anchor="ctr">
            <a:noAutofit/>
          </a:bodyPr>
          <a:lstStyle/>
          <a:p>
            <a:pPr>
              <a:defRPr/>
            </a:pPr>
            <a:r>
              <a:rPr lang="en-GB" dirty="0" smtClean="0"/>
              <a:t>Data Flow in </a:t>
            </a:r>
            <a:r>
              <a:rPr lang="en-GB" dirty="0" err="1" smtClean="0"/>
              <a:t>GloboDiet</a:t>
            </a:r>
            <a:endParaRPr lang="en-GB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/>
          <a:srcRect r="58904" b="80587"/>
          <a:stretch/>
        </p:blipFill>
        <p:spPr bwMode="auto">
          <a:xfrm>
            <a:off x="3635870" y="910993"/>
            <a:ext cx="3551138" cy="104843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62460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>
          <a:xfrm>
            <a:off x="5791200" y="6381410"/>
            <a:ext cx="3044825" cy="365125"/>
          </a:xfrm>
        </p:spPr>
        <p:txBody>
          <a:bodyPr/>
          <a:lstStyle/>
          <a:p>
            <a:pPr>
              <a:defRPr/>
            </a:pPr>
            <a:r>
              <a:rPr lang="nl-BE" smtClean="0">
                <a:latin typeface="+mn-lt"/>
              </a:rPr>
              <a:t>IARC, Lyon - France</a:t>
            </a:r>
            <a:endParaRPr lang="en-US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86250" y="6444155"/>
            <a:ext cx="609600" cy="441325"/>
          </a:xfrm>
        </p:spPr>
        <p:txBody>
          <a:bodyPr/>
          <a:lstStyle/>
          <a:p>
            <a:pPr>
              <a:defRPr/>
            </a:pPr>
            <a:fld id="{C2EC30BA-8C43-4B6C-B4A1-4D564912CC0F}" type="slidenum">
              <a:rPr lang="en-US" smtClean="0">
                <a:latin typeface="+mn-lt"/>
              </a:rPr>
              <a:pPr>
                <a:defRPr/>
              </a:pPr>
              <a:t>16</a:t>
            </a:fld>
            <a:endParaRPr lang="en-US" dirty="0">
              <a:latin typeface="+mn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31550" y="4752053"/>
            <a:ext cx="1388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0000FF"/>
                </a:solidFill>
                <a:latin typeface="+mn-lt"/>
              </a:rPr>
              <a:t>3</a:t>
            </a:r>
            <a:r>
              <a:rPr lang="en-GB" b="1" dirty="0" smtClean="0">
                <a:solidFill>
                  <a:srgbClr val="0000FF"/>
                </a:solidFill>
                <a:latin typeface="+mn-lt"/>
              </a:rPr>
              <a:t>.  Import</a:t>
            </a:r>
            <a:endParaRPr lang="en-GB" b="1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1520" y="2850222"/>
            <a:ext cx="2088170" cy="461665"/>
          </a:xfrm>
          <a:prstGeom prst="rect">
            <a:avLst/>
          </a:prstGeom>
          <a:noFill/>
          <a:ln w="25400">
            <a:solidFill>
              <a:srgbClr val="0000FF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>
                <a:solidFill>
                  <a:srgbClr val="0000FF"/>
                </a:solidFill>
                <a:latin typeface="+mn-lt"/>
              </a:rPr>
              <a:t>COORDINATOR</a:t>
            </a:r>
            <a:endParaRPr lang="en-GB" sz="2400" b="1" dirty="0">
              <a:solidFill>
                <a:srgbClr val="0000FF"/>
              </a:solidFill>
              <a:latin typeface="+mn-lt"/>
            </a:endParaRPr>
          </a:p>
        </p:txBody>
      </p:sp>
      <p:pic>
        <p:nvPicPr>
          <p:cNvPr id="1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4608037"/>
            <a:ext cx="741600" cy="74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539552" y="5301260"/>
            <a:ext cx="22785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>
                <a:latin typeface="+mn-lt"/>
              </a:rPr>
              <a:t>The received XML-file has to be imported in </a:t>
            </a:r>
            <a:r>
              <a:rPr lang="en-GB" sz="1400" dirty="0" err="1" smtClean="0">
                <a:latin typeface="+mn-lt"/>
              </a:rPr>
              <a:t>GloboDiet</a:t>
            </a:r>
            <a:r>
              <a:rPr lang="en-GB" sz="1400" dirty="0" smtClean="0">
                <a:latin typeface="+mn-lt"/>
              </a:rPr>
              <a:t> or Data entry application</a:t>
            </a:r>
            <a:endParaRPr lang="en-GB" sz="1400" dirty="0"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73414" y="5301260"/>
            <a:ext cx="1961194" cy="153888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80975" indent="-180975">
              <a:buFontTx/>
              <a:buChar char="-"/>
            </a:pPr>
            <a:r>
              <a:rPr lang="en-GB" sz="1400" dirty="0" smtClean="0">
                <a:latin typeface="+mn-lt"/>
              </a:rPr>
              <a:t>Preparation of</a:t>
            </a:r>
          </a:p>
          <a:p>
            <a:pPr marL="180975"/>
            <a:r>
              <a:rPr lang="en-GB" sz="1400" dirty="0" smtClean="0">
                <a:latin typeface="+mn-lt"/>
              </a:rPr>
              <a:t>Note file in Excel</a:t>
            </a:r>
          </a:p>
          <a:p>
            <a:pPr marL="180975" indent="-180975">
              <a:buFontTx/>
              <a:buChar char="-"/>
            </a:pPr>
            <a:r>
              <a:rPr lang="en-GB" sz="1400" dirty="0" smtClean="0">
                <a:latin typeface="+mn-lt"/>
              </a:rPr>
              <a:t>Update of:</a:t>
            </a:r>
          </a:p>
          <a:p>
            <a:pPr marL="180975"/>
            <a:r>
              <a:rPr lang="en-GB" sz="1400" dirty="0" smtClean="0">
                <a:latin typeface="+mn-lt"/>
              </a:rPr>
              <a:t> + Note files</a:t>
            </a:r>
          </a:p>
          <a:p>
            <a:pPr marL="180975"/>
            <a:r>
              <a:rPr lang="en-GB" sz="1400" dirty="0" smtClean="0">
                <a:latin typeface="+mn-lt"/>
              </a:rPr>
              <a:t> + Interviews</a:t>
            </a:r>
          </a:p>
          <a:p>
            <a:pPr marL="180975"/>
            <a:endParaRPr lang="en-GB" sz="1000" dirty="0" smtClean="0">
              <a:latin typeface="+mn-lt"/>
            </a:endParaRPr>
          </a:p>
          <a:p>
            <a:pPr marL="180975"/>
            <a:endParaRPr lang="en-GB" sz="1400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31739" y="4608037"/>
            <a:ext cx="2661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>
                <a:solidFill>
                  <a:srgbClr val="0000FF"/>
                </a:solidFill>
                <a:latin typeface="+mn-lt"/>
              </a:rPr>
              <a:t>4.  Update Notes</a:t>
            </a:r>
          </a:p>
          <a:p>
            <a:pPr algn="ctr"/>
            <a:r>
              <a:rPr lang="en-GB" b="1" dirty="0" smtClean="0">
                <a:solidFill>
                  <a:srgbClr val="0000FF"/>
                </a:solidFill>
                <a:latin typeface="+mn-lt"/>
              </a:rPr>
              <a:t>7.  Update interviews</a:t>
            </a:r>
            <a:endParaRPr lang="en-GB" b="1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6" name="Pentagon 25"/>
          <p:cNvSpPr/>
          <p:nvPr/>
        </p:nvSpPr>
        <p:spPr>
          <a:xfrm>
            <a:off x="1439652" y="4608037"/>
            <a:ext cx="1404156" cy="646370"/>
          </a:xfrm>
          <a:prstGeom prst="homePlat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8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921776" y="5832173"/>
            <a:ext cx="1522432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rgbClr val="FF9900"/>
                </a:solidFill>
                <a:latin typeface="+mn-lt"/>
              </a:rPr>
              <a:t>Backup(*) has to be </a:t>
            </a:r>
            <a:r>
              <a:rPr lang="en-GB" sz="1400" dirty="0">
                <a:solidFill>
                  <a:srgbClr val="FF9900"/>
                </a:solidFill>
                <a:latin typeface="+mn-lt"/>
              </a:rPr>
              <a:t>done </a:t>
            </a:r>
            <a:r>
              <a:rPr lang="en-GB" sz="1400" dirty="0" smtClean="0">
                <a:solidFill>
                  <a:srgbClr val="FF9900"/>
                </a:solidFill>
                <a:latin typeface="+mn-lt"/>
              </a:rPr>
              <a:t>regularly</a:t>
            </a:r>
            <a:endParaRPr lang="en-GB" sz="1400" dirty="0">
              <a:solidFill>
                <a:srgbClr val="FF9900"/>
              </a:solidFill>
              <a:latin typeface="+mn-lt"/>
            </a:endParaRPr>
          </a:p>
          <a:p>
            <a:r>
              <a:rPr lang="en-GB" sz="1400" dirty="0" smtClean="0">
                <a:solidFill>
                  <a:srgbClr val="FF9900"/>
                </a:solidFill>
                <a:latin typeface="+mn-lt"/>
              </a:rPr>
              <a:t>(BAK &amp; CSV-files)</a:t>
            </a:r>
          </a:p>
          <a:p>
            <a:endParaRPr lang="en-GB" sz="1400" dirty="0">
              <a:solidFill>
                <a:srgbClr val="FF9900"/>
              </a:solidFill>
              <a:latin typeface="+mn-lt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4197555" y="6365097"/>
            <a:ext cx="518465" cy="448373"/>
            <a:chOff x="3995936" y="6381328"/>
            <a:chExt cx="518465" cy="448373"/>
          </a:xfrm>
        </p:grpSpPr>
        <p:pic>
          <p:nvPicPr>
            <p:cNvPr id="29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95936" y="6381328"/>
              <a:ext cx="376527" cy="3710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7874" y="6458631"/>
              <a:ext cx="376527" cy="3710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9" name="Group 48"/>
          <p:cNvGrpSpPr/>
          <p:nvPr/>
        </p:nvGrpSpPr>
        <p:grpSpPr>
          <a:xfrm>
            <a:off x="251520" y="230955"/>
            <a:ext cx="8266152" cy="3049592"/>
            <a:chOff x="251520" y="230955"/>
            <a:chExt cx="8266152" cy="3049592"/>
          </a:xfrm>
        </p:grpSpPr>
        <p:sp>
          <p:nvSpPr>
            <p:cNvPr id="6" name="TextBox 5"/>
            <p:cNvSpPr txBox="1"/>
            <p:nvPr/>
          </p:nvSpPr>
          <p:spPr>
            <a:xfrm>
              <a:off x="2913249" y="764707"/>
              <a:ext cx="23453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 smtClean="0">
                  <a:solidFill>
                    <a:srgbClr val="006600"/>
                  </a:solidFill>
                  <a:latin typeface="+mn-lt"/>
                </a:rPr>
                <a:t>1.  Data Collection</a:t>
              </a:r>
            </a:p>
          </p:txBody>
        </p:sp>
        <p:sp>
          <p:nvSpPr>
            <p:cNvPr id="7" name="Pentagon 6"/>
            <p:cNvSpPr/>
            <p:nvPr/>
          </p:nvSpPr>
          <p:spPr>
            <a:xfrm>
              <a:off x="2913249" y="620690"/>
              <a:ext cx="2680220" cy="646371"/>
            </a:xfrm>
            <a:prstGeom prst="homePlate">
              <a:avLst/>
            </a:prstGeom>
            <a:noFill/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006600"/>
                </a:solidFill>
              </a:endParaRPr>
            </a:p>
          </p:txBody>
        </p:sp>
        <p:sp>
          <p:nvSpPr>
            <p:cNvPr id="8" name="Pentagon 7"/>
            <p:cNvSpPr/>
            <p:nvPr/>
          </p:nvSpPr>
          <p:spPr>
            <a:xfrm>
              <a:off x="5656262" y="620691"/>
              <a:ext cx="2012082" cy="646370"/>
            </a:xfrm>
            <a:prstGeom prst="homePlate">
              <a:avLst/>
            </a:prstGeom>
            <a:noFill/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006600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672186" y="755415"/>
              <a:ext cx="17081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solidFill>
                    <a:srgbClr val="006600"/>
                  </a:solidFill>
                  <a:latin typeface="+mn-lt"/>
                </a:rPr>
                <a:t>2</a:t>
              </a:r>
              <a:r>
                <a:rPr lang="en-GB" b="1" dirty="0" smtClean="0">
                  <a:solidFill>
                    <a:srgbClr val="006600"/>
                  </a:solidFill>
                  <a:latin typeface="+mn-lt"/>
                </a:rPr>
                <a:t>.  Export</a:t>
              </a:r>
              <a:endParaRPr lang="en-GB" b="1" dirty="0">
                <a:solidFill>
                  <a:srgbClr val="006600"/>
                </a:solidFill>
                <a:latin typeface="+mn-lt"/>
              </a:endParaRPr>
            </a:p>
          </p:txBody>
        </p:sp>
        <p:pic>
          <p:nvPicPr>
            <p:cNvPr id="11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76072" y="675339"/>
              <a:ext cx="741600" cy="741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TextBox 11"/>
            <p:cNvSpPr txBox="1"/>
            <p:nvPr/>
          </p:nvSpPr>
          <p:spPr>
            <a:xfrm>
              <a:off x="251520" y="230955"/>
              <a:ext cx="2088170" cy="461665"/>
            </a:xfrm>
            <a:prstGeom prst="rect">
              <a:avLst/>
            </a:prstGeom>
            <a:noFill/>
            <a:ln w="25400">
              <a:solidFill>
                <a:srgbClr val="006600"/>
              </a:solidFill>
              <a:prstDash val="sysDash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 smtClean="0">
                  <a:solidFill>
                    <a:srgbClr val="006600"/>
                  </a:solidFill>
                  <a:latin typeface="+mn-lt"/>
                </a:rPr>
                <a:t>INTERVIEWER</a:t>
              </a:r>
              <a:endParaRPr lang="en-GB" sz="2400" b="1" dirty="0">
                <a:solidFill>
                  <a:srgbClr val="006600"/>
                </a:solidFill>
                <a:latin typeface="+mn-lt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843760" y="1268762"/>
              <a:ext cx="151265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 smtClean="0">
                  <a:latin typeface="+mn-lt"/>
                </a:rPr>
                <a:t>Using </a:t>
              </a:r>
              <a:r>
                <a:rPr lang="en-GB" sz="1400" dirty="0" err="1" smtClean="0">
                  <a:latin typeface="+mn-lt"/>
                </a:rPr>
                <a:t>GloboDiet</a:t>
              </a:r>
              <a:endParaRPr lang="en-GB" sz="1400" dirty="0" smtClean="0">
                <a:latin typeface="+mn-lt"/>
              </a:endParaRPr>
            </a:p>
            <a:p>
              <a:r>
                <a:rPr lang="en-GB" sz="1400" dirty="0" smtClean="0">
                  <a:latin typeface="+mn-lt"/>
                </a:rPr>
                <a:t>or Data entry application</a:t>
              </a:r>
              <a:endParaRPr lang="en-GB" sz="1400" dirty="0">
                <a:latin typeface="+mn-lt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656261" y="1394194"/>
              <a:ext cx="285047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 smtClean="0">
                  <a:latin typeface="+mn-lt"/>
                </a:rPr>
                <a:t>Export(*) has to be </a:t>
              </a:r>
              <a:r>
                <a:rPr lang="en-GB" sz="1400" dirty="0">
                  <a:latin typeface="+mn-lt"/>
                </a:rPr>
                <a:t>done regularly. </a:t>
              </a:r>
            </a:p>
            <a:p>
              <a:r>
                <a:rPr lang="en-GB" sz="1400" dirty="0" smtClean="0">
                  <a:latin typeface="+mn-lt"/>
                </a:rPr>
                <a:t>The generated XML &amp; CSV-files have to be sent to the Coordinator</a:t>
              </a:r>
              <a:endParaRPr lang="en-GB" sz="1400" dirty="0">
                <a:latin typeface="+mn-lt"/>
              </a:endParaRPr>
            </a:p>
          </p:txBody>
        </p:sp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4295" y="2667013"/>
              <a:ext cx="607705" cy="607705"/>
            </a:xfrm>
            <a:prstGeom prst="rect">
              <a:avLst/>
            </a:prstGeom>
          </p:spPr>
        </p:pic>
        <p:sp>
          <p:nvSpPr>
            <p:cNvPr id="21" name="Pentagon 20"/>
            <p:cNvSpPr/>
            <p:nvPr/>
          </p:nvSpPr>
          <p:spPr>
            <a:xfrm rot="8834423">
              <a:off x="1391245" y="1277941"/>
              <a:ext cx="1471358" cy="363012"/>
            </a:xfrm>
            <a:prstGeom prst="homePlate">
              <a:avLst/>
            </a:prstGeom>
            <a:noFill/>
            <a:ln>
              <a:solidFill>
                <a:srgbClr val="FF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331550" y="1872010"/>
              <a:ext cx="188316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 smtClean="0">
                  <a:solidFill>
                    <a:srgbClr val="FF9900"/>
                  </a:solidFill>
                  <a:latin typeface="+mn-lt"/>
                </a:rPr>
                <a:t>Backup(*) has to be </a:t>
              </a:r>
              <a:r>
                <a:rPr lang="en-GB" sz="1400" dirty="0">
                  <a:solidFill>
                    <a:srgbClr val="FF9900"/>
                  </a:solidFill>
                  <a:latin typeface="+mn-lt"/>
                </a:rPr>
                <a:t>done </a:t>
              </a:r>
              <a:r>
                <a:rPr lang="en-GB" sz="1400" dirty="0" smtClean="0">
                  <a:solidFill>
                    <a:srgbClr val="FF9900"/>
                  </a:solidFill>
                  <a:latin typeface="+mn-lt"/>
                </a:rPr>
                <a:t>regularly </a:t>
              </a:r>
            </a:p>
            <a:p>
              <a:r>
                <a:rPr lang="en-GB" sz="1400" dirty="0" smtClean="0">
                  <a:solidFill>
                    <a:srgbClr val="FF9900"/>
                  </a:solidFill>
                  <a:latin typeface="+mn-lt"/>
                </a:rPr>
                <a:t>(BAK </a:t>
              </a:r>
              <a:r>
                <a:rPr lang="en-GB" sz="1400" dirty="0">
                  <a:solidFill>
                    <a:srgbClr val="FF9900"/>
                  </a:solidFill>
                  <a:latin typeface="+mn-lt"/>
                </a:rPr>
                <a:t>&amp; CSV-files</a:t>
              </a:r>
              <a:r>
                <a:rPr lang="en-GB" sz="1400" dirty="0" smtClean="0">
                  <a:solidFill>
                    <a:srgbClr val="FF9900"/>
                  </a:solidFill>
                  <a:latin typeface="+mn-lt"/>
                </a:rPr>
                <a:t>)</a:t>
              </a:r>
              <a:endParaRPr lang="en-GB" sz="1400" dirty="0">
                <a:solidFill>
                  <a:srgbClr val="FF9900"/>
                </a:solidFill>
                <a:latin typeface="+mn-lt"/>
              </a:endParaRPr>
            </a:p>
          </p:txBody>
        </p:sp>
        <p:pic>
          <p:nvPicPr>
            <p:cNvPr id="23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9592" y="1533526"/>
              <a:ext cx="376527" cy="3710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1530" y="1610829"/>
              <a:ext cx="376527" cy="3710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TextBox 24"/>
            <p:cNvSpPr txBox="1"/>
            <p:nvPr/>
          </p:nvSpPr>
          <p:spPr>
            <a:xfrm rot="19607738">
              <a:off x="1438026" y="1278168"/>
              <a:ext cx="136455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FF9900"/>
                  </a:solidFill>
                  <a:latin typeface="+mn-lt"/>
                </a:rPr>
                <a:t>Backup</a:t>
              </a:r>
              <a:endParaRPr lang="en-GB" dirty="0">
                <a:solidFill>
                  <a:srgbClr val="FF9900"/>
                </a:solidFill>
                <a:latin typeface="+mn-lt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488661" y="2634216"/>
              <a:ext cx="137951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 err="1" smtClean="0">
                  <a:solidFill>
                    <a:schemeClr val="bg1">
                      <a:lumMod val="50000"/>
                    </a:schemeClr>
                  </a:solidFill>
                  <a:latin typeface="+mn-lt"/>
                </a:rPr>
                <a:t>GloboDiet</a:t>
              </a:r>
              <a:r>
                <a:rPr lang="en-GB" b="1" dirty="0" smtClean="0">
                  <a:solidFill>
                    <a:schemeClr val="bg1">
                      <a:lumMod val="50000"/>
                    </a:schemeClr>
                  </a:solidFill>
                  <a:latin typeface="+mn-lt"/>
                </a:rPr>
                <a:t> Database</a:t>
              </a:r>
              <a:endParaRPr lang="en-GB" b="1" dirty="0">
                <a:solidFill>
                  <a:schemeClr val="bg1">
                    <a:lumMod val="50000"/>
                  </a:schemeClr>
                </a:solidFill>
                <a:latin typeface="+mn-lt"/>
              </a:endParaRPr>
            </a:p>
          </p:txBody>
        </p:sp>
        <p:grpSp>
          <p:nvGrpSpPr>
            <p:cNvPr id="32" name="Group 31"/>
            <p:cNvGrpSpPr/>
            <p:nvPr/>
          </p:nvGrpSpPr>
          <p:grpSpPr>
            <a:xfrm>
              <a:off x="4232041" y="1394193"/>
              <a:ext cx="411967" cy="1314707"/>
              <a:chOff x="4232041" y="1363417"/>
              <a:chExt cx="411967" cy="1185988"/>
            </a:xfrm>
          </p:grpSpPr>
          <p:sp>
            <p:nvSpPr>
              <p:cNvPr id="33" name="TextBox 32"/>
              <p:cNvSpPr txBox="1"/>
              <p:nvPr/>
            </p:nvSpPr>
            <p:spPr>
              <a:xfrm rot="16200000">
                <a:off x="3870000" y="1800000"/>
                <a:ext cx="11294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b="1" dirty="0">
                    <a:solidFill>
                      <a:schemeClr val="bg1">
                        <a:lumMod val="50000"/>
                      </a:schemeClr>
                    </a:solidFill>
                    <a:latin typeface="+mn-lt"/>
                  </a:rPr>
                  <a:t>6</a:t>
                </a:r>
                <a:r>
                  <a:rPr lang="en-GB" b="1" dirty="0" smtClean="0">
                    <a:solidFill>
                      <a:schemeClr val="bg1">
                        <a:lumMod val="50000"/>
                      </a:schemeClr>
                    </a:solidFill>
                    <a:latin typeface="+mn-lt"/>
                  </a:rPr>
                  <a:t>. Import</a:t>
                </a:r>
                <a:endParaRPr lang="en-GB" b="1" dirty="0">
                  <a:solidFill>
                    <a:schemeClr val="bg1">
                      <a:lumMod val="50000"/>
                    </a:schemeClr>
                  </a:solidFill>
                  <a:latin typeface="+mn-lt"/>
                </a:endParaRPr>
              </a:p>
            </p:txBody>
          </p:sp>
          <p:sp>
            <p:nvSpPr>
              <p:cNvPr id="34" name="Pentagon 33"/>
              <p:cNvSpPr/>
              <p:nvPr/>
            </p:nvSpPr>
            <p:spPr>
              <a:xfrm rot="16200000">
                <a:off x="3873285" y="1722173"/>
                <a:ext cx="1129479" cy="411967"/>
              </a:xfrm>
              <a:prstGeom prst="homePlate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35" name="Group 34"/>
          <p:cNvGrpSpPr/>
          <p:nvPr/>
        </p:nvGrpSpPr>
        <p:grpSpPr>
          <a:xfrm>
            <a:off x="3059790" y="2981991"/>
            <a:ext cx="1182496" cy="807060"/>
            <a:chOff x="557586" y="1986170"/>
            <a:chExt cx="1232808" cy="780985"/>
          </a:xfrm>
        </p:grpSpPr>
        <p:sp>
          <p:nvSpPr>
            <p:cNvPr id="36" name="Curved Down Arrow 35"/>
            <p:cNvSpPr/>
            <p:nvPr/>
          </p:nvSpPr>
          <p:spPr>
            <a:xfrm rot="19771645">
              <a:off x="588878" y="1986170"/>
              <a:ext cx="1008244" cy="381215"/>
            </a:xfrm>
            <a:prstGeom prst="curvedDown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bg1">
                    <a:lumMod val="65000"/>
                  </a:schemeClr>
                </a:solidFill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7" name="Curved Down Arrow 36"/>
            <p:cNvSpPr/>
            <p:nvPr/>
          </p:nvSpPr>
          <p:spPr>
            <a:xfrm rot="9038331">
              <a:off x="753174" y="2385940"/>
              <a:ext cx="1037220" cy="381215"/>
            </a:xfrm>
            <a:prstGeom prst="curvedDown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bg1">
                    <a:lumMod val="65000"/>
                  </a:schemeClr>
                </a:solidFill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 rot="20228859">
              <a:off x="557586" y="2012374"/>
              <a:ext cx="1170076" cy="646331"/>
            </a:xfrm>
            <a:prstGeom prst="rect">
              <a:avLst/>
            </a:prstGeom>
            <a:ln w="254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altLang="en-US" b="1" i="1" dirty="0">
                  <a:solidFill>
                    <a:schemeClr val="bg1">
                      <a:lumMod val="50000"/>
                    </a:schemeClr>
                  </a:solidFill>
                  <a:latin typeface="+mn-lt"/>
                  <a:ea typeface="Tahoma" panose="020B0604030504040204" pitchFamily="34" charset="0"/>
                  <a:cs typeface="Tahoma" panose="020B0604030504040204" pitchFamily="34" charset="0"/>
                </a:rPr>
                <a:t>5</a:t>
              </a:r>
              <a:r>
                <a:rPr lang="en-GB" altLang="en-US" b="1" i="1" dirty="0" smtClean="0">
                  <a:solidFill>
                    <a:schemeClr val="bg1">
                      <a:lumMod val="50000"/>
                    </a:schemeClr>
                  </a:solidFill>
                  <a:latin typeface="+mn-lt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</a:p>
            <a:p>
              <a:pPr algn="ctr"/>
              <a:r>
                <a:rPr lang="en-GB" altLang="en-US" b="1" i="1" dirty="0" smtClean="0">
                  <a:solidFill>
                    <a:schemeClr val="bg1">
                      <a:lumMod val="50000"/>
                    </a:schemeClr>
                  </a:solidFill>
                  <a:latin typeface="+mn-lt"/>
                  <a:ea typeface="Tahoma" panose="020B0604030504040204" pitchFamily="34" charset="0"/>
                  <a:cs typeface="Tahoma" panose="020B0604030504040204" pitchFamily="34" charset="0"/>
                </a:rPr>
                <a:t>Update</a:t>
              </a:r>
              <a:endParaRPr lang="en-GB" b="1" i="1" dirty="0">
                <a:solidFill>
                  <a:schemeClr val="bg1">
                    <a:lumMod val="50000"/>
                  </a:schemeClr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39" name="Pentagon 38"/>
          <p:cNvSpPr/>
          <p:nvPr/>
        </p:nvSpPr>
        <p:spPr>
          <a:xfrm rot="5400000">
            <a:off x="4219315" y="5768026"/>
            <a:ext cx="1052701" cy="363012"/>
          </a:xfrm>
          <a:prstGeom prst="homePlate">
            <a:avLst/>
          </a:prstGeom>
          <a:solidFill>
            <a:schemeClr val="bg1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99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 rot="16173315">
            <a:off x="4194075" y="5741612"/>
            <a:ext cx="1103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>
                <a:solidFill>
                  <a:srgbClr val="FF9900"/>
                </a:solidFill>
                <a:latin typeface="+mn-lt"/>
              </a:rPr>
              <a:t>Backup</a:t>
            </a:r>
            <a:endParaRPr lang="en-GB" dirty="0">
              <a:solidFill>
                <a:srgbClr val="FF9900"/>
              </a:solidFill>
              <a:latin typeface="+mn-lt"/>
            </a:endParaRPr>
          </a:p>
        </p:txBody>
      </p:sp>
      <p:sp>
        <p:nvSpPr>
          <p:cNvPr id="41" name="Pentagon 40"/>
          <p:cNvSpPr/>
          <p:nvPr/>
        </p:nvSpPr>
        <p:spPr>
          <a:xfrm>
            <a:off x="2915816" y="4609738"/>
            <a:ext cx="2680220" cy="646371"/>
          </a:xfrm>
          <a:prstGeom prst="homePlat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8000"/>
              </a:solidFill>
            </a:endParaRPr>
          </a:p>
        </p:txBody>
      </p:sp>
      <p:sp>
        <p:nvSpPr>
          <p:cNvPr id="42" name="Pentagon 41"/>
          <p:cNvSpPr/>
          <p:nvPr/>
        </p:nvSpPr>
        <p:spPr>
          <a:xfrm>
            <a:off x="5688123" y="4608037"/>
            <a:ext cx="1980221" cy="646370"/>
          </a:xfrm>
          <a:prstGeom prst="homePlat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800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472042" y="4742761"/>
            <a:ext cx="2340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>
                <a:solidFill>
                  <a:srgbClr val="0000FF"/>
                </a:solidFill>
                <a:latin typeface="+mn-lt"/>
              </a:rPr>
              <a:t>8.  CSV-file Export</a:t>
            </a:r>
            <a:endParaRPr lang="en-GB" b="1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688123" y="5301260"/>
            <a:ext cx="29884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dirty="0" smtClean="0">
                <a:latin typeface="+mn-lt"/>
              </a:rPr>
              <a:t>Export of </a:t>
            </a:r>
            <a:r>
              <a:rPr lang="en-US" altLang="en-US" sz="1400" dirty="0">
                <a:latin typeface="+mn-lt"/>
              </a:rPr>
              <a:t>CSV-files </a:t>
            </a:r>
            <a:r>
              <a:rPr lang="en-US" altLang="en-US" sz="1400" dirty="0" smtClean="0">
                <a:latin typeface="+mn-lt"/>
              </a:rPr>
              <a:t>for statistical analyses using the backup(*) function</a:t>
            </a:r>
            <a:endParaRPr lang="en-US" altLang="en-US" sz="1400" dirty="0">
              <a:latin typeface="+mn-lt"/>
            </a:endParaRPr>
          </a:p>
        </p:txBody>
      </p:sp>
      <p:pic>
        <p:nvPicPr>
          <p:cNvPr id="45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6072" y="4562917"/>
            <a:ext cx="730669" cy="741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6" name="Group 45"/>
          <p:cNvGrpSpPr/>
          <p:nvPr/>
        </p:nvGrpSpPr>
        <p:grpSpPr>
          <a:xfrm rot="10800000">
            <a:off x="4244638" y="3284980"/>
            <a:ext cx="411967" cy="1261323"/>
            <a:chOff x="4232040" y="1363417"/>
            <a:chExt cx="411967" cy="1193960"/>
          </a:xfrm>
        </p:grpSpPr>
        <p:sp>
          <p:nvSpPr>
            <p:cNvPr id="47" name="TextBox 46"/>
            <p:cNvSpPr txBox="1"/>
            <p:nvPr/>
          </p:nvSpPr>
          <p:spPr>
            <a:xfrm rot="16200000">
              <a:off x="3869993" y="1807972"/>
              <a:ext cx="11294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bg1">
                      <a:lumMod val="50000"/>
                    </a:schemeClr>
                  </a:solidFill>
                  <a:latin typeface="+mn-lt"/>
                </a:rPr>
                <a:t>6</a:t>
              </a:r>
              <a:r>
                <a:rPr lang="en-GB" b="1" dirty="0" smtClean="0">
                  <a:solidFill>
                    <a:schemeClr val="bg1">
                      <a:lumMod val="50000"/>
                    </a:schemeClr>
                  </a:solidFill>
                  <a:latin typeface="+mn-lt"/>
                </a:rPr>
                <a:t>. Import</a:t>
              </a:r>
              <a:endParaRPr lang="en-GB" b="1" dirty="0">
                <a:solidFill>
                  <a:schemeClr val="bg1">
                    <a:lumMod val="50000"/>
                  </a:schemeClr>
                </a:solidFill>
                <a:latin typeface="+mn-lt"/>
              </a:endParaRPr>
            </a:p>
          </p:txBody>
        </p:sp>
        <p:sp>
          <p:nvSpPr>
            <p:cNvPr id="48" name="Pentagon 47"/>
            <p:cNvSpPr/>
            <p:nvPr/>
          </p:nvSpPr>
          <p:spPr>
            <a:xfrm rot="16200000">
              <a:off x="3873284" y="1722173"/>
              <a:ext cx="1129479" cy="411967"/>
            </a:xfrm>
            <a:prstGeom prst="homePlat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6408416" y="6246000"/>
            <a:ext cx="255619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en-US" sz="1200" dirty="0" smtClean="0">
                <a:latin typeface="+mn-lt"/>
              </a:rPr>
              <a:t>(*) Data </a:t>
            </a:r>
            <a:r>
              <a:rPr lang="en-US" altLang="en-US" sz="1200" dirty="0" err="1" smtClean="0">
                <a:latin typeface="+mn-lt"/>
              </a:rPr>
              <a:t>Recompute</a:t>
            </a:r>
            <a:r>
              <a:rPr lang="en-US" altLang="en-US" sz="1200" dirty="0" smtClean="0">
                <a:latin typeface="+mn-lt"/>
              </a:rPr>
              <a:t> is automatically running during Backup &amp; Export</a:t>
            </a:r>
            <a:endParaRPr lang="en-US" altLang="en-US" sz="1200" dirty="0">
              <a:latin typeface="+mn-lt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162000" y="6264000"/>
            <a:ext cx="2877317" cy="522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273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ndertitel 14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2538413"/>
          </a:xfrm>
          <a:solidFill>
            <a:schemeClr val="bg1"/>
          </a:solidFill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nl-BE" sz="1700" smtClean="0"/>
              <a:t>International </a:t>
            </a:r>
            <a:r>
              <a:rPr lang="nl-BE" sz="1700" dirty="0" smtClean="0"/>
              <a:t>agency </a:t>
            </a:r>
            <a:r>
              <a:rPr lang="nl-BE" sz="1700" dirty="0" err="1" smtClean="0"/>
              <a:t>for</a:t>
            </a:r>
            <a:r>
              <a:rPr lang="nl-BE" sz="1700" dirty="0" smtClean="0"/>
              <a:t> research on </a:t>
            </a:r>
            <a:r>
              <a:rPr lang="nl-BE" sz="1700" dirty="0" err="1" smtClean="0"/>
              <a:t>cancer</a:t>
            </a:r>
            <a:r>
              <a:rPr lang="nl-BE" sz="1700" dirty="0" smtClean="0"/>
              <a:t> </a:t>
            </a:r>
            <a:r>
              <a:rPr lang="nl-BE" sz="1700" dirty="0" err="1" smtClean="0"/>
              <a:t>lyon</a:t>
            </a:r>
            <a:r>
              <a:rPr lang="nl-BE" sz="1700" dirty="0" smtClean="0"/>
              <a:t> - </a:t>
            </a:r>
            <a:r>
              <a:rPr lang="nl-BE" sz="1700" dirty="0" err="1" smtClean="0"/>
              <a:t>france</a:t>
            </a:r>
            <a:endParaRPr lang="nl-BE" sz="1700" dirty="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nl-BE" altLang="en-US" dirty="0" smtClean="0"/>
              <a:t>GloboDiet Data Flow between interviewer(s) &amp; Collaborator(s)</a:t>
            </a:r>
          </a:p>
        </p:txBody>
      </p:sp>
      <p:pic>
        <p:nvPicPr>
          <p:cNvPr id="13316" name="Picture 7" descr="http://monographs.iarc.fr/images/logoiarc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5429250"/>
            <a:ext cx="3048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380288" y="5602288"/>
            <a:ext cx="1223962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nl-BE" sz="28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e-SMP</a:t>
            </a:r>
          </a:p>
        </p:txBody>
      </p:sp>
    </p:spTree>
    <p:extLst>
      <p:ext uri="{BB962C8B-B14F-4D97-AF65-F5344CB8AC3E}">
        <p14:creationId xmlns:p14="http://schemas.microsoft.com/office/powerpoint/2010/main" val="1101742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el">
  <a:themeElements>
    <a:clrScheme name="EPIC-IARC">
      <a:dk1>
        <a:sysClr val="windowText" lastClr="000000"/>
      </a:dk1>
      <a:lt1>
        <a:sysClr val="window" lastClr="FFFFFF"/>
      </a:lt1>
      <a:dk2>
        <a:srgbClr val="646B86"/>
      </a:dk2>
      <a:lt2>
        <a:srgbClr val="F0F4F0"/>
      </a:lt2>
      <a:accent1>
        <a:srgbClr val="4BA2D9"/>
      </a:accent1>
      <a:accent2>
        <a:srgbClr val="CCB400"/>
      </a:accent2>
      <a:accent3>
        <a:srgbClr val="99CC33"/>
      </a:accent3>
      <a:accent4>
        <a:srgbClr val="8C7B70"/>
      </a:accent4>
      <a:accent5>
        <a:srgbClr val="8FB08C"/>
      </a:accent5>
      <a:accent6>
        <a:srgbClr val="D19049"/>
      </a:accent6>
      <a:hlink>
        <a:srgbClr val="4BA2D9"/>
      </a:hlink>
      <a:folHlink>
        <a:srgbClr val="4BA2D9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ivie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>
    <a:lnDef>
      <a:spPr>
        <a:ln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3117C618FBFB40856EC52F4C60CBC5" ma:contentTypeVersion="18" ma:contentTypeDescription="Create a new document." ma:contentTypeScope="" ma:versionID="49df8a4e50af2e0b35fb1d2cbeaf40b9">
  <xsd:schema xmlns:xsd="http://www.w3.org/2001/XMLSchema" xmlns:xs="http://www.w3.org/2001/XMLSchema" xmlns:p="http://schemas.microsoft.com/office/2006/metadata/properties" xmlns:ns2="8340c1bc-d1cd-4b41-91bb-2c2f20a57517" xmlns:ns3="1891344d-db52-4f9c-9457-ef23ea7639fb" targetNamespace="http://schemas.microsoft.com/office/2006/metadata/properties" ma:root="true" ma:fieldsID="ba476b508b474beda7edf354cc99a575" ns2:_="" ns3:_="">
    <xsd:import namespace="8340c1bc-d1cd-4b41-91bb-2c2f20a57517"/>
    <xsd:import namespace="1891344d-db52-4f9c-9457-ef23ea7639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40c1bc-d1cd-4b41-91bb-2c2f20a575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aa4eac88-8ae6-4a96-90c7-97bc93c844e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91344d-db52-4f9c-9457-ef23ea7639f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25c54d7-cef0-400e-a044-5cf48fe0a388}" ma:internalName="TaxCatchAll" ma:showField="CatchAllData" ma:web="1891344d-db52-4f9c-9457-ef23ea7639f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340c1bc-d1cd-4b41-91bb-2c2f20a57517">
      <Terms xmlns="http://schemas.microsoft.com/office/infopath/2007/PartnerControls"/>
    </lcf76f155ced4ddcb4097134ff3c332f>
    <TaxCatchAll xmlns="1891344d-db52-4f9c-9457-ef23ea7639fb" xsi:nil="true"/>
  </documentManagement>
</p:properties>
</file>

<file path=customXml/itemProps1.xml><?xml version="1.0" encoding="utf-8"?>
<ds:datastoreItem xmlns:ds="http://schemas.openxmlformats.org/officeDocument/2006/customXml" ds:itemID="{8D79EEA0-DF27-4CC2-AA3F-E7430B124886}"/>
</file>

<file path=customXml/itemProps2.xml><?xml version="1.0" encoding="utf-8"?>
<ds:datastoreItem xmlns:ds="http://schemas.openxmlformats.org/officeDocument/2006/customXml" ds:itemID="{A1124082-C56E-47C2-B8D7-6ACD7EC47DB6}"/>
</file>

<file path=customXml/itemProps3.xml><?xml version="1.0" encoding="utf-8"?>
<ds:datastoreItem xmlns:ds="http://schemas.openxmlformats.org/officeDocument/2006/customXml" ds:itemID="{CC8FAB97-D02C-4518-93EC-F8444C343090}"/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7697</TotalTime>
  <Words>1336</Words>
  <Application>Microsoft Office PowerPoint</Application>
  <PresentationFormat>On-screen Show (4:3)</PresentationFormat>
  <Paragraphs>250</Paragraphs>
  <Slides>17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Civiel</vt:lpstr>
      <vt:lpstr>GloboDiet Data Flow between interviewer(s) &amp; Collaborator(s)</vt:lpstr>
      <vt:lpstr>Outline</vt:lpstr>
      <vt:lpstr>Outline</vt:lpstr>
      <vt:lpstr>PowerPoint Presentation</vt:lpstr>
      <vt:lpstr>Outline</vt:lpstr>
      <vt:lpstr>PowerPoint Presentation</vt:lpstr>
      <vt:lpstr>PowerPoint Presentation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Outline</vt:lpstr>
      <vt:lpstr>Outline</vt:lpstr>
      <vt:lpstr>PowerPoint Presentation</vt:lpstr>
      <vt:lpstr>GloboDiet Data Flow between interviewer(s) &amp; Collaborator(s)</vt:lpstr>
    </vt:vector>
  </TitlesOfParts>
  <Company>WHO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by step interview</dc:title>
  <dc:creator>IARC</dc:creator>
  <cp:lastModifiedBy>Casagrande Corinne</cp:lastModifiedBy>
  <cp:revision>719</cp:revision>
  <cp:lastPrinted>2013-02-04T09:20:11Z</cp:lastPrinted>
  <dcterms:created xsi:type="dcterms:W3CDTF">2011-05-26T07:56:24Z</dcterms:created>
  <dcterms:modified xsi:type="dcterms:W3CDTF">2016-05-16T14:58:18Z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0x010100E43117C618FBFB40856EC52F4C60CBC5</vt:lpwstr>
  </property>
</Properties>
</file>