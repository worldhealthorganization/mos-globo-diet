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6" r:id="rId1"/>
  </p:sldMasterIdLst>
  <p:notesMasterIdLst>
    <p:notesMasterId r:id="rId63"/>
  </p:notesMasterIdLst>
  <p:handoutMasterIdLst>
    <p:handoutMasterId r:id="rId64"/>
  </p:handoutMasterIdLst>
  <p:sldIdLst>
    <p:sldId id="256" r:id="rId2"/>
    <p:sldId id="347" r:id="rId3"/>
    <p:sldId id="422" r:id="rId4"/>
    <p:sldId id="423" r:id="rId5"/>
    <p:sldId id="279" r:id="rId6"/>
    <p:sldId id="348" r:id="rId7"/>
    <p:sldId id="366" r:id="rId8"/>
    <p:sldId id="367" r:id="rId9"/>
    <p:sldId id="368" r:id="rId10"/>
    <p:sldId id="369" r:id="rId11"/>
    <p:sldId id="361" r:id="rId12"/>
    <p:sldId id="370" r:id="rId13"/>
    <p:sldId id="371" r:id="rId14"/>
    <p:sldId id="372" r:id="rId15"/>
    <p:sldId id="373" r:id="rId16"/>
    <p:sldId id="411" r:id="rId17"/>
    <p:sldId id="419" r:id="rId18"/>
    <p:sldId id="374" r:id="rId19"/>
    <p:sldId id="375" r:id="rId20"/>
    <p:sldId id="376" r:id="rId21"/>
    <p:sldId id="417" r:id="rId22"/>
    <p:sldId id="377" r:id="rId23"/>
    <p:sldId id="378" r:id="rId24"/>
    <p:sldId id="416" r:id="rId25"/>
    <p:sldId id="396" r:id="rId26"/>
    <p:sldId id="412" r:id="rId27"/>
    <p:sldId id="379" r:id="rId28"/>
    <p:sldId id="380" r:id="rId29"/>
    <p:sldId id="381" r:id="rId30"/>
    <p:sldId id="382" r:id="rId31"/>
    <p:sldId id="420" r:id="rId32"/>
    <p:sldId id="383" r:id="rId33"/>
    <p:sldId id="398" r:id="rId34"/>
    <p:sldId id="400" r:id="rId35"/>
    <p:sldId id="418" r:id="rId36"/>
    <p:sldId id="399" r:id="rId37"/>
    <p:sldId id="384" r:id="rId38"/>
    <p:sldId id="393" r:id="rId39"/>
    <p:sldId id="385" r:id="rId40"/>
    <p:sldId id="421" r:id="rId41"/>
    <p:sldId id="413" r:id="rId42"/>
    <p:sldId id="386" r:id="rId43"/>
    <p:sldId id="388" r:id="rId44"/>
    <p:sldId id="389" r:id="rId45"/>
    <p:sldId id="387" r:id="rId46"/>
    <p:sldId id="390" r:id="rId47"/>
    <p:sldId id="392" r:id="rId48"/>
    <p:sldId id="394" r:id="rId49"/>
    <p:sldId id="395" r:id="rId50"/>
    <p:sldId id="406" r:id="rId51"/>
    <p:sldId id="401" r:id="rId52"/>
    <p:sldId id="415" r:id="rId53"/>
    <p:sldId id="404" r:id="rId54"/>
    <p:sldId id="405" r:id="rId55"/>
    <p:sldId id="410" r:id="rId56"/>
    <p:sldId id="407" r:id="rId57"/>
    <p:sldId id="408" r:id="rId58"/>
    <p:sldId id="409" r:id="rId59"/>
    <p:sldId id="414" r:id="rId60"/>
    <p:sldId id="424" r:id="rId61"/>
    <p:sldId id="425" r:id="rId62"/>
  </p:sldIdLst>
  <p:sldSz cx="9144000" cy="6858000" type="screen4x3"/>
  <p:notesSz cx="9926638" cy="6797675"/>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80B7"/>
    <a:srgbClr val="2A89C4"/>
    <a:srgbClr val="FF0000"/>
    <a:srgbClr val="2476A8"/>
    <a:srgbClr val="206A98"/>
    <a:srgbClr val="3799D5"/>
    <a:srgbClr val="CC0000"/>
    <a:srgbClr val="C9D4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04" autoAdjust="0"/>
    <p:restoredTop sz="98713" autoAdjust="0"/>
  </p:normalViewPr>
  <p:slideViewPr>
    <p:cSldViewPr>
      <p:cViewPr varScale="1">
        <p:scale>
          <a:sx n="113" d="100"/>
          <a:sy n="113" d="100"/>
        </p:scale>
        <p:origin x="-1488" y="-102"/>
      </p:cViewPr>
      <p:guideLst>
        <p:guide orient="horz" pos="2160"/>
        <p:guide pos="2880"/>
      </p:guideLst>
    </p:cSldViewPr>
  </p:slideViewPr>
  <p:notesTextViewPr>
    <p:cViewPr>
      <p:scale>
        <a:sx n="100" d="100"/>
        <a:sy n="100" d="100"/>
      </p:scale>
      <p:origin x="0" y="0"/>
    </p:cViewPr>
  </p:notesTextViewPr>
  <p:sorterViewPr>
    <p:cViewPr>
      <p:scale>
        <a:sx n="80" d="100"/>
        <a:sy n="80" d="100"/>
      </p:scale>
      <p:origin x="0" y="2304"/>
    </p:cViewPr>
  </p:sorterViewPr>
  <p:notesViewPr>
    <p:cSldViewPr>
      <p:cViewPr varScale="1">
        <p:scale>
          <a:sx n="67" d="100"/>
          <a:sy n="67" d="100"/>
        </p:scale>
        <p:origin x="-2796" y="-96"/>
      </p:cViewPr>
      <p:guideLst>
        <p:guide orient="horz" pos="2141"/>
        <p:guide pos="3127"/>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4302125" cy="339725"/>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200">
                <a:latin typeface="Arial" charset="0"/>
                <a:cs typeface="+mn-cs"/>
              </a:defRPr>
            </a:lvl1pPr>
          </a:lstStyle>
          <a:p>
            <a:pPr>
              <a:defRPr/>
            </a:pPr>
            <a:endParaRPr lang="en-GB"/>
          </a:p>
        </p:txBody>
      </p:sp>
      <p:sp>
        <p:nvSpPr>
          <p:cNvPr id="65539" name="Rectangle 3"/>
          <p:cNvSpPr>
            <a:spLocks noGrp="1" noChangeArrowheads="1"/>
          </p:cNvSpPr>
          <p:nvPr>
            <p:ph type="dt" sz="quarter" idx="1"/>
          </p:nvPr>
        </p:nvSpPr>
        <p:spPr bwMode="auto">
          <a:xfrm>
            <a:off x="5622925" y="0"/>
            <a:ext cx="4302125" cy="339725"/>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200">
                <a:latin typeface="Arial" charset="0"/>
                <a:cs typeface="+mn-cs"/>
              </a:defRPr>
            </a:lvl1pPr>
          </a:lstStyle>
          <a:p>
            <a:pPr>
              <a:defRPr/>
            </a:pPr>
            <a:fld id="{2E15A8CE-C3C2-4C24-A6DD-D7CCFCF8BF32}" type="datetimeFigureOut">
              <a:rPr lang="en-GB"/>
              <a:pPr>
                <a:defRPr/>
              </a:pPr>
              <a:t>18/05/2017</a:t>
            </a:fld>
            <a:endParaRPr lang="en-GB"/>
          </a:p>
        </p:txBody>
      </p:sp>
      <p:sp>
        <p:nvSpPr>
          <p:cNvPr id="65540" name="Rectangle 4"/>
          <p:cNvSpPr>
            <a:spLocks noGrp="1" noChangeArrowheads="1"/>
          </p:cNvSpPr>
          <p:nvPr>
            <p:ph type="ftr" sz="quarter" idx="2"/>
          </p:nvPr>
        </p:nvSpPr>
        <p:spPr bwMode="auto">
          <a:xfrm>
            <a:off x="0" y="6456363"/>
            <a:ext cx="4302125" cy="339725"/>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0" hangingPunct="0">
              <a:defRPr sz="1200">
                <a:latin typeface="Arial" charset="0"/>
                <a:cs typeface="+mn-cs"/>
              </a:defRPr>
            </a:lvl1pPr>
          </a:lstStyle>
          <a:p>
            <a:pPr>
              <a:defRPr/>
            </a:pPr>
            <a:endParaRPr lang="en-GB"/>
          </a:p>
        </p:txBody>
      </p:sp>
      <p:sp>
        <p:nvSpPr>
          <p:cNvPr id="65541" name="Rectangle 5"/>
          <p:cNvSpPr>
            <a:spLocks noGrp="1" noChangeArrowheads="1"/>
          </p:cNvSpPr>
          <p:nvPr>
            <p:ph type="sldNum" sz="quarter" idx="3"/>
          </p:nvPr>
        </p:nvSpPr>
        <p:spPr bwMode="auto">
          <a:xfrm>
            <a:off x="5622925" y="6456363"/>
            <a:ext cx="4302125" cy="339725"/>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0" hangingPunct="0">
              <a:defRPr sz="1200">
                <a:latin typeface="Arial" charset="0"/>
                <a:cs typeface="+mn-cs"/>
              </a:defRPr>
            </a:lvl1pPr>
          </a:lstStyle>
          <a:p>
            <a:pPr>
              <a:defRPr/>
            </a:pPr>
            <a:fld id="{9748FA8B-6EDF-4727-8A13-E3283B78A440}" type="slidenum">
              <a:rPr lang="en-GB"/>
              <a:pPr>
                <a:defRPr/>
              </a:pPr>
              <a:t>‹#›</a:t>
            </a:fld>
            <a:endParaRPr lang="en-GB"/>
          </a:p>
        </p:txBody>
      </p:sp>
    </p:spTree>
    <p:extLst>
      <p:ext uri="{BB962C8B-B14F-4D97-AF65-F5344CB8AC3E}">
        <p14:creationId xmlns:p14="http://schemas.microsoft.com/office/powerpoint/2010/main" val="2166041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125" cy="339725"/>
          </a:xfrm>
          <a:prstGeom prst="rect">
            <a:avLst/>
          </a:prstGeom>
        </p:spPr>
        <p:txBody>
          <a:bodyPr vert="horz" lIns="91440" tIns="45720" rIns="91440" bIns="45720" rtlCol="0"/>
          <a:lstStyle>
            <a:lvl1pPr algn="l">
              <a:defRPr sz="1200">
                <a:latin typeface="Arial" charset="0"/>
                <a:cs typeface="+mn-cs"/>
              </a:defRPr>
            </a:lvl1pPr>
          </a:lstStyle>
          <a:p>
            <a:pPr>
              <a:defRPr/>
            </a:pPr>
            <a:endParaRPr lang="nl-BE"/>
          </a:p>
        </p:txBody>
      </p:sp>
      <p:sp>
        <p:nvSpPr>
          <p:cNvPr id="3" name="Date Placeholder 2"/>
          <p:cNvSpPr>
            <a:spLocks noGrp="1"/>
          </p:cNvSpPr>
          <p:nvPr>
            <p:ph type="dt" idx="1"/>
          </p:nvPr>
        </p:nvSpPr>
        <p:spPr>
          <a:xfrm>
            <a:off x="5622925" y="0"/>
            <a:ext cx="4302125" cy="339725"/>
          </a:xfrm>
          <a:prstGeom prst="rect">
            <a:avLst/>
          </a:prstGeom>
        </p:spPr>
        <p:txBody>
          <a:bodyPr vert="horz" lIns="91440" tIns="45720" rIns="91440" bIns="45720" rtlCol="0"/>
          <a:lstStyle>
            <a:lvl1pPr algn="r">
              <a:defRPr sz="1200">
                <a:latin typeface="Arial" charset="0"/>
                <a:cs typeface="+mn-cs"/>
              </a:defRPr>
            </a:lvl1pPr>
          </a:lstStyle>
          <a:p>
            <a:pPr>
              <a:defRPr/>
            </a:pPr>
            <a:fld id="{CDDFF241-59E5-40D9-93C1-B69EE96B6870}" type="datetimeFigureOut">
              <a:rPr lang="nl-BE"/>
              <a:pPr>
                <a:defRPr/>
              </a:pPr>
              <a:t>18/05/2017</a:t>
            </a:fld>
            <a:endParaRPr lang="nl-BE"/>
          </a:p>
        </p:txBody>
      </p:sp>
      <p:sp>
        <p:nvSpPr>
          <p:cNvPr id="4" name="Slide Image Placeholder 3"/>
          <p:cNvSpPr>
            <a:spLocks noGrp="1" noRot="1" noChangeAspect="1"/>
          </p:cNvSpPr>
          <p:nvPr>
            <p:ph type="sldImg" idx="2"/>
          </p:nvPr>
        </p:nvSpPr>
        <p:spPr>
          <a:xfrm>
            <a:off x="3263900" y="509588"/>
            <a:ext cx="3398838" cy="2549525"/>
          </a:xfrm>
          <a:prstGeom prst="rect">
            <a:avLst/>
          </a:prstGeom>
          <a:noFill/>
          <a:ln w="12700">
            <a:solidFill>
              <a:prstClr val="black"/>
            </a:solidFill>
          </a:ln>
        </p:spPr>
        <p:txBody>
          <a:bodyPr vert="horz" lIns="91440" tIns="45720" rIns="91440" bIns="45720" rtlCol="0" anchor="ctr"/>
          <a:lstStyle/>
          <a:p>
            <a:pPr lvl="0"/>
            <a:endParaRPr lang="nl-BE" noProof="0" smtClean="0"/>
          </a:p>
        </p:txBody>
      </p:sp>
      <p:sp>
        <p:nvSpPr>
          <p:cNvPr id="5" name="Notes Placeholder 4"/>
          <p:cNvSpPr>
            <a:spLocks noGrp="1"/>
          </p:cNvSpPr>
          <p:nvPr>
            <p:ph type="body" sz="quarter" idx="3"/>
          </p:nvPr>
        </p:nvSpPr>
        <p:spPr>
          <a:xfrm>
            <a:off x="992188" y="3228975"/>
            <a:ext cx="7942262" cy="3059113"/>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nl-BE" noProof="0" smtClean="0"/>
          </a:p>
        </p:txBody>
      </p:sp>
      <p:sp>
        <p:nvSpPr>
          <p:cNvPr id="6" name="Footer Placeholder 5"/>
          <p:cNvSpPr>
            <a:spLocks noGrp="1"/>
          </p:cNvSpPr>
          <p:nvPr>
            <p:ph type="ftr" sz="quarter" idx="4"/>
          </p:nvPr>
        </p:nvSpPr>
        <p:spPr>
          <a:xfrm>
            <a:off x="0" y="6456363"/>
            <a:ext cx="4302125" cy="339725"/>
          </a:xfrm>
          <a:prstGeom prst="rect">
            <a:avLst/>
          </a:prstGeom>
        </p:spPr>
        <p:txBody>
          <a:bodyPr vert="horz" lIns="91440" tIns="45720" rIns="91440" bIns="45720" rtlCol="0" anchor="b"/>
          <a:lstStyle>
            <a:lvl1pPr algn="l">
              <a:defRPr sz="1200">
                <a:latin typeface="Arial" charset="0"/>
                <a:cs typeface="+mn-cs"/>
              </a:defRPr>
            </a:lvl1pPr>
          </a:lstStyle>
          <a:p>
            <a:pPr>
              <a:defRPr/>
            </a:pPr>
            <a:endParaRPr lang="nl-BE"/>
          </a:p>
        </p:txBody>
      </p:sp>
      <p:sp>
        <p:nvSpPr>
          <p:cNvPr id="7" name="Slide Number Placeholder 6"/>
          <p:cNvSpPr>
            <a:spLocks noGrp="1"/>
          </p:cNvSpPr>
          <p:nvPr>
            <p:ph type="sldNum" sz="quarter" idx="5"/>
          </p:nvPr>
        </p:nvSpPr>
        <p:spPr>
          <a:xfrm>
            <a:off x="5622925" y="6456363"/>
            <a:ext cx="4302125" cy="339725"/>
          </a:xfrm>
          <a:prstGeom prst="rect">
            <a:avLst/>
          </a:prstGeom>
        </p:spPr>
        <p:txBody>
          <a:bodyPr vert="horz" lIns="91440" tIns="45720" rIns="91440" bIns="45720" rtlCol="0" anchor="b"/>
          <a:lstStyle>
            <a:lvl1pPr algn="r">
              <a:defRPr sz="1200">
                <a:latin typeface="Arial" charset="0"/>
                <a:cs typeface="+mn-cs"/>
              </a:defRPr>
            </a:lvl1pPr>
          </a:lstStyle>
          <a:p>
            <a:pPr>
              <a:defRPr/>
            </a:pPr>
            <a:fld id="{9CC520DD-2C09-42A5-AAE2-72217186105F}" type="slidenum">
              <a:rPr lang="nl-BE"/>
              <a:pPr>
                <a:defRPr/>
              </a:pPr>
              <a:t>‹#›</a:t>
            </a:fld>
            <a:endParaRPr lang="nl-BE"/>
          </a:p>
        </p:txBody>
      </p:sp>
    </p:spTree>
    <p:extLst>
      <p:ext uri="{BB962C8B-B14F-4D97-AF65-F5344CB8AC3E}">
        <p14:creationId xmlns:p14="http://schemas.microsoft.com/office/powerpoint/2010/main" val="40447025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jdelijke aanduiding voor dia-afbeelding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Tijdelijke aanduiding voor notiti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nl-BE" altLang="en-US" smtClean="0"/>
          </a:p>
        </p:txBody>
      </p:sp>
      <p:sp>
        <p:nvSpPr>
          <p:cNvPr id="59396" name="Tijdelijke aanduiding voor dianummer 3"/>
          <p:cNvSpPr>
            <a:spLocks noGrp="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EF97BCEE-4FBE-4C67-AEA7-921F0B8E167C}" type="slidenum">
              <a:rPr lang="nl-BE" smtClean="0"/>
              <a:pPr eaLnBrk="1" hangingPunct="1">
                <a:defRPr/>
              </a:pPr>
              <a:t>1</a:t>
            </a:fld>
            <a:endParaRPr lang="nl-BE"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DAE7D577-B367-4978-8F30-8B71E2108DCD}" type="slidenum">
              <a:rPr lang="en-US" smtClean="0"/>
              <a:pPr eaLnBrk="1" hangingPunct="1">
                <a:defRPr/>
              </a:pPr>
              <a:t>2</a:t>
            </a:fld>
            <a:endParaRPr lang="en-US" smtClean="0"/>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BAAED11A-68E7-4C51-A4C0-1A9214743C45}" type="slidenum">
              <a:rPr lang="en-US" smtClean="0"/>
              <a:pPr eaLnBrk="1" hangingPunct="1">
                <a:defRPr/>
              </a:pPr>
              <a:t>5</a:t>
            </a:fld>
            <a:endParaRPr lang="en-US" smtClean="0"/>
          </a:p>
        </p:txBody>
      </p:sp>
      <p:sp>
        <p:nvSpPr>
          <p:cNvPr id="747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76CA0080-78D0-426A-9390-0B8FE7F2943F}" type="slidenum">
              <a:rPr lang="en-US" smtClean="0"/>
              <a:pPr eaLnBrk="1" hangingPunct="1">
                <a:defRPr/>
              </a:pPr>
              <a:t>6</a:t>
            </a:fld>
            <a:endParaRPr lang="en-US" smtClean="0"/>
          </a:p>
        </p:txBody>
      </p:sp>
      <p:sp>
        <p:nvSpPr>
          <p:cNvPr id="757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4EF8CB34-CAE3-41E1-B2A4-71244BE12AFE}" type="slidenum">
              <a:rPr lang="en-US" smtClean="0"/>
              <a:pPr eaLnBrk="1" hangingPunct="1">
                <a:defRPr/>
              </a:pPr>
              <a:t>11</a:t>
            </a:fld>
            <a:endParaRPr lang="en-US" smtClean="0"/>
          </a:p>
        </p:txBody>
      </p:sp>
      <p:sp>
        <p:nvSpPr>
          <p:cNvPr id="768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A53E6C52-8FC9-4EBC-A0EB-F8FE116FC122}" type="slidenum">
              <a:rPr lang="en-US" smtClean="0"/>
              <a:pPr eaLnBrk="1" hangingPunct="1">
                <a:defRPr/>
              </a:pPr>
              <a:t>13</a:t>
            </a:fld>
            <a:endParaRPr lang="en-US" smtClean="0"/>
          </a:p>
        </p:txBody>
      </p:sp>
      <p:sp>
        <p:nvSpPr>
          <p:cNvPr id="778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69C51701-B768-4FAE-A7AA-CA56AE2F6176}" type="slidenum">
              <a:rPr lang="nl-BE" smtClean="0"/>
              <a:pPr>
                <a:defRPr/>
              </a:pPr>
              <a:t>36</a:t>
            </a:fld>
            <a:endParaRPr lang="nl-B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6DAC7A47-7DBB-41A3-94A6-530DFAD534FD}" type="slidenum">
              <a:rPr lang="nl-BE" smtClean="0"/>
              <a:pPr>
                <a:defRPr/>
              </a:pPr>
              <a:t>38</a:t>
            </a:fld>
            <a:endParaRPr lang="nl-B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B9DCDACB-B2A2-45A7-AD38-70A2778194B2}" type="slidenum">
              <a:rPr lang="nl-BE" smtClean="0"/>
              <a:pPr>
                <a:defRPr/>
              </a:pPr>
              <a:t>43</a:t>
            </a:fld>
            <a:endParaRPr lang="nl-B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55E2C2FD-1254-413F-9415-D9AA1763D541}" type="slidenum">
              <a:rPr lang="en-US" smtClean="0"/>
              <a:pPr eaLnBrk="1" hangingPunct="1">
                <a:defRPr/>
              </a:pPr>
              <a:t>48</a:t>
            </a:fld>
            <a:endParaRPr lang="en-US" smtClean="0"/>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C3D15D10-09FA-45DF-9EC3-BB410BE5D044}" type="slidenum">
              <a:rPr lang="nl-BE" smtClean="0"/>
              <a:pPr>
                <a:defRPr/>
              </a:pPr>
              <a:t>49</a:t>
            </a:fld>
            <a:endParaRPr lang="nl-B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29DAB4AA-6D45-4DE6-97CA-803A3534DE38}" type="slidenum">
              <a:rPr lang="en-US" smtClean="0"/>
              <a:pPr eaLnBrk="1" hangingPunct="1">
                <a:defRPr/>
              </a:pPr>
              <a:t>51</a:t>
            </a:fld>
            <a:endParaRPr lang="en-US" smtClean="0"/>
          </a:p>
        </p:txBody>
      </p:sp>
      <p:sp>
        <p:nvSpPr>
          <p:cNvPr id="839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D26DA93B-71CB-4EF5-88DC-975FA331E305}" type="slidenum">
              <a:rPr lang="en-US" smtClean="0"/>
              <a:pPr eaLnBrk="1" hangingPunct="1">
                <a:defRPr/>
              </a:pPr>
              <a:t>55</a:t>
            </a:fld>
            <a:endParaRPr lang="en-US" smtClean="0"/>
          </a:p>
        </p:txBody>
      </p:sp>
      <p:sp>
        <p:nvSpPr>
          <p:cNvPr id="849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4" name="Slide Number Placeholder 3"/>
          <p:cNvSpPr>
            <a:spLocks noGrp="1"/>
          </p:cNvSpPr>
          <p:nvPr>
            <p:ph type="sldNum" sz="quarter" idx="5"/>
          </p:nvPr>
        </p:nvSpPr>
        <p:spPr/>
        <p:txBody>
          <a:bodyPr/>
          <a:lstStyle/>
          <a:p>
            <a:pPr>
              <a:defRPr/>
            </a:pPr>
            <a:fld id="{91F4E260-5FEC-4C04-99E5-ACB425218560}" type="slidenum">
              <a:rPr lang="nl-BE" smtClean="0"/>
              <a:pPr>
                <a:defRPr/>
              </a:pPr>
              <a:t>59</a:t>
            </a:fld>
            <a:endParaRPr lang="nl-B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29DAB4AA-6D45-4DE6-97CA-803A3534DE38}" type="slidenum">
              <a:rPr lang="en-US" smtClean="0"/>
              <a:pPr eaLnBrk="1" hangingPunct="1">
                <a:defRPr/>
              </a:pPr>
              <a:t>60</a:t>
            </a:fld>
            <a:endParaRPr lang="en-US" smtClean="0"/>
          </a:p>
        </p:txBody>
      </p:sp>
      <p:sp>
        <p:nvSpPr>
          <p:cNvPr id="839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29DAB4AA-6D45-4DE6-97CA-803A3534DE38}" type="slidenum">
              <a:rPr lang="en-US" smtClean="0"/>
              <a:pPr eaLnBrk="1" hangingPunct="1">
                <a:defRPr/>
              </a:pPr>
              <a:t>61</a:t>
            </a:fld>
            <a:endParaRPr lang="en-US" smtClean="0"/>
          </a:p>
        </p:txBody>
      </p:sp>
      <p:sp>
        <p:nvSpPr>
          <p:cNvPr id="839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nl-BE"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solidFill>
          <a:schemeClr val="bg2"/>
        </a:solidFill>
        <a:effectLst/>
      </p:bgPr>
    </p:bg>
    <p:spTree>
      <p:nvGrpSpPr>
        <p:cNvPr id="1" name=""/>
        <p:cNvGrpSpPr/>
        <p:nvPr/>
      </p:nvGrpSpPr>
      <p:grpSpPr>
        <a:xfrm>
          <a:off x="0" y="0"/>
          <a:ext cx="0" cy="0"/>
          <a:chOff x="0" y="0"/>
          <a:chExt cx="0" cy="0"/>
        </a:xfrm>
      </p:grpSpPr>
      <p:sp>
        <p:nvSpPr>
          <p:cNvPr id="4" name="Rechthoek 19"/>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5" name="Rechthoek 20"/>
          <p:cNvSpPr>
            <a:spLocks noChangeArrowheads="1"/>
          </p:cNvSpPr>
          <p:nvPr/>
        </p:nvSpPr>
        <p:spPr bwMode="white">
          <a:xfrm>
            <a:off x="8991600" y="3175"/>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6" name="Rechthoek 23"/>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7" name="Rechthoek 24"/>
          <p:cNvSpPr>
            <a:spLocks noChangeArrowheads="1"/>
          </p:cNvSpPr>
          <p:nvPr/>
        </p:nvSpPr>
        <p:spPr bwMode="white">
          <a:xfrm>
            <a:off x="0" y="0"/>
            <a:ext cx="9144000" cy="25146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0" name="Rechthoek 25"/>
          <p:cNvSpPr>
            <a:spLocks noChangeArrowheads="1"/>
          </p:cNvSpPr>
          <p:nvPr/>
        </p:nvSpPr>
        <p:spPr bwMode="auto">
          <a:xfrm>
            <a:off x="142875" y="6405563"/>
            <a:ext cx="8858250" cy="309562"/>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11" name="Rechte verbindingslijn 26"/>
          <p:cNvSpPr>
            <a:spLocks noChangeShapeType="1"/>
          </p:cNvSpPr>
          <p:nvPr/>
        </p:nvSpPr>
        <p:spPr bwMode="auto">
          <a:xfrm>
            <a:off x="155575" y="241935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cs typeface="+mn-cs"/>
            </a:endParaRPr>
          </a:p>
        </p:txBody>
      </p:sp>
      <p:sp>
        <p:nvSpPr>
          <p:cNvPr id="12" name="Rechthoek 27"/>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cs typeface="+mn-cs"/>
            </a:endParaRPr>
          </a:p>
        </p:txBody>
      </p:sp>
      <p:sp>
        <p:nvSpPr>
          <p:cNvPr id="13" name="Ovaal 28"/>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al 29"/>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Ondertitel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nl-NL" dirty="0" smtClean="0"/>
              <a:t>Klik om het opmaakprofiel van de modelondertitel te bewerken</a:t>
            </a:r>
            <a:endParaRPr lang="en-US" dirty="0"/>
          </a:p>
        </p:txBody>
      </p:sp>
      <p:sp>
        <p:nvSpPr>
          <p:cNvPr id="8" name="Titel 7"/>
          <p:cNvSpPr>
            <a:spLocks noGrp="1"/>
          </p:cNvSpPr>
          <p:nvPr>
            <p:ph type="ctrTitle"/>
          </p:nvPr>
        </p:nvSpPr>
        <p:spPr>
          <a:xfrm>
            <a:off x="685800" y="381000"/>
            <a:ext cx="7772400" cy="1752600"/>
          </a:xfrm>
        </p:spPr>
        <p:txBody>
          <a:bodyPr/>
          <a:lstStyle>
            <a:lvl1pPr>
              <a:defRPr sz="4200">
                <a:solidFill>
                  <a:srgbClr val="2780B7"/>
                </a:solidFill>
              </a:defRPr>
            </a:lvl1pPr>
          </a:lstStyle>
          <a:p>
            <a:r>
              <a:rPr lang="nl-NL" dirty="0" smtClean="0"/>
              <a:t>Klik om de stijl te bewerken</a:t>
            </a:r>
            <a:endParaRPr lang="en-US" dirty="0"/>
          </a:p>
        </p:txBody>
      </p:sp>
      <p:sp>
        <p:nvSpPr>
          <p:cNvPr id="15" name="Tijdelijke aanduiding voor datum 27"/>
          <p:cNvSpPr>
            <a:spLocks noGrp="1"/>
          </p:cNvSpPr>
          <p:nvPr>
            <p:ph type="dt" sz="half" idx="10"/>
          </p:nvPr>
        </p:nvSpPr>
        <p:spPr/>
        <p:txBody>
          <a:bodyPr/>
          <a:lstStyle>
            <a:lvl1pPr>
              <a:defRPr/>
            </a:lvl1pPr>
          </a:lstStyle>
          <a:p>
            <a:pPr>
              <a:defRPr/>
            </a:pPr>
            <a:r>
              <a:rPr lang="nl-BE"/>
              <a:t>IARC, Lyon - France</a:t>
            </a:r>
            <a:endParaRPr lang="en-US" dirty="0"/>
          </a:p>
        </p:txBody>
      </p:sp>
      <p:sp>
        <p:nvSpPr>
          <p:cNvPr id="16" name="Tijdelijke aanduiding voor voettekst 16"/>
          <p:cNvSpPr>
            <a:spLocks noGrp="1"/>
          </p:cNvSpPr>
          <p:nvPr>
            <p:ph type="ftr" sz="quarter" idx="11"/>
          </p:nvPr>
        </p:nvSpPr>
        <p:spPr/>
        <p:txBody>
          <a:bodyPr/>
          <a:lstStyle>
            <a:lvl1pPr>
              <a:defRPr/>
            </a:lvl1pPr>
          </a:lstStyle>
          <a:p>
            <a:pPr>
              <a:defRPr/>
            </a:pPr>
            <a:r>
              <a:rPr lang="nl-BE"/>
              <a:t>EPIC-Soft training:</a:t>
            </a:r>
            <a:endParaRPr lang="en-US"/>
          </a:p>
        </p:txBody>
      </p:sp>
      <p:sp>
        <p:nvSpPr>
          <p:cNvPr id="17" name="Tijdelijke aanduiding voor dianummer 28"/>
          <p:cNvSpPr>
            <a:spLocks noGrp="1"/>
          </p:cNvSpPr>
          <p:nvPr>
            <p:ph type="sldNum" sz="quarter" idx="12"/>
          </p:nvPr>
        </p:nvSpPr>
        <p:spPr>
          <a:xfrm>
            <a:off x="4343400" y="2198688"/>
            <a:ext cx="457200" cy="441325"/>
          </a:xfrm>
        </p:spPr>
        <p:txBody>
          <a:bodyPr/>
          <a:lstStyle>
            <a:lvl1pPr>
              <a:defRPr sz="1600">
                <a:solidFill>
                  <a:schemeClr val="accent3">
                    <a:shade val="75000"/>
                  </a:schemeClr>
                </a:solidFill>
              </a:defRPr>
            </a:lvl1pPr>
          </a:lstStyle>
          <a:p>
            <a:pPr>
              <a:defRPr/>
            </a:pPr>
            <a:fld id="{AAF11395-A5C9-4C31-B9F9-871F8A074AB4}" type="slidenum">
              <a:rPr lang="en-US"/>
              <a:pPr>
                <a:defRPr/>
              </a:pPr>
              <a:t>‹#›</a:t>
            </a:fld>
            <a:endParaRPr lang="en-US" dirty="0"/>
          </a:p>
        </p:txBody>
      </p:sp>
    </p:spTree>
    <p:extLst>
      <p:ext uri="{BB962C8B-B14F-4D97-AF65-F5344CB8AC3E}">
        <p14:creationId xmlns:p14="http://schemas.microsoft.com/office/powerpoint/2010/main" val="23979238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object">
    <p:bg>
      <p:bgPr>
        <a:solidFill>
          <a:schemeClr val="bg2"/>
        </a:solidFill>
        <a:effectLst/>
      </p:bgPr>
    </p:bg>
    <p:spTree>
      <p:nvGrpSpPr>
        <p:cNvPr id="1" name=""/>
        <p:cNvGrpSpPr/>
        <p:nvPr/>
      </p:nvGrpSpPr>
      <p:grpSpPr>
        <a:xfrm>
          <a:off x="0" y="0"/>
          <a:ext cx="0" cy="0"/>
          <a:chOff x="0" y="0"/>
          <a:chExt cx="0" cy="0"/>
        </a:xfrm>
      </p:grpSpPr>
      <p:sp>
        <p:nvSpPr>
          <p:cNvPr id="8" name="Tijdelijke aanduiding voor inhoud 7"/>
          <p:cNvSpPr>
            <a:spLocks noGrp="1"/>
          </p:cNvSpPr>
          <p:nvPr>
            <p:ph sz="quarter" idx="1"/>
          </p:nvPr>
        </p:nvSpPr>
        <p:spPr>
          <a:xfrm>
            <a:off x="301752" y="1527048"/>
            <a:ext cx="8503920" cy="4572000"/>
          </a:xfrm>
        </p:spPr>
        <p:txBody>
          <a:bodyPr/>
          <a:lstStyle>
            <a:lvl2pPr>
              <a:buClr>
                <a:schemeClr val="accent1"/>
              </a:buClr>
              <a:defRPr>
                <a:solidFill>
                  <a:srgbClr val="2780B7"/>
                </a:solidFill>
              </a:defRPr>
            </a:lvl2pPr>
          </a:lstStyle>
          <a:p>
            <a:pPr lvl="0"/>
            <a:r>
              <a:rPr lang="nl-NL" dirty="0" smtClean="0"/>
              <a:t>Klik om de modelstijlen te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en-US" dirty="0"/>
          </a:p>
        </p:txBody>
      </p:sp>
      <p:sp>
        <p:nvSpPr>
          <p:cNvPr id="7" name="Titel 6"/>
          <p:cNvSpPr>
            <a:spLocks noGrp="1"/>
          </p:cNvSpPr>
          <p:nvPr>
            <p:ph type="title"/>
          </p:nvPr>
        </p:nvSpPr>
        <p:spPr/>
        <p:txBody>
          <a:bodyPr/>
          <a:lstStyle>
            <a:lvl1pPr>
              <a:defRPr>
                <a:solidFill>
                  <a:srgbClr val="2780B7"/>
                </a:solidFill>
              </a:defRPr>
            </a:lvl1pPr>
          </a:lstStyle>
          <a:p>
            <a:r>
              <a:rPr lang="nl-NL" dirty="0" smtClean="0"/>
              <a:t>Klik om de stijl te bewerken</a:t>
            </a:r>
            <a:endParaRPr lang="nl-BE" dirty="0"/>
          </a:p>
        </p:txBody>
      </p:sp>
      <p:sp>
        <p:nvSpPr>
          <p:cNvPr id="4" name="Tijdelijke aanduiding voor datum 8"/>
          <p:cNvSpPr>
            <a:spLocks noGrp="1"/>
          </p:cNvSpPr>
          <p:nvPr>
            <p:ph type="dt" sz="half" idx="10"/>
          </p:nvPr>
        </p:nvSpPr>
        <p:spPr/>
        <p:txBody>
          <a:bodyPr/>
          <a:lstStyle>
            <a:lvl1pPr algn="r" eaLnBrk="1" latinLnBrk="0" hangingPunct="1">
              <a:defRPr/>
            </a:lvl1pPr>
          </a:lstStyle>
          <a:p>
            <a:pPr>
              <a:defRPr/>
            </a:pPr>
            <a:r>
              <a:rPr lang="nl-BE"/>
              <a:t>IARC, Lyon - France</a:t>
            </a:r>
            <a:endParaRPr lang="en-US" dirty="0"/>
          </a:p>
        </p:txBody>
      </p:sp>
      <p:sp>
        <p:nvSpPr>
          <p:cNvPr id="5" name="Tijdelijke aanduiding voor dianummer 9"/>
          <p:cNvSpPr>
            <a:spLocks noGrp="1"/>
          </p:cNvSpPr>
          <p:nvPr>
            <p:ph type="sldNum" sz="quarter" idx="11"/>
          </p:nvPr>
        </p:nvSpPr>
        <p:spPr/>
        <p:txBody>
          <a:bodyPr/>
          <a:lstStyle>
            <a:lvl1pPr>
              <a:defRPr sz="1600"/>
            </a:lvl1pPr>
          </a:lstStyle>
          <a:p>
            <a:pPr>
              <a:defRPr/>
            </a:pPr>
            <a:fld id="{A3B2D468-C2E3-4D8C-B143-87A28B25D272}" type="slidenum">
              <a:rPr lang="en-US"/>
              <a:pPr>
                <a:defRPr/>
              </a:pPr>
              <a:t>‹#›</a:t>
            </a:fld>
            <a:endParaRPr lang="en-US" sz="1800" dirty="0"/>
          </a:p>
        </p:txBody>
      </p:sp>
      <p:sp>
        <p:nvSpPr>
          <p:cNvPr id="6" name="Tijdelijke aanduiding voor voettekst 10"/>
          <p:cNvSpPr>
            <a:spLocks noGrp="1"/>
          </p:cNvSpPr>
          <p:nvPr>
            <p:ph type="ftr" sz="quarter" idx="12"/>
          </p:nvPr>
        </p:nvSpPr>
        <p:spPr/>
        <p:txBody>
          <a:bodyPr/>
          <a:lstStyle>
            <a:lvl1pPr>
              <a:defRPr/>
            </a:lvl1pPr>
          </a:lstStyle>
          <a:p>
            <a:pPr>
              <a:defRPr/>
            </a:pPr>
            <a:r>
              <a:rPr lang="nl-BE"/>
              <a:t>EPIC-Soft training:</a:t>
            </a:r>
            <a:endParaRPr lang="en-US"/>
          </a:p>
        </p:txBody>
      </p:sp>
    </p:spTree>
    <p:extLst>
      <p:ext uri="{BB962C8B-B14F-4D97-AF65-F5344CB8AC3E}">
        <p14:creationId xmlns:p14="http://schemas.microsoft.com/office/powerpoint/2010/main" val="81365738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spTree>
      <p:nvGrpSpPr>
        <p:cNvPr id="1" name=""/>
        <p:cNvGrpSpPr/>
        <p:nvPr/>
      </p:nvGrpSpPr>
      <p:grpSpPr>
        <a:xfrm>
          <a:off x="0" y="0"/>
          <a:ext cx="0" cy="0"/>
          <a:chOff x="0" y="0"/>
          <a:chExt cx="0" cy="0"/>
        </a:xfrm>
      </p:grpSpPr>
      <p:sp>
        <p:nvSpPr>
          <p:cNvPr id="4" name="Rechthoek 19"/>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5" name="Rechthoek 20"/>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6" name="Rechthoek 23"/>
          <p:cNvSpPr>
            <a:spLocks noChangeArrowheads="1"/>
          </p:cNvSpPr>
          <p:nvPr/>
        </p:nvSpPr>
        <p:spPr bwMode="white">
          <a:xfrm>
            <a:off x="0" y="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7" name="Rechthoek 24"/>
          <p:cNvSpPr>
            <a:spLocks noChangeArrowheads="1"/>
          </p:cNvSpPr>
          <p:nvPr/>
        </p:nvSpPr>
        <p:spPr bwMode="white">
          <a:xfrm>
            <a:off x="8991600" y="1905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8" name="Rechthoek 25"/>
          <p:cNvSpPr>
            <a:spLocks noChangeArrowheads="1"/>
          </p:cNvSpPr>
          <p:nvPr/>
        </p:nvSpPr>
        <p:spPr bwMode="white">
          <a:xfrm>
            <a:off x="152400" y="2286000"/>
            <a:ext cx="8832850" cy="304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9" name="Rechthoek 26"/>
          <p:cNvSpPr>
            <a:spLocks noChangeArrowheads="1"/>
          </p:cNvSpPr>
          <p:nvPr/>
        </p:nvSpPr>
        <p:spPr bwMode="auto">
          <a:xfrm>
            <a:off x="155575" y="142875"/>
            <a:ext cx="8832850" cy="213995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0" name="Rechthoek 27"/>
          <p:cNvSpPr>
            <a:spLocks noChangeArrowheads="1"/>
          </p:cNvSpPr>
          <p:nvPr/>
        </p:nvSpPr>
        <p:spPr bwMode="auto">
          <a:xfrm>
            <a:off x="142875" y="6405563"/>
            <a:ext cx="8858250" cy="309562"/>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11" name="Rechthoek 28"/>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cs typeface="+mn-cs"/>
            </a:endParaRPr>
          </a:p>
        </p:txBody>
      </p:sp>
      <p:sp>
        <p:nvSpPr>
          <p:cNvPr id="12" name="Rechte verbindingslijn 29"/>
          <p:cNvSpPr>
            <a:spLocks noChangeShapeType="1"/>
          </p:cNvSpPr>
          <p:nvPr/>
        </p:nvSpPr>
        <p:spPr bwMode="auto">
          <a:xfrm>
            <a:off x="152400" y="2438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cs typeface="+mn-cs"/>
            </a:endParaRPr>
          </a:p>
        </p:txBody>
      </p:sp>
      <p:sp>
        <p:nvSpPr>
          <p:cNvPr id="13" name="Ovaal 30"/>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al 31"/>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ijdelijke aanduiding voor tekst 2"/>
          <p:cNvSpPr>
            <a:spLocks noGrp="1"/>
          </p:cNvSpPr>
          <p:nvPr>
            <p:ph type="body" idx="1"/>
          </p:nvPr>
        </p:nvSpPr>
        <p:spPr>
          <a:xfrm>
            <a:off x="1368426" y="2743200"/>
            <a:ext cx="6480174"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nl-NL" smtClean="0"/>
              <a:t>Klik om de modelstijlen te bewerken</a:t>
            </a:r>
          </a:p>
        </p:txBody>
      </p:sp>
      <p:sp>
        <p:nvSpPr>
          <p:cNvPr id="2" name="Titel 1"/>
          <p:cNvSpPr>
            <a:spLocks noGrp="1"/>
          </p:cNvSpPr>
          <p:nvPr>
            <p:ph type="title"/>
          </p:nvPr>
        </p:nvSpPr>
        <p:spPr>
          <a:xfrm>
            <a:off x="722313" y="533400"/>
            <a:ext cx="7772400" cy="1524000"/>
          </a:xfrm>
        </p:spPr>
        <p:txBody>
          <a:bodyPr/>
          <a:lstStyle>
            <a:lvl1pPr algn="ctr">
              <a:buNone/>
              <a:defRPr sz="4200" b="0" cap="none" baseline="0">
                <a:solidFill>
                  <a:srgbClr val="FFFFFF"/>
                </a:solidFill>
              </a:defRPr>
            </a:lvl1pPr>
          </a:lstStyle>
          <a:p>
            <a:r>
              <a:rPr lang="nl-NL" smtClean="0"/>
              <a:t>Klik om de stijl te bewerken</a:t>
            </a:r>
            <a:endParaRPr lang="en-US"/>
          </a:p>
        </p:txBody>
      </p:sp>
      <p:sp>
        <p:nvSpPr>
          <p:cNvPr id="15" name="Tijdelijke aanduiding voor voettekst 4"/>
          <p:cNvSpPr>
            <a:spLocks noGrp="1"/>
          </p:cNvSpPr>
          <p:nvPr>
            <p:ph type="ftr" sz="quarter" idx="10"/>
          </p:nvPr>
        </p:nvSpPr>
        <p:spPr/>
        <p:txBody>
          <a:bodyPr/>
          <a:lstStyle>
            <a:lvl1pPr>
              <a:defRPr/>
            </a:lvl1pPr>
          </a:lstStyle>
          <a:p>
            <a:pPr>
              <a:defRPr/>
            </a:pPr>
            <a:r>
              <a:rPr lang="nl-BE"/>
              <a:t>EPIC-Soft training:</a:t>
            </a:r>
            <a:endParaRPr lang="en-US"/>
          </a:p>
        </p:txBody>
      </p:sp>
      <p:sp>
        <p:nvSpPr>
          <p:cNvPr id="16" name="Tijdelijke aanduiding voor datum 3"/>
          <p:cNvSpPr>
            <a:spLocks noGrp="1"/>
          </p:cNvSpPr>
          <p:nvPr>
            <p:ph type="dt" sz="half" idx="11"/>
          </p:nvPr>
        </p:nvSpPr>
        <p:spPr/>
        <p:txBody>
          <a:bodyPr/>
          <a:lstStyle>
            <a:lvl1pPr>
              <a:defRPr/>
            </a:lvl1pPr>
          </a:lstStyle>
          <a:p>
            <a:pPr>
              <a:defRPr/>
            </a:pPr>
            <a:r>
              <a:rPr lang="nl-BE"/>
              <a:t>IARC, Lyon - France</a:t>
            </a:r>
            <a:endParaRPr lang="en-US" dirty="0"/>
          </a:p>
        </p:txBody>
      </p:sp>
      <p:sp>
        <p:nvSpPr>
          <p:cNvPr id="17" name="Tijdelijke aanduiding voor dianummer 5"/>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fld id="{DA994648-3F3F-40B6-AE68-EA6742EB8652}" type="slidenum">
              <a:rPr lang="en-US"/>
              <a:pPr>
                <a:defRPr/>
              </a:pPr>
              <a:t>‹#›</a:t>
            </a:fld>
            <a:endParaRPr lang="en-US" sz="1800" dirty="0"/>
          </a:p>
        </p:txBody>
      </p:sp>
    </p:spTree>
    <p:extLst>
      <p:ext uri="{BB962C8B-B14F-4D97-AF65-F5344CB8AC3E}">
        <p14:creationId xmlns:p14="http://schemas.microsoft.com/office/powerpoint/2010/main" val="176577609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bg>
      <p:bgPr>
        <a:solidFill>
          <a:schemeClr val="bg2"/>
        </a:solidFill>
        <a:effectLst/>
      </p:bgPr>
    </p:bg>
    <p:spTree>
      <p:nvGrpSpPr>
        <p:cNvPr id="1" name=""/>
        <p:cNvGrpSpPr/>
        <p:nvPr/>
      </p:nvGrpSpPr>
      <p:grpSpPr>
        <a:xfrm>
          <a:off x="0" y="0"/>
          <a:ext cx="0" cy="0"/>
          <a:chOff x="0" y="0"/>
          <a:chExt cx="0" cy="0"/>
        </a:xfrm>
      </p:grpSpPr>
      <p:sp>
        <p:nvSpPr>
          <p:cNvPr id="5" name="Rechte verbindingslijn 19"/>
          <p:cNvSpPr>
            <a:spLocks noChangeShapeType="1"/>
          </p:cNvSpPr>
          <p:nvPr/>
        </p:nvSpPr>
        <p:spPr bwMode="auto">
          <a:xfrm flipV="1">
            <a:off x="4562475" y="1576388"/>
            <a:ext cx="9525" cy="4818062"/>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Titel 1"/>
          <p:cNvSpPr>
            <a:spLocks noGrp="1"/>
          </p:cNvSpPr>
          <p:nvPr>
            <p:ph type="title"/>
          </p:nvPr>
        </p:nvSpPr>
        <p:spPr>
          <a:xfrm>
            <a:off x="301752" y="228600"/>
            <a:ext cx="8534400" cy="758952"/>
          </a:xfrm>
        </p:spPr>
        <p:txBody>
          <a:bodyPr/>
          <a:lstStyle/>
          <a:p>
            <a:r>
              <a:rPr lang="nl-NL" smtClean="0"/>
              <a:t>Klik om de stijl te bewerken</a:t>
            </a:r>
            <a:endParaRPr lang="en-US"/>
          </a:p>
        </p:txBody>
      </p:sp>
      <p:sp>
        <p:nvSpPr>
          <p:cNvPr id="10" name="Tijdelijke aanduiding voor inhoud 9"/>
          <p:cNvSpPr>
            <a:spLocks noGrp="1"/>
          </p:cNvSpPr>
          <p:nvPr>
            <p:ph sz="half" idx="1"/>
          </p:nvPr>
        </p:nvSpPr>
        <p:spPr>
          <a:xfrm>
            <a:off x="301752" y="1371600"/>
            <a:ext cx="4038600" cy="4681728"/>
          </a:xfrm>
        </p:spPr>
        <p:txBody>
          <a:bodyPr/>
          <a:lstStyle>
            <a:lvl1pPr>
              <a:defRPr sz="2500"/>
            </a:lvl1pPr>
            <a:lvl2pPr>
              <a:defRPr>
                <a:solidFill>
                  <a:srgbClr val="2780B7"/>
                </a:solidFill>
              </a:defRPr>
            </a:lvl2pPr>
          </a:lstStyle>
          <a:p>
            <a:pPr lvl="0"/>
            <a:r>
              <a:rPr lang="nl-NL" dirty="0" smtClean="0"/>
              <a:t>Klik om de modelstijlen te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en-US" dirty="0"/>
          </a:p>
        </p:txBody>
      </p:sp>
      <p:sp>
        <p:nvSpPr>
          <p:cNvPr id="12" name="Tijdelijke aanduiding voor inhoud 11"/>
          <p:cNvSpPr>
            <a:spLocks noGrp="1"/>
          </p:cNvSpPr>
          <p:nvPr>
            <p:ph sz="half" idx="2"/>
          </p:nvPr>
        </p:nvSpPr>
        <p:spPr>
          <a:xfrm>
            <a:off x="4800600" y="1371600"/>
            <a:ext cx="4038600" cy="4681728"/>
          </a:xfrm>
        </p:spPr>
        <p:txBody>
          <a:bodyPr/>
          <a:lstStyle>
            <a:lvl1pPr>
              <a:defRPr sz="2500"/>
            </a:lvl1pPr>
          </a:lstStyle>
          <a:p>
            <a:pPr lvl="0"/>
            <a:r>
              <a:rPr lang="nl-NL" dirty="0" smtClean="0"/>
              <a:t>Klik om de modelstijlen te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en-US" dirty="0"/>
          </a:p>
        </p:txBody>
      </p:sp>
      <p:sp>
        <p:nvSpPr>
          <p:cNvPr id="6" name="Tijdelijke aanduiding voor datum 4"/>
          <p:cNvSpPr>
            <a:spLocks noGrp="1"/>
          </p:cNvSpPr>
          <p:nvPr>
            <p:ph type="dt" sz="half" idx="10"/>
          </p:nvPr>
        </p:nvSpPr>
        <p:spPr>
          <a:xfrm>
            <a:off x="5791200" y="6410325"/>
            <a:ext cx="3044825" cy="365125"/>
          </a:xfrm>
        </p:spPr>
        <p:txBody>
          <a:bodyPr/>
          <a:lstStyle>
            <a:lvl1pPr>
              <a:defRPr/>
            </a:lvl1pPr>
          </a:lstStyle>
          <a:p>
            <a:pPr>
              <a:defRPr/>
            </a:pPr>
            <a:r>
              <a:rPr lang="nl-BE"/>
              <a:t>IARC, Lyon - France</a:t>
            </a:r>
            <a:endParaRPr lang="en-US" dirty="0"/>
          </a:p>
        </p:txBody>
      </p:sp>
      <p:sp>
        <p:nvSpPr>
          <p:cNvPr id="7" name="Tijdelijke aanduiding voor voettekst 5"/>
          <p:cNvSpPr>
            <a:spLocks noGrp="1"/>
          </p:cNvSpPr>
          <p:nvPr>
            <p:ph type="ftr" sz="quarter" idx="11"/>
          </p:nvPr>
        </p:nvSpPr>
        <p:spPr/>
        <p:txBody>
          <a:bodyPr/>
          <a:lstStyle>
            <a:lvl1pPr>
              <a:defRPr/>
            </a:lvl1pPr>
          </a:lstStyle>
          <a:p>
            <a:pPr>
              <a:defRPr/>
            </a:pPr>
            <a:r>
              <a:rPr lang="nl-BE"/>
              <a:t>EPIC-Soft training:</a:t>
            </a:r>
            <a:endParaRPr lang="en-US"/>
          </a:p>
        </p:txBody>
      </p:sp>
      <p:sp>
        <p:nvSpPr>
          <p:cNvPr id="8" name="Tijdelijke aanduiding voor dianummer 6"/>
          <p:cNvSpPr>
            <a:spLocks noGrp="1"/>
          </p:cNvSpPr>
          <p:nvPr>
            <p:ph type="sldNum" sz="quarter" idx="12"/>
          </p:nvPr>
        </p:nvSpPr>
        <p:spPr/>
        <p:txBody>
          <a:bodyPr/>
          <a:lstStyle>
            <a:lvl1pPr>
              <a:defRPr sz="1600"/>
            </a:lvl1pPr>
          </a:lstStyle>
          <a:p>
            <a:pPr>
              <a:defRPr/>
            </a:pPr>
            <a:fld id="{EB578A9C-F380-4E53-AB29-A7A7CF1DE5AD}" type="slidenum">
              <a:rPr lang="en-US"/>
              <a:pPr>
                <a:defRPr/>
              </a:pPr>
              <a:t>‹#›</a:t>
            </a:fld>
            <a:endParaRPr lang="en-US" dirty="0"/>
          </a:p>
        </p:txBody>
      </p:sp>
    </p:spTree>
    <p:extLst>
      <p:ext uri="{BB962C8B-B14F-4D97-AF65-F5344CB8AC3E}">
        <p14:creationId xmlns:p14="http://schemas.microsoft.com/office/powerpoint/2010/main" val="233972030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Vergelijking">
    <p:bg>
      <p:bgPr>
        <a:solidFill>
          <a:schemeClr val="bg2"/>
        </a:solidFill>
        <a:effectLst/>
      </p:bgPr>
    </p:bg>
    <p:spTree>
      <p:nvGrpSpPr>
        <p:cNvPr id="1" name=""/>
        <p:cNvGrpSpPr/>
        <p:nvPr/>
      </p:nvGrpSpPr>
      <p:grpSpPr>
        <a:xfrm>
          <a:off x="0" y="0"/>
          <a:ext cx="0" cy="0"/>
          <a:chOff x="0" y="0"/>
          <a:chExt cx="0" cy="0"/>
        </a:xfrm>
      </p:grpSpPr>
      <p:sp>
        <p:nvSpPr>
          <p:cNvPr id="7" name="Rechte verbindingslijn 19"/>
          <p:cNvSpPr>
            <a:spLocks noChangeShapeType="1"/>
          </p:cNvSpPr>
          <p:nvPr/>
        </p:nvSpPr>
        <p:spPr bwMode="auto">
          <a:xfrm flipV="1">
            <a:off x="4572000" y="2200275"/>
            <a:ext cx="0" cy="4187825"/>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hthoek 20"/>
          <p:cNvSpPr>
            <a:spLocks noChangeArrowheads="1"/>
          </p:cNvSpPr>
          <p:nvPr/>
        </p:nvSpPr>
        <p:spPr bwMode="white">
          <a:xfrm>
            <a:off x="0" y="0"/>
            <a:ext cx="9144000" cy="1447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9" name="Rechthoek 23"/>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0" name="Rechthoek 24"/>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1" name="Rechthoek 25"/>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2" name="Rechthoek 26"/>
          <p:cNvSpPr/>
          <p:nvPr/>
        </p:nvSpPr>
        <p:spPr>
          <a:xfrm>
            <a:off x="152400" y="1371600"/>
            <a:ext cx="8832850"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3" name="Rechthoek 27"/>
          <p:cNvSpPr>
            <a:spLocks noChangeArrowheads="1"/>
          </p:cNvSpPr>
          <p:nvPr/>
        </p:nvSpPr>
        <p:spPr bwMode="auto">
          <a:xfrm>
            <a:off x="146050" y="6403975"/>
            <a:ext cx="8855075"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14" name="Rechte verbindingslijn 28"/>
          <p:cNvSpPr>
            <a:spLocks noChangeShapeType="1"/>
          </p:cNvSpPr>
          <p:nvPr/>
        </p:nvSpPr>
        <p:spPr bwMode="auto">
          <a:xfrm>
            <a:off x="152400" y="1279525"/>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cs typeface="+mn-cs"/>
            </a:endParaRPr>
          </a:p>
        </p:txBody>
      </p:sp>
      <p:sp>
        <p:nvSpPr>
          <p:cNvPr id="15" name="Rechthoek 29"/>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cs typeface="+mn-cs"/>
            </a:endParaRPr>
          </a:p>
        </p:txBody>
      </p:sp>
      <p:sp>
        <p:nvSpPr>
          <p:cNvPr id="16" name="Ovaal 30"/>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7" name="Ovaal 31"/>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ijdelijke aanduiding voor tekst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nl-NL" smtClean="0"/>
              <a:t>Klik om de modelstijlen te bewerken</a:t>
            </a:r>
          </a:p>
        </p:txBody>
      </p:sp>
      <p:sp>
        <p:nvSpPr>
          <p:cNvPr id="4" name="Tijdelijke aanduiding voor tekst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nl-NL" smtClean="0"/>
              <a:t>Klik om de modelstijlen te bewerken</a:t>
            </a:r>
          </a:p>
        </p:txBody>
      </p:sp>
      <p:sp>
        <p:nvSpPr>
          <p:cNvPr id="24" name="Tijdelijke aanduiding voor inhoud 23"/>
          <p:cNvSpPr>
            <a:spLocks noGrp="1"/>
          </p:cNvSpPr>
          <p:nvPr>
            <p:ph sz="quarter" idx="2"/>
          </p:nvPr>
        </p:nvSpPr>
        <p:spPr>
          <a:xfrm>
            <a:off x="301752" y="2471383"/>
            <a:ext cx="4041648" cy="3818404"/>
          </a:xfrm>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en-US"/>
          </a:p>
        </p:txBody>
      </p:sp>
      <p:sp>
        <p:nvSpPr>
          <p:cNvPr id="26" name="Tijdelijke aanduiding voor inhoud 25"/>
          <p:cNvSpPr>
            <a:spLocks noGrp="1"/>
          </p:cNvSpPr>
          <p:nvPr>
            <p:ph sz="quarter" idx="4"/>
          </p:nvPr>
        </p:nvSpPr>
        <p:spPr>
          <a:xfrm>
            <a:off x="4800600" y="2471383"/>
            <a:ext cx="4038600" cy="3822192"/>
          </a:xfrm>
        </p:spPr>
        <p:txBody>
          <a:bodyPr/>
          <a:lstStyle>
            <a:lvl2pPr>
              <a:defRPr>
                <a:solidFill>
                  <a:srgbClr val="2780B7"/>
                </a:solidFill>
              </a:defRPr>
            </a:lvl2pPr>
          </a:lstStyle>
          <a:p>
            <a:pPr lvl="0"/>
            <a:r>
              <a:rPr lang="nl-NL" dirty="0" smtClean="0"/>
              <a:t>Klik om de modelstijlen te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en-US" dirty="0"/>
          </a:p>
        </p:txBody>
      </p:sp>
      <p:sp>
        <p:nvSpPr>
          <p:cNvPr id="23" name="Titel 22"/>
          <p:cNvSpPr>
            <a:spLocks noGrp="1"/>
          </p:cNvSpPr>
          <p:nvPr>
            <p:ph type="title"/>
          </p:nvPr>
        </p:nvSpPr>
        <p:spPr/>
        <p:txBody>
          <a:bodyPr rtlCol="0"/>
          <a:lstStyle/>
          <a:p>
            <a:r>
              <a:rPr lang="nl-NL" smtClean="0"/>
              <a:t>Klik om de stijl te bewerken</a:t>
            </a:r>
            <a:endParaRPr lang="en-US"/>
          </a:p>
        </p:txBody>
      </p:sp>
      <p:sp>
        <p:nvSpPr>
          <p:cNvPr id="18" name="Tijdelijke aanduiding voor datum 6"/>
          <p:cNvSpPr>
            <a:spLocks noGrp="1"/>
          </p:cNvSpPr>
          <p:nvPr>
            <p:ph type="dt" sz="half" idx="10"/>
          </p:nvPr>
        </p:nvSpPr>
        <p:spPr/>
        <p:txBody>
          <a:bodyPr/>
          <a:lstStyle>
            <a:lvl1pPr>
              <a:defRPr/>
            </a:lvl1pPr>
          </a:lstStyle>
          <a:p>
            <a:pPr>
              <a:defRPr/>
            </a:pPr>
            <a:r>
              <a:rPr lang="nl-BE"/>
              <a:t>IARC, Lyon - France</a:t>
            </a:r>
            <a:endParaRPr lang="en-US" dirty="0"/>
          </a:p>
        </p:txBody>
      </p:sp>
      <p:sp>
        <p:nvSpPr>
          <p:cNvPr id="19" name="Tijdelijke aanduiding voor voettekst 7"/>
          <p:cNvSpPr>
            <a:spLocks noGrp="1"/>
          </p:cNvSpPr>
          <p:nvPr>
            <p:ph type="ftr" sz="quarter" idx="11"/>
          </p:nvPr>
        </p:nvSpPr>
        <p:spPr>
          <a:xfrm>
            <a:off x="304800" y="6410325"/>
            <a:ext cx="3581400" cy="365125"/>
          </a:xfrm>
        </p:spPr>
        <p:txBody>
          <a:bodyPr/>
          <a:lstStyle>
            <a:lvl1pPr>
              <a:defRPr/>
            </a:lvl1pPr>
          </a:lstStyle>
          <a:p>
            <a:pPr>
              <a:defRPr/>
            </a:pPr>
            <a:r>
              <a:rPr lang="nl-BE"/>
              <a:t>EPIC-Soft training:</a:t>
            </a:r>
            <a:endParaRPr lang="en-US"/>
          </a:p>
        </p:txBody>
      </p:sp>
      <p:sp>
        <p:nvSpPr>
          <p:cNvPr id="20" name="Tijdelijke aanduiding voor dianummer 8"/>
          <p:cNvSpPr>
            <a:spLocks noGrp="1"/>
          </p:cNvSpPr>
          <p:nvPr>
            <p:ph type="sldNum" sz="quarter" idx="12"/>
          </p:nvPr>
        </p:nvSpPr>
        <p:spPr>
          <a:xfrm>
            <a:off x="4343400" y="1042988"/>
            <a:ext cx="457200" cy="441325"/>
          </a:xfrm>
        </p:spPr>
        <p:txBody>
          <a:bodyPr/>
          <a:lstStyle>
            <a:lvl1pPr algn="ctr">
              <a:defRPr sz="1600"/>
            </a:lvl1pPr>
          </a:lstStyle>
          <a:p>
            <a:pPr>
              <a:defRPr/>
            </a:pPr>
            <a:fld id="{2917A4F2-0ABB-4CBD-B858-275BFBB2154D}" type="slidenum">
              <a:rPr lang="en-US"/>
              <a:pPr>
                <a:defRPr/>
              </a:pPr>
              <a:t>‹#›</a:t>
            </a:fld>
            <a:endParaRPr lang="en-US" dirty="0"/>
          </a:p>
        </p:txBody>
      </p:sp>
    </p:spTree>
    <p:extLst>
      <p:ext uri="{BB962C8B-B14F-4D97-AF65-F5344CB8AC3E}">
        <p14:creationId xmlns:p14="http://schemas.microsoft.com/office/powerpoint/2010/main" val="176692864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en-US"/>
          </a:p>
        </p:txBody>
      </p:sp>
      <p:sp>
        <p:nvSpPr>
          <p:cNvPr id="3" name="Tijdelijke aanduiding voor datum 2"/>
          <p:cNvSpPr>
            <a:spLocks noGrp="1"/>
          </p:cNvSpPr>
          <p:nvPr>
            <p:ph type="dt" sz="half" idx="10"/>
          </p:nvPr>
        </p:nvSpPr>
        <p:spPr/>
        <p:txBody>
          <a:bodyPr/>
          <a:lstStyle>
            <a:lvl1pPr>
              <a:defRPr/>
            </a:lvl1pPr>
          </a:lstStyle>
          <a:p>
            <a:pPr>
              <a:defRPr/>
            </a:pPr>
            <a:r>
              <a:rPr lang="nl-BE"/>
              <a:t>IARC, Lyon - France</a:t>
            </a:r>
            <a:endParaRPr lang="en-US" dirty="0"/>
          </a:p>
        </p:txBody>
      </p:sp>
      <p:sp>
        <p:nvSpPr>
          <p:cNvPr id="4" name="Tijdelijke aanduiding voor voettekst 3"/>
          <p:cNvSpPr>
            <a:spLocks noGrp="1"/>
          </p:cNvSpPr>
          <p:nvPr>
            <p:ph type="ftr" sz="quarter" idx="11"/>
          </p:nvPr>
        </p:nvSpPr>
        <p:spPr/>
        <p:txBody>
          <a:bodyPr/>
          <a:lstStyle>
            <a:lvl1pPr>
              <a:defRPr/>
            </a:lvl1pPr>
          </a:lstStyle>
          <a:p>
            <a:pPr>
              <a:defRPr/>
            </a:pPr>
            <a:r>
              <a:rPr lang="nl-BE"/>
              <a:t>EPIC-Soft training:</a:t>
            </a:r>
            <a:endParaRPr lang="en-US"/>
          </a:p>
        </p:txBody>
      </p:sp>
      <p:sp>
        <p:nvSpPr>
          <p:cNvPr id="5" name="Tijdelijke aanduiding voor dianummer 4"/>
          <p:cNvSpPr>
            <a:spLocks noGrp="1"/>
          </p:cNvSpPr>
          <p:nvPr>
            <p:ph type="sldNum" sz="quarter" idx="12"/>
          </p:nvPr>
        </p:nvSpPr>
        <p:spPr>
          <a:xfrm>
            <a:off x="4343400" y="1036638"/>
            <a:ext cx="457200" cy="441325"/>
          </a:xfrm>
        </p:spPr>
        <p:txBody>
          <a:bodyPr/>
          <a:lstStyle>
            <a:lvl1pPr>
              <a:defRPr sz="1600"/>
            </a:lvl1pPr>
          </a:lstStyle>
          <a:p>
            <a:pPr>
              <a:defRPr/>
            </a:pPr>
            <a:fld id="{6418CE3D-B0AF-4877-9C31-6AAD1C1C13B3}" type="slidenum">
              <a:rPr lang="en-US"/>
              <a:pPr>
                <a:defRPr/>
              </a:pPr>
              <a:t>‹#›</a:t>
            </a:fld>
            <a:endParaRPr lang="en-US" dirty="0"/>
          </a:p>
        </p:txBody>
      </p:sp>
    </p:spTree>
    <p:extLst>
      <p:ext uri="{BB962C8B-B14F-4D97-AF65-F5344CB8AC3E}">
        <p14:creationId xmlns:p14="http://schemas.microsoft.com/office/powerpoint/2010/main" val="1201411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g">
    <p:spTree>
      <p:nvGrpSpPr>
        <p:cNvPr id="1" name=""/>
        <p:cNvGrpSpPr/>
        <p:nvPr/>
      </p:nvGrpSpPr>
      <p:grpSpPr>
        <a:xfrm>
          <a:off x="0" y="0"/>
          <a:ext cx="0" cy="0"/>
          <a:chOff x="0" y="0"/>
          <a:chExt cx="0" cy="0"/>
        </a:xfrm>
      </p:grpSpPr>
      <p:sp>
        <p:nvSpPr>
          <p:cNvPr id="2" name="Rechthoek 27"/>
          <p:cNvSpPr>
            <a:spLocks noChangeArrowheads="1"/>
          </p:cNvSpPr>
          <p:nvPr userDrawn="1"/>
        </p:nvSpPr>
        <p:spPr bwMode="auto">
          <a:xfrm>
            <a:off x="146050" y="6403975"/>
            <a:ext cx="8855075"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3" name="Rechthoek 19"/>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4" name="Rechthoek 20"/>
          <p:cNvSpPr>
            <a:spLocks noChangeArrowheads="1"/>
          </p:cNvSpPr>
          <p:nvPr/>
        </p:nvSpPr>
        <p:spPr bwMode="white">
          <a:xfrm>
            <a:off x="0" y="0"/>
            <a:ext cx="91440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5" name="Rechthoek 23"/>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6" name="Rechthoek 24"/>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7" name="Ovaal 31"/>
          <p:cNvSpPr/>
          <p:nvPr userDrawn="1"/>
        </p:nvSpPr>
        <p:spPr>
          <a:xfrm>
            <a:off x="4357688" y="6357938"/>
            <a:ext cx="428625" cy="428625"/>
          </a:xfrm>
          <a:prstGeom prst="ellipse">
            <a:avLst/>
          </a:prstGeom>
          <a:noFill/>
          <a:ln w="50800" cap="rnd" cmpd="dbl" algn="ctr">
            <a:solidFill>
              <a:schemeClr val="bg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hthoek 29"/>
          <p:cNvSpPr>
            <a:spLocks noChangeArrowheads="1"/>
          </p:cNvSpPr>
          <p:nvPr userDrawn="1"/>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cs typeface="+mn-cs"/>
            </a:endParaRPr>
          </a:p>
        </p:txBody>
      </p:sp>
      <p:sp>
        <p:nvSpPr>
          <p:cNvPr id="9" name="Tijdelijke aanduiding voor datum 1"/>
          <p:cNvSpPr>
            <a:spLocks noGrp="1"/>
          </p:cNvSpPr>
          <p:nvPr>
            <p:ph type="dt" sz="half" idx="10"/>
          </p:nvPr>
        </p:nvSpPr>
        <p:spPr/>
        <p:txBody>
          <a:bodyPr/>
          <a:lstStyle>
            <a:lvl1pPr>
              <a:defRPr/>
            </a:lvl1pPr>
          </a:lstStyle>
          <a:p>
            <a:pPr>
              <a:defRPr/>
            </a:pPr>
            <a:r>
              <a:rPr lang="nl-BE"/>
              <a:t>IARC, Lyon - France</a:t>
            </a:r>
            <a:endParaRPr lang="en-US" dirty="0"/>
          </a:p>
        </p:txBody>
      </p:sp>
      <p:sp>
        <p:nvSpPr>
          <p:cNvPr id="10" name="Tijdelijke aanduiding voor voettekst 2"/>
          <p:cNvSpPr>
            <a:spLocks noGrp="1"/>
          </p:cNvSpPr>
          <p:nvPr>
            <p:ph type="ftr" sz="quarter" idx="11"/>
          </p:nvPr>
        </p:nvSpPr>
        <p:spPr/>
        <p:txBody>
          <a:bodyPr/>
          <a:lstStyle>
            <a:lvl1pPr>
              <a:defRPr/>
            </a:lvl1pPr>
          </a:lstStyle>
          <a:p>
            <a:pPr>
              <a:defRPr/>
            </a:pPr>
            <a:r>
              <a:rPr lang="nl-BE"/>
              <a:t>EPIC-Soft training:</a:t>
            </a:r>
            <a:endParaRPr lang="en-US"/>
          </a:p>
        </p:txBody>
      </p:sp>
      <p:sp>
        <p:nvSpPr>
          <p:cNvPr id="11" name="Tijdelijke aanduiding voor dianummer 3"/>
          <p:cNvSpPr>
            <a:spLocks noGrp="1"/>
          </p:cNvSpPr>
          <p:nvPr>
            <p:ph type="sldNum" sz="quarter" idx="12"/>
          </p:nvPr>
        </p:nvSpPr>
        <p:spPr>
          <a:xfrm>
            <a:off x="4286250" y="6345238"/>
            <a:ext cx="609600" cy="441325"/>
          </a:xfrm>
        </p:spPr>
        <p:txBody>
          <a:bodyPr/>
          <a:lstStyle>
            <a:lvl1pPr>
              <a:defRPr sz="1600">
                <a:solidFill>
                  <a:schemeClr val="bg1"/>
                </a:solidFill>
              </a:defRPr>
            </a:lvl1pPr>
          </a:lstStyle>
          <a:p>
            <a:pPr>
              <a:defRPr/>
            </a:pPr>
            <a:fld id="{44019737-1112-4FD7-B68C-A1BB15E17570}" type="slidenum">
              <a:rPr lang="en-US"/>
              <a:pPr>
                <a:defRPr/>
              </a:pPr>
              <a:t>‹#›</a:t>
            </a:fld>
            <a:endParaRPr lang="en-US" dirty="0"/>
          </a:p>
        </p:txBody>
      </p:sp>
    </p:spTree>
    <p:extLst>
      <p:ext uri="{BB962C8B-B14F-4D97-AF65-F5344CB8AC3E}">
        <p14:creationId xmlns:p14="http://schemas.microsoft.com/office/powerpoint/2010/main" val="787597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oud met bijschrift">
    <p:spTree>
      <p:nvGrpSpPr>
        <p:cNvPr id="1" name=""/>
        <p:cNvGrpSpPr/>
        <p:nvPr/>
      </p:nvGrpSpPr>
      <p:grpSpPr>
        <a:xfrm>
          <a:off x="0" y="0"/>
          <a:ext cx="0" cy="0"/>
          <a:chOff x="0" y="0"/>
          <a:chExt cx="0" cy="0"/>
        </a:xfrm>
      </p:grpSpPr>
      <p:sp>
        <p:nvSpPr>
          <p:cNvPr id="5" name="Rechthoek 19"/>
          <p:cNvSpPr>
            <a:spLocks noChangeArrowheads="1"/>
          </p:cNvSpPr>
          <p:nvPr/>
        </p:nvSpPr>
        <p:spPr bwMode="auto">
          <a:xfrm>
            <a:off x="152400" y="152400"/>
            <a:ext cx="8832850"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6" name="Rechthoek 20"/>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7" name="Rechthoek 23"/>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8" name="Rechthoek 24"/>
          <p:cNvSpPr>
            <a:spLocks noChangeArrowheads="1"/>
          </p:cNvSpPr>
          <p:nvPr/>
        </p:nvSpPr>
        <p:spPr bwMode="white">
          <a:xfrm>
            <a:off x="0" y="0"/>
            <a:ext cx="9144000" cy="119063"/>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9" name="Rechthoek 25"/>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0" name="Rechthoek 26"/>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Rechthoek 27"/>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cs typeface="+mn-cs"/>
            </a:endParaRPr>
          </a:p>
        </p:txBody>
      </p:sp>
      <p:sp>
        <p:nvSpPr>
          <p:cNvPr id="12" name="Rechte verbindingslijn 28"/>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cs typeface="+mn-cs"/>
            </a:endParaRPr>
          </a:p>
        </p:txBody>
      </p:sp>
      <p:sp>
        <p:nvSpPr>
          <p:cNvPr id="13" name="Ovaal 2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al 30"/>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hthoek 31"/>
          <p:cNvSpPr>
            <a:spLocks noChangeArrowheads="1"/>
          </p:cNvSpPr>
          <p:nvPr/>
        </p:nvSpPr>
        <p:spPr bwMode="auto">
          <a:xfrm>
            <a:off x="142875" y="6405563"/>
            <a:ext cx="8858250" cy="309562"/>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2" name="Titel 1"/>
          <p:cNvSpPr>
            <a:spLocks noGrp="1"/>
          </p:cNvSpPr>
          <p:nvPr>
            <p:ph type="title"/>
          </p:nvPr>
        </p:nvSpPr>
        <p:spPr>
          <a:xfrm>
            <a:off x="381000" y="914400"/>
            <a:ext cx="2362200" cy="990600"/>
          </a:xfrm>
        </p:spPr>
        <p:txBody>
          <a:bodyPr>
            <a:noAutofit/>
          </a:bodyPr>
          <a:lstStyle>
            <a:lvl1pPr algn="l">
              <a:buNone/>
              <a:defRPr sz="2200" b="1">
                <a:solidFill>
                  <a:srgbClr val="FFFFFF"/>
                </a:solidFill>
              </a:defRPr>
            </a:lvl1pPr>
          </a:lstStyle>
          <a:p>
            <a:r>
              <a:rPr lang="nl-NL" smtClean="0"/>
              <a:t>Klik om de stijl te bewerken</a:t>
            </a:r>
            <a:endParaRPr lang="en-US"/>
          </a:p>
        </p:txBody>
      </p:sp>
      <p:sp>
        <p:nvSpPr>
          <p:cNvPr id="3" name="Tijdelijke aanduiding voor tekst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nl-NL" smtClean="0"/>
              <a:t>Klik om de modelstijlen te bewerken</a:t>
            </a:r>
          </a:p>
        </p:txBody>
      </p:sp>
      <p:sp>
        <p:nvSpPr>
          <p:cNvPr id="20" name="Tijdelijke aanduiding voor inhoud 19"/>
          <p:cNvSpPr>
            <a:spLocks noGrp="1"/>
          </p:cNvSpPr>
          <p:nvPr>
            <p:ph sz="quarter" idx="1"/>
          </p:nvPr>
        </p:nvSpPr>
        <p:spPr>
          <a:xfrm>
            <a:off x="3124200" y="685800"/>
            <a:ext cx="5638800" cy="5410200"/>
          </a:xfrm>
        </p:spPr>
        <p:txBody>
          <a:bodyPr/>
          <a:lstStyle>
            <a:lvl2pPr>
              <a:defRPr>
                <a:solidFill>
                  <a:srgbClr val="2780B7"/>
                </a:solidFill>
              </a:defRPr>
            </a:lvl2pPr>
          </a:lstStyle>
          <a:p>
            <a:pPr lvl="0"/>
            <a:r>
              <a:rPr lang="nl-NL" dirty="0" smtClean="0"/>
              <a:t>Klik om de modelstijlen te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en-US" dirty="0"/>
          </a:p>
        </p:txBody>
      </p:sp>
      <p:sp>
        <p:nvSpPr>
          <p:cNvPr id="16" name="Tijdelijke aanduiding voor dianummer 6"/>
          <p:cNvSpPr>
            <a:spLocks noGrp="1"/>
          </p:cNvSpPr>
          <p:nvPr>
            <p:ph type="sldNum" sz="quarter" idx="10"/>
          </p:nvPr>
        </p:nvSpPr>
        <p:spPr>
          <a:xfrm>
            <a:off x="1371600" y="312738"/>
            <a:ext cx="457200" cy="441325"/>
          </a:xfrm>
        </p:spPr>
        <p:txBody>
          <a:bodyPr>
            <a:noAutofit/>
          </a:bodyPr>
          <a:lstStyle>
            <a:lvl1pPr>
              <a:defRPr sz="1600">
                <a:solidFill>
                  <a:schemeClr val="accent3">
                    <a:shade val="75000"/>
                  </a:schemeClr>
                </a:solidFill>
              </a:defRPr>
            </a:lvl1pPr>
          </a:lstStyle>
          <a:p>
            <a:pPr>
              <a:defRPr/>
            </a:pPr>
            <a:fld id="{07C81F7C-C3AA-4C92-B607-2FF0B20F4133}" type="slidenum">
              <a:rPr lang="en-US"/>
              <a:pPr>
                <a:defRPr/>
              </a:pPr>
              <a:t>‹#›</a:t>
            </a:fld>
            <a:endParaRPr lang="en-US" dirty="0"/>
          </a:p>
        </p:txBody>
      </p:sp>
      <p:sp>
        <p:nvSpPr>
          <p:cNvPr id="17" name="Tijdelijke aanduiding voor datum 4"/>
          <p:cNvSpPr>
            <a:spLocks noGrp="1"/>
          </p:cNvSpPr>
          <p:nvPr>
            <p:ph type="dt" sz="half" idx="11"/>
          </p:nvPr>
        </p:nvSpPr>
        <p:spPr/>
        <p:txBody>
          <a:bodyPr/>
          <a:lstStyle>
            <a:lvl1pPr>
              <a:defRPr/>
            </a:lvl1pPr>
          </a:lstStyle>
          <a:p>
            <a:pPr>
              <a:defRPr/>
            </a:pPr>
            <a:r>
              <a:rPr lang="nl-BE"/>
              <a:t>IARC, Lyon - France</a:t>
            </a:r>
            <a:endParaRPr lang="en-US" dirty="0"/>
          </a:p>
        </p:txBody>
      </p:sp>
      <p:sp>
        <p:nvSpPr>
          <p:cNvPr id="18" name="Tijdelijke aanduiding voor voettekst 5"/>
          <p:cNvSpPr>
            <a:spLocks noGrp="1"/>
          </p:cNvSpPr>
          <p:nvPr>
            <p:ph type="ftr" sz="quarter" idx="12"/>
          </p:nvPr>
        </p:nvSpPr>
        <p:spPr>
          <a:xfrm>
            <a:off x="301625" y="6410325"/>
            <a:ext cx="3382963" cy="366713"/>
          </a:xfrm>
        </p:spPr>
        <p:txBody>
          <a:bodyPr/>
          <a:lstStyle>
            <a:lvl1pPr>
              <a:defRPr/>
            </a:lvl1pPr>
          </a:lstStyle>
          <a:p>
            <a:pPr>
              <a:defRPr/>
            </a:pPr>
            <a:r>
              <a:rPr lang="nl-BE"/>
              <a:t>EPIC-Soft training:</a:t>
            </a:r>
            <a:endParaRPr lang="en-US"/>
          </a:p>
        </p:txBody>
      </p:sp>
    </p:spTree>
    <p:extLst>
      <p:ext uri="{BB962C8B-B14F-4D97-AF65-F5344CB8AC3E}">
        <p14:creationId xmlns:p14="http://schemas.microsoft.com/office/powerpoint/2010/main" val="559671313"/>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Afbeelding met bijschrift">
    <p:spTree>
      <p:nvGrpSpPr>
        <p:cNvPr id="1" name=""/>
        <p:cNvGrpSpPr/>
        <p:nvPr/>
      </p:nvGrpSpPr>
      <p:grpSpPr>
        <a:xfrm>
          <a:off x="0" y="0"/>
          <a:ext cx="0" cy="0"/>
          <a:chOff x="0" y="0"/>
          <a:chExt cx="0" cy="0"/>
        </a:xfrm>
      </p:grpSpPr>
      <p:sp>
        <p:nvSpPr>
          <p:cNvPr id="5" name="Rechte verbindingslijn 19"/>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cs typeface="+mn-cs"/>
            </a:endParaRPr>
          </a:p>
        </p:txBody>
      </p:sp>
      <p:sp>
        <p:nvSpPr>
          <p:cNvPr id="6" name="Rechthoek 20"/>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7" name="Rechthoek 23"/>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8" name="Rechthoek 24"/>
          <p:cNvSpPr>
            <a:spLocks noChangeArrowheads="1"/>
          </p:cNvSpPr>
          <p:nvPr/>
        </p:nvSpPr>
        <p:spPr bwMode="white">
          <a:xfrm>
            <a:off x="0" y="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9" name="Rechthoek 25"/>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0" name="Rechthoek 26"/>
          <p:cNvSpPr>
            <a:spLocks noChangeArrowheads="1"/>
          </p:cNvSpPr>
          <p:nvPr/>
        </p:nvSpPr>
        <p:spPr bwMode="auto">
          <a:xfrm>
            <a:off x="152400" y="152400"/>
            <a:ext cx="8832850"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11" name="Rechthoek 2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Rechthoek 28"/>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cs typeface="+mn-cs"/>
            </a:endParaRPr>
          </a:p>
        </p:txBody>
      </p:sp>
      <p:sp>
        <p:nvSpPr>
          <p:cNvPr id="13" name="Ovaal 2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al 30"/>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hthoek 31"/>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2" name="Titel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lang="nl-NL" dirty="0" smtClean="0"/>
              <a:t>Klik om de stijl te bewerken</a:t>
            </a:r>
            <a:endParaRPr lang="en-US" dirty="0"/>
          </a:p>
        </p:txBody>
      </p:sp>
      <p:sp>
        <p:nvSpPr>
          <p:cNvPr id="3" name="Tijdelijke aanduiding voor afbeelding 2"/>
          <p:cNvSpPr>
            <a:spLocks noGrp="1"/>
          </p:cNvSpPr>
          <p:nvPr>
            <p:ph type="pic" idx="1"/>
          </p:nvPr>
        </p:nvSpPr>
        <p:spPr>
          <a:xfrm>
            <a:off x="3000375" y="609600"/>
            <a:ext cx="5867400" cy="4267200"/>
          </a:xfrm>
        </p:spPr>
        <p:txBody>
          <a:bodyPr>
            <a:normAutofit/>
          </a:bodyPr>
          <a:lstStyle>
            <a:lvl1pPr marL="0" indent="0">
              <a:buNone/>
              <a:defRPr sz="3200"/>
            </a:lvl1pPr>
          </a:lstStyle>
          <a:p>
            <a:pPr lvl="0"/>
            <a:r>
              <a:rPr lang="nl-NL" noProof="0" smtClean="0"/>
              <a:t>Klik op het pictogram als u een afbeelding wilt toevoegen</a:t>
            </a:r>
            <a:endParaRPr lang="en-US" noProof="0" dirty="0"/>
          </a:p>
        </p:txBody>
      </p:sp>
      <p:sp>
        <p:nvSpPr>
          <p:cNvPr id="4" name="Tijdelijke aanduiding voor tekst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nl-NL" smtClean="0"/>
              <a:t>Klik om de modelstijlen te bewerken</a:t>
            </a:r>
          </a:p>
        </p:txBody>
      </p:sp>
      <p:sp>
        <p:nvSpPr>
          <p:cNvPr id="16" name="Tijdelijke aanduiding voor dianummer 6"/>
          <p:cNvSpPr>
            <a:spLocks noGrp="1"/>
          </p:cNvSpPr>
          <p:nvPr>
            <p:ph type="sldNum" sz="quarter" idx="10"/>
          </p:nvPr>
        </p:nvSpPr>
        <p:spPr>
          <a:xfrm>
            <a:off x="1371600" y="312738"/>
            <a:ext cx="457200" cy="441325"/>
          </a:xfrm>
        </p:spPr>
        <p:txBody>
          <a:bodyPr/>
          <a:lstStyle>
            <a:lvl1pPr>
              <a:defRPr sz="1600"/>
            </a:lvl1pPr>
          </a:lstStyle>
          <a:p>
            <a:pPr>
              <a:defRPr/>
            </a:pPr>
            <a:fld id="{D18EDFDE-3219-49AB-A237-81BC61D80C46}" type="slidenum">
              <a:rPr lang="en-US"/>
              <a:pPr>
                <a:defRPr/>
              </a:pPr>
              <a:t>‹#›</a:t>
            </a:fld>
            <a:endParaRPr lang="en-US" dirty="0"/>
          </a:p>
        </p:txBody>
      </p:sp>
      <p:sp>
        <p:nvSpPr>
          <p:cNvPr id="17" name="Tijdelijke aanduiding voor datum 4"/>
          <p:cNvSpPr>
            <a:spLocks noGrp="1"/>
          </p:cNvSpPr>
          <p:nvPr>
            <p:ph type="dt" sz="half" idx="11"/>
          </p:nvPr>
        </p:nvSpPr>
        <p:spPr>
          <a:xfrm>
            <a:off x="5788025" y="6405563"/>
            <a:ext cx="3044825" cy="365125"/>
          </a:xfrm>
        </p:spPr>
        <p:txBody>
          <a:bodyPr/>
          <a:lstStyle>
            <a:lvl1pPr>
              <a:defRPr/>
            </a:lvl1pPr>
          </a:lstStyle>
          <a:p>
            <a:pPr>
              <a:defRPr/>
            </a:pPr>
            <a:r>
              <a:rPr lang="nl-BE"/>
              <a:t>IARC, Lyon - France</a:t>
            </a:r>
            <a:endParaRPr lang="en-US" dirty="0"/>
          </a:p>
        </p:txBody>
      </p:sp>
      <p:sp>
        <p:nvSpPr>
          <p:cNvPr id="18" name="Tijdelijke aanduiding voor voettekst 5"/>
          <p:cNvSpPr>
            <a:spLocks noGrp="1"/>
          </p:cNvSpPr>
          <p:nvPr>
            <p:ph type="ftr" sz="quarter" idx="12"/>
          </p:nvPr>
        </p:nvSpPr>
        <p:spPr>
          <a:xfrm>
            <a:off x="301625" y="6410325"/>
            <a:ext cx="3584575" cy="366713"/>
          </a:xfrm>
        </p:spPr>
        <p:txBody>
          <a:bodyPr/>
          <a:lstStyle>
            <a:lvl1pPr>
              <a:defRPr/>
            </a:lvl1pPr>
          </a:lstStyle>
          <a:p>
            <a:pPr>
              <a:defRPr/>
            </a:pPr>
            <a:r>
              <a:rPr lang="nl-BE"/>
              <a:t>EPIC-Soft training:</a:t>
            </a:r>
            <a:endParaRPr lang="en-US"/>
          </a:p>
        </p:txBody>
      </p:sp>
    </p:spTree>
    <p:extLst>
      <p:ext uri="{BB962C8B-B14F-4D97-AF65-F5344CB8AC3E}">
        <p14:creationId xmlns:p14="http://schemas.microsoft.com/office/powerpoint/2010/main" val="1507080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en-US"/>
          </a:p>
        </p:txBody>
      </p:sp>
      <p:sp>
        <p:nvSpPr>
          <p:cNvPr id="3" name="Tijdelijke aanduiding voor verticale tekst 2"/>
          <p:cNvSpPr>
            <a:spLocks noGrp="1"/>
          </p:cNvSpPr>
          <p:nvPr>
            <p:ph type="body" orient="vert" idx="1"/>
          </p:nvPr>
        </p:nvSpPr>
        <p:spPr/>
        <p:txBody>
          <a:bodyPr vert="eaVert"/>
          <a:lstStyle/>
          <a:p>
            <a:pPr lvl="0"/>
            <a:r>
              <a:rPr lang="nl-NL" dirty="0" smtClean="0"/>
              <a:t>Klik om de modelstijlen te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en-US" dirty="0"/>
          </a:p>
        </p:txBody>
      </p:sp>
      <p:sp>
        <p:nvSpPr>
          <p:cNvPr id="4" name="Tijdelijke aanduiding voor datum 3"/>
          <p:cNvSpPr>
            <a:spLocks noGrp="1"/>
          </p:cNvSpPr>
          <p:nvPr>
            <p:ph type="dt" sz="half" idx="10"/>
          </p:nvPr>
        </p:nvSpPr>
        <p:spPr/>
        <p:txBody>
          <a:bodyPr/>
          <a:lstStyle>
            <a:lvl1pPr>
              <a:defRPr/>
            </a:lvl1pPr>
          </a:lstStyle>
          <a:p>
            <a:pPr>
              <a:defRPr/>
            </a:pPr>
            <a:r>
              <a:rPr lang="nl-BE"/>
              <a:t>IARC, Lyon - France</a:t>
            </a:r>
            <a:endParaRPr lang="en-US" dirty="0"/>
          </a:p>
        </p:txBody>
      </p:sp>
      <p:sp>
        <p:nvSpPr>
          <p:cNvPr id="5" name="Tijdelijke aanduiding voor voettekst 4"/>
          <p:cNvSpPr>
            <a:spLocks noGrp="1"/>
          </p:cNvSpPr>
          <p:nvPr>
            <p:ph type="ftr" sz="quarter" idx="11"/>
          </p:nvPr>
        </p:nvSpPr>
        <p:spPr/>
        <p:txBody>
          <a:bodyPr/>
          <a:lstStyle>
            <a:lvl1pPr>
              <a:defRPr/>
            </a:lvl1pPr>
          </a:lstStyle>
          <a:p>
            <a:pPr>
              <a:defRPr/>
            </a:pPr>
            <a:r>
              <a:rPr lang="nl-BE"/>
              <a:t>EPIC-Soft training:</a:t>
            </a:r>
            <a:endParaRPr lang="en-US"/>
          </a:p>
        </p:txBody>
      </p:sp>
      <p:sp>
        <p:nvSpPr>
          <p:cNvPr id="6" name="Tijdelijke aanduiding voor dianummer 5"/>
          <p:cNvSpPr>
            <a:spLocks noGrp="1"/>
          </p:cNvSpPr>
          <p:nvPr>
            <p:ph type="sldNum" sz="quarter" idx="12"/>
          </p:nvPr>
        </p:nvSpPr>
        <p:spPr/>
        <p:txBody>
          <a:bodyPr/>
          <a:lstStyle>
            <a:lvl1pPr>
              <a:defRPr sz="1600"/>
            </a:lvl1pPr>
          </a:lstStyle>
          <a:p>
            <a:pPr>
              <a:defRPr/>
            </a:pPr>
            <a:fld id="{1DEFC931-F6ED-4966-9DD3-BF720E6AB22D}" type="slidenum">
              <a:rPr lang="en-US"/>
              <a:pPr>
                <a:defRPr/>
              </a:pPr>
              <a:t>‹#›</a:t>
            </a:fld>
            <a:endParaRPr lang="en-US" sz="1800" dirty="0"/>
          </a:p>
        </p:txBody>
      </p:sp>
    </p:spTree>
    <p:extLst>
      <p:ext uri="{BB962C8B-B14F-4D97-AF65-F5344CB8AC3E}">
        <p14:creationId xmlns:p14="http://schemas.microsoft.com/office/powerpoint/2010/main" val="427561035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e titel en tekst">
    <p:bg>
      <p:bgPr>
        <a:solidFill>
          <a:schemeClr val="bg2"/>
        </a:solidFill>
        <a:effectLst/>
      </p:bgPr>
    </p:bg>
    <p:spTree>
      <p:nvGrpSpPr>
        <p:cNvPr id="1" name=""/>
        <p:cNvGrpSpPr/>
        <p:nvPr/>
      </p:nvGrpSpPr>
      <p:grpSpPr>
        <a:xfrm>
          <a:off x="0" y="0"/>
          <a:ext cx="0" cy="0"/>
          <a:chOff x="0" y="0"/>
          <a:chExt cx="0" cy="0"/>
        </a:xfrm>
      </p:grpSpPr>
      <p:sp>
        <p:nvSpPr>
          <p:cNvPr id="4" name="Rechthoek 19"/>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5" name="Rechthoek 20"/>
          <p:cNvSpPr>
            <a:spLocks noChangeArrowheads="1"/>
          </p:cNvSpPr>
          <p:nvPr/>
        </p:nvSpPr>
        <p:spPr bwMode="white">
          <a:xfrm>
            <a:off x="7010400" y="0"/>
            <a:ext cx="21336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6" name="Rechthoek 23"/>
          <p:cNvSpPr>
            <a:spLocks noChangeArrowheads="1"/>
          </p:cNvSpPr>
          <p:nvPr/>
        </p:nvSpPr>
        <p:spPr bwMode="white">
          <a:xfrm>
            <a:off x="0" y="0"/>
            <a:ext cx="91440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7" name="Rechthoek 24"/>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8" name="Rechthoek 25"/>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9" name="Rechthoek 26"/>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cs typeface="+mn-cs"/>
            </a:endParaRPr>
          </a:p>
        </p:txBody>
      </p:sp>
      <p:sp>
        <p:nvSpPr>
          <p:cNvPr id="10" name="Rechte verbindingslijn 27"/>
          <p:cNvSpPr>
            <a:spLocks noChangeShapeType="1"/>
          </p:cNvSpPr>
          <p:nvPr/>
        </p:nvSpPr>
        <p:spPr bwMode="auto">
          <a:xfrm rot="5400000">
            <a:off x="4021137"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cs typeface="+mn-cs"/>
            </a:endParaRPr>
          </a:p>
        </p:txBody>
      </p:sp>
      <p:sp>
        <p:nvSpPr>
          <p:cNvPr id="11" name="Ovaal 28"/>
          <p:cNvSpPr/>
          <p:nvPr/>
        </p:nvSpPr>
        <p:spPr>
          <a:xfrm>
            <a:off x="6838950"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Ovaal 29"/>
          <p:cNvSpPr/>
          <p:nvPr/>
        </p:nvSpPr>
        <p:spPr>
          <a:xfrm>
            <a:off x="6934200" y="3021013"/>
            <a:ext cx="420688"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ijdelijke aanduiding voor verticale tekst 2"/>
          <p:cNvSpPr>
            <a:spLocks noGrp="1"/>
          </p:cNvSpPr>
          <p:nvPr>
            <p:ph type="body" orient="vert" idx="1"/>
          </p:nvPr>
        </p:nvSpPr>
        <p:spPr>
          <a:xfrm>
            <a:off x="304800" y="304800"/>
            <a:ext cx="6553200" cy="5821366"/>
          </a:xfrm>
        </p:spPr>
        <p:txBody>
          <a:bodyPr vert="eaVert"/>
          <a:lstStyle/>
          <a:p>
            <a:pPr lvl="0"/>
            <a:r>
              <a:rPr lang="nl-NL" dirty="0" smtClean="0"/>
              <a:t>Klik om de modelstijlen te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en-US" dirty="0"/>
          </a:p>
        </p:txBody>
      </p:sp>
      <p:sp>
        <p:nvSpPr>
          <p:cNvPr id="2" name="Verticale titel 1"/>
          <p:cNvSpPr>
            <a:spLocks noGrp="1"/>
          </p:cNvSpPr>
          <p:nvPr>
            <p:ph type="title" orient="vert"/>
          </p:nvPr>
        </p:nvSpPr>
        <p:spPr>
          <a:xfrm>
            <a:off x="7391400" y="304801"/>
            <a:ext cx="1447800" cy="5851525"/>
          </a:xfrm>
        </p:spPr>
        <p:txBody>
          <a:bodyPr vert="eaVert"/>
          <a:lstStyle/>
          <a:p>
            <a:r>
              <a:rPr lang="nl-NL" smtClean="0"/>
              <a:t>Klik om de stijl te bewerken</a:t>
            </a:r>
            <a:endParaRPr lang="en-US"/>
          </a:p>
        </p:txBody>
      </p:sp>
      <p:sp>
        <p:nvSpPr>
          <p:cNvPr id="13" name="Tijdelijke aanduiding voor dianummer 5"/>
          <p:cNvSpPr>
            <a:spLocks noGrp="1"/>
          </p:cNvSpPr>
          <p:nvPr>
            <p:ph type="sldNum" sz="quarter" idx="10"/>
          </p:nvPr>
        </p:nvSpPr>
        <p:spPr>
          <a:xfrm>
            <a:off x="6915150" y="3009900"/>
            <a:ext cx="457200" cy="441325"/>
          </a:xfrm>
        </p:spPr>
        <p:txBody>
          <a:bodyPr/>
          <a:lstStyle>
            <a:lvl1pPr>
              <a:defRPr sz="1600"/>
            </a:lvl1pPr>
          </a:lstStyle>
          <a:p>
            <a:pPr>
              <a:defRPr/>
            </a:pPr>
            <a:fld id="{EF45B821-2BC1-46B2-9787-CB94F08ACEE9}" type="slidenum">
              <a:rPr lang="en-US"/>
              <a:pPr>
                <a:defRPr/>
              </a:pPr>
              <a:t>‹#›</a:t>
            </a:fld>
            <a:endParaRPr lang="en-US" dirty="0"/>
          </a:p>
        </p:txBody>
      </p:sp>
      <p:sp>
        <p:nvSpPr>
          <p:cNvPr id="14" name="Tijdelijke aanduiding voor datum 3"/>
          <p:cNvSpPr>
            <a:spLocks noGrp="1"/>
          </p:cNvSpPr>
          <p:nvPr>
            <p:ph type="dt" sz="half" idx="11"/>
          </p:nvPr>
        </p:nvSpPr>
        <p:spPr/>
        <p:txBody>
          <a:bodyPr/>
          <a:lstStyle>
            <a:lvl1pPr>
              <a:defRPr/>
            </a:lvl1pPr>
          </a:lstStyle>
          <a:p>
            <a:pPr>
              <a:defRPr/>
            </a:pPr>
            <a:r>
              <a:rPr lang="nl-BE"/>
              <a:t>IARC, Lyon - France</a:t>
            </a:r>
            <a:endParaRPr lang="en-US" dirty="0"/>
          </a:p>
        </p:txBody>
      </p:sp>
      <p:sp>
        <p:nvSpPr>
          <p:cNvPr id="15" name="Tijdelijke aanduiding voor voettekst 4"/>
          <p:cNvSpPr>
            <a:spLocks noGrp="1"/>
          </p:cNvSpPr>
          <p:nvPr>
            <p:ph type="ftr" sz="quarter" idx="12"/>
          </p:nvPr>
        </p:nvSpPr>
        <p:spPr/>
        <p:txBody>
          <a:bodyPr/>
          <a:lstStyle>
            <a:lvl1pPr>
              <a:defRPr/>
            </a:lvl1pPr>
          </a:lstStyle>
          <a:p>
            <a:pPr>
              <a:defRPr/>
            </a:pPr>
            <a:r>
              <a:rPr lang="nl-BE"/>
              <a:t>EPIC-Soft training:</a:t>
            </a:r>
            <a:endParaRPr lang="en-US"/>
          </a:p>
        </p:txBody>
      </p:sp>
    </p:spTree>
    <p:extLst>
      <p:ext uri="{BB962C8B-B14F-4D97-AF65-F5344CB8AC3E}">
        <p14:creationId xmlns:p14="http://schemas.microsoft.com/office/powerpoint/2010/main" val="241564548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hthoek 16"/>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027" name="Rechthoek 15"/>
          <p:cNvSpPr>
            <a:spLocks noChangeArrowheads="1"/>
          </p:cNvSpPr>
          <p:nvPr/>
        </p:nvSpPr>
        <p:spPr bwMode="white">
          <a:xfrm>
            <a:off x="0" y="0"/>
            <a:ext cx="9144000" cy="139382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028" name="Rechthoek 17"/>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1029" name="Rechthoek 18"/>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nl-BE" altLang="en-US" smtClean="0"/>
          </a:p>
        </p:txBody>
      </p:sp>
      <p:sp>
        <p:nvSpPr>
          <p:cNvPr id="9" name="Rechthoek 8"/>
          <p:cNvSpPr>
            <a:spLocks noChangeArrowheads="1"/>
          </p:cNvSpPr>
          <p:nvPr/>
        </p:nvSpPr>
        <p:spPr bwMode="auto">
          <a:xfrm>
            <a:off x="142875" y="6405563"/>
            <a:ext cx="8858250" cy="309562"/>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cs typeface="+mn-cs"/>
            </a:endParaRPr>
          </a:p>
        </p:txBody>
      </p:sp>
      <p:sp>
        <p:nvSpPr>
          <p:cNvPr id="14" name="Tijdelijke aanduiding voor datum 13"/>
          <p:cNvSpPr>
            <a:spLocks noGrp="1"/>
          </p:cNvSpPr>
          <p:nvPr>
            <p:ph type="dt" sz="half" idx="2"/>
          </p:nvPr>
        </p:nvSpPr>
        <p:spPr>
          <a:xfrm>
            <a:off x="5791200" y="6405563"/>
            <a:ext cx="3044825" cy="365125"/>
          </a:xfrm>
          <a:prstGeom prst="rect">
            <a:avLst/>
          </a:prstGeom>
        </p:spPr>
        <p:txBody>
          <a:bodyPr vert="horz"/>
          <a:lstStyle>
            <a:lvl1pPr algn="r" eaLnBrk="1" latinLnBrk="0" hangingPunct="1">
              <a:defRPr kumimoji="0" sz="1400">
                <a:solidFill>
                  <a:srgbClr val="FFFFFF"/>
                </a:solidFill>
                <a:latin typeface="+mj-lt"/>
                <a:cs typeface="+mn-cs"/>
              </a:defRPr>
            </a:lvl1pPr>
          </a:lstStyle>
          <a:p>
            <a:pPr>
              <a:defRPr/>
            </a:pPr>
            <a:r>
              <a:rPr lang="nl-BE"/>
              <a:t>IARC, Lyon - France</a:t>
            </a:r>
            <a:endParaRPr lang="en-US" dirty="0"/>
          </a:p>
        </p:txBody>
      </p:sp>
      <p:sp>
        <p:nvSpPr>
          <p:cNvPr id="3" name="Tijdelijke aanduiding voor voettekst 2"/>
          <p:cNvSpPr>
            <a:spLocks noGrp="1"/>
          </p:cNvSpPr>
          <p:nvPr>
            <p:ph type="ftr" sz="quarter" idx="3"/>
          </p:nvPr>
        </p:nvSpPr>
        <p:spPr>
          <a:xfrm>
            <a:off x="304800" y="6410325"/>
            <a:ext cx="3581400" cy="366713"/>
          </a:xfrm>
          <a:prstGeom prst="rect">
            <a:avLst/>
          </a:prstGeom>
        </p:spPr>
        <p:txBody>
          <a:bodyPr vert="horz"/>
          <a:lstStyle>
            <a:lvl1pPr algn="l" eaLnBrk="1" latinLnBrk="0" hangingPunct="1">
              <a:defRPr kumimoji="0" sz="1400">
                <a:solidFill>
                  <a:srgbClr val="FFFFFF"/>
                </a:solidFill>
                <a:latin typeface="+mj-lt"/>
                <a:cs typeface="+mn-cs"/>
              </a:defRPr>
            </a:lvl1pPr>
          </a:lstStyle>
          <a:p>
            <a:pPr>
              <a:defRPr/>
            </a:pPr>
            <a:r>
              <a:rPr lang="nl-BE"/>
              <a:t>EPIC-Soft training:</a:t>
            </a:r>
            <a:endParaRPr lang="en-US"/>
          </a:p>
        </p:txBody>
      </p:sp>
      <p:sp>
        <p:nvSpPr>
          <p:cNvPr id="8" name="Rechthoek 7"/>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cs typeface="+mn-cs"/>
            </a:endParaRPr>
          </a:p>
        </p:txBody>
      </p:sp>
      <p:sp>
        <p:nvSpPr>
          <p:cNvPr id="10" name="Rechte verbindingslijn 9"/>
          <p:cNvSpPr>
            <a:spLocks noChangeShapeType="1"/>
          </p:cNvSpPr>
          <p:nvPr/>
        </p:nvSpPr>
        <p:spPr bwMode="auto">
          <a:xfrm>
            <a:off x="152400" y="1276350"/>
            <a:ext cx="8832850"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cs typeface="+mn-cs"/>
            </a:endParaRPr>
          </a:p>
        </p:txBody>
      </p:sp>
      <p:sp>
        <p:nvSpPr>
          <p:cNvPr id="12" name="Ovaal 11"/>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Ovaal 14"/>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Tijdelijke aanduiding voor dianummer 22"/>
          <p:cNvSpPr>
            <a:spLocks noGrp="1"/>
          </p:cNvSpPr>
          <p:nvPr>
            <p:ph type="sldNum" sz="quarter" idx="4"/>
          </p:nvPr>
        </p:nvSpPr>
        <p:spPr>
          <a:xfrm>
            <a:off x="4343400" y="1039813"/>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latin typeface="+mj-lt"/>
                <a:cs typeface="+mn-cs"/>
              </a:defRPr>
            </a:lvl1pPr>
          </a:lstStyle>
          <a:p>
            <a:pPr>
              <a:defRPr/>
            </a:pPr>
            <a:fld id="{BFF6BC5A-A6AF-4EE1-9C54-2AD4B9A0F2FC}" type="slidenum">
              <a:rPr lang="en-US"/>
              <a:pPr>
                <a:defRPr/>
              </a:pPr>
              <a:t>‹#›</a:t>
            </a:fld>
            <a:endParaRPr lang="en-US" dirty="0"/>
          </a:p>
        </p:txBody>
      </p:sp>
      <p:sp>
        <p:nvSpPr>
          <p:cNvPr id="1038" name="Tijdelijke aanduiding voor titel 21"/>
          <p:cNvSpPr>
            <a:spLocks noGrp="1"/>
          </p:cNvSpPr>
          <p:nvPr>
            <p:ph type="title"/>
          </p:nvPr>
        </p:nvSpPr>
        <p:spPr bwMode="auto">
          <a:xfrm>
            <a:off x="301625" y="228600"/>
            <a:ext cx="8534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nl-NL" altLang="en-US" smtClean="0"/>
              <a:t>Klik om de stijl te bewerken</a:t>
            </a:r>
            <a:endParaRPr lang="en-US" altLang="en-US" smtClean="0"/>
          </a:p>
        </p:txBody>
      </p:sp>
      <p:sp>
        <p:nvSpPr>
          <p:cNvPr id="1039" name="Tijdelijke aanduiding voor tekst 12"/>
          <p:cNvSpPr>
            <a:spLocks noGrp="1"/>
          </p:cNvSpPr>
          <p:nvPr>
            <p:ph type="body" idx="1"/>
          </p:nvPr>
        </p:nvSpPr>
        <p:spPr bwMode="auto">
          <a:xfrm>
            <a:off x="301625" y="1524000"/>
            <a:ext cx="853440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nl-NL" altLang="en-US" smtClean="0"/>
              <a:t>Klik om de modelstijlen te bewerken</a:t>
            </a:r>
          </a:p>
          <a:p>
            <a:pPr lvl="1"/>
            <a:r>
              <a:rPr lang="nl-NL" altLang="en-US" smtClean="0"/>
              <a:t>Tweede niveau</a:t>
            </a:r>
          </a:p>
          <a:p>
            <a:pPr lvl="2"/>
            <a:r>
              <a:rPr lang="nl-NL" altLang="en-US" smtClean="0"/>
              <a:t>Derde niveau</a:t>
            </a:r>
          </a:p>
          <a:p>
            <a:pPr lvl="3"/>
            <a:r>
              <a:rPr lang="nl-NL" altLang="en-US" smtClean="0"/>
              <a:t>Vierde niveau</a:t>
            </a:r>
          </a:p>
          <a:p>
            <a:pPr lvl="4"/>
            <a:r>
              <a:rPr lang="nl-NL" altLang="en-US" smtClean="0"/>
              <a:t>Vijfde niveau</a:t>
            </a:r>
            <a:endParaRPr lang="en-US" altLang="en-US" smtClean="0"/>
          </a:p>
        </p:txBody>
      </p:sp>
    </p:spTree>
  </p:cSld>
  <p:clrMap bg1="lt1" tx1="dk1" bg2="lt2" tx2="dk2" accent1="accent1" accent2="accent2" accent3="accent3" accent4="accent4" accent5="accent5" accent6="accent6" hlink="hlink" folHlink="folHlink"/>
  <p:sldLayoutIdLst>
    <p:sldLayoutId id="2147484563" r:id="rId1"/>
    <p:sldLayoutId id="2147484564" r:id="rId2"/>
    <p:sldLayoutId id="2147484565" r:id="rId3"/>
    <p:sldLayoutId id="2147484566" r:id="rId4"/>
    <p:sldLayoutId id="2147484567" r:id="rId5"/>
    <p:sldLayoutId id="2147484568" r:id="rId6"/>
    <p:sldLayoutId id="2147484569" r:id="rId7"/>
    <p:sldLayoutId id="2147484570" r:id="rId8"/>
    <p:sldLayoutId id="2147484571" r:id="rId9"/>
    <p:sldLayoutId id="2147484572" r:id="rId10"/>
    <p:sldLayoutId id="2147484573" r:id="rId11"/>
  </p:sldLayoutIdLst>
  <p:hf hdr="0"/>
  <p:txStyles>
    <p:titleStyle>
      <a:lvl1pPr algn="ctr" rtl="0" eaLnBrk="0" fontAlgn="base" hangingPunct="0">
        <a:spcBef>
          <a:spcPct val="0"/>
        </a:spcBef>
        <a:spcAft>
          <a:spcPct val="0"/>
        </a:spcAft>
        <a:defRPr sz="3300" kern="1200">
          <a:solidFill>
            <a:srgbClr val="2780B7"/>
          </a:solidFill>
          <a:latin typeface="+mj-lt"/>
          <a:ea typeface="+mj-ea"/>
          <a:cs typeface="+mj-cs"/>
        </a:defRPr>
      </a:lvl1pPr>
      <a:lvl2pPr algn="ctr" rtl="0" eaLnBrk="0" fontAlgn="base" hangingPunct="0">
        <a:spcBef>
          <a:spcPct val="0"/>
        </a:spcBef>
        <a:spcAft>
          <a:spcPct val="0"/>
        </a:spcAft>
        <a:defRPr sz="3300">
          <a:solidFill>
            <a:srgbClr val="2780B7"/>
          </a:solidFill>
          <a:latin typeface="Calibri" pitchFamily="34" charset="0"/>
        </a:defRPr>
      </a:lvl2pPr>
      <a:lvl3pPr algn="ctr" rtl="0" eaLnBrk="0" fontAlgn="base" hangingPunct="0">
        <a:spcBef>
          <a:spcPct val="0"/>
        </a:spcBef>
        <a:spcAft>
          <a:spcPct val="0"/>
        </a:spcAft>
        <a:defRPr sz="3300">
          <a:solidFill>
            <a:srgbClr val="2780B7"/>
          </a:solidFill>
          <a:latin typeface="Calibri" pitchFamily="34" charset="0"/>
        </a:defRPr>
      </a:lvl3pPr>
      <a:lvl4pPr algn="ctr" rtl="0" eaLnBrk="0" fontAlgn="base" hangingPunct="0">
        <a:spcBef>
          <a:spcPct val="0"/>
        </a:spcBef>
        <a:spcAft>
          <a:spcPct val="0"/>
        </a:spcAft>
        <a:defRPr sz="3300">
          <a:solidFill>
            <a:srgbClr val="2780B7"/>
          </a:solidFill>
          <a:latin typeface="Calibri" pitchFamily="34" charset="0"/>
        </a:defRPr>
      </a:lvl4pPr>
      <a:lvl5pPr algn="ctr" rtl="0" eaLnBrk="0" fontAlgn="base" hangingPunct="0">
        <a:spcBef>
          <a:spcPct val="0"/>
        </a:spcBef>
        <a:spcAft>
          <a:spcPct val="0"/>
        </a:spcAft>
        <a:defRPr sz="3300">
          <a:solidFill>
            <a:srgbClr val="2780B7"/>
          </a:solidFill>
          <a:latin typeface="Calibri" pitchFamily="34" charset="0"/>
        </a:defRPr>
      </a:lvl5pPr>
      <a:lvl6pPr marL="457200" algn="ctr" rtl="0" fontAlgn="base">
        <a:spcBef>
          <a:spcPct val="0"/>
        </a:spcBef>
        <a:spcAft>
          <a:spcPct val="0"/>
        </a:spcAft>
        <a:defRPr sz="3300">
          <a:solidFill>
            <a:srgbClr val="7B9899"/>
          </a:solidFill>
          <a:latin typeface="Calibri" pitchFamily="34" charset="0"/>
        </a:defRPr>
      </a:lvl6pPr>
      <a:lvl7pPr marL="914400" algn="ctr" rtl="0" fontAlgn="base">
        <a:spcBef>
          <a:spcPct val="0"/>
        </a:spcBef>
        <a:spcAft>
          <a:spcPct val="0"/>
        </a:spcAft>
        <a:defRPr sz="3300">
          <a:solidFill>
            <a:srgbClr val="7B9899"/>
          </a:solidFill>
          <a:latin typeface="Calibri" pitchFamily="34" charset="0"/>
        </a:defRPr>
      </a:lvl7pPr>
      <a:lvl8pPr marL="1371600" algn="ctr" rtl="0" fontAlgn="base">
        <a:spcBef>
          <a:spcPct val="0"/>
        </a:spcBef>
        <a:spcAft>
          <a:spcPct val="0"/>
        </a:spcAft>
        <a:defRPr sz="3300">
          <a:solidFill>
            <a:srgbClr val="7B9899"/>
          </a:solidFill>
          <a:latin typeface="Calibri" pitchFamily="34" charset="0"/>
        </a:defRPr>
      </a:lvl8pPr>
      <a:lvl9pPr marL="1828800" algn="ctr" rtl="0" fontAlgn="base">
        <a:spcBef>
          <a:spcPct val="0"/>
        </a:spcBef>
        <a:spcAft>
          <a:spcPct val="0"/>
        </a:spcAft>
        <a:defRPr sz="3300">
          <a:solidFill>
            <a:srgbClr val="7B9899"/>
          </a:solidFill>
          <a:latin typeface="Calibri" pitchFamily="34" charset="0"/>
        </a:defRPr>
      </a:lvl9pPr>
    </p:titleStyle>
    <p:bodyStyle>
      <a:lvl1pPr marL="273050" indent="-273050" algn="l" rtl="0" eaLnBrk="0" fontAlgn="base" hangingPunct="0">
        <a:spcBef>
          <a:spcPct val="20000"/>
        </a:spcBef>
        <a:spcAft>
          <a:spcPct val="0"/>
        </a:spcAft>
        <a:buSzPct val="85000"/>
        <a:buFont typeface="Wingdings 2" pitchFamily="18"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Char char="§"/>
        <a:defRPr sz="2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5" name="Ondertitel 14"/>
          <p:cNvSpPr>
            <a:spLocks noGrp="1"/>
          </p:cNvSpPr>
          <p:nvPr>
            <p:ph type="subTitle" idx="1"/>
          </p:nvPr>
        </p:nvSpPr>
        <p:spPr>
          <a:xfrm>
            <a:off x="1371600" y="2819400"/>
            <a:ext cx="6400800" cy="2538413"/>
          </a:xfrm>
          <a:solidFill>
            <a:schemeClr val="bg1"/>
          </a:solidFill>
        </p:spPr>
        <p:txBody>
          <a:bodyPr>
            <a:normAutofit/>
          </a:bodyPr>
          <a:lstStyle/>
          <a:p>
            <a:pPr eaLnBrk="1" fontAlgn="auto" hangingPunct="1">
              <a:spcAft>
                <a:spcPts val="0"/>
              </a:spcAft>
              <a:buFont typeface="Wingdings 2"/>
              <a:buNone/>
              <a:defRPr/>
            </a:pPr>
            <a:r>
              <a:rPr lang="nl-BE" sz="1700" smtClean="0"/>
              <a:t>International </a:t>
            </a:r>
            <a:r>
              <a:rPr lang="nl-BE" sz="1700" dirty="0" smtClean="0"/>
              <a:t>agency </a:t>
            </a:r>
            <a:r>
              <a:rPr lang="nl-BE" sz="1700" dirty="0" err="1" smtClean="0"/>
              <a:t>for</a:t>
            </a:r>
            <a:r>
              <a:rPr lang="nl-BE" sz="1700" dirty="0" smtClean="0"/>
              <a:t> research on </a:t>
            </a:r>
            <a:r>
              <a:rPr lang="nl-BE" sz="1700" dirty="0" err="1" smtClean="0"/>
              <a:t>cancer</a:t>
            </a:r>
            <a:r>
              <a:rPr lang="nl-BE" sz="1700" dirty="0" smtClean="0"/>
              <a:t> </a:t>
            </a:r>
            <a:r>
              <a:rPr lang="nl-BE" sz="1700" dirty="0" err="1" smtClean="0"/>
              <a:t>lyon</a:t>
            </a:r>
            <a:r>
              <a:rPr lang="nl-BE" sz="1700" dirty="0" smtClean="0"/>
              <a:t> - </a:t>
            </a:r>
            <a:r>
              <a:rPr lang="nl-BE" sz="1700" dirty="0" err="1" smtClean="0"/>
              <a:t>france</a:t>
            </a:r>
            <a:endParaRPr lang="nl-BE" sz="1700" dirty="0"/>
          </a:p>
        </p:txBody>
      </p:sp>
      <p:sp>
        <p:nvSpPr>
          <p:cNvPr id="13315" name="Rectangle 2"/>
          <p:cNvSpPr>
            <a:spLocks noGrp="1" noChangeArrowheads="1"/>
          </p:cNvSpPr>
          <p:nvPr>
            <p:ph type="ctrTitle"/>
          </p:nvPr>
        </p:nvSpPr>
        <p:spPr/>
        <p:txBody>
          <a:bodyPr/>
          <a:lstStyle/>
          <a:p>
            <a:pPr eaLnBrk="1" hangingPunct="1"/>
            <a:r>
              <a:rPr lang="nl-BE" altLang="en-US" smtClean="0"/>
              <a:t>GloboDiet databases</a:t>
            </a:r>
            <a:br>
              <a:rPr lang="nl-BE" altLang="en-US" smtClean="0"/>
            </a:br>
            <a:r>
              <a:rPr lang="nl-BE" altLang="en-US" smtClean="0"/>
              <a:t>maintenance</a:t>
            </a:r>
          </a:p>
        </p:txBody>
      </p:sp>
      <p:pic>
        <p:nvPicPr>
          <p:cNvPr id="13316" name="Picture 7" descr="http://monographs.iarc.fr/images/logoiarc.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5429250"/>
            <a:ext cx="3048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380288" y="5602288"/>
            <a:ext cx="1223962" cy="523875"/>
          </a:xfrm>
          <a:prstGeom prst="rect">
            <a:avLst/>
          </a:prstGeom>
          <a:noFill/>
        </p:spPr>
        <p:txBody>
          <a:bodyPr>
            <a:spAutoFit/>
          </a:bodyPr>
          <a:lstStyle/>
          <a:p>
            <a:pPr>
              <a:defRPr/>
            </a:pPr>
            <a:r>
              <a:rPr lang="nl-BE" sz="2800" dirty="0">
                <a:solidFill>
                  <a:schemeClr val="accent1"/>
                </a:solidFill>
                <a:latin typeface="+mj-lt"/>
                <a:ea typeface="+mj-ea"/>
                <a:cs typeface="+mj-cs"/>
              </a:rPr>
              <a:t>e-SMP</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3"/>
          <p:cNvSpPr>
            <a:spLocks noGrp="1" noChangeArrowheads="1"/>
          </p:cNvSpPr>
          <p:nvPr>
            <p:ph type="body" idx="1"/>
          </p:nvPr>
        </p:nvSpPr>
        <p:spPr>
          <a:xfrm>
            <a:off x="357188" y="2743200"/>
            <a:ext cx="8286750" cy="3543300"/>
          </a:xfrm>
        </p:spPr>
        <p:txBody>
          <a:bodyPr>
            <a:noAutofit/>
          </a:bodyPr>
          <a:lstStyle/>
          <a:p>
            <a:pPr marL="514350" indent="-514350" algn="l" eaLnBrk="1" fontAlgn="auto" hangingPunct="1">
              <a:spcAft>
                <a:spcPts val="0"/>
              </a:spcAft>
              <a:buClr>
                <a:schemeClr val="accent1"/>
              </a:buClr>
              <a:buFont typeface="+mj-lt"/>
              <a:buAutoNum type="arabicPeriod"/>
              <a:defRPr/>
            </a:pPr>
            <a:r>
              <a:rPr lang="en-US" sz="2000" cap="none" smtClean="0">
                <a:solidFill>
                  <a:srgbClr val="2780B7"/>
                </a:solidFill>
                <a:hlinkClick r:id="rId3" action="ppaction://hlinksldjump"/>
              </a:rPr>
              <a:t>Introduction</a:t>
            </a:r>
            <a:endParaRPr lang="en-US" sz="2000" cap="none" smtClean="0">
              <a:solidFill>
                <a:srgbClr val="2780B7"/>
              </a:solidFill>
            </a:endParaRPr>
          </a:p>
          <a:p>
            <a:pPr marL="514350" indent="-514350" algn="l" eaLnBrk="1" fontAlgn="auto" hangingPunct="1">
              <a:spcAft>
                <a:spcPts val="0"/>
              </a:spcAft>
              <a:buClr>
                <a:schemeClr val="accent1"/>
              </a:buClr>
              <a:buFont typeface="+mj-lt"/>
              <a:buAutoNum type="arabicPeriod"/>
              <a:defRPr/>
            </a:pPr>
            <a:r>
              <a:rPr lang="en-US" sz="2000" u="sng" cap="none" smtClean="0">
                <a:solidFill>
                  <a:srgbClr val="2780B7"/>
                </a:solidFill>
              </a:rPr>
              <a:t>General information</a:t>
            </a:r>
          </a:p>
          <a:p>
            <a:pPr marL="514350" indent="-514350" algn="l" eaLnBrk="1" fontAlgn="auto" hangingPunct="1">
              <a:spcAft>
                <a:spcPts val="0"/>
              </a:spcAft>
              <a:buClr>
                <a:schemeClr val="accent1"/>
              </a:buClr>
              <a:buFont typeface="+mj-lt"/>
              <a:buAutoNum type="arabicPeriod"/>
              <a:defRPr/>
            </a:pPr>
            <a:r>
              <a:rPr lang="en-US" sz="2000" u="sng" cap="none" smtClean="0">
                <a:solidFill>
                  <a:srgbClr val="2780B7"/>
                </a:solidFill>
              </a:rPr>
              <a:t>Quick list</a:t>
            </a:r>
          </a:p>
          <a:p>
            <a:pPr marL="514350" indent="-514350" algn="l" eaLnBrk="1" fontAlgn="auto" hangingPunct="1">
              <a:spcAft>
                <a:spcPts val="0"/>
              </a:spcAft>
              <a:buClr>
                <a:schemeClr val="accent1"/>
              </a:buClr>
              <a:buFont typeface="+mj-lt"/>
              <a:buAutoNum type="arabicPeriod"/>
              <a:defRPr/>
            </a:pPr>
            <a:r>
              <a:rPr lang="en-US" sz="2000" u="sng" cap="none" smtClean="0">
                <a:solidFill>
                  <a:srgbClr val="2780B7"/>
                </a:solidFill>
              </a:rPr>
              <a:t>Description and quantification</a:t>
            </a:r>
          </a:p>
          <a:p>
            <a:pPr marL="514350" indent="-514350" algn="l" eaLnBrk="1" fontAlgn="auto" hangingPunct="1">
              <a:spcAft>
                <a:spcPts val="0"/>
              </a:spcAft>
              <a:buClr>
                <a:schemeClr val="accent1"/>
              </a:buClr>
              <a:buFont typeface="+mj-lt"/>
              <a:buAutoNum type="arabicPeriod"/>
              <a:defRPr/>
            </a:pPr>
            <a:r>
              <a:rPr lang="en-US" sz="2000" u="sng" cap="none" smtClean="0">
                <a:solidFill>
                  <a:srgbClr val="2780B7"/>
                </a:solidFill>
              </a:rPr>
              <a:t>Controls</a:t>
            </a:r>
          </a:p>
          <a:p>
            <a:pPr marL="514350" indent="-514350" algn="l" eaLnBrk="1" fontAlgn="auto" hangingPunct="1">
              <a:spcAft>
                <a:spcPts val="0"/>
              </a:spcAft>
              <a:buClr>
                <a:schemeClr val="accent1"/>
              </a:buClr>
              <a:buFont typeface="+mj-lt"/>
              <a:buAutoNum type="arabicPeriod"/>
              <a:defRPr/>
            </a:pPr>
            <a:r>
              <a:rPr lang="en-US" sz="2000" u="sng" cap="none" smtClean="0">
                <a:solidFill>
                  <a:srgbClr val="2780B7"/>
                </a:solidFill>
              </a:rPr>
              <a:t>Preparation steps</a:t>
            </a:r>
          </a:p>
          <a:p>
            <a:pPr algn="l" eaLnBrk="1" fontAlgn="auto" hangingPunct="1">
              <a:spcAft>
                <a:spcPts val="0"/>
              </a:spcAft>
              <a:buFont typeface="Wingdings 2"/>
              <a:buNone/>
              <a:defRPr/>
            </a:pPr>
            <a:endParaRPr lang="en-US" sz="1800" dirty="0" smtClean="0"/>
          </a:p>
        </p:txBody>
      </p:sp>
      <p:sp>
        <p:nvSpPr>
          <p:cNvPr id="33794" name="Footer Placeholder 4"/>
          <p:cNvSpPr>
            <a:spLocks noGrp="1"/>
          </p:cNvSpPr>
          <p:nvPr>
            <p:ph type="ftr" sz="quarter" idx="10"/>
          </p:nvPr>
        </p:nvSpPr>
        <p:spPr>
          <a:xfrm>
            <a:off x="304800" y="6410325"/>
            <a:ext cx="3906838" cy="350838"/>
          </a:xfrm>
        </p:spPr>
        <p:txBody>
          <a:bodyPr/>
          <a:lstStyle/>
          <a:p>
            <a:pPr>
              <a:defRPr/>
            </a:pPr>
            <a:r>
              <a:rPr lang="en-GB" smtClean="0"/>
              <a:t>Maintenance</a:t>
            </a:r>
            <a:endParaRPr lang="en-GB" dirty="0"/>
          </a:p>
        </p:txBody>
      </p:sp>
      <p:sp>
        <p:nvSpPr>
          <p:cNvPr id="6" name="Tijdelijke aanduiding voor datum 5"/>
          <p:cNvSpPr>
            <a:spLocks noGrp="1"/>
          </p:cNvSpPr>
          <p:nvPr>
            <p:ph type="dt" sz="quarter" idx="11"/>
          </p:nvPr>
        </p:nvSpPr>
        <p:spPr/>
        <p:txBody>
          <a:bodyPr/>
          <a:lstStyle/>
          <a:p>
            <a:pPr>
              <a:defRPr/>
            </a:pPr>
            <a:r>
              <a:rPr lang="nl-BE" smtClean="0"/>
              <a:t>IARC, Lyon - France</a:t>
            </a:r>
            <a:endParaRPr lang="en-US" dirty="0"/>
          </a:p>
        </p:txBody>
      </p:sp>
      <p:sp>
        <p:nvSpPr>
          <p:cNvPr id="7" name="Tijdelijke aanduiding voor dianummer 6"/>
          <p:cNvSpPr>
            <a:spLocks noGrp="1"/>
          </p:cNvSpPr>
          <p:nvPr>
            <p:ph type="sldNum" sz="quarter" idx="12"/>
          </p:nvPr>
        </p:nvSpPr>
        <p:spPr/>
        <p:txBody>
          <a:bodyPr/>
          <a:lstStyle/>
          <a:p>
            <a:pPr>
              <a:defRPr/>
            </a:pPr>
            <a:fld id="{B6C87786-C34E-4126-B5BE-D6A13A8A9DBA}" type="slidenum">
              <a:rPr lang="en-US" smtClean="0"/>
              <a:pPr>
                <a:defRPr/>
              </a:pPr>
              <a:t>2</a:t>
            </a:fld>
            <a:endParaRPr lang="en-US" dirty="0"/>
          </a:p>
        </p:txBody>
      </p:sp>
      <p:sp>
        <p:nvSpPr>
          <p:cNvPr id="33796" name="Rectangle 2"/>
          <p:cNvSpPr>
            <a:spLocks noGrp="1" noChangeArrowheads="1"/>
          </p:cNvSpPr>
          <p:nvPr>
            <p:ph type="title"/>
          </p:nvPr>
        </p:nvSpPr>
        <p:spPr>
          <a:ln>
            <a:miter lim="800000"/>
            <a:headEnd/>
            <a:tailEnd/>
          </a:ln>
          <a:extLst/>
        </p:spPr>
        <p:txBody>
          <a:bodyPr>
            <a:normAutofit/>
          </a:bodyPr>
          <a:lstStyle/>
          <a:p>
            <a:pPr eaLnBrk="1" fontAlgn="auto" hangingPunct="1">
              <a:spcAft>
                <a:spcPts val="0"/>
              </a:spcAft>
              <a:defRPr/>
            </a:pPr>
            <a:r>
              <a:rPr lang="en-US" smtClean="0">
                <a:effectLst>
                  <a:reflection blurRad="6350" stA="55000" endA="300" endPos="45500" dir="5400000" sy="-100000" algn="bl" rotWithShape="0"/>
                </a:effectLst>
              </a:rPr>
              <a:t>Outline</a:t>
            </a:r>
            <a:endParaRPr lang="en-US" dirty="0" smtClean="0">
              <a:effectLst>
                <a:reflection blurRad="6350" stA="55000" endA="300" endPos="45500" dir="5400000" sy="-100000" algn="bl" rotWithShape="0"/>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4"/>
          <p:cNvSpPr txBox="1">
            <a:spLocks noChangeArrowheads="1"/>
          </p:cNvSpPr>
          <p:nvPr/>
        </p:nvSpPr>
        <p:spPr bwMode="auto">
          <a:xfrm>
            <a:off x="3563938" y="246063"/>
            <a:ext cx="1655762" cy="5905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i="1">
                <a:solidFill>
                  <a:srgbClr val="0000FF"/>
                </a:solidFill>
                <a:latin typeface="Arial" charset="0"/>
              </a:rPr>
              <a:t>Food Classification </a:t>
            </a:r>
          </a:p>
        </p:txBody>
      </p:sp>
      <p:sp>
        <p:nvSpPr>
          <p:cNvPr id="64515" name="Text Box 5"/>
          <p:cNvSpPr txBox="1">
            <a:spLocks noChangeArrowheads="1"/>
          </p:cNvSpPr>
          <p:nvPr/>
        </p:nvSpPr>
        <p:spPr bwMode="auto">
          <a:xfrm>
            <a:off x="874713" y="336550"/>
            <a:ext cx="1757362"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 &amp; Descriptors </a:t>
            </a:r>
          </a:p>
        </p:txBody>
      </p:sp>
      <p:sp>
        <p:nvSpPr>
          <p:cNvPr id="64516" name="Text Box 6"/>
          <p:cNvSpPr txBox="1">
            <a:spLocks noChangeArrowheads="1"/>
          </p:cNvSpPr>
          <p:nvPr/>
        </p:nvSpPr>
        <p:spPr bwMode="auto">
          <a:xfrm>
            <a:off x="895350" y="981075"/>
            <a:ext cx="168116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Facets/Descriptors </a:t>
            </a:r>
          </a:p>
          <a:p>
            <a:pPr algn="ctr" eaLnBrk="1" hangingPunct="1">
              <a:spcBef>
                <a:spcPct val="0"/>
              </a:spcBef>
              <a:buSzTx/>
              <a:buFontTx/>
              <a:buNone/>
            </a:pPr>
            <a:r>
              <a:rPr lang="en-GB" altLang="en-US" sz="1200" b="1" i="1">
                <a:solidFill>
                  <a:srgbClr val="0000FF"/>
                </a:solidFill>
                <a:latin typeface="Arial" charset="0"/>
              </a:rPr>
              <a:t>by Group/Subgroup </a:t>
            </a:r>
          </a:p>
        </p:txBody>
      </p:sp>
      <p:sp>
        <p:nvSpPr>
          <p:cNvPr id="64517" name="Text Box 7"/>
          <p:cNvSpPr txBox="1">
            <a:spLocks noChangeArrowheads="1"/>
          </p:cNvSpPr>
          <p:nvPr/>
        </p:nvSpPr>
        <p:spPr bwMode="auto">
          <a:xfrm>
            <a:off x="395288" y="1560513"/>
            <a:ext cx="1090612"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 Rules </a:t>
            </a:r>
          </a:p>
        </p:txBody>
      </p:sp>
      <p:sp>
        <p:nvSpPr>
          <p:cNvPr id="64518" name="Rectangle 16"/>
          <p:cNvSpPr>
            <a:spLocks noChangeArrowheads="1"/>
          </p:cNvSpPr>
          <p:nvPr/>
        </p:nvSpPr>
        <p:spPr bwMode="auto">
          <a:xfrm>
            <a:off x="5392738" y="2205038"/>
            <a:ext cx="1484312"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Quantification by </a:t>
            </a:r>
          </a:p>
          <a:p>
            <a:pPr algn="ctr" eaLnBrk="1" hangingPunct="1">
              <a:spcBef>
                <a:spcPct val="0"/>
              </a:spcBef>
              <a:buSzTx/>
              <a:buFontTx/>
              <a:buNone/>
            </a:pPr>
            <a:r>
              <a:rPr lang="en-GB" altLang="en-US" sz="1200" b="1" i="1">
                <a:solidFill>
                  <a:srgbClr val="0000FF"/>
                </a:solidFill>
                <a:latin typeface="Arial" charset="0"/>
              </a:rPr>
              <a:t>Group/Subgroup </a:t>
            </a:r>
          </a:p>
        </p:txBody>
      </p:sp>
      <p:sp>
        <p:nvSpPr>
          <p:cNvPr id="64519" name="Rectangle 17"/>
          <p:cNvSpPr>
            <a:spLocks noChangeArrowheads="1"/>
          </p:cNvSpPr>
          <p:nvPr/>
        </p:nvSpPr>
        <p:spPr bwMode="auto">
          <a:xfrm>
            <a:off x="2247900" y="2205038"/>
            <a:ext cx="1460500"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Probing by </a:t>
            </a:r>
          </a:p>
          <a:p>
            <a:pPr algn="ctr" eaLnBrk="1" hangingPunct="1">
              <a:spcBef>
                <a:spcPct val="0"/>
              </a:spcBef>
              <a:buSzTx/>
              <a:buFontTx/>
              <a:buNone/>
            </a:pPr>
            <a:r>
              <a:rPr lang="en-GB" altLang="en-US" sz="1200" b="1" i="1">
                <a:solidFill>
                  <a:srgbClr val="0000FF"/>
                </a:solidFill>
                <a:latin typeface="Arial" charset="0"/>
              </a:rPr>
              <a:t>Group/Subgroup </a:t>
            </a:r>
          </a:p>
        </p:txBody>
      </p:sp>
      <p:sp>
        <p:nvSpPr>
          <p:cNvPr id="64520" name="Rectangle 18"/>
          <p:cNvSpPr>
            <a:spLocks noChangeArrowheads="1"/>
          </p:cNvSpPr>
          <p:nvPr/>
        </p:nvSpPr>
        <p:spPr bwMode="auto">
          <a:xfrm>
            <a:off x="3419475" y="2852738"/>
            <a:ext cx="2201863" cy="3460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a:solidFill>
                  <a:srgbClr val="006600"/>
                </a:solidFill>
                <a:latin typeface="Arial" charset="0"/>
              </a:rPr>
              <a:t>Foods &amp; Shadows </a:t>
            </a:r>
          </a:p>
        </p:txBody>
      </p:sp>
      <p:sp>
        <p:nvSpPr>
          <p:cNvPr id="64521" name="Text Box 19"/>
          <p:cNvSpPr txBox="1">
            <a:spLocks noChangeArrowheads="1"/>
          </p:cNvSpPr>
          <p:nvPr/>
        </p:nvSpPr>
        <p:spPr bwMode="auto">
          <a:xfrm>
            <a:off x="7796213" y="477838"/>
            <a:ext cx="1168400"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Photo Series </a:t>
            </a:r>
          </a:p>
        </p:txBody>
      </p:sp>
      <p:sp>
        <p:nvSpPr>
          <p:cNvPr id="64522" name="Text Box 20"/>
          <p:cNvSpPr txBox="1">
            <a:spLocks noChangeArrowheads="1"/>
          </p:cNvSpPr>
          <p:nvPr/>
        </p:nvSpPr>
        <p:spPr bwMode="auto">
          <a:xfrm>
            <a:off x="7796213" y="790575"/>
            <a:ext cx="777875"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Shapes </a:t>
            </a:r>
          </a:p>
        </p:txBody>
      </p:sp>
      <p:sp>
        <p:nvSpPr>
          <p:cNvPr id="64523" name="Text Box 21"/>
          <p:cNvSpPr txBox="1">
            <a:spLocks noChangeArrowheads="1"/>
          </p:cNvSpPr>
          <p:nvPr/>
        </p:nvSpPr>
        <p:spPr bwMode="auto">
          <a:xfrm>
            <a:off x="7956550" y="1511300"/>
            <a:ext cx="539750"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HHM</a:t>
            </a:r>
          </a:p>
        </p:txBody>
      </p:sp>
      <p:sp>
        <p:nvSpPr>
          <p:cNvPr id="64524" name="Text Box 22"/>
          <p:cNvSpPr txBox="1">
            <a:spLocks noChangeArrowheads="1"/>
          </p:cNvSpPr>
          <p:nvPr/>
        </p:nvSpPr>
        <p:spPr bwMode="auto">
          <a:xfrm>
            <a:off x="7956550" y="1196975"/>
            <a:ext cx="981075"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Thickness </a:t>
            </a:r>
          </a:p>
        </p:txBody>
      </p:sp>
      <p:sp>
        <p:nvSpPr>
          <p:cNvPr id="64525" name="Rectangle 25"/>
          <p:cNvSpPr>
            <a:spLocks noChangeArrowheads="1"/>
          </p:cNvSpPr>
          <p:nvPr/>
        </p:nvSpPr>
        <p:spPr bwMode="auto">
          <a:xfrm>
            <a:off x="704850" y="3963988"/>
            <a:ext cx="1490663"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400" b="1">
                <a:solidFill>
                  <a:srgbClr val="006600"/>
                </a:solidFill>
                <a:latin typeface="Arial" charset="0"/>
              </a:rPr>
              <a:t>Facets by food </a:t>
            </a:r>
          </a:p>
        </p:txBody>
      </p:sp>
      <p:sp>
        <p:nvSpPr>
          <p:cNvPr id="64526" name="Rectangle 26"/>
          <p:cNvSpPr>
            <a:spLocks noChangeArrowheads="1"/>
          </p:cNvSpPr>
          <p:nvPr/>
        </p:nvSpPr>
        <p:spPr bwMode="auto">
          <a:xfrm>
            <a:off x="704850" y="4365625"/>
            <a:ext cx="1116013"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Brand name </a:t>
            </a:r>
          </a:p>
        </p:txBody>
      </p:sp>
      <p:sp>
        <p:nvSpPr>
          <p:cNvPr id="64527" name="Rectangle 27"/>
          <p:cNvSpPr>
            <a:spLocks noChangeArrowheads="1"/>
          </p:cNvSpPr>
          <p:nvPr/>
        </p:nvSpPr>
        <p:spPr bwMode="auto">
          <a:xfrm>
            <a:off x="6675438" y="3459163"/>
            <a:ext cx="2217737"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400" b="1">
                <a:solidFill>
                  <a:srgbClr val="006600"/>
                </a:solidFill>
                <a:latin typeface="Arial" charset="0"/>
              </a:rPr>
              <a:t>Quantifications by food </a:t>
            </a:r>
          </a:p>
        </p:txBody>
      </p:sp>
      <p:sp>
        <p:nvSpPr>
          <p:cNvPr id="64528" name="Rectangle 28"/>
          <p:cNvSpPr>
            <a:spLocks noChangeArrowheads="1"/>
          </p:cNvSpPr>
          <p:nvPr/>
        </p:nvSpPr>
        <p:spPr bwMode="auto">
          <a:xfrm>
            <a:off x="7451725" y="4078288"/>
            <a:ext cx="1262063"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Standard units</a:t>
            </a:r>
          </a:p>
        </p:txBody>
      </p:sp>
      <p:sp>
        <p:nvSpPr>
          <p:cNvPr id="64529" name="Rectangle 29"/>
          <p:cNvSpPr>
            <a:spLocks noChangeArrowheads="1"/>
          </p:cNvSpPr>
          <p:nvPr/>
        </p:nvSpPr>
        <p:spPr bwMode="auto">
          <a:xfrm>
            <a:off x="7451725" y="4438650"/>
            <a:ext cx="1508125"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Standard portions</a:t>
            </a:r>
          </a:p>
        </p:txBody>
      </p:sp>
      <p:sp>
        <p:nvSpPr>
          <p:cNvPr id="64530" name="Rectangle 30"/>
          <p:cNvSpPr>
            <a:spLocks noChangeArrowheads="1"/>
          </p:cNvSpPr>
          <p:nvPr/>
        </p:nvSpPr>
        <p:spPr bwMode="auto">
          <a:xfrm>
            <a:off x="6354763" y="4873625"/>
            <a:ext cx="785812"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Density </a:t>
            </a:r>
          </a:p>
        </p:txBody>
      </p:sp>
      <p:sp>
        <p:nvSpPr>
          <p:cNvPr id="64531" name="Rectangle 31"/>
          <p:cNvSpPr>
            <a:spLocks noChangeArrowheads="1"/>
          </p:cNvSpPr>
          <p:nvPr/>
        </p:nvSpPr>
        <p:spPr bwMode="auto">
          <a:xfrm>
            <a:off x="6354763" y="5808663"/>
            <a:ext cx="1312862"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Raw to cooked </a:t>
            </a:r>
          </a:p>
        </p:txBody>
      </p:sp>
      <p:sp>
        <p:nvSpPr>
          <p:cNvPr id="64532" name="Rectangle 32"/>
          <p:cNvSpPr>
            <a:spLocks noChangeArrowheads="1"/>
          </p:cNvSpPr>
          <p:nvPr/>
        </p:nvSpPr>
        <p:spPr bwMode="auto">
          <a:xfrm>
            <a:off x="6354763" y="5373688"/>
            <a:ext cx="1025525"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Edible part </a:t>
            </a:r>
          </a:p>
        </p:txBody>
      </p:sp>
      <p:sp>
        <p:nvSpPr>
          <p:cNvPr id="64533" name="Rectangle 33"/>
          <p:cNvSpPr>
            <a:spLocks noChangeArrowheads="1"/>
          </p:cNvSpPr>
          <p:nvPr/>
        </p:nvSpPr>
        <p:spPr bwMode="auto">
          <a:xfrm>
            <a:off x="1116013" y="4875213"/>
            <a:ext cx="1874837"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 Fats during cooking </a:t>
            </a:r>
          </a:p>
        </p:txBody>
      </p:sp>
      <p:sp>
        <p:nvSpPr>
          <p:cNvPr id="64534" name="Rectangle 34"/>
          <p:cNvSpPr>
            <a:spLocks noChangeArrowheads="1"/>
          </p:cNvSpPr>
          <p:nvPr/>
        </p:nvSpPr>
        <p:spPr bwMode="auto">
          <a:xfrm>
            <a:off x="1116013" y="5232400"/>
            <a:ext cx="2189162"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 Fats/Sauces/Sweeteners </a:t>
            </a:r>
          </a:p>
        </p:txBody>
      </p:sp>
      <p:sp>
        <p:nvSpPr>
          <p:cNvPr id="64535" name="Rectangle 35"/>
          <p:cNvSpPr>
            <a:spLocks noChangeArrowheads="1"/>
          </p:cNvSpPr>
          <p:nvPr/>
        </p:nvSpPr>
        <p:spPr bwMode="auto">
          <a:xfrm>
            <a:off x="179388" y="2924175"/>
            <a:ext cx="1439862"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 Fats/sauces left over</a:t>
            </a:r>
          </a:p>
        </p:txBody>
      </p:sp>
      <p:sp>
        <p:nvSpPr>
          <p:cNvPr id="64536" name="Rectangle 36"/>
          <p:cNvSpPr>
            <a:spLocks noChangeArrowheads="1"/>
          </p:cNvSpPr>
          <p:nvPr/>
        </p:nvSpPr>
        <p:spPr bwMode="auto">
          <a:xfrm>
            <a:off x="3276600" y="4868863"/>
            <a:ext cx="1493838"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Probings by food </a:t>
            </a:r>
          </a:p>
        </p:txBody>
      </p:sp>
      <p:sp>
        <p:nvSpPr>
          <p:cNvPr id="64537" name="Rectangle 37"/>
          <p:cNvSpPr>
            <a:spLocks noChangeArrowheads="1"/>
          </p:cNvSpPr>
          <p:nvPr/>
        </p:nvSpPr>
        <p:spPr bwMode="auto">
          <a:xfrm>
            <a:off x="5076825" y="4868863"/>
            <a:ext cx="793750"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Maxima </a:t>
            </a:r>
          </a:p>
        </p:txBody>
      </p:sp>
      <p:sp>
        <p:nvSpPr>
          <p:cNvPr id="64538" name="Rectangle 38"/>
          <p:cNvSpPr>
            <a:spLocks noChangeArrowheads="1"/>
          </p:cNvSpPr>
          <p:nvPr/>
        </p:nvSpPr>
        <p:spPr bwMode="auto">
          <a:xfrm>
            <a:off x="5076825" y="5267325"/>
            <a:ext cx="1008063"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Nutritional </a:t>
            </a:r>
          </a:p>
          <a:p>
            <a:pPr algn="ctr" eaLnBrk="1" hangingPunct="1">
              <a:spcBef>
                <a:spcPct val="0"/>
              </a:spcBef>
              <a:buSzTx/>
              <a:buFontTx/>
              <a:buNone/>
            </a:pPr>
            <a:r>
              <a:rPr lang="en-GB" altLang="en-US" sz="1200" b="1">
                <a:solidFill>
                  <a:srgbClr val="006600"/>
                </a:solidFill>
                <a:latin typeface="Arial" charset="0"/>
              </a:rPr>
              <a:t>values </a:t>
            </a:r>
          </a:p>
        </p:txBody>
      </p:sp>
      <p:sp>
        <p:nvSpPr>
          <p:cNvPr id="64539" name="Line 53"/>
          <p:cNvSpPr>
            <a:spLocks noChangeShapeType="1"/>
          </p:cNvSpPr>
          <p:nvPr/>
        </p:nvSpPr>
        <p:spPr bwMode="auto">
          <a:xfrm flipH="1">
            <a:off x="2555875" y="620713"/>
            <a:ext cx="1008063" cy="5762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0" name="Line 54"/>
          <p:cNvSpPr>
            <a:spLocks noChangeShapeType="1"/>
          </p:cNvSpPr>
          <p:nvPr/>
        </p:nvSpPr>
        <p:spPr bwMode="auto">
          <a:xfrm flipH="1">
            <a:off x="2843213" y="620713"/>
            <a:ext cx="720725" cy="158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1" name="Line 55"/>
          <p:cNvSpPr>
            <a:spLocks noChangeShapeType="1"/>
          </p:cNvSpPr>
          <p:nvPr/>
        </p:nvSpPr>
        <p:spPr bwMode="auto">
          <a:xfrm>
            <a:off x="5219700" y="620713"/>
            <a:ext cx="431800" cy="158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2" name="Line 57"/>
          <p:cNvSpPr>
            <a:spLocks noChangeShapeType="1"/>
          </p:cNvSpPr>
          <p:nvPr/>
        </p:nvSpPr>
        <p:spPr bwMode="auto">
          <a:xfrm flipH="1">
            <a:off x="5795963" y="836613"/>
            <a:ext cx="0" cy="13684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3" name="AutoShape 58"/>
          <p:cNvSpPr>
            <a:spLocks/>
          </p:cNvSpPr>
          <p:nvPr/>
        </p:nvSpPr>
        <p:spPr bwMode="auto">
          <a:xfrm>
            <a:off x="7596188" y="404813"/>
            <a:ext cx="288925" cy="792162"/>
          </a:xfrm>
          <a:prstGeom prst="leftBrace">
            <a:avLst>
              <a:gd name="adj1" fmla="val 22848"/>
              <a:gd name="adj2" fmla="val 50000"/>
            </a:avLst>
          </a:prstGeom>
          <a:noFill/>
          <a:ln w="19050">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4544" name="Line 59"/>
          <p:cNvSpPr>
            <a:spLocks noChangeShapeType="1"/>
          </p:cNvSpPr>
          <p:nvPr/>
        </p:nvSpPr>
        <p:spPr bwMode="auto">
          <a:xfrm flipH="1">
            <a:off x="7596188" y="801688"/>
            <a:ext cx="0" cy="262731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5" name="Line 60"/>
          <p:cNvSpPr>
            <a:spLocks noChangeShapeType="1"/>
          </p:cNvSpPr>
          <p:nvPr/>
        </p:nvSpPr>
        <p:spPr bwMode="auto">
          <a:xfrm>
            <a:off x="4356100" y="836613"/>
            <a:ext cx="0" cy="20161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6" name="Line 61"/>
          <p:cNvSpPr>
            <a:spLocks noChangeShapeType="1"/>
          </p:cNvSpPr>
          <p:nvPr/>
        </p:nvSpPr>
        <p:spPr bwMode="auto">
          <a:xfrm>
            <a:off x="1908175" y="1484313"/>
            <a:ext cx="0" cy="244951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7" name="Line 62"/>
          <p:cNvSpPr>
            <a:spLocks noChangeShapeType="1"/>
          </p:cNvSpPr>
          <p:nvPr/>
        </p:nvSpPr>
        <p:spPr bwMode="auto">
          <a:xfrm flipH="1">
            <a:off x="2195513" y="3213100"/>
            <a:ext cx="1368425" cy="8636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8" name="Line 63"/>
          <p:cNvSpPr>
            <a:spLocks noChangeShapeType="1"/>
          </p:cNvSpPr>
          <p:nvPr/>
        </p:nvSpPr>
        <p:spPr bwMode="auto">
          <a:xfrm flipH="1">
            <a:off x="2555875" y="3213100"/>
            <a:ext cx="1008063"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9" name="Line 64"/>
          <p:cNvSpPr>
            <a:spLocks noChangeShapeType="1"/>
          </p:cNvSpPr>
          <p:nvPr/>
        </p:nvSpPr>
        <p:spPr bwMode="auto">
          <a:xfrm>
            <a:off x="3563938" y="3213100"/>
            <a:ext cx="576262"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0" name="Line 66"/>
          <p:cNvSpPr>
            <a:spLocks noChangeShapeType="1"/>
          </p:cNvSpPr>
          <p:nvPr/>
        </p:nvSpPr>
        <p:spPr bwMode="auto">
          <a:xfrm>
            <a:off x="5292725" y="3213100"/>
            <a:ext cx="1223963"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1" name="Line 67"/>
          <p:cNvSpPr>
            <a:spLocks noChangeShapeType="1"/>
          </p:cNvSpPr>
          <p:nvPr/>
        </p:nvSpPr>
        <p:spPr bwMode="auto">
          <a:xfrm>
            <a:off x="5327650" y="3213100"/>
            <a:ext cx="1331913" cy="358775"/>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2" name="Text Box 78"/>
          <p:cNvSpPr txBox="1">
            <a:spLocks noChangeArrowheads="1"/>
          </p:cNvSpPr>
          <p:nvPr/>
        </p:nvSpPr>
        <p:spPr bwMode="auto">
          <a:xfrm>
            <a:off x="2916238" y="6021388"/>
            <a:ext cx="3095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i="1">
                <a:solidFill>
                  <a:srgbClr val="FF6600"/>
                </a:solidFill>
                <a:latin typeface="Arial" charset="0"/>
              </a:rPr>
              <a:t>‘FOOD’ DATABASE VERSION </a:t>
            </a:r>
          </a:p>
        </p:txBody>
      </p:sp>
      <p:sp>
        <p:nvSpPr>
          <p:cNvPr id="64553" name="Line 79"/>
          <p:cNvSpPr>
            <a:spLocks noChangeShapeType="1"/>
          </p:cNvSpPr>
          <p:nvPr/>
        </p:nvSpPr>
        <p:spPr bwMode="auto">
          <a:xfrm>
            <a:off x="1619250" y="620713"/>
            <a:ext cx="0" cy="3603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4" name="Line 88"/>
          <p:cNvSpPr>
            <a:spLocks noChangeShapeType="1"/>
          </p:cNvSpPr>
          <p:nvPr/>
        </p:nvSpPr>
        <p:spPr bwMode="auto">
          <a:xfrm>
            <a:off x="5292725" y="3213100"/>
            <a:ext cx="71438"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5" name="Line 89"/>
          <p:cNvSpPr>
            <a:spLocks noChangeShapeType="1"/>
          </p:cNvSpPr>
          <p:nvPr/>
        </p:nvSpPr>
        <p:spPr bwMode="auto">
          <a:xfrm>
            <a:off x="2771775" y="2708275"/>
            <a:ext cx="720725" cy="21605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6" name="Line 90"/>
          <p:cNvSpPr>
            <a:spLocks noChangeShapeType="1"/>
          </p:cNvSpPr>
          <p:nvPr/>
        </p:nvSpPr>
        <p:spPr bwMode="auto">
          <a:xfrm flipH="1">
            <a:off x="1187450" y="620713"/>
            <a:ext cx="2376488" cy="23034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7" name="Rectangle 91"/>
          <p:cNvSpPr>
            <a:spLocks noChangeArrowheads="1"/>
          </p:cNvSpPr>
          <p:nvPr/>
        </p:nvSpPr>
        <p:spPr bwMode="auto">
          <a:xfrm>
            <a:off x="3276600" y="1560513"/>
            <a:ext cx="771525"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Probing</a:t>
            </a:r>
          </a:p>
        </p:txBody>
      </p:sp>
      <p:sp>
        <p:nvSpPr>
          <p:cNvPr id="64558" name="Line 92"/>
          <p:cNvSpPr>
            <a:spLocks noChangeShapeType="1"/>
          </p:cNvSpPr>
          <p:nvPr/>
        </p:nvSpPr>
        <p:spPr bwMode="auto">
          <a:xfrm flipH="1">
            <a:off x="3419475" y="1844675"/>
            <a:ext cx="144463" cy="36036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64559" name="AutoShape 93"/>
          <p:cNvCxnSpPr>
            <a:cxnSpLocks noChangeShapeType="1"/>
          </p:cNvCxnSpPr>
          <p:nvPr/>
        </p:nvCxnSpPr>
        <p:spPr bwMode="auto">
          <a:xfrm>
            <a:off x="684213" y="4149725"/>
            <a:ext cx="5472112" cy="1871663"/>
          </a:xfrm>
          <a:prstGeom prst="bentConnector3">
            <a:avLst>
              <a:gd name="adj1" fmla="val -8792"/>
            </a:avLst>
          </a:prstGeom>
          <a:noFill/>
          <a:ln w="28575">
            <a:solidFill>
              <a:srgbClr val="00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60" name="Line 97"/>
          <p:cNvSpPr>
            <a:spLocks noChangeShapeType="1"/>
          </p:cNvSpPr>
          <p:nvPr/>
        </p:nvSpPr>
        <p:spPr bwMode="auto">
          <a:xfrm>
            <a:off x="6135688" y="2671763"/>
            <a:ext cx="1244600" cy="7572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61" name="Line 110"/>
          <p:cNvSpPr>
            <a:spLocks noChangeShapeType="1"/>
          </p:cNvSpPr>
          <p:nvPr/>
        </p:nvSpPr>
        <p:spPr bwMode="auto">
          <a:xfrm flipH="1">
            <a:off x="684213" y="1268413"/>
            <a:ext cx="215900" cy="288925"/>
          </a:xfrm>
          <a:prstGeom prst="line">
            <a:avLst/>
          </a:prstGeom>
          <a:noFill/>
          <a:ln w="2857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62" name="Text Box 112"/>
          <p:cNvSpPr txBox="1">
            <a:spLocks noChangeArrowheads="1"/>
          </p:cNvSpPr>
          <p:nvPr/>
        </p:nvSpPr>
        <p:spPr bwMode="auto">
          <a:xfrm>
            <a:off x="5995988" y="477838"/>
            <a:ext cx="1168400"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Photo Series </a:t>
            </a:r>
          </a:p>
        </p:txBody>
      </p:sp>
      <p:sp>
        <p:nvSpPr>
          <p:cNvPr id="64563" name="Text Box 113"/>
          <p:cNvSpPr txBox="1">
            <a:spLocks noChangeArrowheads="1"/>
          </p:cNvSpPr>
          <p:nvPr/>
        </p:nvSpPr>
        <p:spPr bwMode="auto">
          <a:xfrm>
            <a:off x="5995988" y="790575"/>
            <a:ext cx="777875"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Shapes </a:t>
            </a:r>
          </a:p>
        </p:txBody>
      </p:sp>
      <p:sp>
        <p:nvSpPr>
          <p:cNvPr id="64564" name="Text Box 114"/>
          <p:cNvSpPr txBox="1">
            <a:spLocks noChangeArrowheads="1"/>
          </p:cNvSpPr>
          <p:nvPr/>
        </p:nvSpPr>
        <p:spPr bwMode="auto">
          <a:xfrm>
            <a:off x="6227763" y="1511300"/>
            <a:ext cx="539750"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HHM</a:t>
            </a:r>
          </a:p>
        </p:txBody>
      </p:sp>
      <p:sp>
        <p:nvSpPr>
          <p:cNvPr id="64565" name="Text Box 115"/>
          <p:cNvSpPr txBox="1">
            <a:spLocks noChangeArrowheads="1"/>
          </p:cNvSpPr>
          <p:nvPr/>
        </p:nvSpPr>
        <p:spPr bwMode="auto">
          <a:xfrm>
            <a:off x="6227763" y="1196975"/>
            <a:ext cx="981075"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Thickness </a:t>
            </a:r>
          </a:p>
        </p:txBody>
      </p:sp>
      <p:sp>
        <p:nvSpPr>
          <p:cNvPr id="64566" name="AutoShape 116"/>
          <p:cNvSpPr>
            <a:spLocks/>
          </p:cNvSpPr>
          <p:nvPr/>
        </p:nvSpPr>
        <p:spPr bwMode="auto">
          <a:xfrm>
            <a:off x="5795963" y="404813"/>
            <a:ext cx="288925" cy="792162"/>
          </a:xfrm>
          <a:prstGeom prst="leftBrace">
            <a:avLst>
              <a:gd name="adj1" fmla="val 22848"/>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4567" name="AutoShape 118"/>
          <p:cNvSpPr>
            <a:spLocks/>
          </p:cNvSpPr>
          <p:nvPr/>
        </p:nvSpPr>
        <p:spPr bwMode="auto">
          <a:xfrm>
            <a:off x="5003800" y="4797425"/>
            <a:ext cx="73025" cy="1079500"/>
          </a:xfrm>
          <a:prstGeom prst="leftBracket">
            <a:avLst>
              <a:gd name="adj" fmla="val 123188"/>
            </a:avLst>
          </a:prstGeom>
          <a:noFill/>
          <a:ln w="19050">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4568" name="AutoShape 119"/>
          <p:cNvSpPr>
            <a:spLocks/>
          </p:cNvSpPr>
          <p:nvPr/>
        </p:nvSpPr>
        <p:spPr bwMode="auto">
          <a:xfrm>
            <a:off x="6227763" y="4797425"/>
            <a:ext cx="73025" cy="1368425"/>
          </a:xfrm>
          <a:prstGeom prst="leftBracket">
            <a:avLst>
              <a:gd name="adj" fmla="val 156159"/>
            </a:avLst>
          </a:prstGeom>
          <a:noFill/>
          <a:ln w="19050">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4569" name="Line 120"/>
          <p:cNvSpPr>
            <a:spLocks noChangeShapeType="1"/>
          </p:cNvSpPr>
          <p:nvPr/>
        </p:nvSpPr>
        <p:spPr bwMode="auto">
          <a:xfrm flipV="1">
            <a:off x="4427538" y="5373688"/>
            <a:ext cx="0" cy="6477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0" name="Line 121"/>
          <p:cNvSpPr>
            <a:spLocks noChangeShapeType="1"/>
          </p:cNvSpPr>
          <p:nvPr/>
        </p:nvSpPr>
        <p:spPr bwMode="auto">
          <a:xfrm>
            <a:off x="4427538" y="5373688"/>
            <a:ext cx="576262" cy="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1" name="Text Box 122"/>
          <p:cNvSpPr txBox="1">
            <a:spLocks noChangeArrowheads="1"/>
          </p:cNvSpPr>
          <p:nvPr/>
        </p:nvSpPr>
        <p:spPr bwMode="auto">
          <a:xfrm>
            <a:off x="215900" y="5995988"/>
            <a:ext cx="1763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200" b="1">
                <a:solidFill>
                  <a:srgbClr val="0000FF"/>
                </a:solidFill>
                <a:latin typeface="Arial" charset="0"/>
              </a:rPr>
              <a:t>Project data in blue</a:t>
            </a:r>
          </a:p>
          <a:p>
            <a:pPr eaLnBrk="1" hangingPunct="1">
              <a:spcBef>
                <a:spcPct val="0"/>
              </a:spcBef>
              <a:buSzTx/>
              <a:buFontTx/>
              <a:buNone/>
            </a:pPr>
            <a:r>
              <a:rPr lang="en-GB" altLang="en-US" sz="1200" b="1">
                <a:solidFill>
                  <a:srgbClr val="006600"/>
                </a:solidFill>
                <a:latin typeface="Arial" charset="0"/>
              </a:rPr>
              <a:t>Country data in green</a:t>
            </a:r>
            <a:endParaRPr lang="fr-FR" altLang="en-US" sz="1200" b="1">
              <a:solidFill>
                <a:srgbClr val="006600"/>
              </a:solidFill>
              <a:latin typeface="Arial" charset="0"/>
            </a:endParaRPr>
          </a:p>
        </p:txBody>
      </p:sp>
      <p:sp>
        <p:nvSpPr>
          <p:cNvPr id="64572" name="Line 67"/>
          <p:cNvSpPr>
            <a:spLocks noChangeShapeType="1"/>
          </p:cNvSpPr>
          <p:nvPr/>
        </p:nvSpPr>
        <p:spPr bwMode="auto">
          <a:xfrm>
            <a:off x="1938338" y="4295775"/>
            <a:ext cx="0" cy="579438"/>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3" name="Line 59"/>
          <p:cNvSpPr>
            <a:spLocks noChangeShapeType="1"/>
          </p:cNvSpPr>
          <p:nvPr/>
        </p:nvSpPr>
        <p:spPr bwMode="auto">
          <a:xfrm flipH="1">
            <a:off x="8101013" y="3773488"/>
            <a:ext cx="0" cy="3048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4" name="Line 120"/>
          <p:cNvSpPr>
            <a:spLocks noChangeShapeType="1"/>
          </p:cNvSpPr>
          <p:nvPr/>
        </p:nvSpPr>
        <p:spPr bwMode="auto">
          <a:xfrm flipH="1" flipV="1">
            <a:off x="7380288" y="5526088"/>
            <a:ext cx="873125" cy="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5" name="Line 120"/>
          <p:cNvSpPr>
            <a:spLocks noChangeShapeType="1"/>
          </p:cNvSpPr>
          <p:nvPr/>
        </p:nvSpPr>
        <p:spPr bwMode="auto">
          <a:xfrm flipH="1" flipV="1">
            <a:off x="7669213" y="5949950"/>
            <a:ext cx="584200" cy="1588"/>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6" name="Line 59"/>
          <p:cNvSpPr>
            <a:spLocks noChangeShapeType="1"/>
          </p:cNvSpPr>
          <p:nvPr/>
        </p:nvSpPr>
        <p:spPr bwMode="auto">
          <a:xfrm flipH="1" flipV="1">
            <a:off x="8253413" y="4722813"/>
            <a:ext cx="0" cy="122555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7" name="Line 120"/>
          <p:cNvSpPr>
            <a:spLocks noChangeShapeType="1"/>
          </p:cNvSpPr>
          <p:nvPr/>
        </p:nvSpPr>
        <p:spPr bwMode="auto">
          <a:xfrm flipH="1">
            <a:off x="7164388" y="5011738"/>
            <a:ext cx="1089025" cy="1587"/>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 name="Slide Number Placeholder 3"/>
          <p:cNvSpPr txBox="1">
            <a:spLocks noGrp="1"/>
          </p:cNvSpPr>
          <p:nvPr/>
        </p:nvSpPr>
        <p:spPr>
          <a:xfrm>
            <a:off x="4286250" y="6345238"/>
            <a:ext cx="609600" cy="441325"/>
          </a:xfrm>
          <a:prstGeom prst="rect">
            <a:avLst/>
          </a:prstGeom>
          <a:noFill/>
        </p:spPr>
        <p:txBody>
          <a:bodyPr lIns="45720" rIns="45720" anchor="ctr">
            <a:normAutofit/>
          </a:bodyPr>
          <a:lstStyle/>
          <a:p>
            <a:pPr algn="ctr">
              <a:defRPr/>
            </a:pPr>
            <a:fld id="{9F0F416F-190F-430A-B924-9F56FF43C364}" type="slidenum">
              <a:rPr lang="en-US" sz="1600">
                <a:solidFill>
                  <a:schemeClr val="bg1"/>
                </a:solidFill>
                <a:latin typeface="+mj-lt"/>
                <a:cs typeface="+mn-cs"/>
              </a:rPr>
              <a:pPr algn="ctr">
                <a:defRPr/>
              </a:pPr>
              <a:t>3</a:t>
            </a:fld>
            <a:endParaRPr lang="en-US" sz="1600" dirty="0">
              <a:solidFill>
                <a:schemeClr val="bg1"/>
              </a:solidFill>
              <a:latin typeface="+mj-lt"/>
              <a:cs typeface="+mn-cs"/>
            </a:endParaRPr>
          </a:p>
        </p:txBody>
      </p:sp>
      <p:sp>
        <p:nvSpPr>
          <p:cNvPr id="64579" name="Rectangle 16"/>
          <p:cNvSpPr>
            <a:spLocks noChangeArrowheads="1"/>
          </p:cNvSpPr>
          <p:nvPr/>
        </p:nvSpPr>
        <p:spPr bwMode="auto">
          <a:xfrm>
            <a:off x="7766050" y="2452688"/>
            <a:ext cx="1057275" cy="2762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Setting files</a:t>
            </a:r>
          </a:p>
        </p:txBody>
      </p:sp>
      <p:sp>
        <p:nvSpPr>
          <p:cNvPr id="68"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extLst>
      <p:ext uri="{BB962C8B-B14F-4D97-AF65-F5344CB8AC3E}">
        <p14:creationId xmlns:p14="http://schemas.microsoft.com/office/powerpoint/2010/main" val="41712267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3563938" y="246063"/>
            <a:ext cx="1655762" cy="5905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i="1">
                <a:solidFill>
                  <a:srgbClr val="0000FF"/>
                </a:solidFill>
                <a:latin typeface="Arial" charset="0"/>
              </a:rPr>
              <a:t>Recipe Classification </a:t>
            </a:r>
          </a:p>
        </p:txBody>
      </p:sp>
      <p:sp>
        <p:nvSpPr>
          <p:cNvPr id="65539" name="Text Box 3"/>
          <p:cNvSpPr txBox="1">
            <a:spLocks noChangeArrowheads="1"/>
          </p:cNvSpPr>
          <p:nvPr/>
        </p:nvSpPr>
        <p:spPr bwMode="auto">
          <a:xfrm>
            <a:off x="874713" y="336550"/>
            <a:ext cx="1757362"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 &amp; Descriptors </a:t>
            </a:r>
          </a:p>
        </p:txBody>
      </p:sp>
      <p:sp>
        <p:nvSpPr>
          <p:cNvPr id="65540" name="Text Box 4"/>
          <p:cNvSpPr txBox="1">
            <a:spLocks noChangeArrowheads="1"/>
          </p:cNvSpPr>
          <p:nvPr/>
        </p:nvSpPr>
        <p:spPr bwMode="auto">
          <a:xfrm>
            <a:off x="895350" y="981075"/>
            <a:ext cx="168116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Facets/Descriptors </a:t>
            </a:r>
          </a:p>
          <a:p>
            <a:pPr algn="ctr" eaLnBrk="1" hangingPunct="1">
              <a:spcBef>
                <a:spcPct val="0"/>
              </a:spcBef>
              <a:buSzTx/>
              <a:buFontTx/>
              <a:buNone/>
            </a:pPr>
            <a:r>
              <a:rPr lang="en-GB" altLang="en-US" sz="1200" b="1" i="1">
                <a:solidFill>
                  <a:srgbClr val="0000FF"/>
                </a:solidFill>
                <a:latin typeface="Arial" charset="0"/>
              </a:rPr>
              <a:t>by Group/Subgroup </a:t>
            </a:r>
          </a:p>
        </p:txBody>
      </p:sp>
      <p:sp>
        <p:nvSpPr>
          <p:cNvPr id="65541" name="Text Box 5"/>
          <p:cNvSpPr txBox="1">
            <a:spLocks noChangeArrowheads="1"/>
          </p:cNvSpPr>
          <p:nvPr/>
        </p:nvSpPr>
        <p:spPr bwMode="auto">
          <a:xfrm>
            <a:off x="395288" y="1560513"/>
            <a:ext cx="1090612"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 Rules </a:t>
            </a:r>
          </a:p>
        </p:txBody>
      </p:sp>
      <p:sp>
        <p:nvSpPr>
          <p:cNvPr id="65542" name="Rectangle 6"/>
          <p:cNvSpPr>
            <a:spLocks noChangeArrowheads="1"/>
          </p:cNvSpPr>
          <p:nvPr/>
        </p:nvSpPr>
        <p:spPr bwMode="auto">
          <a:xfrm>
            <a:off x="5392738" y="2205038"/>
            <a:ext cx="1484312"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Quantification by </a:t>
            </a:r>
          </a:p>
          <a:p>
            <a:pPr algn="ctr" eaLnBrk="1" hangingPunct="1">
              <a:spcBef>
                <a:spcPct val="0"/>
              </a:spcBef>
              <a:buSzTx/>
              <a:buFontTx/>
              <a:buNone/>
            </a:pPr>
            <a:r>
              <a:rPr lang="en-GB" altLang="en-US" sz="1200" b="1" i="1">
                <a:solidFill>
                  <a:srgbClr val="0000FF"/>
                </a:solidFill>
                <a:latin typeface="Arial" charset="0"/>
              </a:rPr>
              <a:t>Group/Subgroup </a:t>
            </a:r>
          </a:p>
        </p:txBody>
      </p:sp>
      <p:sp>
        <p:nvSpPr>
          <p:cNvPr id="65543" name="Rectangle 7"/>
          <p:cNvSpPr>
            <a:spLocks noChangeArrowheads="1"/>
          </p:cNvSpPr>
          <p:nvPr/>
        </p:nvSpPr>
        <p:spPr bwMode="auto">
          <a:xfrm>
            <a:off x="2247900" y="2205038"/>
            <a:ext cx="1460500"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Probing by </a:t>
            </a:r>
          </a:p>
          <a:p>
            <a:pPr algn="ctr" eaLnBrk="1" hangingPunct="1">
              <a:spcBef>
                <a:spcPct val="0"/>
              </a:spcBef>
              <a:buSzTx/>
              <a:buFontTx/>
              <a:buNone/>
            </a:pPr>
            <a:r>
              <a:rPr lang="en-GB" altLang="en-US" sz="1200" b="1" i="1">
                <a:solidFill>
                  <a:srgbClr val="0000FF"/>
                </a:solidFill>
                <a:latin typeface="Arial" charset="0"/>
              </a:rPr>
              <a:t>Group/Subgroup </a:t>
            </a:r>
          </a:p>
        </p:txBody>
      </p:sp>
      <p:sp>
        <p:nvSpPr>
          <p:cNvPr id="65544" name="Rectangle 8"/>
          <p:cNvSpPr>
            <a:spLocks noChangeArrowheads="1"/>
          </p:cNvSpPr>
          <p:nvPr/>
        </p:nvSpPr>
        <p:spPr bwMode="auto">
          <a:xfrm>
            <a:off x="3419475" y="2852738"/>
            <a:ext cx="2201863" cy="3460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a:solidFill>
                  <a:srgbClr val="006600"/>
                </a:solidFill>
                <a:latin typeface="Arial" charset="0"/>
              </a:rPr>
              <a:t>Recipes &amp; Shadows </a:t>
            </a:r>
          </a:p>
        </p:txBody>
      </p:sp>
      <p:sp>
        <p:nvSpPr>
          <p:cNvPr id="65545" name="Text Box 9"/>
          <p:cNvSpPr txBox="1">
            <a:spLocks noChangeArrowheads="1"/>
          </p:cNvSpPr>
          <p:nvPr/>
        </p:nvSpPr>
        <p:spPr bwMode="auto">
          <a:xfrm>
            <a:off x="7796213" y="477838"/>
            <a:ext cx="1168400"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Photo Series </a:t>
            </a:r>
          </a:p>
        </p:txBody>
      </p:sp>
      <p:sp>
        <p:nvSpPr>
          <p:cNvPr id="65546" name="Text Box 10"/>
          <p:cNvSpPr txBox="1">
            <a:spLocks noChangeArrowheads="1"/>
          </p:cNvSpPr>
          <p:nvPr/>
        </p:nvSpPr>
        <p:spPr bwMode="auto">
          <a:xfrm>
            <a:off x="7796213" y="790575"/>
            <a:ext cx="777875"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Shapes </a:t>
            </a:r>
          </a:p>
        </p:txBody>
      </p:sp>
      <p:sp>
        <p:nvSpPr>
          <p:cNvPr id="65547" name="Text Box 11"/>
          <p:cNvSpPr txBox="1">
            <a:spLocks noChangeArrowheads="1"/>
          </p:cNvSpPr>
          <p:nvPr/>
        </p:nvSpPr>
        <p:spPr bwMode="auto">
          <a:xfrm>
            <a:off x="8027988" y="1511300"/>
            <a:ext cx="539750"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HHM</a:t>
            </a:r>
          </a:p>
        </p:txBody>
      </p:sp>
      <p:sp>
        <p:nvSpPr>
          <p:cNvPr id="65548" name="Text Box 12"/>
          <p:cNvSpPr txBox="1">
            <a:spLocks noChangeArrowheads="1"/>
          </p:cNvSpPr>
          <p:nvPr/>
        </p:nvSpPr>
        <p:spPr bwMode="auto">
          <a:xfrm>
            <a:off x="8027988" y="1196975"/>
            <a:ext cx="981075"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Thickness </a:t>
            </a:r>
          </a:p>
        </p:txBody>
      </p:sp>
      <p:sp>
        <p:nvSpPr>
          <p:cNvPr id="65549" name="Rectangle 13"/>
          <p:cNvSpPr>
            <a:spLocks noChangeArrowheads="1"/>
          </p:cNvSpPr>
          <p:nvPr/>
        </p:nvSpPr>
        <p:spPr bwMode="auto">
          <a:xfrm>
            <a:off x="565150" y="3963988"/>
            <a:ext cx="1630363" cy="31432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400" b="1">
                <a:solidFill>
                  <a:srgbClr val="006600"/>
                </a:solidFill>
                <a:latin typeface="Arial" charset="0"/>
              </a:rPr>
              <a:t>Facets by recipe </a:t>
            </a:r>
          </a:p>
        </p:txBody>
      </p:sp>
      <p:sp>
        <p:nvSpPr>
          <p:cNvPr id="65550" name="Rectangle 14"/>
          <p:cNvSpPr>
            <a:spLocks noChangeArrowheads="1"/>
          </p:cNvSpPr>
          <p:nvPr/>
        </p:nvSpPr>
        <p:spPr bwMode="auto">
          <a:xfrm>
            <a:off x="635000" y="4365625"/>
            <a:ext cx="1116013"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Brand name </a:t>
            </a:r>
          </a:p>
        </p:txBody>
      </p:sp>
      <p:sp>
        <p:nvSpPr>
          <p:cNvPr id="65551" name="Rectangle 15"/>
          <p:cNvSpPr>
            <a:spLocks noChangeArrowheads="1"/>
          </p:cNvSpPr>
          <p:nvPr/>
        </p:nvSpPr>
        <p:spPr bwMode="auto">
          <a:xfrm>
            <a:off x="6656388" y="3963988"/>
            <a:ext cx="2308225" cy="31432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400" b="1">
                <a:solidFill>
                  <a:srgbClr val="006600"/>
                </a:solidFill>
                <a:latin typeface="Arial" charset="0"/>
              </a:rPr>
              <a:t>Quantifications by recipe</a:t>
            </a:r>
          </a:p>
        </p:txBody>
      </p:sp>
      <p:sp>
        <p:nvSpPr>
          <p:cNvPr id="65552" name="Rectangle 16"/>
          <p:cNvSpPr>
            <a:spLocks noChangeArrowheads="1"/>
          </p:cNvSpPr>
          <p:nvPr/>
        </p:nvSpPr>
        <p:spPr bwMode="auto">
          <a:xfrm>
            <a:off x="8027988" y="4797425"/>
            <a:ext cx="962025" cy="46672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Standard units</a:t>
            </a:r>
          </a:p>
        </p:txBody>
      </p:sp>
      <p:sp>
        <p:nvSpPr>
          <p:cNvPr id="65553" name="Rectangle 18"/>
          <p:cNvSpPr>
            <a:spLocks noChangeArrowheads="1"/>
          </p:cNvSpPr>
          <p:nvPr/>
        </p:nvSpPr>
        <p:spPr bwMode="auto">
          <a:xfrm>
            <a:off x="5937250" y="4887913"/>
            <a:ext cx="785813"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Density </a:t>
            </a:r>
          </a:p>
        </p:txBody>
      </p:sp>
      <p:sp>
        <p:nvSpPr>
          <p:cNvPr id="65554" name="Rectangle 22"/>
          <p:cNvSpPr>
            <a:spLocks noChangeArrowheads="1"/>
          </p:cNvSpPr>
          <p:nvPr/>
        </p:nvSpPr>
        <p:spPr bwMode="auto">
          <a:xfrm>
            <a:off x="900113" y="4887913"/>
            <a:ext cx="2189162"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 Fats/Sauces/Sweeteners </a:t>
            </a:r>
          </a:p>
        </p:txBody>
      </p:sp>
      <p:sp>
        <p:nvSpPr>
          <p:cNvPr id="65555" name="Rectangle 24"/>
          <p:cNvSpPr>
            <a:spLocks noChangeArrowheads="1"/>
          </p:cNvSpPr>
          <p:nvPr/>
        </p:nvSpPr>
        <p:spPr bwMode="auto">
          <a:xfrm>
            <a:off x="3236913" y="4887913"/>
            <a:ext cx="1609725"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Probings by recipe </a:t>
            </a:r>
          </a:p>
        </p:txBody>
      </p:sp>
      <p:sp>
        <p:nvSpPr>
          <p:cNvPr id="65556" name="Rectangle 25"/>
          <p:cNvSpPr>
            <a:spLocks noChangeArrowheads="1"/>
          </p:cNvSpPr>
          <p:nvPr/>
        </p:nvSpPr>
        <p:spPr bwMode="auto">
          <a:xfrm>
            <a:off x="4994275" y="4887913"/>
            <a:ext cx="793750"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Maxima </a:t>
            </a:r>
          </a:p>
        </p:txBody>
      </p:sp>
      <p:sp>
        <p:nvSpPr>
          <p:cNvPr id="65557" name="Rectangle 26"/>
          <p:cNvSpPr>
            <a:spLocks noChangeArrowheads="1"/>
          </p:cNvSpPr>
          <p:nvPr/>
        </p:nvSpPr>
        <p:spPr bwMode="auto">
          <a:xfrm>
            <a:off x="6870700" y="4797425"/>
            <a:ext cx="1008063" cy="46672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Nutritional </a:t>
            </a:r>
          </a:p>
          <a:p>
            <a:pPr algn="ctr" eaLnBrk="1" hangingPunct="1">
              <a:spcBef>
                <a:spcPct val="0"/>
              </a:spcBef>
              <a:buSzTx/>
              <a:buFontTx/>
              <a:buNone/>
            </a:pPr>
            <a:r>
              <a:rPr lang="en-GB" altLang="en-US" sz="1200" b="1">
                <a:solidFill>
                  <a:srgbClr val="006600"/>
                </a:solidFill>
                <a:latin typeface="Arial" charset="0"/>
              </a:rPr>
              <a:t>values </a:t>
            </a:r>
          </a:p>
        </p:txBody>
      </p:sp>
      <p:sp>
        <p:nvSpPr>
          <p:cNvPr id="65558" name="Line 27"/>
          <p:cNvSpPr>
            <a:spLocks noChangeShapeType="1"/>
          </p:cNvSpPr>
          <p:nvPr/>
        </p:nvSpPr>
        <p:spPr bwMode="auto">
          <a:xfrm flipH="1">
            <a:off x="2555875" y="620713"/>
            <a:ext cx="1008063" cy="5762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9" name="Line 28"/>
          <p:cNvSpPr>
            <a:spLocks noChangeShapeType="1"/>
          </p:cNvSpPr>
          <p:nvPr/>
        </p:nvSpPr>
        <p:spPr bwMode="auto">
          <a:xfrm flipH="1">
            <a:off x="2843213" y="620713"/>
            <a:ext cx="720725" cy="158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0" name="Line 29"/>
          <p:cNvSpPr>
            <a:spLocks noChangeShapeType="1"/>
          </p:cNvSpPr>
          <p:nvPr/>
        </p:nvSpPr>
        <p:spPr bwMode="auto">
          <a:xfrm>
            <a:off x="5219700" y="620713"/>
            <a:ext cx="431800" cy="158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1" name="Line 30"/>
          <p:cNvSpPr>
            <a:spLocks noChangeShapeType="1"/>
          </p:cNvSpPr>
          <p:nvPr/>
        </p:nvSpPr>
        <p:spPr bwMode="auto">
          <a:xfrm flipH="1">
            <a:off x="5795963" y="836613"/>
            <a:ext cx="0" cy="13684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2" name="AutoShape 31"/>
          <p:cNvSpPr>
            <a:spLocks/>
          </p:cNvSpPr>
          <p:nvPr/>
        </p:nvSpPr>
        <p:spPr bwMode="auto">
          <a:xfrm>
            <a:off x="7596188" y="404813"/>
            <a:ext cx="288925" cy="792162"/>
          </a:xfrm>
          <a:prstGeom prst="leftBrace">
            <a:avLst>
              <a:gd name="adj1" fmla="val 22848"/>
              <a:gd name="adj2" fmla="val 50000"/>
            </a:avLst>
          </a:prstGeom>
          <a:noFill/>
          <a:ln w="19050">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5563" name="Line 32"/>
          <p:cNvSpPr>
            <a:spLocks noChangeShapeType="1"/>
          </p:cNvSpPr>
          <p:nvPr/>
        </p:nvSpPr>
        <p:spPr bwMode="auto">
          <a:xfrm flipH="1">
            <a:off x="7596188" y="836613"/>
            <a:ext cx="0" cy="309721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4" name="Line 33"/>
          <p:cNvSpPr>
            <a:spLocks noChangeShapeType="1"/>
          </p:cNvSpPr>
          <p:nvPr/>
        </p:nvSpPr>
        <p:spPr bwMode="auto">
          <a:xfrm>
            <a:off x="4356100" y="836613"/>
            <a:ext cx="0" cy="20161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5" name="Line 34"/>
          <p:cNvSpPr>
            <a:spLocks noChangeShapeType="1"/>
          </p:cNvSpPr>
          <p:nvPr/>
        </p:nvSpPr>
        <p:spPr bwMode="auto">
          <a:xfrm>
            <a:off x="1908175" y="1484313"/>
            <a:ext cx="0" cy="244951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6" name="Line 35"/>
          <p:cNvSpPr>
            <a:spLocks noChangeShapeType="1"/>
          </p:cNvSpPr>
          <p:nvPr/>
        </p:nvSpPr>
        <p:spPr bwMode="auto">
          <a:xfrm flipH="1">
            <a:off x="2195513" y="3213100"/>
            <a:ext cx="1368425" cy="8636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7" name="Line 36"/>
          <p:cNvSpPr>
            <a:spLocks noChangeShapeType="1"/>
          </p:cNvSpPr>
          <p:nvPr/>
        </p:nvSpPr>
        <p:spPr bwMode="auto">
          <a:xfrm flipH="1">
            <a:off x="2555875" y="3213100"/>
            <a:ext cx="1008063"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8" name="Line 37"/>
          <p:cNvSpPr>
            <a:spLocks noChangeShapeType="1"/>
          </p:cNvSpPr>
          <p:nvPr/>
        </p:nvSpPr>
        <p:spPr bwMode="auto">
          <a:xfrm>
            <a:off x="3563938" y="3213100"/>
            <a:ext cx="576262"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9" name="Line 38"/>
          <p:cNvSpPr>
            <a:spLocks noChangeShapeType="1"/>
          </p:cNvSpPr>
          <p:nvPr/>
        </p:nvSpPr>
        <p:spPr bwMode="auto">
          <a:xfrm>
            <a:off x="5292725" y="3213100"/>
            <a:ext cx="1871663" cy="1584325"/>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0" name="Line 39"/>
          <p:cNvSpPr>
            <a:spLocks noChangeShapeType="1"/>
          </p:cNvSpPr>
          <p:nvPr/>
        </p:nvSpPr>
        <p:spPr bwMode="auto">
          <a:xfrm>
            <a:off x="5292725" y="3213100"/>
            <a:ext cx="1366838" cy="8636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1" name="Line 40"/>
          <p:cNvSpPr>
            <a:spLocks noChangeShapeType="1"/>
          </p:cNvSpPr>
          <p:nvPr/>
        </p:nvSpPr>
        <p:spPr bwMode="auto">
          <a:xfrm>
            <a:off x="8532813" y="4292600"/>
            <a:ext cx="0" cy="504825"/>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2" name="Line 42"/>
          <p:cNvSpPr>
            <a:spLocks noChangeShapeType="1"/>
          </p:cNvSpPr>
          <p:nvPr/>
        </p:nvSpPr>
        <p:spPr bwMode="auto">
          <a:xfrm>
            <a:off x="1619250" y="620713"/>
            <a:ext cx="0" cy="3603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3" name="Line 43"/>
          <p:cNvSpPr>
            <a:spLocks noChangeShapeType="1"/>
          </p:cNvSpPr>
          <p:nvPr/>
        </p:nvSpPr>
        <p:spPr bwMode="auto">
          <a:xfrm>
            <a:off x="5292725" y="3213100"/>
            <a:ext cx="71438"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4" name="Line 44"/>
          <p:cNvSpPr>
            <a:spLocks noChangeShapeType="1"/>
          </p:cNvSpPr>
          <p:nvPr/>
        </p:nvSpPr>
        <p:spPr bwMode="auto">
          <a:xfrm>
            <a:off x="2771775" y="2708275"/>
            <a:ext cx="720725" cy="21605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5" name="Rectangle 46"/>
          <p:cNvSpPr>
            <a:spLocks noChangeArrowheads="1"/>
          </p:cNvSpPr>
          <p:nvPr/>
        </p:nvSpPr>
        <p:spPr bwMode="auto">
          <a:xfrm>
            <a:off x="3276600" y="1560513"/>
            <a:ext cx="771525"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Probing</a:t>
            </a:r>
          </a:p>
        </p:txBody>
      </p:sp>
      <p:sp>
        <p:nvSpPr>
          <p:cNvPr id="65576" name="Line 47"/>
          <p:cNvSpPr>
            <a:spLocks noChangeShapeType="1"/>
          </p:cNvSpPr>
          <p:nvPr/>
        </p:nvSpPr>
        <p:spPr bwMode="auto">
          <a:xfrm flipH="1">
            <a:off x="3419475" y="1844675"/>
            <a:ext cx="144463" cy="36036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7" name="Line 49"/>
          <p:cNvSpPr>
            <a:spLocks noChangeShapeType="1"/>
          </p:cNvSpPr>
          <p:nvPr/>
        </p:nvSpPr>
        <p:spPr bwMode="auto">
          <a:xfrm>
            <a:off x="6084888" y="2708275"/>
            <a:ext cx="1295400" cy="122555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8" name="Line 51"/>
          <p:cNvSpPr>
            <a:spLocks noChangeShapeType="1"/>
          </p:cNvSpPr>
          <p:nvPr/>
        </p:nvSpPr>
        <p:spPr bwMode="auto">
          <a:xfrm flipH="1">
            <a:off x="684213" y="1268413"/>
            <a:ext cx="215900" cy="288925"/>
          </a:xfrm>
          <a:prstGeom prst="line">
            <a:avLst/>
          </a:prstGeom>
          <a:noFill/>
          <a:ln w="2857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9" name="Text Box 52"/>
          <p:cNvSpPr txBox="1">
            <a:spLocks noChangeArrowheads="1"/>
          </p:cNvSpPr>
          <p:nvPr/>
        </p:nvSpPr>
        <p:spPr bwMode="auto">
          <a:xfrm>
            <a:off x="5995988" y="477838"/>
            <a:ext cx="1168400"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Photo Series </a:t>
            </a:r>
          </a:p>
        </p:txBody>
      </p:sp>
      <p:sp>
        <p:nvSpPr>
          <p:cNvPr id="65580" name="Text Box 53"/>
          <p:cNvSpPr txBox="1">
            <a:spLocks noChangeArrowheads="1"/>
          </p:cNvSpPr>
          <p:nvPr/>
        </p:nvSpPr>
        <p:spPr bwMode="auto">
          <a:xfrm>
            <a:off x="5995988" y="790575"/>
            <a:ext cx="777875"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Shapes </a:t>
            </a:r>
          </a:p>
        </p:txBody>
      </p:sp>
      <p:sp>
        <p:nvSpPr>
          <p:cNvPr id="65581" name="Text Box 54"/>
          <p:cNvSpPr txBox="1">
            <a:spLocks noChangeArrowheads="1"/>
          </p:cNvSpPr>
          <p:nvPr/>
        </p:nvSpPr>
        <p:spPr bwMode="auto">
          <a:xfrm>
            <a:off x="6227763" y="1511300"/>
            <a:ext cx="539750"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HHM</a:t>
            </a:r>
          </a:p>
        </p:txBody>
      </p:sp>
      <p:sp>
        <p:nvSpPr>
          <p:cNvPr id="65582" name="Text Box 55"/>
          <p:cNvSpPr txBox="1">
            <a:spLocks noChangeArrowheads="1"/>
          </p:cNvSpPr>
          <p:nvPr/>
        </p:nvSpPr>
        <p:spPr bwMode="auto">
          <a:xfrm>
            <a:off x="6227763" y="1196975"/>
            <a:ext cx="981075"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Thickness </a:t>
            </a:r>
          </a:p>
        </p:txBody>
      </p:sp>
      <p:sp>
        <p:nvSpPr>
          <p:cNvPr id="65583" name="AutoShape 56"/>
          <p:cNvSpPr>
            <a:spLocks/>
          </p:cNvSpPr>
          <p:nvPr/>
        </p:nvSpPr>
        <p:spPr bwMode="auto">
          <a:xfrm>
            <a:off x="5795963" y="404813"/>
            <a:ext cx="288925" cy="792162"/>
          </a:xfrm>
          <a:prstGeom prst="leftBrace">
            <a:avLst>
              <a:gd name="adj1" fmla="val 22848"/>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5584" name="Text Box 62"/>
          <p:cNvSpPr txBox="1">
            <a:spLocks noChangeArrowheads="1"/>
          </p:cNvSpPr>
          <p:nvPr/>
        </p:nvSpPr>
        <p:spPr bwMode="auto">
          <a:xfrm>
            <a:off x="215900" y="5241925"/>
            <a:ext cx="1763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200" b="1">
                <a:solidFill>
                  <a:srgbClr val="0000FF"/>
                </a:solidFill>
                <a:latin typeface="Arial" charset="0"/>
              </a:rPr>
              <a:t>Project data in blue</a:t>
            </a:r>
          </a:p>
          <a:p>
            <a:pPr eaLnBrk="1" hangingPunct="1">
              <a:spcBef>
                <a:spcPct val="0"/>
              </a:spcBef>
              <a:buSzTx/>
              <a:buFontTx/>
              <a:buNone/>
            </a:pPr>
            <a:r>
              <a:rPr lang="en-GB" altLang="en-US" sz="1200" b="1">
                <a:solidFill>
                  <a:srgbClr val="006600"/>
                </a:solidFill>
                <a:latin typeface="Arial" charset="0"/>
              </a:rPr>
              <a:t>Country data in green</a:t>
            </a:r>
            <a:endParaRPr lang="fr-FR" altLang="en-US" sz="1200" b="1">
              <a:solidFill>
                <a:srgbClr val="006600"/>
              </a:solidFill>
              <a:latin typeface="Arial" charset="0"/>
            </a:endParaRPr>
          </a:p>
        </p:txBody>
      </p:sp>
      <p:sp>
        <p:nvSpPr>
          <p:cNvPr id="65585" name="Rectangle 63"/>
          <p:cNvSpPr>
            <a:spLocks noChangeArrowheads="1"/>
          </p:cNvSpPr>
          <p:nvPr/>
        </p:nvSpPr>
        <p:spPr bwMode="auto">
          <a:xfrm>
            <a:off x="3995738" y="3357563"/>
            <a:ext cx="1081087" cy="466725"/>
          </a:xfrm>
          <a:prstGeom prst="rect">
            <a:avLst/>
          </a:prstGeom>
          <a:noFill/>
          <a:ln w="9525">
            <a:solidFill>
              <a:srgbClr val="006600"/>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Recipe </a:t>
            </a:r>
          </a:p>
          <a:p>
            <a:pPr algn="ctr" eaLnBrk="1" hangingPunct="1">
              <a:spcBef>
                <a:spcPct val="0"/>
              </a:spcBef>
              <a:buSzTx/>
              <a:buFontTx/>
              <a:buNone/>
            </a:pPr>
            <a:r>
              <a:rPr lang="en-GB" altLang="en-US" sz="1200" b="1">
                <a:solidFill>
                  <a:srgbClr val="006600"/>
                </a:solidFill>
                <a:latin typeface="Arial" charset="0"/>
              </a:rPr>
              <a:t>ingredients </a:t>
            </a:r>
          </a:p>
        </p:txBody>
      </p:sp>
      <p:sp>
        <p:nvSpPr>
          <p:cNvPr id="65586" name="Line 66"/>
          <p:cNvSpPr>
            <a:spLocks noChangeShapeType="1"/>
          </p:cNvSpPr>
          <p:nvPr/>
        </p:nvSpPr>
        <p:spPr bwMode="auto">
          <a:xfrm>
            <a:off x="5292725" y="3213100"/>
            <a:ext cx="935038"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87" name="Text Box 67"/>
          <p:cNvSpPr txBox="1">
            <a:spLocks noChangeArrowheads="1"/>
          </p:cNvSpPr>
          <p:nvPr/>
        </p:nvSpPr>
        <p:spPr bwMode="auto">
          <a:xfrm>
            <a:off x="611188" y="5746750"/>
            <a:ext cx="2232025" cy="284163"/>
          </a:xfrm>
          <a:prstGeom prst="rect">
            <a:avLst/>
          </a:prstGeom>
          <a:noFill/>
          <a:ln w="9525">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Supplement Classification </a:t>
            </a:r>
          </a:p>
        </p:txBody>
      </p:sp>
      <p:sp>
        <p:nvSpPr>
          <p:cNvPr id="65588" name="Text Box 68"/>
          <p:cNvSpPr txBox="1">
            <a:spLocks noChangeArrowheads="1"/>
          </p:cNvSpPr>
          <p:nvPr/>
        </p:nvSpPr>
        <p:spPr bwMode="auto">
          <a:xfrm>
            <a:off x="6370638" y="5419725"/>
            <a:ext cx="2020887"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 &amp; Descriptors </a:t>
            </a:r>
          </a:p>
        </p:txBody>
      </p:sp>
      <p:sp>
        <p:nvSpPr>
          <p:cNvPr id="65589" name="Rectangle 69"/>
          <p:cNvSpPr>
            <a:spLocks noChangeArrowheads="1"/>
          </p:cNvSpPr>
          <p:nvPr/>
        </p:nvSpPr>
        <p:spPr bwMode="auto">
          <a:xfrm>
            <a:off x="3635375" y="5746750"/>
            <a:ext cx="1727200" cy="34607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a:solidFill>
                  <a:srgbClr val="006600"/>
                </a:solidFill>
                <a:latin typeface="Arial" charset="0"/>
              </a:rPr>
              <a:t>Supplements</a:t>
            </a:r>
          </a:p>
        </p:txBody>
      </p:sp>
      <p:sp>
        <p:nvSpPr>
          <p:cNvPr id="65590" name="Line 70"/>
          <p:cNvSpPr>
            <a:spLocks noChangeShapeType="1"/>
          </p:cNvSpPr>
          <p:nvPr/>
        </p:nvSpPr>
        <p:spPr bwMode="auto">
          <a:xfrm flipV="1">
            <a:off x="2843213" y="5886450"/>
            <a:ext cx="792162" cy="0"/>
          </a:xfrm>
          <a:prstGeom prst="line">
            <a:avLst/>
          </a:prstGeom>
          <a:noFill/>
          <a:ln w="28575">
            <a:solidFill>
              <a:srgbClr val="00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91" name="Line 71"/>
          <p:cNvSpPr>
            <a:spLocks noChangeShapeType="1"/>
          </p:cNvSpPr>
          <p:nvPr/>
        </p:nvSpPr>
        <p:spPr bwMode="auto">
          <a:xfrm>
            <a:off x="7380288" y="5734050"/>
            <a:ext cx="0" cy="28733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92" name="Line 72"/>
          <p:cNvSpPr>
            <a:spLocks noChangeShapeType="1"/>
          </p:cNvSpPr>
          <p:nvPr/>
        </p:nvSpPr>
        <p:spPr bwMode="auto">
          <a:xfrm>
            <a:off x="4356100" y="3213100"/>
            <a:ext cx="0" cy="1444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93" name="Rectangle 85"/>
          <p:cNvSpPr>
            <a:spLocks noChangeArrowheads="1"/>
          </p:cNvSpPr>
          <p:nvPr/>
        </p:nvSpPr>
        <p:spPr bwMode="auto">
          <a:xfrm>
            <a:off x="6370638" y="6051550"/>
            <a:ext cx="2089150"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Facets by Supplements</a:t>
            </a:r>
          </a:p>
        </p:txBody>
      </p:sp>
      <p:sp>
        <p:nvSpPr>
          <p:cNvPr id="65594" name="Line 86"/>
          <p:cNvSpPr>
            <a:spLocks noChangeShapeType="1"/>
          </p:cNvSpPr>
          <p:nvPr/>
        </p:nvSpPr>
        <p:spPr bwMode="auto">
          <a:xfrm>
            <a:off x="5364163" y="5949950"/>
            <a:ext cx="1008062" cy="2159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95" name="Text Box 87"/>
          <p:cNvSpPr txBox="1">
            <a:spLocks noChangeArrowheads="1"/>
          </p:cNvSpPr>
          <p:nvPr/>
        </p:nvSpPr>
        <p:spPr bwMode="auto">
          <a:xfrm>
            <a:off x="2916238" y="6092825"/>
            <a:ext cx="3095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i="1">
                <a:solidFill>
                  <a:srgbClr val="FF6600"/>
                </a:solidFill>
                <a:latin typeface="Arial" charset="0"/>
              </a:rPr>
              <a:t>‘FINAL’ DATABASE VERSION </a:t>
            </a:r>
          </a:p>
        </p:txBody>
      </p:sp>
      <p:sp>
        <p:nvSpPr>
          <p:cNvPr id="60" name="Slide Number Placeholder 3"/>
          <p:cNvSpPr txBox="1">
            <a:spLocks noGrp="1"/>
          </p:cNvSpPr>
          <p:nvPr/>
        </p:nvSpPr>
        <p:spPr>
          <a:xfrm>
            <a:off x="4286250" y="6345238"/>
            <a:ext cx="609600" cy="441325"/>
          </a:xfrm>
          <a:prstGeom prst="rect">
            <a:avLst/>
          </a:prstGeom>
          <a:noFill/>
        </p:spPr>
        <p:txBody>
          <a:bodyPr lIns="45720" rIns="45720" anchor="ctr">
            <a:normAutofit/>
          </a:bodyPr>
          <a:lstStyle/>
          <a:p>
            <a:pPr algn="ctr">
              <a:defRPr/>
            </a:pPr>
            <a:fld id="{DF932942-0067-4B62-9291-02D2818D543B}" type="slidenum">
              <a:rPr lang="en-US" sz="1600">
                <a:solidFill>
                  <a:schemeClr val="bg1"/>
                </a:solidFill>
                <a:latin typeface="+mj-lt"/>
                <a:cs typeface="+mn-cs"/>
              </a:rPr>
              <a:pPr algn="ctr">
                <a:defRPr/>
              </a:pPr>
              <a:t>4</a:t>
            </a:fld>
            <a:endParaRPr lang="en-US" sz="1600" dirty="0">
              <a:solidFill>
                <a:schemeClr val="bg1"/>
              </a:solidFill>
              <a:latin typeface="+mj-lt"/>
              <a:cs typeface="+mn-cs"/>
            </a:endParaRPr>
          </a:p>
        </p:txBody>
      </p:sp>
      <p:sp>
        <p:nvSpPr>
          <p:cNvPr id="65597" name="Rectangle 16"/>
          <p:cNvSpPr>
            <a:spLocks noChangeArrowheads="1"/>
          </p:cNvSpPr>
          <p:nvPr/>
        </p:nvSpPr>
        <p:spPr bwMode="auto">
          <a:xfrm>
            <a:off x="3995738" y="3921125"/>
            <a:ext cx="1289050" cy="461963"/>
          </a:xfrm>
          <a:prstGeom prst="rect">
            <a:avLst/>
          </a:prstGeom>
          <a:noFill/>
          <a:ln w="9525">
            <a:solidFill>
              <a:srgbClr val="FFC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FF6600"/>
                </a:solidFill>
                <a:latin typeface="Arial" charset="0"/>
              </a:rPr>
              <a:t>FOOD pathway</a:t>
            </a:r>
          </a:p>
          <a:p>
            <a:pPr algn="ctr" eaLnBrk="1" hangingPunct="1">
              <a:spcBef>
                <a:spcPct val="0"/>
              </a:spcBef>
              <a:buSzTx/>
              <a:buFontTx/>
              <a:buNone/>
            </a:pPr>
            <a:r>
              <a:rPr lang="en-GB" altLang="en-US" sz="1200" b="1" i="1">
                <a:solidFill>
                  <a:srgbClr val="FF6600"/>
                </a:solidFill>
                <a:latin typeface="Arial" charset="0"/>
              </a:rPr>
              <a:t>files</a:t>
            </a:r>
          </a:p>
        </p:txBody>
      </p:sp>
      <p:sp>
        <p:nvSpPr>
          <p:cNvPr id="65"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extLst>
      <p:ext uri="{BB962C8B-B14F-4D97-AF65-F5344CB8AC3E}">
        <p14:creationId xmlns:p14="http://schemas.microsoft.com/office/powerpoint/2010/main" val="41918075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381000" y="1071546"/>
            <a:ext cx="2362200" cy="704848"/>
          </a:xfrm>
          <a:ln>
            <a:miter lim="800000"/>
            <a:headEnd/>
            <a:tailEnd/>
          </a:ln>
          <a:extLst/>
        </p:spPr>
        <p:txBody>
          <a:bodyPr/>
          <a:lstStyle/>
          <a:p>
            <a:pPr eaLnBrk="1" fontAlgn="auto" hangingPunct="1">
              <a:spcAft>
                <a:spcPts val="0"/>
              </a:spcAft>
              <a:defRPr/>
            </a:pPr>
            <a:r>
              <a:rPr lang="en-US" smtClean="0">
                <a:effectLst>
                  <a:reflection blurRad="6350" stA="55000" endA="300" endPos="45500" dir="5400000" sy="-100000" algn="bl" rotWithShape="0"/>
                </a:effectLst>
              </a:rPr>
              <a:t>Outline</a:t>
            </a:r>
            <a:endParaRPr lang="en-US" dirty="0" smtClean="0">
              <a:effectLst>
                <a:reflection blurRad="6350" stA="55000" endA="300" endPos="45500" dir="5400000" sy="-100000" algn="bl" rotWithShape="0"/>
              </a:effectLst>
            </a:endParaRPr>
          </a:p>
        </p:txBody>
      </p:sp>
      <p:sp>
        <p:nvSpPr>
          <p:cNvPr id="12" name="Tijdelijke aanduiding voor tekst 11"/>
          <p:cNvSpPr>
            <a:spLocks noGrp="1"/>
          </p:cNvSpPr>
          <p:nvPr>
            <p:ph type="body" idx="2"/>
          </p:nvPr>
        </p:nvSpPr>
        <p:spPr>
          <a:xfrm>
            <a:off x="381000" y="1857364"/>
            <a:ext cx="2362200" cy="4144963"/>
          </a:xfrm>
          <a:ln>
            <a:miter lim="800000"/>
            <a:headEnd/>
            <a:tailEnd/>
          </a:ln>
          <a:extLst/>
        </p:spPr>
        <p:txBody>
          <a:bodyPr>
            <a:noAutofit/>
          </a:bodyPr>
          <a:lstStyle/>
          <a:p>
            <a:pPr marL="265113" indent="-265113" eaLnBrk="1" fontAlgn="auto" hangingPunct="1">
              <a:spcAft>
                <a:spcPts val="300"/>
              </a:spcAft>
              <a:buClr>
                <a:schemeClr val="bg1"/>
              </a:buClr>
              <a:buFont typeface="+mj-lt"/>
              <a:buAutoNum type="arabicPeriod"/>
              <a:defRPr/>
            </a:pPr>
            <a:r>
              <a:rPr lang="en-US" b="1" dirty="0" smtClean="0">
                <a:effectLst>
                  <a:glow rad="63500">
                    <a:schemeClr val="accent3">
                      <a:satMod val="175000"/>
                      <a:alpha val="40000"/>
                    </a:schemeClr>
                  </a:glow>
                </a:effectLst>
              </a:rPr>
              <a:t>Introduction</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General information</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Quick list</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Description and quantification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C</a:t>
            </a:r>
            <a:r>
              <a:rPr lang="en-US" b="1" dirty="0" smtClean="0">
                <a:solidFill>
                  <a:schemeClr val="tx1">
                    <a:lumMod val="95000"/>
                    <a:lumOff val="5000"/>
                  </a:schemeClr>
                </a:solidFill>
              </a:rPr>
              <a:t>ontrols</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Preparation steps</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Maintenance</a:t>
            </a:r>
          </a:p>
          <a:p>
            <a:pPr eaLnBrk="1" fontAlgn="auto" hangingPunct="1">
              <a:spcAft>
                <a:spcPts val="300"/>
              </a:spcAft>
              <a:buFont typeface="Wingdings 2"/>
              <a:buNone/>
              <a:defRPr/>
            </a:pPr>
            <a:endParaRPr lang="nl-BE" dirty="0"/>
          </a:p>
        </p:txBody>
      </p:sp>
      <p:sp>
        <p:nvSpPr>
          <p:cNvPr id="11" name="Tijdelijke aanduiding voor dianummer 10"/>
          <p:cNvSpPr>
            <a:spLocks noGrp="1"/>
          </p:cNvSpPr>
          <p:nvPr>
            <p:ph type="sldNum" sz="quarter" idx="10"/>
          </p:nvPr>
        </p:nvSpPr>
        <p:spPr/>
        <p:txBody>
          <a:bodyPr/>
          <a:lstStyle/>
          <a:p>
            <a:pPr>
              <a:defRPr/>
            </a:pPr>
            <a:fld id="{FD812373-1873-4DB6-A10F-8A8726D319F0}" type="slidenum">
              <a:rPr lang="en-US" smtClean="0"/>
              <a:pPr>
                <a:defRPr/>
              </a:pPr>
              <a:t>5</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sp>
        <p:nvSpPr>
          <p:cNvPr id="15367" name="Tijdelijke aanduiding voor inhoud 12"/>
          <p:cNvSpPr>
            <a:spLocks noGrp="1"/>
          </p:cNvSpPr>
          <p:nvPr>
            <p:ph sz="quarter" idx="1"/>
          </p:nvPr>
        </p:nvSpPr>
        <p:spPr>
          <a:xfrm>
            <a:off x="2987675" y="620713"/>
            <a:ext cx="5976938" cy="5410200"/>
          </a:xfrm>
        </p:spPr>
        <p:txBody>
          <a:bodyPr/>
          <a:lstStyle/>
          <a:p>
            <a:pPr eaLnBrk="1" hangingPunct="1">
              <a:defRPr/>
            </a:pPr>
            <a:r>
              <a:rPr lang="en-US" sz="2500" dirty="0" smtClean="0"/>
              <a:t>Introduce all </a:t>
            </a:r>
            <a:r>
              <a:rPr lang="en-US" sz="2500" dirty="0" err="1" smtClean="0"/>
              <a:t>GloboDiet</a:t>
            </a:r>
            <a:r>
              <a:rPr lang="en-US" sz="2500" dirty="0" smtClean="0"/>
              <a:t> files (70)</a:t>
            </a:r>
          </a:p>
          <a:p>
            <a:pPr lvl="1" eaLnBrk="1" hangingPunct="1">
              <a:defRPr/>
            </a:pPr>
            <a:r>
              <a:rPr lang="en-US" sz="2000" dirty="0" smtClean="0"/>
              <a:t>Common to all countries</a:t>
            </a:r>
          </a:p>
          <a:p>
            <a:pPr lvl="1" eaLnBrk="1" hangingPunct="1">
              <a:defRPr/>
            </a:pPr>
            <a:r>
              <a:rPr lang="en-US" sz="2000" dirty="0" smtClean="0"/>
              <a:t>Country-specific</a:t>
            </a:r>
          </a:p>
          <a:p>
            <a:pPr lvl="1" eaLnBrk="1" hangingPunct="1">
              <a:defRPr/>
            </a:pPr>
            <a:r>
              <a:rPr lang="en-US" sz="2000" dirty="0" smtClean="0"/>
              <a:t>For foods/ingredients</a:t>
            </a:r>
          </a:p>
          <a:p>
            <a:pPr lvl="1" eaLnBrk="1" hangingPunct="1">
              <a:defRPr/>
            </a:pPr>
            <a:r>
              <a:rPr lang="en-US" sz="2000" dirty="0" smtClean="0"/>
              <a:t>For recipes</a:t>
            </a:r>
          </a:p>
          <a:p>
            <a:pPr lvl="1" eaLnBrk="1" hangingPunct="1">
              <a:defRPr/>
            </a:pPr>
            <a:r>
              <a:rPr lang="en-US" sz="2000" dirty="0" smtClean="0"/>
              <a:t>For dietary supplements</a:t>
            </a:r>
            <a:endParaRPr lang="en-US" sz="2500" dirty="0"/>
          </a:p>
          <a:p>
            <a:pPr eaLnBrk="1" hangingPunct="1">
              <a:defRPr/>
            </a:pPr>
            <a:r>
              <a:rPr lang="en-US" sz="2500" dirty="0" smtClean="0"/>
              <a:t>Show their format – list all the needed information</a:t>
            </a:r>
          </a:p>
          <a:p>
            <a:pPr eaLnBrk="1" hangingPunct="1">
              <a:defRPr/>
            </a:pPr>
            <a:r>
              <a:rPr lang="en-US" sz="2500" dirty="0" smtClean="0"/>
              <a:t>Show the links between the files</a:t>
            </a:r>
          </a:p>
          <a:p>
            <a:pPr eaLnBrk="1" hangingPunct="1">
              <a:defRPr/>
            </a:pPr>
            <a:r>
              <a:rPr lang="en-US" sz="2500" dirty="0" smtClean="0"/>
              <a:t>Show the steps to prepare a </a:t>
            </a:r>
            <a:r>
              <a:rPr lang="en-US" sz="2500" dirty="0" err="1" smtClean="0"/>
              <a:t>GloboDiet</a:t>
            </a:r>
            <a:r>
              <a:rPr lang="en-US" sz="2500" dirty="0" smtClean="0"/>
              <a:t> version</a:t>
            </a:r>
          </a:p>
          <a:p>
            <a:pPr marL="274638" lvl="1" indent="0" eaLnBrk="1" hangingPunct="1">
              <a:buFont typeface="Wingdings" pitchFamily="2" charset="2"/>
              <a:buNone/>
              <a:defRPr/>
            </a:pPr>
            <a:r>
              <a:rPr lang="en-US" sz="2000" dirty="0" smtClean="0"/>
              <a:t>Food version </a:t>
            </a:r>
            <a:r>
              <a:rPr lang="en-US" sz="2000" dirty="0" smtClean="0">
                <a:sym typeface="Wingdings" pitchFamily="2" charset="2"/>
              </a:rPr>
              <a:t> recipe entry  final version</a:t>
            </a:r>
          </a:p>
          <a:p>
            <a:pPr lvl="1" eaLnBrk="1" hangingPunct="1">
              <a:defRPr/>
            </a:pPr>
            <a:endParaRPr lang="en-US" sz="800" dirty="0" smtClean="0"/>
          </a:p>
          <a:p>
            <a:pPr marL="0" indent="0" eaLnBrk="1" hangingPunct="1">
              <a:buFont typeface="Wingdings 2" pitchFamily="18" charset="2"/>
              <a:buNone/>
              <a:defRPr/>
            </a:pPr>
            <a:r>
              <a:rPr lang="en-US" sz="2500" dirty="0">
                <a:solidFill>
                  <a:srgbClr val="FF0000"/>
                </a:solidFill>
              </a:rPr>
              <a:t>Countries mainly deal with Word files (.end).</a:t>
            </a:r>
          </a:p>
          <a:p>
            <a:pPr marL="0" indent="0" eaLnBrk="1" hangingPunct="1">
              <a:buFont typeface="Wingdings 2" pitchFamily="18" charset="2"/>
              <a:buNone/>
              <a:defRPr/>
            </a:pPr>
            <a:r>
              <a:rPr lang="en-US" sz="2500" dirty="0" smtClean="0">
                <a:solidFill>
                  <a:srgbClr val="FF0000"/>
                </a:solidFill>
              </a:rPr>
              <a:t>Outside e-SMP, IARC handles .</a:t>
            </a:r>
            <a:r>
              <a:rPr lang="en-US" sz="2500" dirty="0" err="1" smtClean="0">
                <a:solidFill>
                  <a:srgbClr val="FF0000"/>
                </a:solidFill>
              </a:rPr>
              <a:t>xls</a:t>
            </a:r>
            <a:r>
              <a:rPr lang="en-US" sz="2500" dirty="0" smtClean="0">
                <a:solidFill>
                  <a:srgbClr val="FF0000"/>
                </a:solidFill>
              </a:rPr>
              <a:t> files. </a:t>
            </a:r>
            <a:endParaRPr lang="en-US" sz="2500" dirty="0" smtClean="0"/>
          </a:p>
          <a:p>
            <a:pPr eaLnBrk="1" hangingPunct="1">
              <a:buFont typeface="Wingdings 2" pitchFamily="18" charset="2"/>
              <a:buNone/>
              <a:defRPr/>
            </a:pPr>
            <a:endParaRPr lang="nl-BE" dirty="0" smtClean="0"/>
          </a:p>
        </p:txBody>
      </p:sp>
      <p:pic>
        <p:nvPicPr>
          <p:cNvPr id="15" name="Afbeelding 14"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3" name="Footer Placeholder 4"/>
          <p:cNvSpPr>
            <a:spLocks noGrp="1"/>
          </p:cNvSpPr>
          <p:nvPr>
            <p:ph type="ftr" sz="quarter" idx="12"/>
          </p:nvPr>
        </p:nvSpPr>
        <p:spPr>
          <a:xfrm>
            <a:off x="377825" y="6381750"/>
            <a:ext cx="3906838" cy="350838"/>
          </a:xfrm>
        </p:spPr>
        <p:txBody>
          <a:bodyPr lIns="45720" rIns="45720" anchor="ctr">
            <a:noAutofit/>
          </a:bodyPr>
          <a:lstStyle/>
          <a:p>
            <a:pPr>
              <a:defRPr/>
            </a:pPr>
            <a:r>
              <a:rPr lang="en-GB" dirty="0"/>
              <a:t>Maintenance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dianummer 10"/>
          <p:cNvSpPr>
            <a:spLocks noGrp="1"/>
          </p:cNvSpPr>
          <p:nvPr>
            <p:ph type="sldNum" sz="quarter" idx="10"/>
          </p:nvPr>
        </p:nvSpPr>
        <p:spPr/>
        <p:txBody>
          <a:bodyPr/>
          <a:lstStyle/>
          <a:p>
            <a:pPr>
              <a:defRPr/>
            </a:pPr>
            <a:fld id="{89F8D90E-B1E4-4B1A-84ED-BD1B41DAC464}" type="slidenum">
              <a:rPr lang="en-US" smtClean="0"/>
              <a:pPr>
                <a:defRPr/>
              </a:pPr>
              <a:t>6</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pic>
        <p:nvPicPr>
          <p:cNvPr id="9" name="Afbeelding 8"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5" name="Rectangle 2"/>
          <p:cNvSpPr txBox="1">
            <a:spLocks noChangeArrowheads="1"/>
          </p:cNvSpPr>
          <p:nvPr/>
        </p:nvSpPr>
        <p:spPr>
          <a:xfrm>
            <a:off x="381000" y="1071546"/>
            <a:ext cx="2362200" cy="704848"/>
          </a:xfrm>
          <a:prstGeom prst="rect">
            <a:avLst/>
          </a:prstGeom>
        </p:spPr>
        <p:txBody>
          <a:bodyPr anchor="b"/>
          <a:lstStyle/>
          <a:p>
            <a:pPr fontAlgn="auto">
              <a:spcAft>
                <a:spcPts val="0"/>
              </a:spcAft>
              <a:defRPr/>
            </a:pPr>
            <a:r>
              <a:rPr lang="en-US" sz="2200" b="1">
                <a:solidFill>
                  <a:srgbClr val="FFFFFF"/>
                </a:solidFill>
                <a:effectLst>
                  <a:reflection blurRad="6350" stA="55000" endA="300" endPos="45500" dir="5400000" sy="-100000" algn="bl" rotWithShape="0"/>
                </a:effectLst>
                <a:latin typeface="+mj-lt"/>
                <a:ea typeface="+mj-ea"/>
                <a:cs typeface="+mj-cs"/>
              </a:rPr>
              <a:t>Outline</a:t>
            </a:r>
            <a:endParaRPr lang="en-US" sz="2200" b="1" dirty="0">
              <a:solidFill>
                <a:srgbClr val="FFFFFF"/>
              </a:solidFill>
              <a:effectLst>
                <a:reflection blurRad="6350" stA="55000" endA="300" endPos="45500" dir="5400000" sy="-100000" algn="bl" rotWithShape="0"/>
              </a:effectLst>
              <a:latin typeface="+mj-lt"/>
              <a:ea typeface="+mj-ea"/>
              <a:cs typeface="+mj-cs"/>
            </a:endParaRPr>
          </a:p>
        </p:txBody>
      </p:sp>
      <p:sp>
        <p:nvSpPr>
          <p:cNvPr id="16" name="Tijdelijke aanduiding voor tekst 11"/>
          <p:cNvSpPr txBox="1">
            <a:spLocks/>
          </p:cNvSpPr>
          <p:nvPr/>
        </p:nvSpPr>
        <p:spPr bwMode="auto">
          <a:xfrm>
            <a:off x="409550" y="1857364"/>
            <a:ext cx="2362200" cy="414496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rtl="0" eaLnBrk="0" fontAlgn="base" hangingPunct="0">
              <a:spcBef>
                <a:spcPct val="20000"/>
              </a:spcBef>
              <a:spcAft>
                <a:spcPts val="1000"/>
              </a:spcAft>
              <a:buSzPct val="85000"/>
              <a:buFont typeface="Wingdings 2" pitchFamily="18" charset="2"/>
              <a:buNone/>
              <a:defRPr sz="1600" kern="1200">
                <a:solidFill>
                  <a:srgbClr val="FFFFFF"/>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None/>
              <a:defRPr sz="1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None/>
              <a:defRPr sz="1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None/>
              <a:defRPr sz="9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None/>
              <a:defRPr sz="9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indent="-342900" eaLnBrk="1" fontAlgn="auto" hangingPunct="1">
              <a:spcAft>
                <a:spcPts val="300"/>
              </a:spcAft>
              <a:buClr>
                <a:schemeClr val="bg1"/>
              </a:buClr>
              <a:buFont typeface="+mj-lt"/>
              <a:buAutoNum type="arabicPeriod"/>
              <a:defRPr/>
            </a:pPr>
            <a:r>
              <a:rPr lang="en-US" b="1" dirty="0">
                <a:solidFill>
                  <a:schemeClr val="tx1">
                    <a:lumMod val="95000"/>
                    <a:lumOff val="5000"/>
                  </a:schemeClr>
                </a:solidFill>
              </a:rPr>
              <a:t>Introduction</a:t>
            </a:r>
          </a:p>
          <a:p>
            <a:pPr marL="265113" indent="-265113" eaLnBrk="1" fontAlgn="auto" hangingPunct="1">
              <a:spcAft>
                <a:spcPts val="300"/>
              </a:spcAft>
              <a:buFont typeface="+mj-lt"/>
              <a:buAutoNum type="arabicPeriod"/>
              <a:defRPr/>
            </a:pPr>
            <a:r>
              <a:rPr lang="en-US" b="1" dirty="0">
                <a:effectLst>
                  <a:glow rad="63500">
                    <a:schemeClr val="accent3">
                      <a:satMod val="175000"/>
                      <a:alpha val="40000"/>
                    </a:schemeClr>
                  </a:glow>
                </a:effectLst>
              </a:rPr>
              <a:t>General information</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Quick list</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Description and quantification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Controls</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Preparation </a:t>
            </a:r>
            <a:r>
              <a:rPr lang="en-US" b="1" dirty="0" smtClean="0">
                <a:solidFill>
                  <a:schemeClr val="tx1">
                    <a:lumMod val="95000"/>
                    <a:lumOff val="5000"/>
                  </a:schemeClr>
                </a:solidFill>
              </a:rPr>
              <a:t>steps</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Maintenance</a:t>
            </a:r>
            <a:endParaRPr lang="en-US" b="1" dirty="0">
              <a:solidFill>
                <a:schemeClr val="tx1">
                  <a:lumMod val="95000"/>
                  <a:lumOff val="5000"/>
                </a:schemeClr>
              </a:solidFill>
            </a:endParaRPr>
          </a:p>
          <a:p>
            <a:pPr eaLnBrk="1" fontAlgn="auto" hangingPunct="1">
              <a:spcAft>
                <a:spcPts val="300"/>
              </a:spcAft>
              <a:buFont typeface="Wingdings 2"/>
              <a:buNone/>
              <a:defRPr/>
            </a:pPr>
            <a:endParaRPr lang="nl-BE" dirty="0"/>
          </a:p>
        </p:txBody>
      </p:sp>
      <p:sp>
        <p:nvSpPr>
          <p:cNvPr id="3" name="Content Placeholder 2"/>
          <p:cNvSpPr>
            <a:spLocks noGrp="1"/>
          </p:cNvSpPr>
          <p:nvPr>
            <p:ph sz="quarter" idx="1"/>
          </p:nvPr>
        </p:nvSpPr>
        <p:spPr/>
        <p:txBody>
          <a:bodyPr/>
          <a:lstStyle/>
          <a:p>
            <a:pPr marL="0" indent="0">
              <a:buFont typeface="Wingdings 2" pitchFamily="18" charset="2"/>
              <a:buNone/>
              <a:defRPr/>
            </a:pPr>
            <a:r>
              <a:rPr lang="en-GB" sz="2400" dirty="0" smtClean="0"/>
              <a:t>All </a:t>
            </a:r>
            <a:r>
              <a:rPr lang="en-GB" sz="2400" dirty="0" err="1" smtClean="0"/>
              <a:t>GloboDiet</a:t>
            </a:r>
            <a:r>
              <a:rPr lang="en-GB" sz="2400" dirty="0" smtClean="0"/>
              <a:t> screens need to be translated into the local language(s):</a:t>
            </a:r>
          </a:p>
          <a:p>
            <a:pPr marL="0" indent="0">
              <a:buFont typeface="Wingdings 2" pitchFamily="18" charset="2"/>
              <a:buNone/>
              <a:defRPr/>
            </a:pPr>
            <a:r>
              <a:rPr lang="en-GB" sz="2400" dirty="0" smtClean="0"/>
              <a:t>File </a:t>
            </a:r>
            <a:r>
              <a:rPr lang="en-GB" sz="2400" b="1" dirty="0" smtClean="0">
                <a:solidFill>
                  <a:schemeClr val="tx1">
                    <a:lumMod val="50000"/>
                    <a:lumOff val="50000"/>
                  </a:schemeClr>
                </a:solidFill>
              </a:rPr>
              <a:t>GLOBOTEXT.xls</a:t>
            </a:r>
          </a:p>
          <a:p>
            <a:pPr>
              <a:defRPr/>
            </a:pPr>
            <a:endParaRPr lang="en-GB" sz="2400" dirty="0"/>
          </a:p>
          <a:p>
            <a:pPr>
              <a:defRPr/>
            </a:pPr>
            <a:endParaRPr lang="en-GB" sz="2400" dirty="0" smtClean="0"/>
          </a:p>
          <a:p>
            <a:pPr>
              <a:defRPr/>
            </a:pPr>
            <a:endParaRPr lang="en-GB" sz="2400" dirty="0"/>
          </a:p>
          <a:p>
            <a:pPr>
              <a:defRPr/>
            </a:pPr>
            <a:endParaRPr lang="en-GB" sz="2400" dirty="0" smtClean="0"/>
          </a:p>
          <a:p>
            <a:pPr>
              <a:defRPr/>
            </a:pPr>
            <a:endParaRPr lang="en-GB" sz="2400" dirty="0"/>
          </a:p>
          <a:p>
            <a:pPr>
              <a:defRPr/>
            </a:pPr>
            <a:endParaRPr lang="en-GB" sz="2400" dirty="0" smtClean="0"/>
          </a:p>
          <a:p>
            <a:pPr marL="0" indent="0">
              <a:buFont typeface="Wingdings 2" pitchFamily="18" charset="2"/>
              <a:buNone/>
              <a:defRPr/>
            </a:pPr>
            <a:r>
              <a:rPr lang="en-GB" sz="2400" dirty="0" smtClean="0"/>
              <a:t>2 files maintained by IARC: </a:t>
            </a:r>
          </a:p>
          <a:p>
            <a:pPr>
              <a:buFontTx/>
              <a:buChar char="-"/>
              <a:defRPr/>
            </a:pPr>
            <a:r>
              <a:rPr lang="en-GB" sz="2400" b="1" dirty="0" smtClean="0">
                <a:solidFill>
                  <a:schemeClr val="tx1">
                    <a:lumMod val="50000"/>
                    <a:lumOff val="50000"/>
                  </a:schemeClr>
                </a:solidFill>
              </a:rPr>
              <a:t>Country.xls</a:t>
            </a:r>
          </a:p>
          <a:p>
            <a:pPr>
              <a:buFontTx/>
              <a:buChar char="-"/>
              <a:defRPr/>
            </a:pPr>
            <a:r>
              <a:rPr lang="en-GB" sz="2400" b="1" dirty="0" smtClean="0">
                <a:solidFill>
                  <a:schemeClr val="tx1">
                    <a:lumMod val="50000"/>
                    <a:lumOff val="50000"/>
                  </a:schemeClr>
                </a:solidFill>
              </a:rPr>
              <a:t>Centers.xls</a:t>
            </a:r>
          </a:p>
          <a:p>
            <a:pPr marL="0" indent="0">
              <a:buFont typeface="Wingdings 2" pitchFamily="18" charset="2"/>
              <a:buNone/>
              <a:defRPr/>
            </a:pPr>
            <a:r>
              <a:rPr lang="en-GB" sz="2400" dirty="0" smtClean="0"/>
              <a:t>(codes and names of country and </a:t>
            </a:r>
            <a:r>
              <a:rPr lang="en-GB" sz="2400" dirty="0" err="1" smtClean="0"/>
              <a:t>centers</a:t>
            </a:r>
            <a:r>
              <a:rPr lang="en-GB" sz="2400" dirty="0" smtClean="0"/>
              <a:t>)</a:t>
            </a:r>
          </a:p>
        </p:txBody>
      </p:sp>
      <p:pic>
        <p:nvPicPr>
          <p:cNvPr id="16392" name="Picture 13"/>
          <p:cNvPicPr>
            <a:picLocks noChangeAspect="1" noChangeArrowheads="1"/>
          </p:cNvPicPr>
          <p:nvPr/>
        </p:nvPicPr>
        <p:blipFill>
          <a:blip r:embed="rId5">
            <a:extLst>
              <a:ext uri="{28A0092B-C50C-407E-A947-70E740481C1C}">
                <a14:useLocalDpi xmlns:a14="http://schemas.microsoft.com/office/drawing/2010/main" val="0"/>
              </a:ext>
            </a:extLst>
          </a:blip>
          <a:srcRect b="32497"/>
          <a:stretch>
            <a:fillRect/>
          </a:stretch>
        </p:blipFill>
        <p:spPr bwMode="auto">
          <a:xfrm>
            <a:off x="3251200" y="2239963"/>
            <a:ext cx="5457825" cy="226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Footer Placeholder 4"/>
          <p:cNvSpPr>
            <a:spLocks noGrp="1"/>
          </p:cNvSpPr>
          <p:nvPr>
            <p:ph type="ftr" sz="quarter" idx="12"/>
          </p:nvPr>
        </p:nvSpPr>
        <p:spPr>
          <a:xfrm>
            <a:off x="304800" y="6381750"/>
            <a:ext cx="3906838" cy="350838"/>
          </a:xfrm>
        </p:spPr>
        <p:txBody>
          <a:bodyPr lIns="45720" rIns="45720" anchor="ctr">
            <a:noAutofit/>
          </a:bodyPr>
          <a:lstStyle/>
          <a:p>
            <a:pPr>
              <a:defRPr/>
            </a:pPr>
            <a:r>
              <a:rPr lang="en-GB" dirty="0"/>
              <a:t>Maintenance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62D383C5-ED08-46D9-B5B1-00A13DFBD956}" type="slidenum">
              <a:rPr lang="en-US" smtClean="0"/>
              <a:pPr>
                <a:defRPr/>
              </a:pPr>
              <a:t>7</a:t>
            </a:fld>
            <a:endParaRPr lang="en-US" dirty="0"/>
          </a:p>
        </p:txBody>
      </p:sp>
      <p:sp>
        <p:nvSpPr>
          <p:cNvPr id="5" name="TextBox 4"/>
          <p:cNvSpPr txBox="1"/>
          <p:nvPr/>
        </p:nvSpPr>
        <p:spPr>
          <a:xfrm>
            <a:off x="466725" y="2852738"/>
            <a:ext cx="8137525" cy="2678112"/>
          </a:xfrm>
          <a:prstGeom prst="rect">
            <a:avLst/>
          </a:prstGeom>
          <a:noFill/>
        </p:spPr>
        <p:txBody>
          <a:bodyPr>
            <a:spAutoFit/>
          </a:bodyPr>
          <a:lstStyle/>
          <a:p>
            <a:pPr>
              <a:defRPr/>
            </a:pPr>
            <a:r>
              <a:rPr lang="en-GB" sz="2400" dirty="0"/>
              <a:t>Each coordinator needs to provide the list of interviewers</a:t>
            </a:r>
          </a:p>
          <a:p>
            <a:pPr marL="285750" indent="-285750">
              <a:buFontTx/>
              <a:buChar char="-"/>
              <a:defRPr/>
            </a:pPr>
            <a:r>
              <a:rPr lang="en-GB" sz="2400" dirty="0"/>
              <a:t>Code</a:t>
            </a:r>
          </a:p>
          <a:p>
            <a:pPr marL="285750" indent="-285750">
              <a:buFontTx/>
              <a:buChar char="-"/>
              <a:defRPr/>
            </a:pPr>
            <a:r>
              <a:rPr lang="en-GB" sz="2400" dirty="0"/>
              <a:t>Name</a:t>
            </a:r>
          </a:p>
          <a:p>
            <a:pPr marL="285750" indent="-285750">
              <a:buFontTx/>
              <a:buChar char="-"/>
              <a:defRPr/>
            </a:pPr>
            <a:r>
              <a:rPr lang="en-GB" sz="2400" dirty="0"/>
              <a:t>Family name (surname) </a:t>
            </a:r>
          </a:p>
          <a:p>
            <a:pPr marL="285750" indent="-285750">
              <a:buFontTx/>
              <a:buChar char="-"/>
              <a:defRPr/>
            </a:pPr>
            <a:r>
              <a:rPr lang="en-GB" sz="2400" dirty="0"/>
              <a:t>Country to which he/she is attached</a:t>
            </a:r>
          </a:p>
          <a:p>
            <a:pPr marL="285750" indent="-285750">
              <a:buFontTx/>
              <a:buChar char="-"/>
              <a:defRPr/>
            </a:pPr>
            <a:r>
              <a:rPr lang="en-GB" sz="2400" dirty="0" err="1"/>
              <a:t>Center</a:t>
            </a:r>
            <a:r>
              <a:rPr lang="en-GB" sz="2400" dirty="0"/>
              <a:t> to which he/she is attached</a:t>
            </a:r>
          </a:p>
          <a:p>
            <a:pPr>
              <a:defRPr/>
            </a:pPr>
            <a:r>
              <a:rPr lang="en-GB" sz="2400" dirty="0">
                <a:sym typeface="Wingdings" pitchFamily="2" charset="2"/>
              </a:rPr>
              <a:t>	 file </a:t>
            </a:r>
            <a:r>
              <a:rPr lang="en-GB" sz="2400" b="1" dirty="0">
                <a:solidFill>
                  <a:schemeClr val="tx1">
                    <a:lumMod val="50000"/>
                    <a:lumOff val="50000"/>
                  </a:schemeClr>
                </a:solidFill>
                <a:sym typeface="Wingdings" pitchFamily="2" charset="2"/>
              </a:rPr>
              <a:t>INTVIEWR.xls</a:t>
            </a:r>
            <a:endParaRPr lang="en-GB" sz="2400" b="1" dirty="0">
              <a:solidFill>
                <a:schemeClr val="tx1">
                  <a:lumMod val="50000"/>
                  <a:lumOff val="50000"/>
                </a:schemeClr>
              </a:solidFill>
            </a:endParaRPr>
          </a:p>
        </p:txBody>
      </p:sp>
      <p:sp>
        <p:nvSpPr>
          <p:cNvPr id="7"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pic>
        <p:nvPicPr>
          <p:cNvPr id="1741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13" y="550863"/>
            <a:ext cx="6962775" cy="2085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2D6DFEF9-8D17-4C35-B32B-BCF5E6C4E4FB}" type="slidenum">
              <a:rPr lang="en-US" smtClean="0"/>
              <a:pPr>
                <a:defRPr/>
              </a:pPr>
              <a:t>8</a:t>
            </a:fld>
            <a:endParaRPr lang="en-US" dirty="0"/>
          </a:p>
        </p:txBody>
      </p:sp>
      <p:sp>
        <p:nvSpPr>
          <p:cNvPr id="6" name="TextBox 5"/>
          <p:cNvSpPr txBox="1"/>
          <p:nvPr/>
        </p:nvSpPr>
        <p:spPr>
          <a:xfrm>
            <a:off x="395288" y="4154488"/>
            <a:ext cx="8281987" cy="1938337"/>
          </a:xfrm>
          <a:prstGeom prst="rect">
            <a:avLst/>
          </a:prstGeom>
          <a:noFill/>
        </p:spPr>
        <p:txBody>
          <a:bodyPr>
            <a:spAutoFit/>
          </a:bodyPr>
          <a:lstStyle/>
          <a:p>
            <a:pPr>
              <a:defRPr/>
            </a:pPr>
            <a:r>
              <a:rPr lang="en-GB" sz="2400" dirty="0"/>
              <a:t>To manage the warning on height and weight: </a:t>
            </a:r>
          </a:p>
          <a:p>
            <a:pPr>
              <a:defRPr/>
            </a:pPr>
            <a:r>
              <a:rPr lang="en-GB" sz="2400" dirty="0"/>
              <a:t>file </a:t>
            </a:r>
            <a:r>
              <a:rPr lang="en-GB" sz="2400" b="1" dirty="0">
                <a:solidFill>
                  <a:schemeClr val="tx1">
                    <a:lumMod val="50000"/>
                    <a:lumOff val="50000"/>
                  </a:schemeClr>
                </a:solidFill>
              </a:rPr>
              <a:t>ANTHROP.xls</a:t>
            </a:r>
            <a:r>
              <a:rPr lang="en-GB" sz="2400" dirty="0"/>
              <a:t> maintained by IARC</a:t>
            </a:r>
          </a:p>
          <a:p>
            <a:pPr marL="285750" indent="-285750">
              <a:buFontTx/>
              <a:buChar char="-"/>
              <a:defRPr/>
            </a:pPr>
            <a:r>
              <a:rPr lang="en-GB" sz="2400" dirty="0"/>
              <a:t>minima, maxima and default values for height and weight</a:t>
            </a:r>
          </a:p>
          <a:p>
            <a:pPr marL="285750" indent="-285750">
              <a:buFontTx/>
              <a:buChar char="-"/>
              <a:defRPr/>
            </a:pPr>
            <a:r>
              <a:rPr lang="en-GB" sz="2400" dirty="0"/>
              <a:t>Per sex</a:t>
            </a:r>
          </a:p>
          <a:p>
            <a:pPr marL="285750" indent="-285750">
              <a:buFontTx/>
              <a:buChar char="-"/>
              <a:defRPr/>
            </a:pPr>
            <a:r>
              <a:rPr lang="en-GB" sz="2400" dirty="0"/>
              <a:t>Per age range</a:t>
            </a:r>
          </a:p>
        </p:txBody>
      </p:sp>
      <p:pic>
        <p:nvPicPr>
          <p:cNvPr id="18437" name="Picture 6"/>
          <p:cNvPicPr>
            <a:picLocks noChangeAspect="1"/>
          </p:cNvPicPr>
          <p:nvPr/>
        </p:nvPicPr>
        <p:blipFill>
          <a:blip r:embed="rId2">
            <a:extLst>
              <a:ext uri="{28A0092B-C50C-407E-A947-70E740481C1C}">
                <a14:useLocalDpi xmlns:a14="http://schemas.microsoft.com/office/drawing/2010/main" val="0"/>
              </a:ext>
            </a:extLst>
          </a:blip>
          <a:srcRect l="27095" t="31648" r="27194" b="26596"/>
          <a:stretch>
            <a:fillRect/>
          </a:stretch>
        </p:blipFill>
        <p:spPr bwMode="auto">
          <a:xfrm>
            <a:off x="1474788" y="188913"/>
            <a:ext cx="6583362" cy="375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9682601D-D315-4A83-B70A-E999C4C30AEE}" type="slidenum">
              <a:rPr lang="en-US" smtClean="0"/>
              <a:pPr>
                <a:defRPr/>
              </a:pPr>
              <a:t>9</a:t>
            </a:fld>
            <a:endParaRPr lang="en-US" dirty="0"/>
          </a:p>
        </p:txBody>
      </p:sp>
      <p:pic>
        <p:nvPicPr>
          <p:cNvPr id="19460" name="Picture 4"/>
          <p:cNvPicPr>
            <a:picLocks noChangeAspect="1"/>
          </p:cNvPicPr>
          <p:nvPr/>
        </p:nvPicPr>
        <p:blipFill>
          <a:blip r:embed="rId2">
            <a:extLst>
              <a:ext uri="{28A0092B-C50C-407E-A947-70E740481C1C}">
                <a14:useLocalDpi xmlns:a14="http://schemas.microsoft.com/office/drawing/2010/main" val="0"/>
              </a:ext>
            </a:extLst>
          </a:blip>
          <a:srcRect l="24435" t="27394" r="22374" b="17021"/>
          <a:stretch>
            <a:fillRect/>
          </a:stretch>
        </p:blipFill>
        <p:spPr bwMode="auto">
          <a:xfrm>
            <a:off x="1258888" y="188913"/>
            <a:ext cx="6810375" cy="444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Box 5"/>
          <p:cNvSpPr txBox="1">
            <a:spLocks noChangeArrowheads="1"/>
          </p:cNvSpPr>
          <p:nvPr/>
        </p:nvSpPr>
        <p:spPr bwMode="auto">
          <a:xfrm>
            <a:off x="466725" y="4868863"/>
            <a:ext cx="82819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2400">
                <a:latin typeface="Arial" charset="0"/>
              </a:rPr>
              <a:t>Each coordinator needs to provide a list of special diets, chosen from suggestions from IARC library (code – name).</a:t>
            </a:r>
          </a:p>
          <a:p>
            <a:pPr eaLnBrk="1" hangingPunct="1">
              <a:spcBef>
                <a:spcPct val="0"/>
              </a:spcBef>
              <a:buSzTx/>
              <a:buFontTx/>
              <a:buNone/>
            </a:pPr>
            <a:r>
              <a:rPr lang="en-GB" altLang="en-US" sz="2400">
                <a:latin typeface="Arial" charset="0"/>
              </a:rPr>
              <a:t>File </a:t>
            </a:r>
            <a:r>
              <a:rPr lang="en-GB" altLang="en-US" sz="2400" b="1">
                <a:latin typeface="Arial" charset="0"/>
              </a:rPr>
              <a:t>SPECDIET.end</a:t>
            </a:r>
            <a:r>
              <a:rPr lang="en-GB" altLang="en-US" sz="2400">
                <a:latin typeface="Arial" charset="0"/>
              </a:rPr>
              <a:t> to be translated into local language(s)</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66A7C04C-6486-4B17-A63E-436CFD6DA7AF}" type="slidenum">
              <a:rPr lang="en-US" smtClean="0"/>
              <a:pPr>
                <a:defRPr/>
              </a:pPr>
              <a:t>10</a:t>
            </a:fld>
            <a:endParaRPr lang="en-US" dirty="0"/>
          </a:p>
        </p:txBody>
      </p:sp>
      <p:sp>
        <p:nvSpPr>
          <p:cNvPr id="20484" name="TextBox 5"/>
          <p:cNvSpPr txBox="1">
            <a:spLocks noChangeArrowheads="1"/>
          </p:cNvSpPr>
          <p:nvPr/>
        </p:nvSpPr>
        <p:spPr bwMode="auto">
          <a:xfrm>
            <a:off x="466725" y="4868863"/>
            <a:ext cx="82819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2400">
                <a:latin typeface="Arial" charset="0"/>
              </a:rPr>
              <a:t>Each coordinator needs to provide a list of special days, chosen from suggestions from IARC library (code – name).</a:t>
            </a:r>
          </a:p>
          <a:p>
            <a:pPr eaLnBrk="1" hangingPunct="1">
              <a:spcBef>
                <a:spcPct val="0"/>
              </a:spcBef>
              <a:buSzTx/>
              <a:buFontTx/>
              <a:buNone/>
            </a:pPr>
            <a:r>
              <a:rPr lang="en-GB" altLang="en-US" sz="2400">
                <a:latin typeface="Arial" charset="0"/>
              </a:rPr>
              <a:t>File </a:t>
            </a:r>
            <a:r>
              <a:rPr lang="en-GB" altLang="en-US" sz="2400" b="1">
                <a:latin typeface="Arial" charset="0"/>
              </a:rPr>
              <a:t>SPECDAY.end</a:t>
            </a:r>
            <a:r>
              <a:rPr lang="en-GB" altLang="en-US" sz="2400">
                <a:latin typeface="Arial" charset="0"/>
              </a:rPr>
              <a:t> to be translated into local language(s)</a:t>
            </a:r>
          </a:p>
        </p:txBody>
      </p:sp>
      <p:pic>
        <p:nvPicPr>
          <p:cNvPr id="20485" name="Picture 8"/>
          <p:cNvPicPr>
            <a:picLocks noChangeAspect="1"/>
          </p:cNvPicPr>
          <p:nvPr/>
        </p:nvPicPr>
        <p:blipFill>
          <a:blip r:embed="rId2">
            <a:extLst>
              <a:ext uri="{28A0092B-C50C-407E-A947-70E740481C1C}">
                <a14:useLocalDpi xmlns:a14="http://schemas.microsoft.com/office/drawing/2010/main" val="0"/>
              </a:ext>
            </a:extLst>
          </a:blip>
          <a:srcRect l="24269" t="27129" r="12399" b="14894"/>
          <a:stretch>
            <a:fillRect/>
          </a:stretch>
        </p:blipFill>
        <p:spPr bwMode="auto">
          <a:xfrm>
            <a:off x="611188" y="188913"/>
            <a:ext cx="8107362"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dianummer 10"/>
          <p:cNvSpPr>
            <a:spLocks noGrp="1"/>
          </p:cNvSpPr>
          <p:nvPr>
            <p:ph type="sldNum" sz="quarter" idx="10"/>
          </p:nvPr>
        </p:nvSpPr>
        <p:spPr/>
        <p:txBody>
          <a:bodyPr/>
          <a:lstStyle/>
          <a:p>
            <a:pPr>
              <a:defRPr/>
            </a:pPr>
            <a:fld id="{C52CD6BE-DC84-44F8-979E-964E791ADE42}" type="slidenum">
              <a:rPr lang="en-US" smtClean="0"/>
              <a:pPr>
                <a:defRPr/>
              </a:pPr>
              <a:t>11</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pic>
        <p:nvPicPr>
          <p:cNvPr id="15" name="Afbeelding 14"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7" name="Rectangle 2"/>
          <p:cNvSpPr txBox="1">
            <a:spLocks noChangeArrowheads="1"/>
          </p:cNvSpPr>
          <p:nvPr/>
        </p:nvSpPr>
        <p:spPr>
          <a:xfrm>
            <a:off x="381000" y="1071546"/>
            <a:ext cx="2362200" cy="704848"/>
          </a:xfrm>
          <a:prstGeom prst="rect">
            <a:avLst/>
          </a:prstGeom>
        </p:spPr>
        <p:txBody>
          <a:bodyPr anchor="b"/>
          <a:lstStyle/>
          <a:p>
            <a:pPr fontAlgn="auto">
              <a:spcAft>
                <a:spcPts val="0"/>
              </a:spcAft>
              <a:defRPr/>
            </a:pPr>
            <a:r>
              <a:rPr lang="en-US" sz="2200" b="1" dirty="0">
                <a:solidFill>
                  <a:srgbClr val="FFFFFF"/>
                </a:solidFill>
                <a:effectLst>
                  <a:reflection blurRad="6350" stA="55000" endA="300" endPos="45500" dir="5400000" sy="-100000" algn="bl" rotWithShape="0"/>
                </a:effectLst>
                <a:latin typeface="+mj-lt"/>
                <a:ea typeface="+mj-ea"/>
                <a:cs typeface="+mj-cs"/>
              </a:rPr>
              <a:t>Outline</a:t>
            </a:r>
          </a:p>
        </p:txBody>
      </p:sp>
      <p:sp>
        <p:nvSpPr>
          <p:cNvPr id="16" name="Tijdelijke aanduiding voor tekst 11"/>
          <p:cNvSpPr txBox="1">
            <a:spLocks/>
          </p:cNvSpPr>
          <p:nvPr/>
        </p:nvSpPr>
        <p:spPr bwMode="auto">
          <a:xfrm>
            <a:off x="409550" y="1857364"/>
            <a:ext cx="2362200" cy="414496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rtl="0" eaLnBrk="0" fontAlgn="base" hangingPunct="0">
              <a:spcBef>
                <a:spcPct val="20000"/>
              </a:spcBef>
              <a:spcAft>
                <a:spcPts val="1000"/>
              </a:spcAft>
              <a:buSzPct val="85000"/>
              <a:buFont typeface="Wingdings 2" pitchFamily="18" charset="2"/>
              <a:buNone/>
              <a:defRPr sz="1600" kern="1200">
                <a:solidFill>
                  <a:srgbClr val="FFFFFF"/>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None/>
              <a:defRPr sz="1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None/>
              <a:defRPr sz="1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None/>
              <a:defRPr sz="9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None/>
              <a:defRPr sz="9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indent="-342900" eaLnBrk="1" fontAlgn="auto" hangingPunct="1">
              <a:spcAft>
                <a:spcPts val="300"/>
              </a:spcAft>
              <a:buClr>
                <a:schemeClr val="bg1"/>
              </a:buClr>
              <a:buFont typeface="+mj-lt"/>
              <a:buAutoNum type="arabicPeriod"/>
              <a:defRPr/>
            </a:pPr>
            <a:r>
              <a:rPr lang="en-US" b="1" dirty="0">
                <a:solidFill>
                  <a:schemeClr val="tx1">
                    <a:lumMod val="95000"/>
                    <a:lumOff val="5000"/>
                  </a:schemeClr>
                </a:solidFill>
              </a:rPr>
              <a:t>Introduction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General information</a:t>
            </a:r>
          </a:p>
          <a:p>
            <a:pPr marL="265113" indent="-265113" eaLnBrk="1" fontAlgn="auto" hangingPunct="1">
              <a:spcAft>
                <a:spcPts val="300"/>
              </a:spcAft>
              <a:buFont typeface="+mj-lt"/>
              <a:buAutoNum type="arabicPeriod"/>
              <a:defRPr/>
            </a:pPr>
            <a:r>
              <a:rPr lang="en-US" b="1" dirty="0">
                <a:effectLst>
                  <a:glow rad="63500">
                    <a:schemeClr val="accent3">
                      <a:satMod val="175000"/>
                      <a:alpha val="40000"/>
                    </a:schemeClr>
                  </a:glow>
                </a:effectLst>
              </a:rPr>
              <a:t>Quick list</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Description and quantification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Controls</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Preparation </a:t>
            </a:r>
            <a:r>
              <a:rPr lang="en-US" b="1" dirty="0" smtClean="0">
                <a:solidFill>
                  <a:schemeClr val="tx1">
                    <a:lumMod val="95000"/>
                    <a:lumOff val="5000"/>
                  </a:schemeClr>
                </a:solidFill>
              </a:rPr>
              <a:t>steps</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Maintenance</a:t>
            </a:r>
            <a:endParaRPr lang="en-US" b="1" dirty="0">
              <a:solidFill>
                <a:schemeClr val="tx1">
                  <a:lumMod val="95000"/>
                  <a:lumOff val="5000"/>
                </a:schemeClr>
              </a:solidFill>
            </a:endParaRPr>
          </a:p>
          <a:p>
            <a:pPr eaLnBrk="1" fontAlgn="auto" hangingPunct="1">
              <a:spcAft>
                <a:spcPts val="300"/>
              </a:spcAft>
              <a:buFont typeface="Wingdings 2"/>
              <a:buNone/>
              <a:defRPr/>
            </a:pPr>
            <a:endParaRPr lang="nl-BE" dirty="0"/>
          </a:p>
        </p:txBody>
      </p:sp>
      <p:pic>
        <p:nvPicPr>
          <p:cNvPr id="21511" name="Content Placeholder 17"/>
          <p:cNvPicPr>
            <a:picLocks noGrp="1"/>
          </p:cNvPicPr>
          <p:nvPr>
            <p:ph sz="quarter" idx="1"/>
          </p:nvPr>
        </p:nvPicPr>
        <p:blipFill>
          <a:blip r:embed="rId5">
            <a:extLst>
              <a:ext uri="{28A0092B-C50C-407E-A947-70E740481C1C}">
                <a14:useLocalDpi xmlns:a14="http://schemas.microsoft.com/office/drawing/2010/main" val="0"/>
              </a:ext>
            </a:extLst>
          </a:blip>
          <a:srcRect l="28091" t="5054" r="30186" b="56915"/>
          <a:stretch>
            <a:fillRect/>
          </a:stretch>
        </p:blipFill>
        <p:spPr>
          <a:xfrm>
            <a:off x="3132138" y="549275"/>
            <a:ext cx="5638800" cy="3211513"/>
          </a:xfrm>
        </p:spPr>
      </p:pic>
      <p:sp>
        <p:nvSpPr>
          <p:cNvPr id="21512" name="TextBox 2"/>
          <p:cNvSpPr txBox="1">
            <a:spLocks noChangeArrowheads="1"/>
          </p:cNvSpPr>
          <p:nvPr/>
        </p:nvSpPr>
        <p:spPr bwMode="auto">
          <a:xfrm>
            <a:off x="3132138" y="3929063"/>
            <a:ext cx="5616575"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latin typeface="Arial" charset="0"/>
              </a:rPr>
              <a:t>Each coordinator needs to provide a list of food consumption occasions (FCO), chosen from the IARC library (code – name of FCO). </a:t>
            </a:r>
          </a:p>
          <a:p>
            <a:pPr eaLnBrk="1" hangingPunct="1">
              <a:spcBef>
                <a:spcPct val="0"/>
              </a:spcBef>
              <a:buSzTx/>
              <a:buFontTx/>
              <a:buNone/>
            </a:pPr>
            <a:r>
              <a:rPr lang="en-GB" altLang="en-US" sz="1800">
                <a:latin typeface="Arial" charset="0"/>
              </a:rPr>
              <a:t>File </a:t>
            </a:r>
            <a:r>
              <a:rPr lang="en-GB" altLang="en-US" sz="1800" b="1">
                <a:latin typeface="Arial" charset="0"/>
              </a:rPr>
              <a:t>FCO.end</a:t>
            </a:r>
            <a:r>
              <a:rPr lang="en-GB" altLang="en-US" sz="1800">
                <a:latin typeface="Arial" charset="0"/>
              </a:rPr>
              <a:t> to be translated into local language(s)</a:t>
            </a:r>
          </a:p>
          <a:p>
            <a:pPr eaLnBrk="1" hangingPunct="1">
              <a:spcBef>
                <a:spcPct val="0"/>
              </a:spcBef>
              <a:buSzTx/>
              <a:buFontTx/>
              <a:buNone/>
            </a:pPr>
            <a:endParaRPr lang="en-GB" altLang="en-US" sz="1800">
              <a:latin typeface="Arial" charset="0"/>
            </a:endParaRPr>
          </a:p>
          <a:p>
            <a:pPr eaLnBrk="1" hangingPunct="1">
              <a:spcBef>
                <a:spcPct val="0"/>
              </a:spcBef>
              <a:buSzTx/>
              <a:buFontTx/>
              <a:buNone/>
            </a:pPr>
            <a:r>
              <a:rPr lang="en-GB" altLang="en-US" sz="1800">
                <a:latin typeface="Arial" charset="0"/>
              </a:rPr>
              <a:t>Each coordinator needs to provide a list of items linked to each FCO (FCO code – free text).</a:t>
            </a:r>
          </a:p>
          <a:p>
            <a:pPr eaLnBrk="1" hangingPunct="1">
              <a:spcBef>
                <a:spcPct val="0"/>
              </a:spcBef>
              <a:buSzTx/>
              <a:buFontTx/>
              <a:buNone/>
            </a:pPr>
            <a:r>
              <a:rPr lang="en-GB" altLang="en-US" sz="1800">
                <a:latin typeface="Arial" charset="0"/>
              </a:rPr>
              <a:t>File </a:t>
            </a:r>
            <a:r>
              <a:rPr lang="en-GB" altLang="en-US" sz="1800" b="1">
                <a:latin typeface="Arial" charset="0"/>
              </a:rPr>
              <a:t>CHECKLIST.end</a:t>
            </a:r>
            <a:endParaRPr lang="en-GB" altLang="en-US" sz="1800">
              <a:latin typeface="Arial" charset="0"/>
            </a:endParaRPr>
          </a:p>
          <a:p>
            <a:pPr eaLnBrk="1" hangingPunct="1">
              <a:spcBef>
                <a:spcPct val="0"/>
              </a:spcBef>
              <a:buSzTx/>
              <a:buFontTx/>
              <a:buNone/>
            </a:pPr>
            <a:r>
              <a:rPr lang="en-GB" altLang="en-US" sz="1800">
                <a:latin typeface="Arial" charset="0"/>
              </a:rPr>
              <a:t> </a:t>
            </a:r>
          </a:p>
        </p:txBody>
      </p:sp>
      <p:sp>
        <p:nvSpPr>
          <p:cNvPr id="9" name="Footer Placeholder 4"/>
          <p:cNvSpPr>
            <a:spLocks noGrp="1"/>
          </p:cNvSpPr>
          <p:nvPr>
            <p:ph type="ftr" sz="quarter" idx="12"/>
          </p:nvPr>
        </p:nvSpPr>
        <p:spPr>
          <a:xfrm>
            <a:off x="304800" y="6381750"/>
            <a:ext cx="3906838" cy="350838"/>
          </a:xfrm>
        </p:spPr>
        <p:txBody>
          <a:bodyPr lIns="45720" rIns="45720" anchor="ctr">
            <a:noAutofit/>
          </a:bodyPr>
          <a:lstStyle/>
          <a:p>
            <a:pPr>
              <a:defRPr/>
            </a:pPr>
            <a:r>
              <a:rPr lang="en-GB" dirty="0"/>
              <a:t>Maintenance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01F8178E-313E-4DC9-B62A-0D76E3258A59}" type="slidenum">
              <a:rPr lang="en-US" smtClean="0"/>
              <a:pPr>
                <a:defRPr/>
              </a:pPr>
              <a:t>12</a:t>
            </a:fld>
            <a:endParaRPr lang="en-US" dirty="0"/>
          </a:p>
        </p:txBody>
      </p:sp>
      <p:pic>
        <p:nvPicPr>
          <p:cNvPr id="22532" name="Picture 4"/>
          <p:cNvPicPr>
            <a:picLocks noChangeAspect="1"/>
          </p:cNvPicPr>
          <p:nvPr/>
        </p:nvPicPr>
        <p:blipFill>
          <a:blip r:embed="rId2">
            <a:extLst>
              <a:ext uri="{28A0092B-C50C-407E-A947-70E740481C1C}">
                <a14:useLocalDpi xmlns:a14="http://schemas.microsoft.com/office/drawing/2010/main" val="0"/>
              </a:ext>
            </a:extLst>
          </a:blip>
          <a:srcRect l="26929" t="11169" r="26031" b="42554"/>
          <a:stretch>
            <a:fillRect/>
          </a:stretch>
        </p:blipFill>
        <p:spPr bwMode="auto">
          <a:xfrm>
            <a:off x="1258888" y="188913"/>
            <a:ext cx="6022975" cy="370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5"/>
          <p:cNvSpPr>
            <a:spLocks noChangeArrowheads="1"/>
          </p:cNvSpPr>
          <p:nvPr/>
        </p:nvSpPr>
        <p:spPr bwMode="auto">
          <a:xfrm>
            <a:off x="395288" y="4029075"/>
            <a:ext cx="80645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latin typeface="Arial" charset="0"/>
              </a:rPr>
              <a:t>Each coordinator needs to provide a list of places of consumption (POC), chosen from IARC library. (code – name of POC)</a:t>
            </a:r>
          </a:p>
          <a:p>
            <a:pPr eaLnBrk="1" hangingPunct="1">
              <a:spcBef>
                <a:spcPct val="0"/>
              </a:spcBef>
              <a:buSzTx/>
              <a:buFontTx/>
              <a:buNone/>
            </a:pPr>
            <a:r>
              <a:rPr lang="en-GB" altLang="en-US" sz="1800">
                <a:latin typeface="Arial" charset="0"/>
              </a:rPr>
              <a:t>File </a:t>
            </a:r>
            <a:r>
              <a:rPr lang="en-GB" altLang="en-US" sz="1800" b="1">
                <a:latin typeface="Arial" charset="0"/>
              </a:rPr>
              <a:t>POC.end</a:t>
            </a:r>
            <a:r>
              <a:rPr lang="en-GB" altLang="en-US" sz="1800">
                <a:latin typeface="Arial" charset="0"/>
              </a:rPr>
              <a:t> to be translated into local language(s)</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dianummer 10"/>
          <p:cNvSpPr>
            <a:spLocks noGrp="1"/>
          </p:cNvSpPr>
          <p:nvPr>
            <p:ph type="sldNum" sz="quarter" idx="10"/>
          </p:nvPr>
        </p:nvSpPr>
        <p:spPr/>
        <p:txBody>
          <a:bodyPr/>
          <a:lstStyle/>
          <a:p>
            <a:pPr>
              <a:defRPr/>
            </a:pPr>
            <a:fld id="{A176D2A4-45B0-4A26-BEC2-7AA4D961B72B}" type="slidenum">
              <a:rPr lang="en-US" smtClean="0"/>
              <a:pPr>
                <a:defRPr/>
              </a:pPr>
              <a:t>13</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pic>
        <p:nvPicPr>
          <p:cNvPr id="15" name="Afbeelding 14"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7" name="Rectangle 2"/>
          <p:cNvSpPr txBox="1">
            <a:spLocks noChangeArrowheads="1"/>
          </p:cNvSpPr>
          <p:nvPr/>
        </p:nvSpPr>
        <p:spPr>
          <a:xfrm>
            <a:off x="381000" y="1071546"/>
            <a:ext cx="2362200" cy="704848"/>
          </a:xfrm>
          <a:prstGeom prst="rect">
            <a:avLst/>
          </a:prstGeom>
        </p:spPr>
        <p:txBody>
          <a:bodyPr anchor="b"/>
          <a:lstStyle/>
          <a:p>
            <a:pPr fontAlgn="auto">
              <a:spcAft>
                <a:spcPts val="0"/>
              </a:spcAft>
              <a:defRPr/>
            </a:pPr>
            <a:r>
              <a:rPr lang="en-US" sz="2200" b="1" dirty="0">
                <a:solidFill>
                  <a:srgbClr val="FFFFFF"/>
                </a:solidFill>
                <a:effectLst>
                  <a:reflection blurRad="6350" stA="55000" endA="300" endPos="45500" dir="5400000" sy="-100000" algn="bl" rotWithShape="0"/>
                </a:effectLst>
                <a:latin typeface="+mj-lt"/>
                <a:ea typeface="+mj-ea"/>
                <a:cs typeface="+mj-cs"/>
              </a:rPr>
              <a:t>Outline</a:t>
            </a:r>
          </a:p>
        </p:txBody>
      </p:sp>
      <p:sp>
        <p:nvSpPr>
          <p:cNvPr id="16" name="Tijdelijke aanduiding voor tekst 11"/>
          <p:cNvSpPr txBox="1">
            <a:spLocks/>
          </p:cNvSpPr>
          <p:nvPr/>
        </p:nvSpPr>
        <p:spPr bwMode="auto">
          <a:xfrm>
            <a:off x="409550" y="1857364"/>
            <a:ext cx="2362200" cy="414496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rtl="0" eaLnBrk="0" fontAlgn="base" hangingPunct="0">
              <a:spcBef>
                <a:spcPct val="20000"/>
              </a:spcBef>
              <a:spcAft>
                <a:spcPts val="1000"/>
              </a:spcAft>
              <a:buSzPct val="85000"/>
              <a:buFont typeface="Wingdings 2" pitchFamily="18" charset="2"/>
              <a:buNone/>
              <a:defRPr sz="1600" kern="1200">
                <a:solidFill>
                  <a:srgbClr val="FFFFFF"/>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None/>
              <a:defRPr sz="1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None/>
              <a:defRPr sz="1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None/>
              <a:defRPr sz="9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None/>
              <a:defRPr sz="9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indent="-342900" eaLnBrk="1" fontAlgn="auto" hangingPunct="1">
              <a:spcAft>
                <a:spcPts val="300"/>
              </a:spcAft>
              <a:buClr>
                <a:schemeClr val="bg1"/>
              </a:buClr>
              <a:buFont typeface="+mj-lt"/>
              <a:buAutoNum type="arabicPeriod"/>
              <a:defRPr/>
            </a:pPr>
            <a:r>
              <a:rPr lang="en-US" b="1" dirty="0">
                <a:solidFill>
                  <a:schemeClr val="tx1">
                    <a:lumMod val="95000"/>
                    <a:lumOff val="5000"/>
                  </a:schemeClr>
                </a:solidFill>
              </a:rPr>
              <a:t>Introduction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General information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Quick list</a:t>
            </a:r>
          </a:p>
          <a:p>
            <a:pPr marL="265113" indent="-265113" eaLnBrk="1" fontAlgn="auto" hangingPunct="1">
              <a:spcAft>
                <a:spcPts val="300"/>
              </a:spcAft>
              <a:buFont typeface="+mj-lt"/>
              <a:buAutoNum type="arabicPeriod"/>
              <a:defRPr/>
            </a:pPr>
            <a:r>
              <a:rPr lang="en-US" b="1" dirty="0">
                <a:effectLst>
                  <a:glow rad="63500">
                    <a:schemeClr val="accent3">
                      <a:satMod val="175000"/>
                      <a:alpha val="40000"/>
                    </a:schemeClr>
                  </a:glow>
                </a:effectLst>
              </a:rPr>
              <a:t>Description and quantification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Controls</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Preparation </a:t>
            </a:r>
            <a:r>
              <a:rPr lang="en-US" b="1" dirty="0" smtClean="0">
                <a:solidFill>
                  <a:schemeClr val="tx1">
                    <a:lumMod val="95000"/>
                    <a:lumOff val="5000"/>
                  </a:schemeClr>
                </a:solidFill>
              </a:rPr>
              <a:t>steps</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Maintenance</a:t>
            </a:r>
            <a:endParaRPr lang="en-US" b="1" dirty="0">
              <a:solidFill>
                <a:schemeClr val="tx1">
                  <a:lumMod val="95000"/>
                  <a:lumOff val="5000"/>
                </a:schemeClr>
              </a:solidFill>
            </a:endParaRPr>
          </a:p>
          <a:p>
            <a:pPr eaLnBrk="1" fontAlgn="auto" hangingPunct="1">
              <a:spcAft>
                <a:spcPts val="300"/>
              </a:spcAft>
              <a:buFont typeface="Wingdings 2"/>
              <a:buNone/>
              <a:defRPr/>
            </a:pPr>
            <a:endParaRPr lang="nl-BE" dirty="0"/>
          </a:p>
        </p:txBody>
      </p:sp>
      <p:pic>
        <p:nvPicPr>
          <p:cNvPr id="23559" name="Content Placeholder 11"/>
          <p:cNvPicPr>
            <a:picLocks noGrp="1" noChangeAspect="1"/>
          </p:cNvPicPr>
          <p:nvPr>
            <p:ph sz="quarter" idx="1"/>
          </p:nvPr>
        </p:nvPicPr>
        <p:blipFill>
          <a:blip r:embed="rId5" cstate="print">
            <a:extLst>
              <a:ext uri="{28A0092B-C50C-407E-A947-70E740481C1C}">
                <a14:useLocalDpi xmlns:a14="http://schemas.microsoft.com/office/drawing/2010/main" val="0"/>
              </a:ext>
            </a:extLst>
          </a:blip>
          <a:srcRect t="1637" r="29848"/>
          <a:stretch>
            <a:fillRect/>
          </a:stretch>
        </p:blipFill>
        <p:spPr>
          <a:xfrm>
            <a:off x="3276600" y="1622425"/>
            <a:ext cx="4489450" cy="3935413"/>
          </a:xfrm>
        </p:spPr>
      </p:pic>
      <p:sp>
        <p:nvSpPr>
          <p:cNvPr id="23560" name="TextBox 3"/>
          <p:cNvSpPr txBox="1">
            <a:spLocks noChangeArrowheads="1"/>
          </p:cNvSpPr>
          <p:nvPr/>
        </p:nvSpPr>
        <p:spPr bwMode="auto">
          <a:xfrm>
            <a:off x="3995738" y="911225"/>
            <a:ext cx="48974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2400">
                <a:latin typeface="Arial" charset="0"/>
              </a:rPr>
              <a:t>Food list	Food classification</a:t>
            </a:r>
          </a:p>
        </p:txBody>
      </p:sp>
      <p:sp>
        <p:nvSpPr>
          <p:cNvPr id="23561" name="TextBox 13"/>
          <p:cNvSpPr txBox="1">
            <a:spLocks noChangeArrowheads="1"/>
          </p:cNvSpPr>
          <p:nvPr/>
        </p:nvSpPr>
        <p:spPr bwMode="auto">
          <a:xfrm>
            <a:off x="3932238" y="5724525"/>
            <a:ext cx="5032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2400">
                <a:latin typeface="Arial" charset="0"/>
              </a:rPr>
              <a:t>Recipe list	Recipe classification</a:t>
            </a:r>
          </a:p>
        </p:txBody>
      </p:sp>
      <p:cxnSp>
        <p:nvCxnSpPr>
          <p:cNvPr id="6" name="Straight Arrow Connector 5"/>
          <p:cNvCxnSpPr/>
          <p:nvPr/>
        </p:nvCxnSpPr>
        <p:spPr>
          <a:xfrm flipH="1" flipV="1">
            <a:off x="4859338" y="1373188"/>
            <a:ext cx="217487" cy="615950"/>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4859338" y="5302250"/>
            <a:ext cx="260350" cy="422275"/>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7134225" y="1373188"/>
            <a:ext cx="0" cy="641350"/>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7164388" y="5268913"/>
            <a:ext cx="144462" cy="536575"/>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4" name="Footer Placeholder 4"/>
          <p:cNvSpPr>
            <a:spLocks noGrp="1"/>
          </p:cNvSpPr>
          <p:nvPr>
            <p:ph type="ftr" sz="quarter" idx="12"/>
          </p:nvPr>
        </p:nvSpPr>
        <p:spPr>
          <a:xfrm>
            <a:off x="304800" y="6381750"/>
            <a:ext cx="3906838" cy="350838"/>
          </a:xfrm>
        </p:spPr>
        <p:txBody>
          <a:bodyPr lIns="45720" rIns="45720" anchor="ctr">
            <a:noAutofit/>
          </a:bodyPr>
          <a:lstStyle/>
          <a:p>
            <a:pPr>
              <a:defRPr/>
            </a:pPr>
            <a:r>
              <a:rPr lang="en-GB" dirty="0"/>
              <a:t>Maintenance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AF8E51E1-439E-4101-8D75-632CF2F47F10}" type="slidenum">
              <a:rPr lang="en-US" smtClean="0"/>
              <a:pPr>
                <a:defRPr/>
              </a:pPr>
              <a:t>14</a:t>
            </a:fld>
            <a:endParaRPr lang="en-US" dirty="0"/>
          </a:p>
        </p:txBody>
      </p:sp>
      <p:sp>
        <p:nvSpPr>
          <p:cNvPr id="24580" name="TextBox 4"/>
          <p:cNvSpPr txBox="1">
            <a:spLocks noChangeArrowheads="1"/>
          </p:cNvSpPr>
          <p:nvPr/>
        </p:nvSpPr>
        <p:spPr bwMode="auto">
          <a:xfrm>
            <a:off x="250825" y="188913"/>
            <a:ext cx="8713788" cy="618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defRPr/>
            </a:pPr>
            <a:r>
              <a:rPr lang="en-GB" altLang="en-US" sz="1800" dirty="0" smtClean="0">
                <a:latin typeface="Arial" charset="0"/>
              </a:rPr>
              <a:t>Each country has to prepare a list of foods (file </a:t>
            </a:r>
            <a:r>
              <a:rPr lang="en-GB" altLang="en-US" sz="1800" b="1" dirty="0" err="1" smtClean="0">
                <a:latin typeface="Arial" charset="0"/>
              </a:rPr>
              <a:t>FDLIST.end</a:t>
            </a:r>
            <a:r>
              <a:rPr lang="en-GB" altLang="en-US" sz="1800" dirty="0" smtClean="0">
                <a:latin typeface="Arial" charset="0"/>
              </a:rPr>
              <a:t>) organised following the food classification (file </a:t>
            </a:r>
            <a:r>
              <a:rPr lang="en-GB" altLang="en-US" sz="1800" b="1" dirty="0" err="1" smtClean="0">
                <a:latin typeface="Arial" charset="0"/>
              </a:rPr>
              <a:t>FDCLASS.end</a:t>
            </a:r>
            <a:r>
              <a:rPr lang="en-GB" altLang="en-US" sz="1800" b="1" dirty="0" smtClean="0">
                <a:latin typeface="Arial" charset="0"/>
              </a:rPr>
              <a:t>)</a:t>
            </a:r>
            <a:r>
              <a:rPr lang="en-GB" altLang="en-US" sz="1800" dirty="0" smtClean="0">
                <a:latin typeface="Arial" charset="0"/>
              </a:rPr>
              <a:t>. </a:t>
            </a:r>
          </a:p>
          <a:p>
            <a:pPr eaLnBrk="1" hangingPunct="1">
              <a:spcBef>
                <a:spcPct val="0"/>
              </a:spcBef>
              <a:buSzTx/>
              <a:buFontTx/>
              <a:buNone/>
              <a:defRPr/>
            </a:pPr>
            <a:endParaRPr lang="en-GB" altLang="en-US" sz="1800" dirty="0" smtClean="0">
              <a:latin typeface="Arial" charset="0"/>
            </a:endParaRPr>
          </a:p>
          <a:p>
            <a:pPr eaLnBrk="1" hangingPunct="1">
              <a:spcBef>
                <a:spcPct val="0"/>
              </a:spcBef>
              <a:buSzTx/>
              <a:buFontTx/>
              <a:buNone/>
              <a:defRPr/>
            </a:pPr>
            <a:r>
              <a:rPr lang="en-GB" altLang="en-US" sz="1800" b="1" dirty="0" smtClean="0">
                <a:latin typeface="Arial" charset="0"/>
              </a:rPr>
              <a:t>FDCLASS</a:t>
            </a:r>
            <a:r>
              <a:rPr lang="en-GB" altLang="en-US" sz="1800" dirty="0" smtClean="0">
                <a:latin typeface="Arial" charset="0"/>
              </a:rPr>
              <a:t> is provided by IARC – adaptations at the sub-sub-group level are allowed. This has to be translated into local language(s).</a:t>
            </a:r>
          </a:p>
          <a:p>
            <a:pPr eaLnBrk="1" hangingPunct="1">
              <a:spcBef>
                <a:spcPct val="0"/>
              </a:spcBef>
              <a:buSzTx/>
              <a:buFontTx/>
              <a:buNone/>
              <a:defRPr/>
            </a:pPr>
            <a:r>
              <a:rPr lang="en-GB" altLang="en-US" sz="1800" dirty="0" smtClean="0">
                <a:latin typeface="Arial" charset="0"/>
              </a:rPr>
              <a:t>- </a:t>
            </a:r>
            <a:r>
              <a:rPr lang="en-GB" altLang="en-US" sz="1800" b="1" dirty="0" smtClean="0">
                <a:solidFill>
                  <a:schemeClr val="tx1">
                    <a:lumMod val="50000"/>
                    <a:lumOff val="50000"/>
                  </a:schemeClr>
                </a:solidFill>
                <a:latin typeface="Arial" charset="0"/>
              </a:rPr>
              <a:t>GROUP.xls</a:t>
            </a:r>
            <a:r>
              <a:rPr lang="en-GB" altLang="en-US" sz="1800" dirty="0" smtClean="0">
                <a:solidFill>
                  <a:schemeClr val="tx1">
                    <a:lumMod val="50000"/>
                    <a:lumOff val="50000"/>
                  </a:schemeClr>
                </a:solidFill>
                <a:latin typeface="Arial" charset="0"/>
              </a:rPr>
              <a:t> (code – group name – short name of 20 characters)</a:t>
            </a:r>
          </a:p>
          <a:p>
            <a:pPr eaLnBrk="1" hangingPunct="1">
              <a:spcBef>
                <a:spcPct val="0"/>
              </a:spcBef>
              <a:buSzTx/>
              <a:buFontTx/>
              <a:buNone/>
              <a:defRPr/>
            </a:pPr>
            <a:r>
              <a:rPr lang="en-GB" altLang="en-US" sz="1800" dirty="0" smtClean="0">
                <a:solidFill>
                  <a:schemeClr val="tx1">
                    <a:lumMod val="50000"/>
                    <a:lumOff val="50000"/>
                  </a:schemeClr>
                </a:solidFill>
                <a:latin typeface="Arial" charset="0"/>
              </a:rPr>
              <a:t>- </a:t>
            </a:r>
            <a:r>
              <a:rPr lang="en-GB" altLang="en-US" sz="1800" b="1" dirty="0" smtClean="0">
                <a:solidFill>
                  <a:schemeClr val="tx1">
                    <a:lumMod val="50000"/>
                    <a:lumOff val="50000"/>
                  </a:schemeClr>
                </a:solidFill>
                <a:latin typeface="Arial" charset="0"/>
              </a:rPr>
              <a:t>SUBGROUP.xls</a:t>
            </a:r>
            <a:r>
              <a:rPr lang="en-GB" altLang="en-US" sz="1800" dirty="0" smtClean="0">
                <a:solidFill>
                  <a:schemeClr val="tx1">
                    <a:lumMod val="50000"/>
                    <a:lumOff val="50000"/>
                  </a:schemeClr>
                </a:solidFill>
                <a:latin typeface="Arial" charset="0"/>
              </a:rPr>
              <a:t> (3 classification codes – subgroup name – whether involved in the ‘PCTFSS’ calculations - whether involved in the ‘FAT left over’ calculations - whether involved in the ‘PCTFAT’ calculations – short name of 20 characters</a:t>
            </a:r>
            <a:r>
              <a:rPr lang="en-GB" altLang="en-US" sz="1800" dirty="0" smtClean="0">
                <a:latin typeface="Arial" charset="0"/>
              </a:rPr>
              <a:t>)</a:t>
            </a:r>
          </a:p>
          <a:p>
            <a:pPr eaLnBrk="1" hangingPunct="1">
              <a:spcBef>
                <a:spcPct val="0"/>
              </a:spcBef>
              <a:buSzTx/>
              <a:buFontTx/>
              <a:buNone/>
              <a:defRPr/>
            </a:pPr>
            <a:endParaRPr lang="en-GB" altLang="en-US" sz="1800" dirty="0" smtClean="0">
              <a:latin typeface="Arial" charset="0"/>
            </a:endParaRPr>
          </a:p>
          <a:p>
            <a:pPr eaLnBrk="1" hangingPunct="1">
              <a:spcBef>
                <a:spcPct val="0"/>
              </a:spcBef>
              <a:buSzTx/>
              <a:buFontTx/>
              <a:buNone/>
              <a:defRPr/>
            </a:pPr>
            <a:r>
              <a:rPr lang="en-GB" altLang="en-US" sz="1800" b="1" dirty="0" smtClean="0">
                <a:latin typeface="Arial" charset="0"/>
              </a:rPr>
              <a:t>FDLIST</a:t>
            </a:r>
            <a:r>
              <a:rPr lang="en-GB" altLang="en-US" sz="1800" dirty="0" smtClean="0">
                <a:latin typeface="Arial" charset="0"/>
              </a:rPr>
              <a:t> is build based on proposals from IARC, from past local field experiences. It must include </a:t>
            </a:r>
            <a:r>
              <a:rPr lang="en-GB" altLang="en-US" sz="1800" u="sng" dirty="0" smtClean="0">
                <a:latin typeface="Arial" charset="0"/>
              </a:rPr>
              <a:t>all the ingredients </a:t>
            </a:r>
            <a:r>
              <a:rPr lang="en-GB" altLang="en-US" sz="1800" dirty="0" smtClean="0">
                <a:latin typeface="Arial" charset="0"/>
              </a:rPr>
              <a:t>of the recipes.</a:t>
            </a:r>
          </a:p>
          <a:p>
            <a:pPr eaLnBrk="1" hangingPunct="1">
              <a:spcBef>
                <a:spcPct val="0"/>
              </a:spcBef>
              <a:buSzTx/>
              <a:buFontTx/>
              <a:buNone/>
              <a:defRPr/>
            </a:pPr>
            <a:r>
              <a:rPr lang="en-GB" altLang="en-US" sz="1800" dirty="0" smtClean="0">
                <a:latin typeface="Arial" charset="0"/>
              </a:rPr>
              <a:t>Rules for handling </a:t>
            </a:r>
            <a:r>
              <a:rPr lang="en-GB" altLang="en-US" sz="1800" u="sng" dirty="0" smtClean="0">
                <a:latin typeface="Arial" charset="0"/>
              </a:rPr>
              <a:t>complex foods (e.g. cakes) </a:t>
            </a:r>
            <a:r>
              <a:rPr lang="en-GB" altLang="en-US" sz="1800" dirty="0" smtClean="0">
                <a:latin typeface="Arial" charset="0"/>
              </a:rPr>
              <a:t>have to be considered at project level: are they considered as foods or recipes? Within a given kind of foods (e.g. soups), all foods should be treated either as foods or as recipes.</a:t>
            </a:r>
          </a:p>
          <a:p>
            <a:pPr eaLnBrk="1" hangingPunct="1">
              <a:spcBef>
                <a:spcPct val="0"/>
              </a:spcBef>
              <a:buSzTx/>
              <a:buFontTx/>
              <a:buNone/>
              <a:defRPr/>
            </a:pPr>
            <a:r>
              <a:rPr lang="en-GB" altLang="en-US" sz="1800" dirty="0" smtClean="0">
                <a:latin typeface="Arial" charset="0"/>
              </a:rPr>
              <a:t>Food codes are usually assigned by IARC.</a:t>
            </a:r>
          </a:p>
          <a:p>
            <a:pPr eaLnBrk="1" hangingPunct="1">
              <a:spcBef>
                <a:spcPct val="0"/>
              </a:spcBef>
              <a:buSzTx/>
              <a:buFontTx/>
              <a:buNone/>
              <a:defRPr/>
            </a:pPr>
            <a:r>
              <a:rPr lang="en-GB" altLang="en-US" sz="1800" dirty="0" smtClean="0">
                <a:latin typeface="Arial" charset="0"/>
              </a:rPr>
              <a:t>In </a:t>
            </a:r>
            <a:r>
              <a:rPr lang="en-GB" altLang="en-US" sz="1800" b="1" dirty="0" err="1" smtClean="0">
                <a:latin typeface="Arial" charset="0"/>
              </a:rPr>
              <a:t>FDLIST.end</a:t>
            </a:r>
            <a:r>
              <a:rPr lang="en-GB" altLang="en-US" sz="1800" dirty="0" smtClean="0">
                <a:latin typeface="Arial" charset="0"/>
              </a:rPr>
              <a:t>, both local and English names are provided.</a:t>
            </a:r>
          </a:p>
          <a:p>
            <a:pPr eaLnBrk="1" hangingPunct="1">
              <a:spcBef>
                <a:spcPct val="0"/>
              </a:spcBef>
              <a:buSzTx/>
              <a:buFontTx/>
              <a:buNone/>
              <a:defRPr/>
            </a:pPr>
            <a:r>
              <a:rPr lang="en-GB" altLang="en-US" sz="1800" dirty="0" smtClean="0">
                <a:latin typeface="Arial" charset="0"/>
              </a:rPr>
              <a:t>There is the possibility to enter several synonyms (respect rules to name foods) or alternative food groups in the </a:t>
            </a:r>
            <a:r>
              <a:rPr lang="en-GB" altLang="en-US" sz="1800" b="1" dirty="0" err="1" smtClean="0">
                <a:latin typeface="Arial" charset="0"/>
              </a:rPr>
              <a:t>SHADOWLIST.end</a:t>
            </a:r>
            <a:r>
              <a:rPr lang="en-GB" altLang="en-US" sz="1800" dirty="0" smtClean="0">
                <a:latin typeface="Arial" charset="0"/>
              </a:rPr>
              <a:t> file. Both FDLIST and SHADOWLIST are gathered in </a:t>
            </a:r>
            <a:r>
              <a:rPr lang="en-GB" altLang="en-US" sz="1800" b="1" dirty="0" smtClean="0">
                <a:solidFill>
                  <a:schemeClr val="tx1">
                    <a:lumMod val="50000"/>
                    <a:lumOff val="50000"/>
                  </a:schemeClr>
                </a:solidFill>
                <a:latin typeface="Arial" charset="0"/>
              </a:rPr>
              <a:t>FOODS.xls </a:t>
            </a:r>
            <a:r>
              <a:rPr lang="en-GB" altLang="en-US" sz="1800" dirty="0" smtClean="0">
                <a:solidFill>
                  <a:schemeClr val="tx1">
                    <a:lumMod val="50000"/>
                    <a:lumOff val="50000"/>
                  </a:schemeClr>
                </a:solidFill>
                <a:latin typeface="Arial" charset="0"/>
              </a:rPr>
              <a:t>(3 classification codes - food code - food name - whether ‘normal food, shadow item (SH) or generic item (GI) - order (internal IARC variable) - whether to be included in the dietary supplement list or not)</a:t>
            </a:r>
          </a:p>
        </p:txBody>
      </p:sp>
      <p:sp>
        <p:nvSpPr>
          <p:cNvPr id="5"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2C6A52DB-36DC-404C-9094-EA562E6DFECE}" type="slidenum">
              <a:rPr lang="en-US" smtClean="0"/>
              <a:pPr>
                <a:defRPr/>
              </a:pPr>
              <a:t>15</a:t>
            </a:fld>
            <a:endParaRPr lang="en-US" dirty="0"/>
          </a:p>
        </p:txBody>
      </p:sp>
      <p:sp>
        <p:nvSpPr>
          <p:cNvPr id="5" name="TextBox 4"/>
          <p:cNvSpPr txBox="1"/>
          <p:nvPr/>
        </p:nvSpPr>
        <p:spPr>
          <a:xfrm>
            <a:off x="466725" y="476250"/>
            <a:ext cx="8281988" cy="4524375"/>
          </a:xfrm>
          <a:prstGeom prst="rect">
            <a:avLst/>
          </a:prstGeom>
          <a:noFill/>
        </p:spPr>
        <p:txBody>
          <a:bodyPr>
            <a:spAutoFit/>
          </a:bodyPr>
          <a:lstStyle/>
          <a:p>
            <a:pPr>
              <a:defRPr/>
            </a:pPr>
            <a:r>
              <a:rPr lang="en-GB" dirty="0"/>
              <a:t>Each country has to prepare a list of recipes organised following the recipe classification (file </a:t>
            </a:r>
            <a:r>
              <a:rPr lang="en-GB" b="1" dirty="0" err="1"/>
              <a:t>RCPCLASS.end</a:t>
            </a:r>
            <a:r>
              <a:rPr lang="en-GB" dirty="0"/>
              <a:t>). </a:t>
            </a:r>
          </a:p>
          <a:p>
            <a:pPr>
              <a:defRPr/>
            </a:pPr>
            <a:endParaRPr lang="en-GB" dirty="0"/>
          </a:p>
          <a:p>
            <a:pPr>
              <a:defRPr/>
            </a:pPr>
            <a:r>
              <a:rPr lang="en-GB" b="1" dirty="0"/>
              <a:t>RCPCLASS</a:t>
            </a:r>
            <a:r>
              <a:rPr lang="en-GB" dirty="0"/>
              <a:t> is provided by IARC – adaptations at the sub-group level are allowed. This has to be translated into local language(s).</a:t>
            </a:r>
          </a:p>
          <a:p>
            <a:pPr>
              <a:defRPr/>
            </a:pPr>
            <a:r>
              <a:rPr lang="en-GB" dirty="0">
                <a:solidFill>
                  <a:schemeClr val="tx1">
                    <a:lumMod val="50000"/>
                    <a:lumOff val="50000"/>
                  </a:schemeClr>
                </a:solidFill>
              </a:rPr>
              <a:t>- </a:t>
            </a:r>
            <a:r>
              <a:rPr lang="en-GB" b="1" dirty="0">
                <a:solidFill>
                  <a:schemeClr val="tx1">
                    <a:lumMod val="50000"/>
                    <a:lumOff val="50000"/>
                  </a:schemeClr>
                </a:solidFill>
              </a:rPr>
              <a:t>RGROUPS.xls</a:t>
            </a:r>
            <a:r>
              <a:rPr lang="en-GB" dirty="0">
                <a:solidFill>
                  <a:schemeClr val="tx1">
                    <a:lumMod val="50000"/>
                    <a:lumOff val="50000"/>
                  </a:schemeClr>
                </a:solidFill>
              </a:rPr>
              <a:t> (code – name – short name of 20 characters)</a:t>
            </a:r>
          </a:p>
          <a:p>
            <a:pPr>
              <a:defRPr/>
            </a:pPr>
            <a:r>
              <a:rPr lang="en-GB" dirty="0">
                <a:solidFill>
                  <a:schemeClr val="tx1">
                    <a:lumMod val="50000"/>
                    <a:lumOff val="50000"/>
                  </a:schemeClr>
                </a:solidFill>
              </a:rPr>
              <a:t>- </a:t>
            </a:r>
            <a:r>
              <a:rPr lang="en-GB" b="1" dirty="0">
                <a:solidFill>
                  <a:schemeClr val="tx1">
                    <a:lumMod val="50000"/>
                    <a:lumOff val="50000"/>
                  </a:schemeClr>
                </a:solidFill>
              </a:rPr>
              <a:t>RSUBGR.xls</a:t>
            </a:r>
            <a:r>
              <a:rPr lang="en-GB" dirty="0">
                <a:solidFill>
                  <a:schemeClr val="tx1">
                    <a:lumMod val="50000"/>
                    <a:lumOff val="50000"/>
                  </a:schemeClr>
                </a:solidFill>
              </a:rPr>
              <a:t> (2 classification codes – name – short name of 20 characters)</a:t>
            </a:r>
          </a:p>
          <a:p>
            <a:pPr>
              <a:defRPr/>
            </a:pPr>
            <a:endParaRPr lang="en-GB" dirty="0"/>
          </a:p>
          <a:p>
            <a:pPr>
              <a:defRPr/>
            </a:pPr>
            <a:r>
              <a:rPr lang="en-GB" dirty="0"/>
              <a:t>The list of recipes is built based on proposals from IARC, from past local field experiences. </a:t>
            </a:r>
          </a:p>
          <a:p>
            <a:pPr>
              <a:defRPr/>
            </a:pPr>
            <a:r>
              <a:rPr lang="en-GB" dirty="0"/>
              <a:t>Recipes are entered via the </a:t>
            </a:r>
            <a:r>
              <a:rPr lang="en-GB" b="1" dirty="0"/>
              <a:t>Recipe Manager</a:t>
            </a:r>
            <a:r>
              <a:rPr lang="en-GB" dirty="0"/>
              <a:t>, once the food </a:t>
            </a:r>
            <a:r>
              <a:rPr lang="en-GB" dirty="0" err="1"/>
              <a:t>GloboDiet</a:t>
            </a:r>
            <a:r>
              <a:rPr lang="en-GB" dirty="0"/>
              <a:t> version is ready because ingredients are taken from the food list.</a:t>
            </a:r>
          </a:p>
          <a:p>
            <a:pPr>
              <a:defRPr/>
            </a:pPr>
            <a:r>
              <a:rPr lang="en-GB" dirty="0"/>
              <a:t>There is the possibility to enter several synonyms or alternative recipe groups.</a:t>
            </a:r>
          </a:p>
          <a:p>
            <a:pPr>
              <a:defRPr/>
            </a:pPr>
            <a:r>
              <a:rPr lang="en-GB" dirty="0"/>
              <a:t>Two files are exported from the Recipe Manager:</a:t>
            </a:r>
          </a:p>
          <a:p>
            <a:pPr marL="285750" indent="-285750">
              <a:buFontTx/>
              <a:buChar char="-"/>
              <a:defRPr/>
            </a:pPr>
            <a:r>
              <a:rPr lang="en-GB" b="1" dirty="0">
                <a:solidFill>
                  <a:schemeClr val="tx1">
                    <a:lumMod val="50000"/>
                    <a:lumOff val="50000"/>
                  </a:schemeClr>
                </a:solidFill>
              </a:rPr>
              <a:t>MIXEDREC.xls</a:t>
            </a:r>
            <a:r>
              <a:rPr lang="en-GB" dirty="0">
                <a:solidFill>
                  <a:schemeClr val="tx1">
                    <a:lumMod val="50000"/>
                    <a:lumOff val="50000"/>
                  </a:schemeClr>
                </a:solidFill>
              </a:rPr>
              <a:t> </a:t>
            </a:r>
          </a:p>
          <a:p>
            <a:pPr marL="285750" indent="-285750">
              <a:buFontTx/>
              <a:buChar char="-"/>
              <a:defRPr/>
            </a:pPr>
            <a:r>
              <a:rPr lang="en-GB" b="1" dirty="0">
                <a:solidFill>
                  <a:schemeClr val="tx1">
                    <a:lumMod val="50000"/>
                    <a:lumOff val="50000"/>
                  </a:schemeClr>
                </a:solidFill>
              </a:rPr>
              <a:t>MIXEDING.xls</a:t>
            </a:r>
            <a:r>
              <a:rPr lang="en-GB" dirty="0">
                <a:solidFill>
                  <a:schemeClr val="tx1">
                    <a:lumMod val="50000"/>
                    <a:lumOff val="50000"/>
                  </a:schemeClr>
                </a:solidFill>
              </a:rPr>
              <a:t> </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8300BB63-6AEF-452A-9BFD-03CCB84A9A54}" type="slidenum">
              <a:rPr lang="en-US" smtClean="0"/>
              <a:pPr>
                <a:defRPr/>
              </a:pPr>
              <a:t>16</a:t>
            </a:fld>
            <a:endParaRPr lang="en-US" dirty="0"/>
          </a:p>
        </p:txBody>
      </p:sp>
      <p:sp>
        <p:nvSpPr>
          <p:cNvPr id="26628" name="TextBox 4"/>
          <p:cNvSpPr txBox="1">
            <a:spLocks noChangeArrowheads="1"/>
          </p:cNvSpPr>
          <p:nvPr/>
        </p:nvSpPr>
        <p:spPr bwMode="auto">
          <a:xfrm>
            <a:off x="2700338" y="2565400"/>
            <a:ext cx="403225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2400">
                <a:latin typeface="Arial" charset="0"/>
              </a:rPr>
              <a:t>Description </a:t>
            </a:r>
          </a:p>
          <a:p>
            <a:pPr algn="ctr" eaLnBrk="1" hangingPunct="1">
              <a:spcBef>
                <a:spcPct val="0"/>
              </a:spcBef>
              <a:buSzTx/>
              <a:buFontTx/>
              <a:buNone/>
            </a:pPr>
            <a:r>
              <a:rPr lang="en-GB" altLang="en-US" sz="2400">
                <a:latin typeface="Arial" charset="0"/>
              </a:rPr>
              <a:t>by facets and descriptors</a:t>
            </a:r>
          </a:p>
          <a:p>
            <a:pPr algn="ctr" eaLnBrk="1" hangingPunct="1">
              <a:spcBef>
                <a:spcPct val="0"/>
              </a:spcBef>
              <a:buSzTx/>
              <a:buFontTx/>
              <a:buNone/>
            </a:pPr>
            <a:endParaRPr lang="en-GB" altLang="en-US" sz="2400">
              <a:latin typeface="Arial" charset="0"/>
            </a:endParaRPr>
          </a:p>
          <a:p>
            <a:pPr algn="ctr" eaLnBrk="1" hangingPunct="1">
              <a:spcBef>
                <a:spcPct val="0"/>
              </a:spcBef>
              <a:buSzTx/>
              <a:buFontTx/>
              <a:buNone/>
            </a:pPr>
            <a:r>
              <a:rPr lang="en-GB" altLang="en-US" sz="2400">
                <a:latin typeface="Arial" charset="0"/>
              </a:rPr>
              <a:t>Common files</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3" name="Footer Placeholder 2"/>
          <p:cNvSpPr>
            <a:spLocks noGrp="1"/>
          </p:cNvSpPr>
          <p:nvPr>
            <p:ph type="ftr" sz="quarter" idx="11"/>
          </p:nvPr>
        </p:nvSpPr>
        <p:spPr/>
        <p:txBody>
          <a:bodyPr/>
          <a:lstStyle/>
          <a:p>
            <a:pPr>
              <a:defRPr/>
            </a:pPr>
            <a:r>
              <a:rPr lang="nl-BE" dirty="0" smtClean="0"/>
              <a:t>GloboDiet training:</a:t>
            </a:r>
            <a:endParaRPr lang="en-US" dirty="0"/>
          </a:p>
        </p:txBody>
      </p:sp>
      <p:sp>
        <p:nvSpPr>
          <p:cNvPr id="4" name="Slide Number Placeholder 3"/>
          <p:cNvSpPr>
            <a:spLocks noGrp="1"/>
          </p:cNvSpPr>
          <p:nvPr>
            <p:ph type="sldNum" sz="quarter" idx="12"/>
          </p:nvPr>
        </p:nvSpPr>
        <p:spPr/>
        <p:txBody>
          <a:bodyPr/>
          <a:lstStyle/>
          <a:p>
            <a:pPr>
              <a:defRPr/>
            </a:pPr>
            <a:fld id="{B553DD86-7AD8-4091-94C6-AC731D40AA2A}" type="slidenum">
              <a:rPr lang="en-US" smtClean="0"/>
              <a:pPr>
                <a:defRPr/>
              </a:pPr>
              <a:t>17</a:t>
            </a:fld>
            <a:endParaRPr lang="en-US" dirty="0"/>
          </a:p>
        </p:txBody>
      </p:sp>
      <p:sp>
        <p:nvSpPr>
          <p:cNvPr id="5" name="Rectangle 6"/>
          <p:cNvSpPr>
            <a:spLocks noChangeArrowheads="1"/>
          </p:cNvSpPr>
          <p:nvPr/>
        </p:nvSpPr>
        <p:spPr bwMode="auto">
          <a:xfrm>
            <a:off x="395288" y="765175"/>
            <a:ext cx="8229600" cy="136842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eaLnBrk="0" hangingPunct="0">
              <a:defRPr/>
            </a:pPr>
            <a:r>
              <a:rPr lang="de-CH" sz="2000" dirty="0">
                <a:solidFill>
                  <a:srgbClr val="000000"/>
                </a:solidFill>
                <a:cs typeface="+mn-cs"/>
              </a:rPr>
              <a:t>Foods are described systematically by a combination of categorized characteristics (i.e. facets &amp; descriptors).</a:t>
            </a:r>
          </a:p>
          <a:p>
            <a:pPr eaLnBrk="0" hangingPunct="0">
              <a:defRPr/>
            </a:pPr>
            <a:r>
              <a:rPr lang="de-CH" sz="2000" dirty="0">
                <a:solidFill>
                  <a:srgbClr val="000000"/>
                </a:solidFill>
                <a:cs typeface="+mn-cs"/>
              </a:rPr>
              <a:t>Should ensure that same type of food is described similarily across subjects, interviewers and countries.                      </a:t>
            </a:r>
            <a:r>
              <a:rPr lang="de-CH" sz="1600" dirty="0">
                <a:solidFill>
                  <a:srgbClr val="5F5F5F"/>
                </a:solidFill>
                <a:cs typeface="+mn-cs"/>
              </a:rPr>
              <a:t>(Slimani et al. 2000; 2011)</a:t>
            </a:r>
            <a:endParaRPr lang="de-CH" sz="1200" dirty="0">
              <a:solidFill>
                <a:srgbClr val="5F5F5F"/>
              </a:solidFill>
              <a:cs typeface="+mn-cs"/>
            </a:endParaRPr>
          </a:p>
        </p:txBody>
      </p:sp>
      <p:sp>
        <p:nvSpPr>
          <p:cNvPr id="6" name="AutoShape 7"/>
          <p:cNvSpPr>
            <a:spLocks noChangeArrowheads="1"/>
          </p:cNvSpPr>
          <p:nvPr/>
        </p:nvSpPr>
        <p:spPr bwMode="auto">
          <a:xfrm flipV="1">
            <a:off x="395288" y="2206625"/>
            <a:ext cx="8229600" cy="1295400"/>
          </a:xfrm>
          <a:prstGeom prst="triangle">
            <a:avLst>
              <a:gd name="adj" fmla="val 50000"/>
            </a:avLst>
          </a:prstGeom>
          <a:solidFill>
            <a:srgbClr val="99CC00"/>
          </a:solidFill>
          <a:ln>
            <a:noFill/>
          </a:ln>
          <a:effectLst/>
          <a:extLst>
            <a:ext uri="{91240B29-F687-4F45-9708-019B960494DF}">
              <a14:hiddenLine xmlns:a14="http://schemas.microsoft.com/office/drawing/2010/main" w="31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lIns="0" tIns="0" rIns="0" bIns="0" anchorCtr="1"/>
          <a:lstStyle/>
          <a:p>
            <a:pPr algn="ctr" eaLnBrk="0" hangingPunct="0">
              <a:defRPr/>
            </a:pPr>
            <a:r>
              <a:rPr lang="en-GB" sz="2000" b="1" dirty="0">
                <a:solidFill>
                  <a:srgbClr val="000000"/>
                </a:solidFill>
                <a:cs typeface="+mn-cs"/>
              </a:rPr>
              <a:t>Considerations when defining </a:t>
            </a:r>
            <a:r>
              <a:rPr lang="de-DE" sz="2000" b="1" dirty="0">
                <a:solidFill>
                  <a:srgbClr val="000000"/>
                </a:solidFill>
                <a:cs typeface="+mn-cs"/>
              </a:rPr>
              <a:t>the level of detail in GloboDiet</a:t>
            </a:r>
            <a:endParaRPr lang="en-GB" sz="2000" b="1" dirty="0">
              <a:solidFill>
                <a:srgbClr val="000000"/>
              </a:solidFill>
              <a:cs typeface="+mn-cs"/>
            </a:endParaRPr>
          </a:p>
        </p:txBody>
      </p:sp>
      <p:sp>
        <p:nvSpPr>
          <p:cNvPr id="7" name="Rectangle 9"/>
          <p:cNvSpPr>
            <a:spLocks noChangeArrowheads="1"/>
          </p:cNvSpPr>
          <p:nvPr/>
        </p:nvSpPr>
        <p:spPr bwMode="auto">
          <a:xfrm>
            <a:off x="395288" y="3532188"/>
            <a:ext cx="8229600" cy="20574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ctr" eaLnBrk="0" hangingPunct="0">
              <a:defRPr/>
            </a:pPr>
            <a:endParaRPr lang="de-CH" sz="2000" b="1">
              <a:solidFill>
                <a:srgbClr val="000000"/>
              </a:solidFill>
              <a:cs typeface="+mn-cs"/>
            </a:endParaRPr>
          </a:p>
        </p:txBody>
      </p:sp>
      <p:sp>
        <p:nvSpPr>
          <p:cNvPr id="8" name="Rectangle 11"/>
          <p:cNvSpPr>
            <a:spLocks noChangeArrowheads="1"/>
          </p:cNvSpPr>
          <p:nvPr/>
        </p:nvSpPr>
        <p:spPr bwMode="auto">
          <a:xfrm>
            <a:off x="611188" y="3717925"/>
            <a:ext cx="2430462" cy="1655763"/>
          </a:xfrm>
          <a:prstGeom prst="rect">
            <a:avLst/>
          </a:prstGeom>
          <a:solidFill>
            <a:srgbClr val="99C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ctr" eaLnBrk="0" hangingPunct="0">
              <a:defRPr/>
            </a:pPr>
            <a:r>
              <a:rPr lang="en-GB" sz="2000" b="1" dirty="0">
                <a:solidFill>
                  <a:srgbClr val="000000"/>
                </a:solidFill>
                <a:cs typeface="+mn-cs"/>
              </a:rPr>
              <a:t>Project needs &amp; subsequent use of collected data</a:t>
            </a:r>
            <a:endParaRPr lang="de-CH" sz="2000" b="1" dirty="0">
              <a:solidFill>
                <a:srgbClr val="000000"/>
              </a:solidFill>
              <a:cs typeface="+mn-cs"/>
            </a:endParaRPr>
          </a:p>
        </p:txBody>
      </p:sp>
      <p:sp>
        <p:nvSpPr>
          <p:cNvPr id="9" name="Rectangle 12"/>
          <p:cNvSpPr>
            <a:spLocks noChangeArrowheads="1"/>
          </p:cNvSpPr>
          <p:nvPr/>
        </p:nvSpPr>
        <p:spPr bwMode="auto">
          <a:xfrm>
            <a:off x="5962650" y="3717925"/>
            <a:ext cx="2428875" cy="1655763"/>
          </a:xfrm>
          <a:prstGeom prst="rect">
            <a:avLst/>
          </a:prstGeom>
          <a:solidFill>
            <a:srgbClr val="99C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ctr" eaLnBrk="0" hangingPunct="0">
              <a:defRPr/>
            </a:pPr>
            <a:r>
              <a:rPr lang="de-CH" sz="2000" b="1">
                <a:solidFill>
                  <a:srgbClr val="000000"/>
                </a:solidFill>
                <a:cs typeface="+mn-cs"/>
              </a:rPr>
              <a:t>Duration of the interview</a:t>
            </a:r>
          </a:p>
        </p:txBody>
      </p:sp>
      <p:sp>
        <p:nvSpPr>
          <p:cNvPr id="10" name="Rectangle 13"/>
          <p:cNvSpPr>
            <a:spLocks noChangeArrowheads="1"/>
          </p:cNvSpPr>
          <p:nvPr/>
        </p:nvSpPr>
        <p:spPr bwMode="auto">
          <a:xfrm>
            <a:off x="3276600" y="3717925"/>
            <a:ext cx="2428875" cy="1655763"/>
          </a:xfrm>
          <a:prstGeom prst="rect">
            <a:avLst/>
          </a:prstGeom>
          <a:solidFill>
            <a:srgbClr val="99C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ctr" eaLnBrk="0" hangingPunct="0">
              <a:defRPr/>
            </a:pPr>
            <a:r>
              <a:rPr lang="en-GB" sz="2000" b="1">
                <a:solidFill>
                  <a:srgbClr val="000000"/>
                </a:solidFill>
                <a:cs typeface="+mn-cs"/>
              </a:rPr>
              <a:t>Details that the subjects are able </a:t>
            </a:r>
          </a:p>
          <a:p>
            <a:pPr algn="ctr" eaLnBrk="0" hangingPunct="0">
              <a:defRPr/>
            </a:pPr>
            <a:r>
              <a:rPr lang="en-GB" sz="2000" b="1">
                <a:solidFill>
                  <a:srgbClr val="000000"/>
                </a:solidFill>
                <a:cs typeface="+mn-cs"/>
              </a:rPr>
              <a:t>to provide</a:t>
            </a:r>
            <a:endParaRPr lang="de-CH" sz="2000" b="1">
              <a:solidFill>
                <a:srgbClr val="000000"/>
              </a:solidFill>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linds(horizontal)">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1E4F97CB-9C3F-4802-AA9D-F9285527829E}" type="slidenum">
              <a:rPr lang="en-US" smtClean="0"/>
              <a:pPr>
                <a:defRPr/>
              </a:pPr>
              <a:t>18</a:t>
            </a:fld>
            <a:endParaRPr lang="en-US" dirty="0"/>
          </a:p>
        </p:txBody>
      </p:sp>
      <p:pic>
        <p:nvPicPr>
          <p:cNvPr id="28676" name="Picture 4"/>
          <p:cNvPicPr>
            <a:picLocks noChangeAspect="1"/>
          </p:cNvPicPr>
          <p:nvPr/>
        </p:nvPicPr>
        <p:blipFill>
          <a:blip r:embed="rId2">
            <a:extLst>
              <a:ext uri="{28A0092B-C50C-407E-A947-70E740481C1C}">
                <a14:useLocalDpi xmlns:a14="http://schemas.microsoft.com/office/drawing/2010/main" val="0"/>
              </a:ext>
            </a:extLst>
          </a:blip>
          <a:srcRect t="2153" r="22066" b="39185"/>
          <a:stretch>
            <a:fillRect/>
          </a:stretch>
        </p:blipFill>
        <p:spPr bwMode="auto">
          <a:xfrm>
            <a:off x="1403350" y="296863"/>
            <a:ext cx="6235700" cy="293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395288" y="3284538"/>
            <a:ext cx="8497887" cy="3970337"/>
          </a:xfrm>
          <a:prstGeom prst="rect">
            <a:avLst/>
          </a:prstGeom>
          <a:noFill/>
        </p:spPr>
        <p:txBody>
          <a:bodyPr>
            <a:spAutoFit/>
          </a:bodyPr>
          <a:lstStyle/>
          <a:p>
            <a:pPr>
              <a:defRPr/>
            </a:pPr>
            <a:r>
              <a:rPr lang="en-GB" dirty="0"/>
              <a:t>Each coordinator needs to provide the lists of facets (questions) and descriptors (potential answers) which depend on the project’s objectives. They are chosen from the IARC library. Some are mandatory.</a:t>
            </a:r>
          </a:p>
          <a:p>
            <a:pPr>
              <a:defRPr/>
            </a:pPr>
            <a:r>
              <a:rPr lang="en-GB" dirty="0"/>
              <a:t>The file </a:t>
            </a:r>
            <a:r>
              <a:rPr lang="en-GB" b="1" dirty="0" err="1"/>
              <a:t>FADECODE.end</a:t>
            </a:r>
            <a:r>
              <a:rPr lang="en-GB" dirty="0"/>
              <a:t> (meaning </a:t>
            </a:r>
            <a:r>
              <a:rPr lang="en-GB" b="1" dirty="0" err="1"/>
              <a:t>FA</a:t>
            </a:r>
            <a:r>
              <a:rPr lang="en-GB" dirty="0" err="1"/>
              <a:t>cet</a:t>
            </a:r>
            <a:r>
              <a:rPr lang="en-GB" dirty="0"/>
              <a:t> </a:t>
            </a:r>
            <a:r>
              <a:rPr lang="en-GB" b="1" dirty="0" err="1"/>
              <a:t>DE</a:t>
            </a:r>
            <a:r>
              <a:rPr lang="en-GB" dirty="0" err="1"/>
              <a:t>scriptor</a:t>
            </a:r>
            <a:r>
              <a:rPr lang="en-GB" dirty="0"/>
              <a:t> </a:t>
            </a:r>
            <a:r>
              <a:rPr lang="en-GB" b="1" dirty="0"/>
              <a:t>CODE</a:t>
            </a:r>
            <a:r>
              <a:rPr lang="en-GB" dirty="0"/>
              <a:t>s) gathers both, facets and descriptors, chosen by the project. </a:t>
            </a:r>
          </a:p>
          <a:p>
            <a:pPr>
              <a:defRPr/>
            </a:pPr>
            <a:r>
              <a:rPr lang="en-GB" dirty="0"/>
              <a:t>This is then translated into the different country’s language(s). The </a:t>
            </a:r>
            <a:r>
              <a:rPr lang="en-GB" u="sng" dirty="0"/>
              <a:t>Thesaurus</a:t>
            </a:r>
            <a:r>
              <a:rPr lang="en-GB" dirty="0"/>
              <a:t> provides the reference definitions; it will also be translated for the interviewers.</a:t>
            </a:r>
          </a:p>
          <a:p>
            <a:pPr marL="285750" indent="-285750">
              <a:buFont typeface="Arial" pitchFamily="34" charset="0"/>
              <a:buChar char="•"/>
              <a:defRPr/>
            </a:pPr>
            <a:r>
              <a:rPr lang="en-GB" b="1" dirty="0">
                <a:solidFill>
                  <a:schemeClr val="tx1">
                    <a:lumMod val="50000"/>
                    <a:lumOff val="50000"/>
                  </a:schemeClr>
                </a:solidFill>
              </a:rPr>
              <a:t>FACETS.xls</a:t>
            </a:r>
            <a:r>
              <a:rPr lang="en-GB" dirty="0">
                <a:solidFill>
                  <a:schemeClr val="tx1">
                    <a:lumMod val="50000"/>
                    <a:lumOff val="50000"/>
                  </a:schemeClr>
                </a:solidFill>
              </a:rPr>
              <a:t> contains the facet codes -  names – </a:t>
            </a:r>
            <a:r>
              <a:rPr lang="en-GB" i="1" dirty="0">
                <a:solidFill>
                  <a:schemeClr val="tx1">
                    <a:lumMod val="50000"/>
                    <a:lumOff val="50000"/>
                  </a:schemeClr>
                </a:solidFill>
              </a:rPr>
              <a:t>type (next slide)</a:t>
            </a:r>
            <a:r>
              <a:rPr lang="en-GB" dirty="0">
                <a:solidFill>
                  <a:schemeClr val="tx1">
                    <a:lumMod val="50000"/>
                    <a:lumOff val="50000"/>
                  </a:schemeClr>
                </a:solidFill>
              </a:rPr>
              <a:t> – whether multiple choice or not – food (sub-sub-)groups attached when relevant.</a:t>
            </a:r>
          </a:p>
          <a:p>
            <a:pPr marL="285750" indent="-285750">
              <a:buFont typeface="Arial" pitchFamily="34" charset="0"/>
              <a:buChar char="•"/>
              <a:defRPr/>
            </a:pPr>
            <a:r>
              <a:rPr lang="en-GB" b="1" dirty="0">
                <a:solidFill>
                  <a:schemeClr val="tx1">
                    <a:lumMod val="50000"/>
                    <a:lumOff val="50000"/>
                  </a:schemeClr>
                </a:solidFill>
              </a:rPr>
              <a:t>DESCFACE.xls </a:t>
            </a:r>
            <a:r>
              <a:rPr lang="en-GB" dirty="0">
                <a:solidFill>
                  <a:schemeClr val="tx1">
                    <a:lumMod val="50000"/>
                    <a:lumOff val="50000"/>
                  </a:schemeClr>
                </a:solidFill>
              </a:rPr>
              <a:t>contains the descriptor code – descriptor name – handling of cooking method descriptors – whether single or not if multiple choice facet.</a:t>
            </a:r>
          </a:p>
          <a:p>
            <a:pPr>
              <a:defRPr/>
            </a:pPr>
            <a:r>
              <a:rPr lang="en-GB" dirty="0"/>
              <a:t>	</a:t>
            </a:r>
          </a:p>
          <a:p>
            <a:pPr>
              <a:defRPr/>
            </a:pPr>
            <a:endParaRPr lang="en-GB" dirty="0"/>
          </a:p>
          <a:p>
            <a:pPr>
              <a:defRPr/>
            </a:pPr>
            <a:endParaRPr lang="en-GB" dirty="0"/>
          </a:p>
        </p:txBody>
      </p:sp>
      <p:cxnSp>
        <p:nvCxnSpPr>
          <p:cNvPr id="8" name="Straight Arrow Connector 7"/>
          <p:cNvCxnSpPr/>
          <p:nvPr/>
        </p:nvCxnSpPr>
        <p:spPr>
          <a:xfrm flipH="1" flipV="1">
            <a:off x="3708400" y="1123950"/>
            <a:ext cx="1655763" cy="223361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1403350" y="1773238"/>
            <a:ext cx="1512888" cy="19431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2771775" y="1009650"/>
            <a:ext cx="504825" cy="144463"/>
          </a:xfrm>
          <a:prstGeom prst="ellipse">
            <a:avLst/>
          </a:prstGeom>
          <a:noFill/>
          <a:ln w="28575">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 name="Oval 11"/>
          <p:cNvSpPr/>
          <p:nvPr/>
        </p:nvSpPr>
        <p:spPr>
          <a:xfrm>
            <a:off x="2916238" y="1341438"/>
            <a:ext cx="512762" cy="215900"/>
          </a:xfrm>
          <a:prstGeom prst="ellipse">
            <a:avLst/>
          </a:prstGeom>
          <a:noFill/>
          <a:ln w="28575">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0"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8B643343-A1F1-41A0-A67E-2C895932EF45}" type="slidenum">
              <a:rPr lang="en-US" smtClean="0"/>
              <a:pPr>
                <a:defRPr/>
              </a:pPr>
              <a:t>19</a:t>
            </a:fld>
            <a:endParaRPr lang="en-US" dirty="0"/>
          </a:p>
        </p:txBody>
      </p:sp>
      <p:sp>
        <p:nvSpPr>
          <p:cNvPr id="29700" name="TextBox 4"/>
          <p:cNvSpPr txBox="1">
            <a:spLocks noChangeArrowheads="1"/>
          </p:cNvSpPr>
          <p:nvPr/>
        </p:nvSpPr>
        <p:spPr bwMode="auto">
          <a:xfrm>
            <a:off x="250825" y="188913"/>
            <a:ext cx="5899150" cy="610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b="1">
                <a:latin typeface="Arial" charset="0"/>
              </a:rPr>
              <a:t>Facet types:</a:t>
            </a:r>
          </a:p>
          <a:p>
            <a:pPr eaLnBrk="1" hangingPunct="1">
              <a:spcBef>
                <a:spcPct val="0"/>
              </a:spcBef>
              <a:buSzTx/>
              <a:buFontTx/>
              <a:buNone/>
            </a:pPr>
            <a:endParaRPr lang="en-GB" altLang="en-US" sz="900">
              <a:latin typeface="Arial" charset="0"/>
            </a:endParaRPr>
          </a:p>
          <a:p>
            <a:pPr eaLnBrk="1" hangingPunct="1">
              <a:spcBef>
                <a:spcPct val="0"/>
              </a:spcBef>
              <a:buSzTx/>
              <a:buFontTx/>
              <a:buChar char="-"/>
            </a:pPr>
            <a:r>
              <a:rPr lang="en-GB" altLang="en-US" sz="1400">
                <a:latin typeface="Arial" charset="0"/>
              </a:rPr>
              <a:t> </a:t>
            </a:r>
            <a:r>
              <a:rPr lang="en-GB" altLang="en-US" sz="1800" u="sng">
                <a:latin typeface="Arial" charset="0"/>
              </a:rPr>
              <a:t>Standard: </a:t>
            </a:r>
            <a:r>
              <a:rPr lang="en-GB" altLang="en-US" sz="1800">
                <a:latin typeface="Arial" charset="0"/>
              </a:rPr>
              <a:t>with list of descriptors attached</a:t>
            </a:r>
          </a:p>
          <a:p>
            <a:pPr eaLnBrk="1" hangingPunct="1">
              <a:spcBef>
                <a:spcPct val="0"/>
              </a:spcBef>
              <a:buSzTx/>
              <a:buFontTx/>
              <a:buNone/>
            </a:pPr>
            <a:r>
              <a:rPr lang="en-GB" altLang="en-US" sz="1800">
                <a:latin typeface="Arial" charset="0"/>
              </a:rPr>
              <a:t>If multiple choice, the layout will be different</a:t>
            </a:r>
          </a:p>
          <a:p>
            <a:pPr eaLnBrk="1" hangingPunct="1">
              <a:spcBef>
                <a:spcPct val="0"/>
              </a:spcBef>
              <a:buSzTx/>
              <a:buFontTx/>
              <a:buNone/>
            </a:pPr>
            <a:endParaRPr lang="en-GB" altLang="en-US" sz="1800">
              <a:latin typeface="Arial" charset="0"/>
            </a:endParaRPr>
          </a:p>
          <a:p>
            <a:pPr eaLnBrk="1" hangingPunct="1">
              <a:spcBef>
                <a:spcPct val="0"/>
              </a:spcBef>
              <a:buSzTx/>
              <a:buFontTx/>
              <a:buNone/>
            </a:pPr>
            <a:endParaRPr lang="en-GB" altLang="en-US" sz="1800">
              <a:latin typeface="Arial" charset="0"/>
            </a:endParaRPr>
          </a:p>
          <a:p>
            <a:pPr eaLnBrk="1" hangingPunct="1">
              <a:spcBef>
                <a:spcPct val="0"/>
              </a:spcBef>
              <a:buSzTx/>
              <a:buFontTx/>
              <a:buNone/>
            </a:pPr>
            <a:r>
              <a:rPr lang="en-GB" altLang="en-US" sz="1800">
                <a:latin typeface="Arial" charset="0"/>
                <a:sym typeface="Wingdings" pitchFamily="2" charset="2"/>
              </a:rPr>
              <a:t></a:t>
            </a:r>
            <a:endParaRPr lang="en-GB" altLang="en-US" sz="1800">
              <a:latin typeface="Arial" charset="0"/>
            </a:endParaRPr>
          </a:p>
          <a:p>
            <a:pPr lvl="2" eaLnBrk="1" hangingPunct="1">
              <a:spcBef>
                <a:spcPct val="0"/>
              </a:spcBef>
              <a:buClrTx/>
              <a:buSzTx/>
              <a:buFontTx/>
              <a:buChar char="-"/>
            </a:pPr>
            <a:endParaRPr lang="en-GB" altLang="en-US" sz="1400">
              <a:latin typeface="Arial" charset="0"/>
            </a:endParaRPr>
          </a:p>
          <a:p>
            <a:pPr lvl="2" eaLnBrk="1" hangingPunct="1">
              <a:spcBef>
                <a:spcPct val="0"/>
              </a:spcBef>
              <a:buClrTx/>
              <a:buSzTx/>
              <a:buFontTx/>
              <a:buChar char="-"/>
            </a:pPr>
            <a:endParaRPr lang="en-GB" altLang="en-US" sz="1400">
              <a:latin typeface="Arial" charset="0"/>
            </a:endParaRPr>
          </a:p>
          <a:p>
            <a:pPr lvl="2" eaLnBrk="1" hangingPunct="1">
              <a:spcBef>
                <a:spcPct val="0"/>
              </a:spcBef>
              <a:buClrTx/>
              <a:buSzTx/>
              <a:buFontTx/>
              <a:buChar char="-"/>
            </a:pPr>
            <a:endParaRPr lang="en-GB" altLang="en-US" sz="1400">
              <a:latin typeface="Arial" charset="0"/>
            </a:endParaRPr>
          </a:p>
          <a:p>
            <a:pPr lvl="2" eaLnBrk="1" hangingPunct="1">
              <a:spcBef>
                <a:spcPct val="0"/>
              </a:spcBef>
              <a:buClrTx/>
              <a:buSzTx/>
              <a:buFontTx/>
              <a:buChar char="-"/>
            </a:pPr>
            <a:endParaRPr lang="en-GB" altLang="en-US" sz="1400">
              <a:latin typeface="Arial" charset="0"/>
            </a:endParaRPr>
          </a:p>
          <a:p>
            <a:pPr lvl="2" eaLnBrk="1" hangingPunct="1">
              <a:spcBef>
                <a:spcPct val="0"/>
              </a:spcBef>
              <a:buClrTx/>
              <a:buSzTx/>
              <a:buFontTx/>
              <a:buNone/>
            </a:pPr>
            <a:endParaRPr lang="en-GB" altLang="en-US" sz="1400">
              <a:latin typeface="Arial" charset="0"/>
            </a:endParaRPr>
          </a:p>
          <a:p>
            <a:pPr eaLnBrk="1" hangingPunct="1">
              <a:spcBef>
                <a:spcPct val="0"/>
              </a:spcBef>
              <a:buSzTx/>
              <a:buFontTx/>
              <a:buNone/>
            </a:pPr>
            <a:r>
              <a:rPr lang="en-GB" altLang="en-US" sz="1800" u="sng">
                <a:latin typeface="Arial" charset="0"/>
              </a:rPr>
              <a:t>- Brand name</a:t>
            </a:r>
            <a:r>
              <a:rPr lang="en-GB" altLang="en-US" sz="1800">
                <a:latin typeface="Arial" charset="0"/>
              </a:rPr>
              <a:t>: linked to the specific file </a:t>
            </a:r>
          </a:p>
          <a:p>
            <a:pPr eaLnBrk="1" hangingPunct="1">
              <a:spcBef>
                <a:spcPct val="0"/>
              </a:spcBef>
              <a:buSzTx/>
              <a:buFontTx/>
              <a:buNone/>
            </a:pPr>
            <a:r>
              <a:rPr lang="en-GB" altLang="en-US" sz="1800" b="1">
                <a:latin typeface="Arial" charset="0"/>
              </a:rPr>
              <a:t>BRANDNAME.end</a:t>
            </a:r>
            <a:r>
              <a:rPr lang="en-GB" altLang="en-US" sz="1800">
                <a:latin typeface="Arial" charset="0"/>
              </a:rPr>
              <a:t>. Each country will define the</a:t>
            </a:r>
          </a:p>
          <a:p>
            <a:pPr eaLnBrk="1" hangingPunct="1">
              <a:spcBef>
                <a:spcPct val="0"/>
              </a:spcBef>
              <a:buSzTx/>
              <a:buFontTx/>
              <a:buNone/>
            </a:pPr>
            <a:r>
              <a:rPr lang="en-GB" altLang="en-US" sz="1800">
                <a:latin typeface="Arial" charset="0"/>
              </a:rPr>
              <a:t>brand and product names used per food (sub)group.</a:t>
            </a:r>
          </a:p>
          <a:p>
            <a:pPr eaLnBrk="1" hangingPunct="1">
              <a:spcBef>
                <a:spcPct val="0"/>
              </a:spcBef>
              <a:buSzTx/>
              <a:buFontTx/>
              <a:buNone/>
            </a:pPr>
            <a:r>
              <a:rPr lang="en-GB" altLang="en-US" sz="1800">
                <a:latin typeface="Arial" charset="0"/>
              </a:rPr>
              <a:t>During the interview, new brand names may be </a:t>
            </a:r>
          </a:p>
          <a:p>
            <a:pPr eaLnBrk="1" hangingPunct="1">
              <a:spcBef>
                <a:spcPct val="0"/>
              </a:spcBef>
              <a:buSzTx/>
              <a:buFontTx/>
              <a:buNone/>
            </a:pPr>
            <a:r>
              <a:rPr lang="en-GB" altLang="en-US" sz="1800">
                <a:latin typeface="Arial" charset="0"/>
              </a:rPr>
              <a:t>entered</a:t>
            </a:r>
            <a:endParaRPr lang="en-GB" altLang="en-US" sz="1400">
              <a:solidFill>
                <a:schemeClr val="hlink"/>
              </a:solidFill>
              <a:latin typeface="Arial" charset="0"/>
            </a:endParaRPr>
          </a:p>
          <a:p>
            <a:pPr lvl="2" eaLnBrk="1" hangingPunct="1">
              <a:spcBef>
                <a:spcPct val="0"/>
              </a:spcBef>
              <a:buClrTx/>
              <a:buSzTx/>
              <a:buFontTx/>
              <a:buChar char="-"/>
            </a:pPr>
            <a:endParaRPr lang="en-GB" altLang="en-US" sz="1400">
              <a:solidFill>
                <a:schemeClr val="hlink"/>
              </a:solidFill>
              <a:latin typeface="Arial" charset="0"/>
            </a:endParaRPr>
          </a:p>
          <a:p>
            <a:pPr eaLnBrk="1" hangingPunct="1">
              <a:spcBef>
                <a:spcPct val="0"/>
              </a:spcBef>
              <a:buSzTx/>
              <a:buFontTx/>
              <a:buChar char="-"/>
            </a:pPr>
            <a:r>
              <a:rPr lang="en-GB" altLang="en-US" sz="1400">
                <a:latin typeface="Arial" charset="0"/>
              </a:rPr>
              <a:t> </a:t>
            </a:r>
            <a:r>
              <a:rPr lang="en-GB" altLang="en-US" sz="1800" u="sng">
                <a:latin typeface="Arial" charset="0"/>
              </a:rPr>
              <a:t>Linked to a list of foods</a:t>
            </a:r>
            <a:r>
              <a:rPr lang="en-GB" altLang="en-US" sz="1800">
                <a:latin typeface="Arial" charset="0"/>
              </a:rPr>
              <a:t> : for facets </a:t>
            </a:r>
            <a:r>
              <a:rPr lang="en-GB" altLang="en-US" sz="1800" i="1">
                <a:latin typeface="Arial" charset="0"/>
              </a:rPr>
              <a:t>15</a:t>
            </a:r>
            <a:r>
              <a:rPr lang="en-GB" altLang="en-US" sz="1800">
                <a:latin typeface="Arial" charset="0"/>
              </a:rPr>
              <a:t> </a:t>
            </a:r>
            <a:r>
              <a:rPr lang="en-GB" altLang="en-US" sz="1800" i="1">
                <a:latin typeface="Arial" charset="0"/>
              </a:rPr>
              <a:t>Type of fat used </a:t>
            </a:r>
            <a:r>
              <a:rPr lang="en-GB" altLang="en-US" sz="1800">
                <a:latin typeface="Arial" charset="0"/>
              </a:rPr>
              <a:t>and </a:t>
            </a:r>
            <a:r>
              <a:rPr lang="en-GB" altLang="en-US" sz="1800" i="1">
                <a:latin typeface="Arial" charset="0"/>
              </a:rPr>
              <a:t>16 Type of milk/liquid used</a:t>
            </a:r>
            <a:r>
              <a:rPr lang="en-GB" altLang="en-US" sz="1800">
                <a:latin typeface="Arial" charset="0"/>
              </a:rPr>
              <a:t>, the foods are taken from the local food list, so (sub)groups must be defined. </a:t>
            </a:r>
          </a:p>
          <a:p>
            <a:pPr eaLnBrk="1" hangingPunct="1">
              <a:spcBef>
                <a:spcPct val="0"/>
              </a:spcBef>
              <a:buSzTx/>
              <a:buFontTx/>
              <a:buNone/>
            </a:pPr>
            <a:r>
              <a:rPr lang="en-GB" altLang="en-US" sz="1400">
                <a:latin typeface="Arial" charset="0"/>
              </a:rPr>
              <a:t>Example: facet 15 </a:t>
            </a:r>
            <a:r>
              <a:rPr lang="en-GB" altLang="en-US" sz="1400" i="1">
                <a:latin typeface="Arial" charset="0"/>
              </a:rPr>
              <a:t>Type of fat used</a:t>
            </a:r>
            <a:r>
              <a:rPr lang="en-GB" altLang="en-US" sz="1400">
                <a:latin typeface="Arial" charset="0"/>
              </a:rPr>
              <a:t> will be linked to the group 10 Fats </a:t>
            </a:r>
          </a:p>
          <a:p>
            <a:pPr eaLnBrk="1" hangingPunct="1">
              <a:spcBef>
                <a:spcPct val="0"/>
              </a:spcBef>
              <a:buSzTx/>
              <a:buFontTx/>
              <a:buNone/>
            </a:pPr>
            <a:r>
              <a:rPr lang="en-GB" altLang="en-US" sz="1400">
                <a:latin typeface="Arial" charset="0"/>
              </a:rPr>
              <a:t>and sub-group 0507 Dairy and non dairy creams</a:t>
            </a:r>
          </a:p>
          <a:p>
            <a:pPr eaLnBrk="1" hangingPunct="1">
              <a:spcBef>
                <a:spcPct val="0"/>
              </a:spcBef>
              <a:buSzTx/>
              <a:buFontTx/>
              <a:buNone/>
            </a:pPr>
            <a:endParaRPr lang="en-GB" altLang="en-US" sz="1800">
              <a:latin typeface="Arial" charset="0"/>
            </a:endParaRPr>
          </a:p>
        </p:txBody>
      </p:sp>
      <p:pic>
        <p:nvPicPr>
          <p:cNvPr id="29701"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29238" y="204788"/>
            <a:ext cx="3635375"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6"/>
          <p:cNvPicPr>
            <a:picLocks noChangeAspect="1"/>
          </p:cNvPicPr>
          <p:nvPr/>
        </p:nvPicPr>
        <p:blipFill>
          <a:blip r:embed="rId3">
            <a:extLst>
              <a:ext uri="{28A0092B-C50C-407E-A947-70E740481C1C}">
                <a14:useLocalDpi xmlns:a14="http://schemas.microsoft.com/office/drawing/2010/main" val="0"/>
              </a:ext>
            </a:extLst>
          </a:blip>
          <a:srcRect b="50000"/>
          <a:stretch>
            <a:fillRect/>
          </a:stretch>
        </p:blipFill>
        <p:spPr bwMode="auto">
          <a:xfrm>
            <a:off x="684213" y="1341438"/>
            <a:ext cx="3500437"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7"/>
          <p:cNvPicPr>
            <a:picLocks noChangeAspect="1"/>
          </p:cNvPicPr>
          <p:nvPr/>
        </p:nvPicPr>
        <p:blipFill>
          <a:blip r:embed="rId4">
            <a:extLst>
              <a:ext uri="{28A0092B-C50C-407E-A947-70E740481C1C}">
                <a14:useLocalDpi xmlns:a14="http://schemas.microsoft.com/office/drawing/2010/main" val="0"/>
              </a:ext>
            </a:extLst>
          </a:blip>
          <a:srcRect r="40546"/>
          <a:stretch>
            <a:fillRect/>
          </a:stretch>
        </p:blipFill>
        <p:spPr bwMode="auto">
          <a:xfrm>
            <a:off x="6149975" y="2276475"/>
            <a:ext cx="2814638" cy="36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C98C4ABA-D336-45E0-A499-201A640C1420}" type="slidenum">
              <a:rPr lang="en-US" smtClean="0"/>
              <a:pPr>
                <a:defRPr/>
              </a:pPr>
              <a:t>20</a:t>
            </a:fld>
            <a:endParaRPr lang="en-US" dirty="0"/>
          </a:p>
        </p:txBody>
      </p:sp>
      <p:sp>
        <p:nvSpPr>
          <p:cNvPr id="5" name="TextBox 4"/>
          <p:cNvSpPr txBox="1"/>
          <p:nvPr/>
        </p:nvSpPr>
        <p:spPr>
          <a:xfrm>
            <a:off x="395288" y="188913"/>
            <a:ext cx="8424862" cy="6954837"/>
          </a:xfrm>
          <a:prstGeom prst="rect">
            <a:avLst/>
          </a:prstGeom>
          <a:noFill/>
        </p:spPr>
        <p:txBody>
          <a:bodyPr>
            <a:spAutoFit/>
          </a:bodyPr>
          <a:lstStyle/>
          <a:p>
            <a:pPr>
              <a:defRPr/>
            </a:pPr>
            <a:r>
              <a:rPr lang="en-GB" b="1" dirty="0"/>
              <a:t>Descriptors:</a:t>
            </a:r>
          </a:p>
          <a:p>
            <a:pPr>
              <a:defRPr/>
            </a:pPr>
            <a:endParaRPr lang="en-GB" b="1" dirty="0"/>
          </a:p>
          <a:p>
            <a:pPr marL="285750" indent="-285750">
              <a:buFontTx/>
              <a:buChar char="-"/>
              <a:defRPr/>
            </a:pPr>
            <a:r>
              <a:rPr lang="en-GB" dirty="0"/>
              <a:t>For the facet Cooking method, one has to define what descriptor is</a:t>
            </a:r>
          </a:p>
          <a:p>
            <a:pPr marL="742950" lvl="1" indent="-285750">
              <a:buFont typeface="Arial" pitchFamily="34" charset="0"/>
              <a:buChar char="•"/>
              <a:defRPr/>
            </a:pPr>
            <a:r>
              <a:rPr lang="en-GB" sz="1600" dirty="0"/>
              <a:t>Raw</a:t>
            </a:r>
          </a:p>
          <a:p>
            <a:pPr marL="742950" lvl="1" indent="-285750">
              <a:buFont typeface="Arial" pitchFamily="34" charset="0"/>
              <a:buChar char="•"/>
              <a:defRPr/>
            </a:pPr>
            <a:r>
              <a:rPr lang="en-GB" sz="1600" dirty="0"/>
              <a:t>Cooked with fat (e.g. fried, deep fried, reheated with fat)</a:t>
            </a:r>
          </a:p>
          <a:p>
            <a:pPr marL="742950" lvl="1" indent="-285750">
              <a:buFont typeface="Arial" pitchFamily="34" charset="0"/>
              <a:buChar char="•"/>
              <a:defRPr/>
            </a:pPr>
            <a:r>
              <a:rPr lang="en-GB" sz="1600" dirty="0"/>
              <a:t>None of these</a:t>
            </a:r>
          </a:p>
          <a:p>
            <a:pPr marL="285750" indent="-285750">
              <a:buFontTx/>
              <a:buChar char="-"/>
              <a:defRPr/>
            </a:pPr>
            <a:r>
              <a:rPr lang="en-GB" dirty="0"/>
              <a:t>For facets with multiple choice, one has to define if descriptors are </a:t>
            </a:r>
            <a:r>
              <a:rPr lang="en-GB" i="1" dirty="0"/>
              <a:t>stand-alone</a:t>
            </a:r>
            <a:r>
              <a:rPr lang="en-GB" dirty="0"/>
              <a:t> or if they may be combined with other descriptors (e.g. ‘plain’ is </a:t>
            </a:r>
            <a:r>
              <a:rPr lang="en-GB" i="1" dirty="0"/>
              <a:t>stand-alone</a:t>
            </a:r>
            <a:r>
              <a:rPr lang="en-GB" dirty="0"/>
              <a:t>, ‘nuts’ may be combined with ‘chocolate’…).</a:t>
            </a:r>
          </a:p>
          <a:p>
            <a:pPr marL="285750" indent="-285750">
              <a:buFontTx/>
              <a:buChar char="-"/>
              <a:defRPr/>
            </a:pPr>
            <a:endParaRPr lang="en-GB" sz="800" dirty="0"/>
          </a:p>
          <a:p>
            <a:pPr>
              <a:defRPr/>
            </a:pPr>
            <a:endParaRPr lang="en-GB" b="1" dirty="0"/>
          </a:p>
          <a:p>
            <a:pPr>
              <a:defRPr/>
            </a:pPr>
            <a:r>
              <a:rPr lang="en-GB" b="1" dirty="0">
                <a:solidFill>
                  <a:schemeClr val="tx1">
                    <a:lumMod val="50000"/>
                    <a:lumOff val="50000"/>
                  </a:schemeClr>
                </a:solidFill>
              </a:rPr>
              <a:t>DESC_IMP.xls</a:t>
            </a:r>
            <a:r>
              <a:rPr lang="en-GB" dirty="0"/>
              <a:t>, maintained by IARC, lists the improbable combinations of descriptors to avoid proposing ‘stupid’ descriptors.</a:t>
            </a:r>
          </a:p>
          <a:p>
            <a:pPr>
              <a:defRPr/>
            </a:pPr>
            <a:r>
              <a:rPr lang="en-GB" sz="1600" i="1" dirty="0"/>
              <a:t>Example: </a:t>
            </a:r>
            <a:r>
              <a:rPr lang="en-GB" sz="1600" dirty="0"/>
              <a:t>if reconstituted from powder, do not propose facets Preservation method, Packing method, Skin consumed, nor descriptors ‘homemade’.</a:t>
            </a:r>
          </a:p>
          <a:p>
            <a:pPr>
              <a:defRPr/>
            </a:pPr>
            <a:endParaRPr lang="en-GB" sz="1600" dirty="0"/>
          </a:p>
          <a:p>
            <a:pPr>
              <a:defRPr/>
            </a:pPr>
            <a:r>
              <a:rPr lang="en-GB" u="sng" dirty="0"/>
              <a:t>Recipes</a:t>
            </a:r>
            <a:r>
              <a:rPr lang="en-GB" dirty="0"/>
              <a:t> are also described. So it implies to define recipe facets and descriptors</a:t>
            </a:r>
          </a:p>
          <a:p>
            <a:pPr marL="742950" lvl="1" indent="-285750">
              <a:buFontTx/>
              <a:buChar char="-"/>
              <a:defRPr/>
            </a:pPr>
            <a:r>
              <a:rPr lang="en-GB" dirty="0">
                <a:solidFill>
                  <a:schemeClr val="tx1">
                    <a:lumMod val="50000"/>
                    <a:lumOff val="50000"/>
                  </a:schemeClr>
                </a:solidFill>
              </a:rPr>
              <a:t>File </a:t>
            </a:r>
            <a:r>
              <a:rPr lang="en-GB" b="1" dirty="0">
                <a:solidFill>
                  <a:schemeClr val="tx1">
                    <a:lumMod val="50000"/>
                    <a:lumOff val="50000"/>
                  </a:schemeClr>
                </a:solidFill>
              </a:rPr>
              <a:t>R_FACET.xls </a:t>
            </a:r>
            <a:r>
              <a:rPr lang="en-GB" dirty="0">
                <a:solidFill>
                  <a:schemeClr val="tx1">
                    <a:lumMod val="50000"/>
                    <a:lumOff val="50000"/>
                  </a:schemeClr>
                </a:solidFill>
              </a:rPr>
              <a:t>contains the facet code – facet name – type: identify the facet ‘Brand name’ – whether multiple choice or not – mandatory or not</a:t>
            </a:r>
          </a:p>
          <a:p>
            <a:pPr marL="742950" lvl="1" indent="-285750">
              <a:buFontTx/>
              <a:buChar char="-"/>
              <a:defRPr/>
            </a:pPr>
            <a:r>
              <a:rPr lang="en-GB" dirty="0">
                <a:solidFill>
                  <a:schemeClr val="tx1">
                    <a:lumMod val="50000"/>
                    <a:lumOff val="50000"/>
                  </a:schemeClr>
                </a:solidFill>
              </a:rPr>
              <a:t>File </a:t>
            </a:r>
            <a:r>
              <a:rPr lang="en-GB" b="1" dirty="0">
                <a:solidFill>
                  <a:schemeClr val="tx1">
                    <a:lumMod val="50000"/>
                    <a:lumOff val="50000"/>
                  </a:schemeClr>
                </a:solidFill>
              </a:rPr>
              <a:t>R_DESCFACE.xls</a:t>
            </a:r>
            <a:r>
              <a:rPr lang="en-GB" dirty="0">
                <a:solidFill>
                  <a:schemeClr val="tx1">
                    <a:lumMod val="50000"/>
                    <a:lumOff val="50000"/>
                  </a:schemeClr>
                </a:solidFill>
              </a:rPr>
              <a:t> contains the descriptor code –  descriptor name - descriptor type: identify when the recipe may be known – whether single or not if multiple choice facet</a:t>
            </a:r>
          </a:p>
          <a:p>
            <a:pPr>
              <a:defRPr/>
            </a:pPr>
            <a:endParaRPr lang="en-GB" b="1" dirty="0"/>
          </a:p>
          <a:p>
            <a:pPr>
              <a:defRPr/>
            </a:pPr>
            <a:endParaRPr lang="en-GB" dirty="0"/>
          </a:p>
          <a:p>
            <a:pPr>
              <a:defRPr/>
            </a:pPr>
            <a:endParaRPr lang="en-GB" dirty="0"/>
          </a:p>
        </p:txBody>
      </p:sp>
      <p:sp>
        <p:nvSpPr>
          <p:cNvPr id="7"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3" name="Footer Placeholder 2"/>
          <p:cNvSpPr>
            <a:spLocks noGrp="1"/>
          </p:cNvSpPr>
          <p:nvPr>
            <p:ph type="ftr" sz="quarter" idx="11"/>
          </p:nvPr>
        </p:nvSpPr>
        <p:spPr/>
        <p:txBody>
          <a:bodyPr/>
          <a:lstStyle/>
          <a:p>
            <a:pPr>
              <a:defRPr/>
            </a:pPr>
            <a:r>
              <a:rPr lang="nl-BE" dirty="0" smtClean="0"/>
              <a:t>GloboDiet training:</a:t>
            </a:r>
            <a:endParaRPr lang="en-US" dirty="0"/>
          </a:p>
        </p:txBody>
      </p:sp>
      <p:sp>
        <p:nvSpPr>
          <p:cNvPr id="4" name="Slide Number Placeholder 3"/>
          <p:cNvSpPr>
            <a:spLocks noGrp="1"/>
          </p:cNvSpPr>
          <p:nvPr>
            <p:ph type="sldNum" sz="quarter" idx="12"/>
          </p:nvPr>
        </p:nvSpPr>
        <p:spPr/>
        <p:txBody>
          <a:bodyPr/>
          <a:lstStyle/>
          <a:p>
            <a:pPr>
              <a:defRPr/>
            </a:pPr>
            <a:fld id="{952AD41C-3E98-4962-99A0-532CF567902A}" type="slidenum">
              <a:rPr lang="en-US" smtClean="0"/>
              <a:pPr>
                <a:defRPr/>
              </a:pPr>
              <a:t>21</a:t>
            </a:fld>
            <a:endParaRPr lang="en-US" dirty="0"/>
          </a:p>
        </p:txBody>
      </p:sp>
      <p:sp>
        <p:nvSpPr>
          <p:cNvPr id="5" name="Rectangle 4"/>
          <p:cNvSpPr/>
          <p:nvPr/>
        </p:nvSpPr>
        <p:spPr>
          <a:xfrm>
            <a:off x="250825" y="404813"/>
            <a:ext cx="8497888" cy="5570537"/>
          </a:xfrm>
          <a:prstGeom prst="rect">
            <a:avLst/>
          </a:prstGeom>
        </p:spPr>
        <p:txBody>
          <a:bodyPr>
            <a:spAutoFit/>
          </a:bodyPr>
          <a:lstStyle/>
          <a:p>
            <a:pPr>
              <a:defRPr/>
            </a:pPr>
            <a:r>
              <a:rPr lang="en-GB" dirty="0"/>
              <a:t>Based on the list of facets and descriptors defined globally, each coordinator will define what facets and descriptors are applicable per (sub-) group based on IARC proposal. </a:t>
            </a:r>
            <a:endParaRPr lang="en-GB" b="1" dirty="0"/>
          </a:p>
          <a:p>
            <a:pPr>
              <a:defRPr/>
            </a:pPr>
            <a:r>
              <a:rPr lang="en-GB" b="1" dirty="0"/>
              <a:t>For foods: </a:t>
            </a:r>
            <a:r>
              <a:rPr lang="en-GB" dirty="0"/>
              <a:t>file </a:t>
            </a:r>
            <a:r>
              <a:rPr lang="en-GB" b="1" dirty="0"/>
              <a:t>FADEBYGROUP. end</a:t>
            </a:r>
            <a:r>
              <a:rPr lang="en-GB" dirty="0"/>
              <a:t>.</a:t>
            </a:r>
          </a:p>
          <a:p>
            <a:pPr>
              <a:defRPr/>
            </a:pPr>
            <a:r>
              <a:rPr lang="en-GB" b="1" dirty="0"/>
              <a:t>For recipes: </a:t>
            </a:r>
            <a:r>
              <a:rPr lang="en-GB" dirty="0"/>
              <a:t>file </a:t>
            </a:r>
            <a:r>
              <a:rPr lang="en-GB" b="1" dirty="0" err="1"/>
              <a:t>RCPFADEBYGROUP.end</a:t>
            </a:r>
            <a:endParaRPr lang="en-GB" b="1" dirty="0"/>
          </a:p>
          <a:p>
            <a:pPr lvl="1">
              <a:defRPr/>
            </a:pPr>
            <a:endParaRPr lang="en-GB" dirty="0"/>
          </a:p>
          <a:p>
            <a:pPr>
              <a:defRPr/>
            </a:pPr>
            <a:r>
              <a:rPr lang="en-GB" dirty="0"/>
              <a:t>The order of </a:t>
            </a:r>
            <a:r>
              <a:rPr lang="en-GB" u="sng" dirty="0"/>
              <a:t>facets</a:t>
            </a:r>
            <a:r>
              <a:rPr lang="en-GB" dirty="0"/>
              <a:t> must remain the same.</a:t>
            </a:r>
          </a:p>
          <a:p>
            <a:pPr>
              <a:defRPr/>
            </a:pPr>
            <a:r>
              <a:rPr lang="en-GB" dirty="0"/>
              <a:t>But each country will further have to define </a:t>
            </a:r>
          </a:p>
          <a:p>
            <a:pPr marL="285750" indent="-285750">
              <a:buFontTx/>
              <a:buChar char="-"/>
              <a:defRPr/>
            </a:pPr>
            <a:r>
              <a:rPr lang="en-GB" dirty="0"/>
              <a:t>the order of </a:t>
            </a:r>
            <a:r>
              <a:rPr lang="en-GB" u="sng" dirty="0"/>
              <a:t>descriptors</a:t>
            </a:r>
            <a:r>
              <a:rPr lang="en-GB" dirty="0"/>
              <a:t> within each set</a:t>
            </a:r>
          </a:p>
          <a:p>
            <a:pPr marL="285750" indent="-285750">
              <a:buFontTx/>
              <a:buChar char="-"/>
              <a:defRPr/>
            </a:pPr>
            <a:r>
              <a:rPr lang="en-GB" dirty="0"/>
              <a:t>the default </a:t>
            </a:r>
            <a:r>
              <a:rPr lang="en-GB" u="sng" dirty="0"/>
              <a:t>descriptors</a:t>
            </a:r>
            <a:r>
              <a:rPr lang="en-GB" dirty="0"/>
              <a:t> (the most commonly used) </a:t>
            </a:r>
            <a:r>
              <a:rPr lang="en-GB" dirty="0">
                <a:sym typeface="Wingdings" pitchFamily="2" charset="2"/>
              </a:rPr>
              <a:t> flagged ‘D’</a:t>
            </a:r>
            <a:r>
              <a:rPr lang="en-GB" dirty="0"/>
              <a:t>. </a:t>
            </a:r>
          </a:p>
          <a:p>
            <a:pPr>
              <a:defRPr/>
            </a:pPr>
            <a:r>
              <a:rPr lang="en-GB" dirty="0"/>
              <a:t>IARC sets whether the descriptor name appears on the </a:t>
            </a:r>
            <a:r>
              <a:rPr lang="en-GB" dirty="0" err="1"/>
              <a:t>GloboDiet</a:t>
            </a:r>
            <a:r>
              <a:rPr lang="en-GB" dirty="0"/>
              <a:t> screen or not (to shorten description on screen)</a:t>
            </a:r>
            <a:r>
              <a:rPr lang="en-GB" dirty="0">
                <a:sym typeface="Wingdings" pitchFamily="2" charset="2"/>
              </a:rPr>
              <a:t></a:t>
            </a:r>
            <a:r>
              <a:rPr lang="en-GB" dirty="0"/>
              <a:t> flagged ‘N’.</a:t>
            </a:r>
          </a:p>
          <a:p>
            <a:pPr>
              <a:defRPr/>
            </a:pPr>
            <a:endParaRPr lang="en-GB" dirty="0"/>
          </a:p>
          <a:p>
            <a:pPr>
              <a:defRPr/>
            </a:pPr>
            <a:r>
              <a:rPr lang="en-GB" altLang="en-US" dirty="0"/>
              <a:t>Rules between facets are set to decrease the number of facets asked, depending on the chosen descriptor/answer. They are prepared at IARC.</a:t>
            </a:r>
          </a:p>
          <a:p>
            <a:pPr>
              <a:defRPr/>
            </a:pPr>
            <a:r>
              <a:rPr lang="en-GB" altLang="en-US" sz="1400" dirty="0"/>
              <a:t>For example the facet ‘Packing medium’ will be asked only if the preservation method is canned.</a:t>
            </a:r>
            <a:endParaRPr lang="en-GB" sz="1400" dirty="0"/>
          </a:p>
          <a:p>
            <a:pPr>
              <a:defRPr/>
            </a:pPr>
            <a:r>
              <a:rPr lang="en-GB" b="1" dirty="0"/>
              <a:t>For foods:</a:t>
            </a:r>
            <a:r>
              <a:rPr lang="en-GB" altLang="en-US" dirty="0"/>
              <a:t> file</a:t>
            </a:r>
            <a:r>
              <a:rPr lang="en-GB" altLang="en-US" dirty="0">
                <a:solidFill>
                  <a:srgbClr val="0000FF"/>
                </a:solidFill>
              </a:rPr>
              <a:t> </a:t>
            </a:r>
            <a:r>
              <a:rPr lang="en-GB" altLang="en-US" b="1" dirty="0" err="1"/>
              <a:t>FACETRUL.end</a:t>
            </a:r>
            <a:r>
              <a:rPr lang="en-GB" altLang="en-US" dirty="0"/>
              <a:t>.</a:t>
            </a:r>
          </a:p>
          <a:p>
            <a:pPr>
              <a:defRPr/>
            </a:pPr>
            <a:r>
              <a:rPr lang="en-GB" b="1" dirty="0"/>
              <a:t>For recipes:</a:t>
            </a:r>
            <a:r>
              <a:rPr lang="en-GB" dirty="0"/>
              <a:t> file </a:t>
            </a:r>
            <a:r>
              <a:rPr lang="en-GB" b="1" dirty="0" err="1"/>
              <a:t>RCPFACETRUL.end</a:t>
            </a:r>
            <a:r>
              <a:rPr lang="en-GB" dirty="0"/>
              <a:t> </a:t>
            </a:r>
          </a:p>
          <a:p>
            <a:pPr>
              <a:defRPr/>
            </a:pPr>
            <a:endParaRPr lang="en-GB" dirty="0"/>
          </a:p>
          <a:p>
            <a:pPr>
              <a:defRPr/>
            </a:pPr>
            <a:r>
              <a:rPr lang="en-GB" dirty="0"/>
              <a:t>See next slide as an example.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a:xfrm>
            <a:off x="5791200" y="6438900"/>
            <a:ext cx="3044825" cy="365125"/>
          </a:xfrm>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a:xfrm>
            <a:off x="4286250" y="6372225"/>
            <a:ext cx="609600" cy="441325"/>
          </a:xfrm>
        </p:spPr>
        <p:txBody>
          <a:bodyPr/>
          <a:lstStyle/>
          <a:p>
            <a:pPr>
              <a:defRPr/>
            </a:pPr>
            <a:fld id="{8E09EB73-0AF5-4028-A333-8F529A7B8428}" type="slidenum">
              <a:rPr lang="en-US" smtClean="0"/>
              <a:pPr>
                <a:defRPr/>
              </a:pPr>
              <a:t>22</a:t>
            </a:fld>
            <a:endParaRPr lang="en-US" dirty="0"/>
          </a:p>
        </p:txBody>
      </p:sp>
      <p:sp>
        <p:nvSpPr>
          <p:cNvPr id="32772" name="Rectangle 3"/>
          <p:cNvSpPr txBox="1">
            <a:spLocks noChangeArrowheads="1"/>
          </p:cNvSpPr>
          <p:nvPr/>
        </p:nvSpPr>
        <p:spPr bwMode="auto">
          <a:xfrm>
            <a:off x="206375" y="331788"/>
            <a:ext cx="8937625" cy="518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nSpc>
                <a:spcPct val="80000"/>
              </a:lnSpc>
              <a:buFontTx/>
              <a:buNone/>
            </a:pPr>
            <a:endParaRPr lang="en-GB" altLang="en-US" sz="1600"/>
          </a:p>
          <a:p>
            <a:pPr>
              <a:lnSpc>
                <a:spcPct val="80000"/>
              </a:lnSpc>
              <a:buFontTx/>
              <a:buNone/>
            </a:pPr>
            <a:r>
              <a:rPr lang="en-GB" altLang="en-US" sz="1800">
                <a:latin typeface="Arial" charset="0"/>
              </a:rPr>
              <a:t>Example of  </a:t>
            </a:r>
            <a:r>
              <a:rPr lang="en-GB" altLang="en-US" sz="1800" b="1">
                <a:latin typeface="Arial" charset="0"/>
              </a:rPr>
              <a:t>FADEBYGROUP.end</a:t>
            </a:r>
          </a:p>
          <a:p>
            <a:pPr>
              <a:lnSpc>
                <a:spcPct val="80000"/>
              </a:lnSpc>
              <a:buFontTx/>
              <a:buNone/>
            </a:pPr>
            <a:endParaRPr lang="en-GB" altLang="en-US" sz="1600"/>
          </a:p>
          <a:p>
            <a:pPr>
              <a:lnSpc>
                <a:spcPct val="80000"/>
              </a:lnSpc>
              <a:buFontTx/>
              <a:buNone/>
            </a:pPr>
            <a:endParaRPr lang="en-US" altLang="en-US" sz="1600">
              <a:solidFill>
                <a:schemeClr val="tx2"/>
              </a:solidFill>
            </a:endParaRPr>
          </a:p>
          <a:p>
            <a:pPr>
              <a:lnSpc>
                <a:spcPct val="80000"/>
              </a:lnSpc>
              <a:buFontTx/>
              <a:buNone/>
            </a:pPr>
            <a:r>
              <a:rPr lang="en-US" altLang="en-US" sz="1600">
                <a:solidFill>
                  <a:schemeClr val="tx2"/>
                </a:solidFill>
              </a:rPr>
              <a:t>			</a:t>
            </a:r>
            <a:r>
              <a:rPr lang="en-US" altLang="en-US" sz="1600">
                <a:solidFill>
                  <a:schemeClr val="tx2"/>
                </a:solidFill>
                <a:latin typeface="Courier New" pitchFamily="49" charset="0"/>
                <a:cs typeface="Courier New" pitchFamily="49" charset="0"/>
              </a:rPr>
              <a:t>01                    POTATOES AND OTHER TUBERS</a:t>
            </a:r>
          </a:p>
          <a:p>
            <a:pPr>
              <a:lnSpc>
                <a:spcPct val="80000"/>
              </a:lnSpc>
              <a:buFontTx/>
              <a:buNone/>
            </a:pPr>
            <a:r>
              <a:rPr lang="en-US" altLang="en-US" sz="1600" b="1">
                <a:solidFill>
                  <a:schemeClr val="tx2"/>
                </a:solidFill>
                <a:latin typeface="Courier New" pitchFamily="49" charset="0"/>
                <a:cs typeface="Courier New" pitchFamily="49" charset="0"/>
              </a:rPr>
              <a:t>			01      04              PRESERVATION METHOD</a:t>
            </a:r>
          </a:p>
          <a:p>
            <a:pPr>
              <a:lnSpc>
                <a:spcPct val="80000"/>
              </a:lnSpc>
              <a:buFontTx/>
              <a:buNone/>
            </a:pPr>
            <a:r>
              <a:rPr lang="en-US" altLang="en-US" sz="1600">
                <a:solidFill>
                  <a:schemeClr val="tx2"/>
                </a:solidFill>
                <a:latin typeface="Courier New" pitchFamily="49" charset="0"/>
                <a:cs typeface="Courier New" pitchFamily="49" charset="0"/>
              </a:rPr>
              <a:t>			01      04  00     N      undefined</a:t>
            </a:r>
          </a:p>
          <a:p>
            <a:pPr>
              <a:lnSpc>
                <a:spcPct val="80000"/>
              </a:lnSpc>
              <a:buFontTx/>
              <a:buNone/>
            </a:pPr>
            <a:r>
              <a:rPr lang="en-US" altLang="en-US" sz="1600">
                <a:solidFill>
                  <a:schemeClr val="tx2"/>
                </a:solidFill>
                <a:latin typeface="Courier New" pitchFamily="49" charset="0"/>
                <a:cs typeface="Courier New" pitchFamily="49" charset="0"/>
              </a:rPr>
              <a:t>			01      04  01     N      canned</a:t>
            </a:r>
          </a:p>
          <a:p>
            <a:pPr>
              <a:lnSpc>
                <a:spcPct val="80000"/>
              </a:lnSpc>
              <a:buFontTx/>
              <a:buNone/>
            </a:pPr>
            <a:r>
              <a:rPr lang="en-US" altLang="en-US" sz="1600">
                <a:solidFill>
                  <a:schemeClr val="tx2"/>
                </a:solidFill>
                <a:latin typeface="Courier New" pitchFamily="49" charset="0"/>
                <a:cs typeface="Courier New" pitchFamily="49" charset="0"/>
              </a:rPr>
              <a:t>			01      04  02            frozen</a:t>
            </a:r>
          </a:p>
          <a:p>
            <a:pPr>
              <a:lnSpc>
                <a:spcPct val="80000"/>
              </a:lnSpc>
              <a:buFontTx/>
              <a:buNone/>
            </a:pPr>
            <a:r>
              <a:rPr lang="en-US" altLang="en-US" sz="1600">
                <a:solidFill>
                  <a:schemeClr val="tx2"/>
                </a:solidFill>
                <a:latin typeface="Courier New" pitchFamily="49" charset="0"/>
                <a:cs typeface="Courier New" pitchFamily="49" charset="0"/>
              </a:rPr>
              <a:t>			01      04  03            dried or flakes</a:t>
            </a:r>
          </a:p>
          <a:p>
            <a:pPr>
              <a:lnSpc>
                <a:spcPct val="80000"/>
              </a:lnSpc>
              <a:buFontTx/>
              <a:buNone/>
            </a:pPr>
            <a:r>
              <a:rPr lang="en-US" altLang="en-US" sz="1600">
                <a:solidFill>
                  <a:schemeClr val="tx2"/>
                </a:solidFill>
                <a:latin typeface="Courier New" pitchFamily="49" charset="0"/>
                <a:cs typeface="Courier New" pitchFamily="49" charset="0"/>
              </a:rPr>
              <a:t>			01      04  10            vacuum packed</a:t>
            </a:r>
          </a:p>
          <a:p>
            <a:pPr>
              <a:lnSpc>
                <a:spcPct val="80000"/>
              </a:lnSpc>
              <a:buFontTx/>
              <a:buNone/>
            </a:pPr>
            <a:r>
              <a:rPr lang="en-US" altLang="en-US" sz="1600">
                <a:solidFill>
                  <a:schemeClr val="tx2"/>
                </a:solidFill>
                <a:latin typeface="Courier New" pitchFamily="49" charset="0"/>
                <a:cs typeface="Courier New" pitchFamily="49" charset="0"/>
              </a:rPr>
              <a:t>			01      04  99  D  N      fresh</a:t>
            </a:r>
          </a:p>
          <a:p>
            <a:pPr>
              <a:lnSpc>
                <a:spcPct val="80000"/>
              </a:lnSpc>
              <a:buFontTx/>
              <a:buNone/>
            </a:pPr>
            <a:r>
              <a:rPr lang="en-US" altLang="en-US" sz="1600" b="1">
                <a:solidFill>
                  <a:schemeClr val="tx2"/>
                </a:solidFill>
                <a:latin typeface="Courier New" pitchFamily="49" charset="0"/>
                <a:cs typeface="Courier New" pitchFamily="49" charset="0"/>
              </a:rPr>
              <a:t>			01      05              PACKING MEDIUM</a:t>
            </a:r>
          </a:p>
          <a:p>
            <a:pPr>
              <a:lnSpc>
                <a:spcPct val="80000"/>
              </a:lnSpc>
              <a:buFontTx/>
              <a:buNone/>
            </a:pPr>
            <a:r>
              <a:rPr lang="en-US" altLang="en-US" sz="1600">
                <a:solidFill>
                  <a:schemeClr val="tx2"/>
                </a:solidFill>
                <a:latin typeface="Courier New" pitchFamily="49" charset="0"/>
                <a:cs typeface="Courier New" pitchFamily="49" charset="0"/>
              </a:rPr>
              <a:t>                        		</a:t>
            </a:r>
            <a:r>
              <a:rPr lang="en-US" altLang="en-US" sz="1600">
                <a:solidFill>
                  <a:srgbClr val="FF0000"/>
                </a:solidFill>
                <a:latin typeface="Courier New" pitchFamily="49" charset="0"/>
                <a:cs typeface="Courier New" pitchFamily="49" charset="0"/>
              </a:rPr>
              <a:t>[IF preservation method = canned]</a:t>
            </a:r>
          </a:p>
          <a:p>
            <a:pPr>
              <a:lnSpc>
                <a:spcPct val="80000"/>
              </a:lnSpc>
              <a:buFontTx/>
              <a:buNone/>
            </a:pPr>
            <a:r>
              <a:rPr lang="en-US" altLang="en-US" sz="1600">
                <a:solidFill>
                  <a:schemeClr val="tx2"/>
                </a:solidFill>
                <a:latin typeface="Courier New" pitchFamily="49" charset="0"/>
                <a:cs typeface="Courier New" pitchFamily="49" charset="0"/>
              </a:rPr>
              <a:t>			01      05  00     N      undefined</a:t>
            </a:r>
          </a:p>
          <a:p>
            <a:pPr>
              <a:lnSpc>
                <a:spcPct val="80000"/>
              </a:lnSpc>
              <a:buFontTx/>
              <a:buNone/>
            </a:pPr>
            <a:r>
              <a:rPr lang="en-US" altLang="en-US" sz="1600">
                <a:solidFill>
                  <a:schemeClr val="tx2"/>
                </a:solidFill>
                <a:latin typeface="Courier New" pitchFamily="49" charset="0"/>
                <a:cs typeface="Courier New" pitchFamily="49" charset="0"/>
              </a:rPr>
              <a:t>			01      05  03  D         canned in water/brine</a:t>
            </a:r>
          </a:p>
          <a:p>
            <a:pPr>
              <a:lnSpc>
                <a:spcPct val="80000"/>
              </a:lnSpc>
              <a:buFontTx/>
              <a:buNone/>
            </a:pPr>
            <a:r>
              <a:rPr lang="en-US" altLang="en-US" sz="1600">
                <a:solidFill>
                  <a:schemeClr val="tx2"/>
                </a:solidFill>
                <a:latin typeface="Courier New" pitchFamily="49" charset="0"/>
                <a:cs typeface="Courier New" pitchFamily="49" charset="0"/>
              </a:rPr>
              <a:t>			01      05  07            canned in sauce (n.s)</a:t>
            </a:r>
          </a:p>
          <a:p>
            <a:pPr>
              <a:lnSpc>
                <a:spcPct val="80000"/>
              </a:lnSpc>
              <a:buFontTx/>
              <a:buNone/>
            </a:pPr>
            <a:r>
              <a:rPr lang="en-US" altLang="en-US" sz="1600">
                <a:solidFill>
                  <a:schemeClr val="tx2"/>
                </a:solidFill>
                <a:latin typeface="Courier New" pitchFamily="49" charset="0"/>
                <a:cs typeface="Courier New" pitchFamily="49" charset="0"/>
              </a:rPr>
              <a:t>			01      05  12            canned in tomato sauce</a:t>
            </a:r>
          </a:p>
          <a:p>
            <a:pPr>
              <a:lnSpc>
                <a:spcPct val="80000"/>
              </a:lnSpc>
              <a:buFontTx/>
              <a:buNone/>
            </a:pPr>
            <a:r>
              <a:rPr lang="en-US" altLang="en-US" sz="1600">
                <a:solidFill>
                  <a:schemeClr val="tx2"/>
                </a:solidFill>
                <a:latin typeface="Courier New" pitchFamily="49" charset="0"/>
                <a:cs typeface="Courier New" pitchFamily="49" charset="0"/>
              </a:rPr>
              <a:t>			01      05  13            canned in white sauce</a:t>
            </a:r>
          </a:p>
          <a:p>
            <a:pPr>
              <a:lnSpc>
                <a:spcPct val="80000"/>
              </a:lnSpc>
              <a:buFontTx/>
              <a:buNone/>
            </a:pPr>
            <a:r>
              <a:rPr lang="en-US" altLang="en-US" sz="1600">
                <a:solidFill>
                  <a:schemeClr val="tx2"/>
                </a:solidFill>
                <a:latin typeface="Courier New" pitchFamily="49" charset="0"/>
                <a:cs typeface="Courier New" pitchFamily="49" charset="0"/>
              </a:rPr>
              <a:t>			01      05  14            canned in cheese sauce</a:t>
            </a:r>
          </a:p>
          <a:p>
            <a:pPr>
              <a:lnSpc>
                <a:spcPct val="80000"/>
              </a:lnSpc>
              <a:buFontTx/>
              <a:buNone/>
            </a:pPr>
            <a:r>
              <a:rPr lang="en-US" altLang="en-US" sz="1600">
                <a:solidFill>
                  <a:schemeClr val="tx2"/>
                </a:solidFill>
                <a:latin typeface="Courier New" pitchFamily="49" charset="0"/>
                <a:cs typeface="Courier New" pitchFamily="49" charset="0"/>
              </a:rPr>
              <a:t>			01      05  99     N      not applicable…</a:t>
            </a:r>
          </a:p>
          <a:p>
            <a:pPr>
              <a:lnSpc>
                <a:spcPct val="80000"/>
              </a:lnSpc>
              <a:buFontTx/>
              <a:buNone/>
            </a:pPr>
            <a:endParaRPr lang="en-US" altLang="en-US" sz="1600">
              <a:solidFill>
                <a:schemeClr val="tx2"/>
              </a:solidFill>
              <a:latin typeface="Courier New" pitchFamily="49" charset="0"/>
              <a:cs typeface="Courier New" pitchFamily="49" charset="0"/>
            </a:endParaRPr>
          </a:p>
        </p:txBody>
      </p:sp>
      <p:sp>
        <p:nvSpPr>
          <p:cNvPr id="32773" name="Text Box 4"/>
          <p:cNvSpPr txBox="1">
            <a:spLocks noChangeArrowheads="1"/>
          </p:cNvSpPr>
          <p:nvPr/>
        </p:nvSpPr>
        <p:spPr bwMode="auto">
          <a:xfrm>
            <a:off x="179388" y="1484313"/>
            <a:ext cx="15128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50000"/>
              </a:spcBef>
              <a:buSzTx/>
              <a:buFontTx/>
              <a:buNone/>
            </a:pPr>
            <a:r>
              <a:rPr lang="en-GB" altLang="en-US" sz="1800">
                <a:latin typeface="Arial" charset="0"/>
              </a:rPr>
              <a:t>Food group code</a:t>
            </a:r>
            <a:endParaRPr lang="en-US" altLang="en-US" sz="1800">
              <a:latin typeface="Arial" charset="0"/>
            </a:endParaRPr>
          </a:p>
        </p:txBody>
      </p:sp>
      <p:sp>
        <p:nvSpPr>
          <p:cNvPr id="32774" name="Oval 5"/>
          <p:cNvSpPr>
            <a:spLocks noChangeArrowheads="1"/>
          </p:cNvSpPr>
          <p:nvPr/>
        </p:nvSpPr>
        <p:spPr bwMode="auto">
          <a:xfrm>
            <a:off x="2033588" y="1266825"/>
            <a:ext cx="431800" cy="4249738"/>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32775" name="Line 6"/>
          <p:cNvSpPr>
            <a:spLocks noChangeShapeType="1"/>
          </p:cNvSpPr>
          <p:nvPr/>
        </p:nvSpPr>
        <p:spPr bwMode="auto">
          <a:xfrm>
            <a:off x="1476375" y="1916113"/>
            <a:ext cx="574675" cy="1428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6" name="Text Box 7"/>
          <p:cNvSpPr txBox="1">
            <a:spLocks noChangeArrowheads="1"/>
          </p:cNvSpPr>
          <p:nvPr/>
        </p:nvSpPr>
        <p:spPr bwMode="auto">
          <a:xfrm>
            <a:off x="466725" y="2492375"/>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50000"/>
              </a:spcBef>
              <a:buSzTx/>
              <a:buFontTx/>
              <a:buNone/>
            </a:pPr>
            <a:r>
              <a:rPr lang="en-GB" altLang="en-US" sz="1800">
                <a:latin typeface="Arial" charset="0"/>
              </a:rPr>
              <a:t>Facet code</a:t>
            </a:r>
            <a:endParaRPr lang="en-US" altLang="en-US" sz="1800">
              <a:latin typeface="Arial" charset="0"/>
            </a:endParaRPr>
          </a:p>
        </p:txBody>
      </p:sp>
      <p:sp>
        <p:nvSpPr>
          <p:cNvPr id="32777" name="Text Box 8"/>
          <p:cNvSpPr txBox="1">
            <a:spLocks noChangeArrowheads="1"/>
          </p:cNvSpPr>
          <p:nvPr/>
        </p:nvSpPr>
        <p:spPr bwMode="auto">
          <a:xfrm>
            <a:off x="466725" y="3500438"/>
            <a:ext cx="12969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50000"/>
              </a:spcBef>
              <a:buSzTx/>
              <a:buFontTx/>
              <a:buNone/>
            </a:pPr>
            <a:r>
              <a:rPr lang="en-GB" altLang="en-US" sz="1800">
                <a:latin typeface="Arial" charset="0"/>
              </a:rPr>
              <a:t>Descriptor code</a:t>
            </a:r>
            <a:endParaRPr lang="en-US" altLang="en-US" sz="1800">
              <a:latin typeface="Arial" charset="0"/>
            </a:endParaRPr>
          </a:p>
        </p:txBody>
      </p:sp>
      <p:sp>
        <p:nvSpPr>
          <p:cNvPr id="32778" name="Oval 9"/>
          <p:cNvSpPr>
            <a:spLocks noChangeArrowheads="1"/>
          </p:cNvSpPr>
          <p:nvPr/>
        </p:nvSpPr>
        <p:spPr bwMode="auto">
          <a:xfrm>
            <a:off x="2987675" y="1266825"/>
            <a:ext cx="431800" cy="4249738"/>
          </a:xfrm>
          <a:prstGeom prst="ellipse">
            <a:avLst/>
          </a:prstGeom>
          <a:noFill/>
          <a:ln w="9525" algn="ctr">
            <a:solidFill>
              <a:srgbClr val="00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32779" name="Oval 10"/>
          <p:cNvSpPr>
            <a:spLocks noChangeArrowheads="1"/>
          </p:cNvSpPr>
          <p:nvPr/>
        </p:nvSpPr>
        <p:spPr bwMode="auto">
          <a:xfrm>
            <a:off x="3492500" y="1266825"/>
            <a:ext cx="431800" cy="4249738"/>
          </a:xfrm>
          <a:prstGeom prst="ellipse">
            <a:avLst/>
          </a:prstGeom>
          <a:noFill/>
          <a:ln w="9525" algn="ctr">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32780" name="Line 11"/>
          <p:cNvSpPr>
            <a:spLocks noChangeShapeType="1"/>
          </p:cNvSpPr>
          <p:nvPr/>
        </p:nvSpPr>
        <p:spPr bwMode="auto">
          <a:xfrm flipV="1">
            <a:off x="1835150" y="2708275"/>
            <a:ext cx="1152525" cy="0"/>
          </a:xfrm>
          <a:prstGeom prst="line">
            <a:avLst/>
          </a:prstGeom>
          <a:noFill/>
          <a:ln w="952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81" name="Line 12"/>
          <p:cNvSpPr>
            <a:spLocks noChangeShapeType="1"/>
          </p:cNvSpPr>
          <p:nvPr/>
        </p:nvSpPr>
        <p:spPr bwMode="auto">
          <a:xfrm>
            <a:off x="1474788" y="3932238"/>
            <a:ext cx="2017712" cy="352425"/>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82" name="Text Box 13"/>
          <p:cNvSpPr txBox="1">
            <a:spLocks noChangeArrowheads="1"/>
          </p:cNvSpPr>
          <p:nvPr/>
        </p:nvSpPr>
        <p:spPr bwMode="auto">
          <a:xfrm>
            <a:off x="7380288" y="1700213"/>
            <a:ext cx="12239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50000"/>
              </a:spcBef>
              <a:buSzTx/>
              <a:buFontTx/>
              <a:buNone/>
            </a:pPr>
            <a:r>
              <a:rPr lang="en-GB" altLang="en-US" sz="1800">
                <a:latin typeface="Arial" charset="0"/>
              </a:rPr>
              <a:t>Not in the name</a:t>
            </a:r>
            <a:endParaRPr lang="en-US" altLang="en-US" sz="1800">
              <a:latin typeface="Arial" charset="0"/>
            </a:endParaRPr>
          </a:p>
        </p:txBody>
      </p:sp>
      <p:sp>
        <p:nvSpPr>
          <p:cNvPr id="32783" name="Text Box 14"/>
          <p:cNvSpPr txBox="1">
            <a:spLocks noChangeArrowheads="1"/>
          </p:cNvSpPr>
          <p:nvPr/>
        </p:nvSpPr>
        <p:spPr bwMode="auto">
          <a:xfrm>
            <a:off x="7883525" y="4068763"/>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50000"/>
              </a:spcBef>
              <a:buSzTx/>
              <a:buFontTx/>
              <a:buNone/>
            </a:pPr>
            <a:r>
              <a:rPr lang="en-GB" altLang="en-US" sz="1800">
                <a:latin typeface="Arial" charset="0"/>
              </a:rPr>
              <a:t>Default</a:t>
            </a:r>
            <a:endParaRPr lang="en-US" altLang="en-US" sz="1800">
              <a:latin typeface="Arial" charset="0"/>
            </a:endParaRPr>
          </a:p>
        </p:txBody>
      </p:sp>
      <p:sp>
        <p:nvSpPr>
          <p:cNvPr id="32784" name="Line 15"/>
          <p:cNvSpPr>
            <a:spLocks noChangeShapeType="1"/>
          </p:cNvSpPr>
          <p:nvPr/>
        </p:nvSpPr>
        <p:spPr bwMode="auto">
          <a:xfrm flipH="1" flipV="1">
            <a:off x="4284663" y="4140200"/>
            <a:ext cx="3527425" cy="144463"/>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85" name="Line 16"/>
          <p:cNvSpPr>
            <a:spLocks noChangeShapeType="1"/>
          </p:cNvSpPr>
          <p:nvPr/>
        </p:nvSpPr>
        <p:spPr bwMode="auto">
          <a:xfrm flipH="1" flipV="1">
            <a:off x="4645025" y="1916113"/>
            <a:ext cx="2663825" cy="144462"/>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86" name="Text Box 17"/>
          <p:cNvSpPr txBox="1">
            <a:spLocks noChangeArrowheads="1"/>
          </p:cNvSpPr>
          <p:nvPr/>
        </p:nvSpPr>
        <p:spPr bwMode="auto">
          <a:xfrm>
            <a:off x="7235825" y="2635250"/>
            <a:ext cx="2016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50000"/>
              </a:spcBef>
              <a:buSzTx/>
              <a:buFontTx/>
              <a:buNone/>
            </a:pPr>
            <a:r>
              <a:rPr lang="en-GB" altLang="en-US" sz="1800">
                <a:latin typeface="Arial" charset="0"/>
              </a:rPr>
              <a:t>Define the facet order</a:t>
            </a:r>
            <a:endParaRPr lang="en-US" altLang="en-US" sz="1800">
              <a:latin typeface="Arial" charset="0"/>
            </a:endParaRPr>
          </a:p>
        </p:txBody>
      </p:sp>
      <p:sp>
        <p:nvSpPr>
          <p:cNvPr id="32787" name="Line 19"/>
          <p:cNvSpPr>
            <a:spLocks noChangeShapeType="1"/>
          </p:cNvSpPr>
          <p:nvPr/>
        </p:nvSpPr>
        <p:spPr bwMode="auto">
          <a:xfrm>
            <a:off x="8243888" y="1195388"/>
            <a:ext cx="0" cy="1439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88" name="Line 20"/>
          <p:cNvSpPr>
            <a:spLocks noChangeShapeType="1"/>
          </p:cNvSpPr>
          <p:nvPr/>
        </p:nvSpPr>
        <p:spPr bwMode="auto">
          <a:xfrm>
            <a:off x="8243888" y="3284538"/>
            <a:ext cx="0" cy="1943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FCA27DC4-1628-43DB-BAA1-B00BCEBA33B4}" type="slidenum">
              <a:rPr lang="en-US" smtClean="0"/>
              <a:pPr>
                <a:defRPr/>
              </a:pPr>
              <a:t>23</a:t>
            </a:fld>
            <a:endParaRPr lang="en-US" dirty="0"/>
          </a:p>
        </p:txBody>
      </p:sp>
      <p:sp>
        <p:nvSpPr>
          <p:cNvPr id="5" name="TextBox 4"/>
          <p:cNvSpPr txBox="1"/>
          <p:nvPr/>
        </p:nvSpPr>
        <p:spPr>
          <a:xfrm>
            <a:off x="395288" y="331788"/>
            <a:ext cx="8424862" cy="3140075"/>
          </a:xfrm>
          <a:prstGeom prst="rect">
            <a:avLst/>
          </a:prstGeom>
          <a:noFill/>
        </p:spPr>
        <p:txBody>
          <a:bodyPr>
            <a:spAutoFit/>
          </a:bodyPr>
          <a:lstStyle/>
          <a:p>
            <a:pPr lvl="1">
              <a:defRPr/>
            </a:pPr>
            <a:r>
              <a:rPr lang="en-GB" dirty="0"/>
              <a:t> </a:t>
            </a:r>
          </a:p>
          <a:p>
            <a:pPr>
              <a:defRPr/>
            </a:pPr>
            <a:endParaRPr lang="en-GB" dirty="0"/>
          </a:p>
          <a:p>
            <a:pPr>
              <a:defRPr/>
            </a:pPr>
            <a:r>
              <a:rPr lang="en-GB" dirty="0"/>
              <a:t>For </a:t>
            </a:r>
            <a:r>
              <a:rPr lang="en-GB" u="sng" dirty="0"/>
              <a:t>dietary supplements</a:t>
            </a:r>
            <a:r>
              <a:rPr lang="en-GB" dirty="0"/>
              <a:t>, the description is less extensive. The coordinator gathers the list of facets and descriptors:</a:t>
            </a:r>
          </a:p>
          <a:p>
            <a:pPr>
              <a:defRPr/>
            </a:pPr>
            <a:endParaRPr lang="en-GB" dirty="0"/>
          </a:p>
          <a:p>
            <a:pPr>
              <a:defRPr/>
            </a:pPr>
            <a:r>
              <a:rPr lang="en-GB" dirty="0"/>
              <a:t>- </a:t>
            </a:r>
            <a:r>
              <a:rPr lang="en-GB" dirty="0">
                <a:solidFill>
                  <a:schemeClr val="tx1">
                    <a:lumMod val="50000"/>
                    <a:lumOff val="50000"/>
                  </a:schemeClr>
                </a:solidFill>
              </a:rPr>
              <a:t>File </a:t>
            </a:r>
            <a:r>
              <a:rPr lang="en-GB" b="1" dirty="0">
                <a:solidFill>
                  <a:schemeClr val="tx1">
                    <a:lumMod val="50000"/>
                    <a:lumOff val="50000"/>
                  </a:schemeClr>
                </a:solidFill>
              </a:rPr>
              <a:t>DS_FACET.xls</a:t>
            </a:r>
            <a:r>
              <a:rPr lang="en-GB" dirty="0">
                <a:solidFill>
                  <a:schemeClr val="tx1">
                    <a:lumMod val="50000"/>
                    <a:lumOff val="50000"/>
                  </a:schemeClr>
                </a:solidFill>
              </a:rPr>
              <a:t> contains the facet code – facet name – which is linked to quantification – facet type: multiple choice or not – mandatory or not - order</a:t>
            </a:r>
          </a:p>
          <a:p>
            <a:pPr>
              <a:defRPr/>
            </a:pPr>
            <a:endParaRPr lang="en-GB" dirty="0">
              <a:solidFill>
                <a:schemeClr val="tx1">
                  <a:lumMod val="50000"/>
                  <a:lumOff val="50000"/>
                </a:schemeClr>
              </a:solidFill>
            </a:endParaRPr>
          </a:p>
          <a:p>
            <a:pPr>
              <a:defRPr/>
            </a:pPr>
            <a:r>
              <a:rPr lang="en-GB" dirty="0">
                <a:solidFill>
                  <a:schemeClr val="tx1">
                    <a:lumMod val="50000"/>
                    <a:lumOff val="50000"/>
                  </a:schemeClr>
                </a:solidFill>
              </a:rPr>
              <a:t>- File </a:t>
            </a:r>
            <a:r>
              <a:rPr lang="en-GB" b="1" dirty="0">
                <a:solidFill>
                  <a:schemeClr val="tx1">
                    <a:lumMod val="50000"/>
                    <a:lumOff val="50000"/>
                  </a:schemeClr>
                </a:solidFill>
              </a:rPr>
              <a:t>DS_DESCFACE.xls </a:t>
            </a:r>
            <a:r>
              <a:rPr lang="en-GB" dirty="0">
                <a:solidFill>
                  <a:schemeClr val="tx1">
                    <a:lumMod val="50000"/>
                    <a:lumOff val="50000"/>
                  </a:schemeClr>
                </a:solidFill>
              </a:rPr>
              <a:t>contains the descriptor code - descriptor name – if HHM is needed for its </a:t>
            </a:r>
            <a:r>
              <a:rPr lang="en-GB" u="sng" dirty="0">
                <a:solidFill>
                  <a:schemeClr val="tx1">
                    <a:lumMod val="50000"/>
                    <a:lumOff val="50000"/>
                  </a:schemeClr>
                </a:solidFill>
              </a:rPr>
              <a:t>quantification</a:t>
            </a:r>
            <a:r>
              <a:rPr lang="en-GB" dirty="0">
                <a:solidFill>
                  <a:schemeClr val="tx1">
                    <a:lumMod val="50000"/>
                    <a:lumOff val="50000"/>
                  </a:schemeClr>
                </a:solidFill>
              </a:rPr>
              <a:t> – default – whether ‘other’ or not – whether single or not – order – not in the name</a:t>
            </a:r>
            <a:endParaRPr lang="en-GB" b="1" dirty="0">
              <a:solidFill>
                <a:schemeClr val="tx1">
                  <a:lumMod val="50000"/>
                  <a:lumOff val="50000"/>
                </a:schemeClr>
              </a:solidFill>
            </a:endParaRP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CE18EC21-830E-414D-92DC-5BA0B166820C}" type="slidenum">
              <a:rPr lang="en-US" smtClean="0"/>
              <a:pPr>
                <a:defRPr/>
              </a:pPr>
              <a:t>24</a:t>
            </a:fld>
            <a:endParaRPr lang="en-US" dirty="0"/>
          </a:p>
        </p:txBody>
      </p:sp>
      <p:sp>
        <p:nvSpPr>
          <p:cNvPr id="34820" name="TextBox 4"/>
          <p:cNvSpPr txBox="1">
            <a:spLocks noChangeArrowheads="1"/>
          </p:cNvSpPr>
          <p:nvPr/>
        </p:nvSpPr>
        <p:spPr bwMode="auto">
          <a:xfrm>
            <a:off x="2700338" y="2565400"/>
            <a:ext cx="403225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2400">
                <a:latin typeface="Arial" charset="0"/>
              </a:rPr>
              <a:t>Description </a:t>
            </a:r>
          </a:p>
          <a:p>
            <a:pPr algn="ctr" eaLnBrk="1" hangingPunct="1">
              <a:spcBef>
                <a:spcPct val="0"/>
              </a:spcBef>
              <a:buSzTx/>
              <a:buFontTx/>
              <a:buNone/>
            </a:pPr>
            <a:r>
              <a:rPr lang="en-GB" altLang="en-US" sz="2400">
                <a:latin typeface="Arial" charset="0"/>
              </a:rPr>
              <a:t>by facets and descriptors</a:t>
            </a:r>
          </a:p>
          <a:p>
            <a:pPr algn="ctr" eaLnBrk="1" hangingPunct="1">
              <a:spcBef>
                <a:spcPct val="0"/>
              </a:spcBef>
              <a:buSzTx/>
              <a:buFontTx/>
              <a:buNone/>
            </a:pPr>
            <a:endParaRPr lang="en-GB" altLang="en-US" sz="2400">
              <a:latin typeface="Arial" charset="0"/>
            </a:endParaRPr>
          </a:p>
          <a:p>
            <a:pPr algn="ctr" eaLnBrk="1" hangingPunct="1">
              <a:spcBef>
                <a:spcPct val="0"/>
              </a:spcBef>
              <a:buSzTx/>
              <a:buFontTx/>
              <a:buNone/>
            </a:pPr>
            <a:r>
              <a:rPr lang="en-GB" altLang="en-US" sz="2400">
                <a:latin typeface="Arial" charset="0"/>
              </a:rPr>
              <a:t>Country-specific files</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40041BA8-DA10-43F0-8689-6B4986AFF840}" type="slidenum">
              <a:rPr lang="en-US" smtClean="0"/>
              <a:pPr>
                <a:defRPr/>
              </a:pPr>
              <a:t>25</a:t>
            </a:fld>
            <a:endParaRPr lang="en-US" dirty="0"/>
          </a:p>
        </p:txBody>
      </p:sp>
      <p:sp>
        <p:nvSpPr>
          <p:cNvPr id="5" name="TextBox 4"/>
          <p:cNvSpPr txBox="1"/>
          <p:nvPr/>
        </p:nvSpPr>
        <p:spPr>
          <a:xfrm>
            <a:off x="179388" y="115888"/>
            <a:ext cx="8856662" cy="6464300"/>
          </a:xfrm>
          <a:prstGeom prst="rect">
            <a:avLst/>
          </a:prstGeom>
          <a:noFill/>
        </p:spPr>
        <p:txBody>
          <a:bodyPr>
            <a:spAutoFit/>
          </a:bodyPr>
          <a:lstStyle/>
          <a:p>
            <a:pPr>
              <a:defRPr/>
            </a:pPr>
            <a:r>
              <a:rPr lang="en-GB" b="1" dirty="0"/>
              <a:t>Description of foods</a:t>
            </a:r>
          </a:p>
          <a:p>
            <a:pPr>
              <a:defRPr/>
            </a:pPr>
            <a:r>
              <a:rPr lang="en-GB" dirty="0"/>
              <a:t>IARC will prepare the file </a:t>
            </a:r>
            <a:r>
              <a:rPr lang="en-GB" b="1" dirty="0" err="1"/>
              <a:t>FDFACET.end</a:t>
            </a:r>
            <a:r>
              <a:rPr lang="en-GB" dirty="0"/>
              <a:t> listing all foods of the file </a:t>
            </a:r>
            <a:r>
              <a:rPr lang="en-GB" b="1" dirty="0" err="1"/>
              <a:t>FDLIST.end</a:t>
            </a:r>
            <a:r>
              <a:rPr lang="en-GB" dirty="0"/>
              <a:t> and the facets of the file </a:t>
            </a:r>
            <a:r>
              <a:rPr lang="en-GB" b="1" dirty="0" err="1"/>
              <a:t>FADEBYGROUP.end</a:t>
            </a:r>
            <a:r>
              <a:rPr lang="en-GB" b="1" dirty="0"/>
              <a:t> </a:t>
            </a:r>
            <a:r>
              <a:rPr lang="en-GB" dirty="0"/>
              <a:t>corresponding to the food classification.</a:t>
            </a:r>
          </a:p>
          <a:p>
            <a:pPr>
              <a:defRPr/>
            </a:pPr>
            <a:r>
              <a:rPr lang="en-GB" dirty="0"/>
              <a:t>In that file, the coordinator has to remove the facets that are not applicable to each food.</a:t>
            </a:r>
          </a:p>
          <a:p>
            <a:pPr marL="285750" indent="-285750">
              <a:buFontTx/>
              <a:buChar char="-"/>
              <a:defRPr/>
            </a:pPr>
            <a:r>
              <a:rPr lang="en-GB" dirty="0"/>
              <a:t>The order of facets cannot be changed (or else update the </a:t>
            </a:r>
            <a:r>
              <a:rPr lang="en-GB" b="1" dirty="0" err="1"/>
              <a:t>FADEBYGROUP.end</a:t>
            </a:r>
            <a:r>
              <a:rPr lang="en-GB" dirty="0"/>
              <a:t>)</a:t>
            </a:r>
          </a:p>
          <a:p>
            <a:pPr marL="285750" indent="-285750">
              <a:buFontTx/>
              <a:buChar char="-"/>
              <a:defRPr/>
            </a:pPr>
            <a:r>
              <a:rPr lang="en-GB" dirty="0"/>
              <a:t>Facets cannot be added (or else update the </a:t>
            </a:r>
            <a:r>
              <a:rPr lang="en-GB" b="1" dirty="0" err="1"/>
              <a:t>FADEBYGROUP.end</a:t>
            </a:r>
            <a:r>
              <a:rPr lang="en-GB" dirty="0"/>
              <a:t>)</a:t>
            </a:r>
          </a:p>
          <a:p>
            <a:pPr marL="285750" indent="-285750">
              <a:buFontTx/>
              <a:buChar char="-"/>
              <a:defRPr/>
            </a:pPr>
            <a:r>
              <a:rPr lang="en-GB" dirty="0"/>
              <a:t>Be aware of the implications:</a:t>
            </a:r>
          </a:p>
          <a:p>
            <a:pPr marL="742950" lvl="1" indent="-285750">
              <a:buFontTx/>
              <a:buChar char="-"/>
              <a:defRPr/>
            </a:pPr>
            <a:r>
              <a:rPr lang="en-GB" dirty="0"/>
              <a:t>Some facets are linked, for example, keep facet Brand name (12) if you have facet Food production (10)</a:t>
            </a:r>
          </a:p>
          <a:p>
            <a:pPr marL="742950" lvl="1" indent="-285750">
              <a:buFontTx/>
              <a:buChar char="-"/>
              <a:defRPr/>
            </a:pPr>
            <a:r>
              <a:rPr lang="en-GB" dirty="0"/>
              <a:t>Some facets are/may be needed for the quantification: facets Physical state (02) and Cooking method (03)</a:t>
            </a:r>
          </a:p>
          <a:p>
            <a:pPr marL="742950" lvl="1" indent="-285750">
              <a:buFontTx/>
              <a:buChar char="-"/>
              <a:defRPr/>
            </a:pPr>
            <a:endParaRPr lang="en-GB" sz="900" dirty="0"/>
          </a:p>
          <a:p>
            <a:pPr>
              <a:defRPr/>
            </a:pPr>
            <a:r>
              <a:rPr lang="en-GB" b="1" dirty="0"/>
              <a:t>Description of recipes</a:t>
            </a:r>
          </a:p>
          <a:p>
            <a:pPr>
              <a:defRPr/>
            </a:pPr>
            <a:r>
              <a:rPr lang="en-GB" dirty="0"/>
              <a:t>IARC will prepare the file </a:t>
            </a:r>
            <a:r>
              <a:rPr lang="en-GB" b="1" dirty="0" err="1"/>
              <a:t>RCPFACET.end</a:t>
            </a:r>
            <a:r>
              <a:rPr lang="en-GB" dirty="0"/>
              <a:t> listing all recipes of the file </a:t>
            </a:r>
            <a:r>
              <a:rPr lang="en-GB" b="1" dirty="0"/>
              <a:t>MIXEDREC.xls</a:t>
            </a:r>
            <a:r>
              <a:rPr lang="en-GB" dirty="0"/>
              <a:t> and the facets of the file </a:t>
            </a:r>
            <a:r>
              <a:rPr lang="en-GB" b="1" dirty="0" err="1"/>
              <a:t>RCPFADEBYGROUP.end</a:t>
            </a:r>
            <a:r>
              <a:rPr lang="en-GB" b="1" dirty="0"/>
              <a:t> </a:t>
            </a:r>
            <a:r>
              <a:rPr lang="en-GB" dirty="0"/>
              <a:t>corresponding to the recipe classification.</a:t>
            </a:r>
            <a:endParaRPr lang="en-GB" b="1" dirty="0"/>
          </a:p>
          <a:p>
            <a:pPr>
              <a:defRPr/>
            </a:pPr>
            <a:r>
              <a:rPr lang="en-GB" dirty="0"/>
              <a:t>In that file, the coordinator has to remove the facets that are not applicable to each recipe.</a:t>
            </a:r>
          </a:p>
          <a:p>
            <a:pPr marL="285750" indent="-285750">
              <a:buFontTx/>
              <a:buChar char="-"/>
              <a:defRPr/>
            </a:pPr>
            <a:r>
              <a:rPr lang="en-GB" dirty="0"/>
              <a:t>The order of facets cannot be changed (or else update the </a:t>
            </a:r>
            <a:r>
              <a:rPr lang="en-GB" b="1" dirty="0" err="1"/>
              <a:t>RCPFADEBYGROUP.end</a:t>
            </a:r>
            <a:r>
              <a:rPr lang="en-GB" dirty="0"/>
              <a:t>)</a:t>
            </a:r>
          </a:p>
          <a:p>
            <a:pPr marL="285750" indent="-285750">
              <a:buFontTx/>
              <a:buChar char="-"/>
              <a:defRPr/>
            </a:pPr>
            <a:r>
              <a:rPr lang="en-GB" dirty="0"/>
              <a:t>Facets cannot be added (or else update the </a:t>
            </a:r>
            <a:r>
              <a:rPr lang="en-GB" b="1" dirty="0" err="1"/>
              <a:t>RCPFADEBYGROUP.end</a:t>
            </a:r>
            <a:r>
              <a:rPr lang="en-GB" dirty="0"/>
              <a:t>)</a:t>
            </a:r>
          </a:p>
          <a:p>
            <a:pPr marL="285750" indent="-285750">
              <a:buFontTx/>
              <a:buChar char="-"/>
              <a:defRPr/>
            </a:pPr>
            <a:r>
              <a:rPr lang="en-GB" dirty="0"/>
              <a:t>Some facets are linked</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D23D9520-21B3-42C1-9472-B95F82C4AB17}" type="slidenum">
              <a:rPr lang="en-US" smtClean="0"/>
              <a:pPr>
                <a:defRPr/>
              </a:pPr>
              <a:t>26</a:t>
            </a:fld>
            <a:endParaRPr lang="en-US" dirty="0"/>
          </a:p>
        </p:txBody>
      </p:sp>
      <p:sp>
        <p:nvSpPr>
          <p:cNvPr id="36868" name="TextBox 4"/>
          <p:cNvSpPr txBox="1">
            <a:spLocks noChangeArrowheads="1"/>
          </p:cNvSpPr>
          <p:nvPr/>
        </p:nvSpPr>
        <p:spPr bwMode="auto">
          <a:xfrm>
            <a:off x="2700338" y="2565400"/>
            <a:ext cx="4032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2400">
                <a:latin typeface="Arial" charset="0"/>
              </a:rPr>
              <a:t>Quantification</a:t>
            </a:r>
          </a:p>
          <a:p>
            <a:pPr algn="ctr" eaLnBrk="1" hangingPunct="1">
              <a:spcBef>
                <a:spcPct val="0"/>
              </a:spcBef>
              <a:buSzTx/>
              <a:buFontTx/>
              <a:buNone/>
            </a:pPr>
            <a:endParaRPr lang="en-GB" altLang="en-US" sz="2400">
              <a:latin typeface="Arial" charset="0"/>
            </a:endParaRPr>
          </a:p>
          <a:p>
            <a:pPr algn="ctr" eaLnBrk="1" hangingPunct="1">
              <a:spcBef>
                <a:spcPct val="0"/>
              </a:spcBef>
              <a:buSzTx/>
              <a:buFontTx/>
              <a:buNone/>
            </a:pPr>
            <a:r>
              <a:rPr lang="en-GB" altLang="en-US" sz="2400">
                <a:latin typeface="Arial" charset="0"/>
              </a:rPr>
              <a:t>Common files </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1D97D603-F368-46D2-B977-D12CF9293CA2}" type="slidenum">
              <a:rPr lang="en-US" smtClean="0"/>
              <a:pPr>
                <a:defRPr/>
              </a:pPr>
              <a:t>27</a:t>
            </a:fld>
            <a:endParaRPr lang="en-US" dirty="0"/>
          </a:p>
        </p:txBody>
      </p:sp>
      <p:pic>
        <p:nvPicPr>
          <p:cNvPr id="378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260350"/>
            <a:ext cx="417195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79388" y="188913"/>
            <a:ext cx="4468812" cy="5354637"/>
          </a:xfrm>
          <a:prstGeom prst="rect">
            <a:avLst/>
          </a:prstGeom>
          <a:noFill/>
        </p:spPr>
        <p:txBody>
          <a:bodyPr>
            <a:spAutoFit/>
          </a:bodyPr>
          <a:lstStyle/>
          <a:p>
            <a:pPr>
              <a:defRPr/>
            </a:pPr>
            <a:r>
              <a:rPr lang="en-GB" dirty="0"/>
              <a:t>For the quantification step, the interviewer has the choice between several methods:</a:t>
            </a:r>
          </a:p>
          <a:p>
            <a:pPr marL="285750" indent="-285750">
              <a:buFont typeface="Arial" pitchFamily="34" charset="0"/>
              <a:buChar char="•"/>
              <a:defRPr/>
            </a:pPr>
            <a:r>
              <a:rPr lang="en-GB" b="1" dirty="0"/>
              <a:t>G: in weight</a:t>
            </a:r>
            <a:r>
              <a:rPr lang="en-GB" dirty="0"/>
              <a:t>, always proposed by </a:t>
            </a:r>
            <a:r>
              <a:rPr lang="en-GB" dirty="0" err="1"/>
              <a:t>GloboDiet</a:t>
            </a:r>
            <a:endParaRPr lang="en-GB" dirty="0"/>
          </a:p>
          <a:p>
            <a:pPr marL="285750" indent="-285750">
              <a:buFont typeface="Arial" pitchFamily="34" charset="0"/>
              <a:buChar char="•"/>
              <a:defRPr/>
            </a:pPr>
            <a:r>
              <a:rPr lang="en-GB" b="1" dirty="0"/>
              <a:t>V: in volume</a:t>
            </a:r>
            <a:r>
              <a:rPr lang="en-GB" dirty="0"/>
              <a:t>, always proposed by </a:t>
            </a:r>
            <a:r>
              <a:rPr lang="en-GB" dirty="0" err="1"/>
              <a:t>GloboDiet</a:t>
            </a:r>
            <a:endParaRPr lang="en-GB" dirty="0"/>
          </a:p>
          <a:p>
            <a:pPr marL="285750" indent="-285750">
              <a:buFont typeface="Arial" pitchFamily="34" charset="0"/>
              <a:buChar char="•"/>
              <a:defRPr/>
            </a:pPr>
            <a:r>
              <a:rPr lang="en-GB" b="1" dirty="0"/>
              <a:t>P: photos</a:t>
            </a:r>
            <a:r>
              <a:rPr lang="en-GB" dirty="0"/>
              <a:t>. Each country will define a list of photos; these may be taken from the </a:t>
            </a:r>
            <a:r>
              <a:rPr lang="en-GB" dirty="0" err="1"/>
              <a:t>GloboDiet</a:t>
            </a:r>
            <a:r>
              <a:rPr lang="en-GB" dirty="0"/>
              <a:t> picture book or other sources, validated by IARC</a:t>
            </a:r>
          </a:p>
          <a:p>
            <a:pPr marL="285750" indent="-285750">
              <a:buFont typeface="Arial" pitchFamily="34" charset="0"/>
              <a:buChar char="•"/>
              <a:defRPr/>
            </a:pPr>
            <a:r>
              <a:rPr lang="en-GB" b="1" dirty="0"/>
              <a:t>H: household measures </a:t>
            </a:r>
            <a:r>
              <a:rPr lang="en-GB" dirty="0"/>
              <a:t>(HHM). Each country will define a list of HHM; these may be taken from IARC library or other sources, validated by IARC.</a:t>
            </a:r>
          </a:p>
          <a:p>
            <a:pPr marL="285750" indent="-285750">
              <a:buFont typeface="Arial" pitchFamily="34" charset="0"/>
              <a:buChar char="•"/>
              <a:defRPr/>
            </a:pPr>
            <a:r>
              <a:rPr lang="en-GB" b="1" dirty="0"/>
              <a:t>U: standard units. </a:t>
            </a:r>
            <a:r>
              <a:rPr lang="en-GB" dirty="0"/>
              <a:t>Each country will define a list of units per food or recipe</a:t>
            </a:r>
          </a:p>
          <a:p>
            <a:pPr marL="285750" indent="-285750">
              <a:buFont typeface="Arial" pitchFamily="34" charset="0"/>
              <a:buChar char="•"/>
              <a:defRPr/>
            </a:pPr>
            <a:endParaRPr lang="en-GB" dirty="0"/>
          </a:p>
          <a:p>
            <a:pPr marL="285750" indent="-285750">
              <a:buFont typeface="Arial" pitchFamily="34" charset="0"/>
              <a:buChar char="•"/>
              <a:defRPr/>
            </a:pPr>
            <a:endParaRPr lang="en-GB" dirty="0"/>
          </a:p>
          <a:p>
            <a:pPr marL="285750" indent="-285750">
              <a:buFont typeface="Arial" pitchFamily="34" charset="0"/>
              <a:buChar char="•"/>
              <a:defRPr/>
            </a:pPr>
            <a:endParaRPr lang="en-GB" dirty="0"/>
          </a:p>
        </p:txBody>
      </p:sp>
      <p:pic>
        <p:nvPicPr>
          <p:cNvPr id="37894"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8538" y="3087688"/>
            <a:ext cx="3940175"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Arrow Connector 8"/>
          <p:cNvCxnSpPr/>
          <p:nvPr/>
        </p:nvCxnSpPr>
        <p:spPr>
          <a:xfrm>
            <a:off x="5003800" y="1341438"/>
            <a:ext cx="720725" cy="165576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79388" y="4581525"/>
            <a:ext cx="8640762" cy="1970088"/>
          </a:xfrm>
          <a:prstGeom prst="rect">
            <a:avLst/>
          </a:prstGeom>
          <a:noFill/>
        </p:spPr>
        <p:txBody>
          <a:bodyPr>
            <a:spAutoFit/>
          </a:bodyPr>
          <a:lstStyle/>
          <a:p>
            <a:pPr marL="285750" indent="-285750">
              <a:buFont typeface="Arial" pitchFamily="34" charset="0"/>
              <a:buChar char="•"/>
              <a:defRPr/>
            </a:pPr>
            <a:r>
              <a:rPr lang="en-GB" b="1" dirty="0"/>
              <a:t>P: standard portions.</a:t>
            </a:r>
            <a:r>
              <a:rPr lang="en-GB" dirty="0"/>
              <a:t> Each country will define a list of portions per food </a:t>
            </a:r>
            <a:endParaRPr lang="en-GB" b="1" dirty="0"/>
          </a:p>
          <a:p>
            <a:pPr marL="285750" indent="-285750">
              <a:buFont typeface="Arial" pitchFamily="34" charset="0"/>
              <a:buChar char="•"/>
              <a:defRPr/>
            </a:pPr>
            <a:r>
              <a:rPr lang="en-GB" b="1" dirty="0"/>
              <a:t>A: shapes.</a:t>
            </a:r>
            <a:r>
              <a:rPr lang="en-GB" dirty="0"/>
              <a:t> Each country will define a list of shapes, these may be taken from IARC library or other sources, validated by IARC. Related thicknesses will also be defined.</a:t>
            </a:r>
            <a:endParaRPr lang="en-GB" b="1" dirty="0"/>
          </a:p>
          <a:p>
            <a:pPr marL="285750" indent="-285750">
              <a:buFont typeface="Arial" pitchFamily="34" charset="0"/>
              <a:buChar char="•"/>
              <a:defRPr/>
            </a:pPr>
            <a:r>
              <a:rPr lang="en-GB" b="1" dirty="0"/>
              <a:t>W: part of whole recipe</a:t>
            </a:r>
            <a:r>
              <a:rPr lang="en-GB" dirty="0"/>
              <a:t>, an additional method is ‘part of the known recipe’ </a:t>
            </a:r>
            <a:r>
              <a:rPr lang="en-GB" sz="1400" dirty="0"/>
              <a:t>[e.g. ¼ of provided recipe].</a:t>
            </a:r>
          </a:p>
          <a:p>
            <a:pPr>
              <a:defRPr/>
            </a:pPr>
            <a:endParaRPr lang="en-GB" dirty="0"/>
          </a:p>
        </p:txBody>
      </p:sp>
      <p:sp>
        <p:nvSpPr>
          <p:cNvPr id="10"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F8E54672-A6CD-4455-80C0-E0C66F1630E8}" type="slidenum">
              <a:rPr lang="en-US" smtClean="0"/>
              <a:pPr>
                <a:defRPr/>
              </a:pPr>
              <a:t>28</a:t>
            </a:fld>
            <a:endParaRPr lang="en-US" dirty="0"/>
          </a:p>
        </p:txBody>
      </p:sp>
      <p:sp>
        <p:nvSpPr>
          <p:cNvPr id="36868" name="Rectangle 4"/>
          <p:cNvSpPr>
            <a:spLocks noChangeArrowheads="1"/>
          </p:cNvSpPr>
          <p:nvPr/>
        </p:nvSpPr>
        <p:spPr bwMode="auto">
          <a:xfrm>
            <a:off x="250825" y="3519488"/>
            <a:ext cx="8497888"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defRPr/>
            </a:pPr>
            <a:endParaRPr lang="en-GB" altLang="en-US" sz="1800" dirty="0" smtClean="0">
              <a:latin typeface="Arial" charset="0"/>
            </a:endParaRPr>
          </a:p>
          <a:p>
            <a:pPr eaLnBrk="1" hangingPunct="1">
              <a:spcBef>
                <a:spcPct val="0"/>
              </a:spcBef>
              <a:buSzTx/>
              <a:buFontTx/>
              <a:buNone/>
              <a:defRPr/>
            </a:pPr>
            <a:r>
              <a:rPr lang="en-GB" altLang="en-US" sz="1800" b="1" dirty="0" smtClean="0">
                <a:solidFill>
                  <a:schemeClr val="tx1">
                    <a:lumMod val="50000"/>
                    <a:lumOff val="50000"/>
                  </a:schemeClr>
                </a:solidFill>
                <a:latin typeface="Arial" charset="0"/>
              </a:rPr>
              <a:t>M_PHOTOS.xls</a:t>
            </a:r>
            <a:r>
              <a:rPr lang="en-GB" altLang="en-US" sz="1800" dirty="0" smtClean="0">
                <a:solidFill>
                  <a:schemeClr val="tx1">
                    <a:lumMod val="50000"/>
                    <a:lumOff val="50000"/>
                  </a:schemeClr>
                </a:solidFill>
                <a:latin typeface="Arial" charset="0"/>
              </a:rPr>
              <a:t>:</a:t>
            </a:r>
            <a:r>
              <a:rPr lang="en-GB" altLang="en-US" sz="1800" dirty="0" smtClean="0">
                <a:latin typeface="Arial" charset="0"/>
              </a:rPr>
              <a:t> list of quantities/volumes corresponding to photos of </a:t>
            </a:r>
            <a:r>
              <a:rPr lang="en-GB" altLang="en-US" sz="1800" u="sng" dirty="0" smtClean="0">
                <a:latin typeface="Arial" charset="0"/>
              </a:rPr>
              <a:t>all food and recipes</a:t>
            </a:r>
            <a:r>
              <a:rPr lang="en-GB" altLang="en-US" sz="1800" dirty="0" smtClean="0">
                <a:latin typeface="Arial" charset="0"/>
              </a:rPr>
              <a:t> in different quantities </a:t>
            </a:r>
          </a:p>
          <a:p>
            <a:pPr eaLnBrk="1" hangingPunct="1">
              <a:spcBef>
                <a:spcPct val="0"/>
              </a:spcBef>
              <a:buSzTx/>
              <a:buFontTx/>
              <a:buNone/>
              <a:defRPr/>
            </a:pPr>
            <a:r>
              <a:rPr lang="en-GB" altLang="en-US" sz="1800" dirty="0" smtClean="0">
                <a:latin typeface="Arial" charset="0"/>
              </a:rPr>
              <a:t>Photo code - photo weights (e.g. </a:t>
            </a:r>
            <a:r>
              <a:rPr lang="en-US" altLang="en-US" sz="1800" dirty="0" smtClean="0">
                <a:latin typeface="Arial" charset="0"/>
              </a:rPr>
              <a:t>1-78,2-132,3-185,4-273,5-345) – whether the weight is raw or cooked – whether the waste is included or not – in g or ml</a:t>
            </a:r>
          </a:p>
          <a:p>
            <a:pPr eaLnBrk="1" hangingPunct="1">
              <a:spcBef>
                <a:spcPct val="0"/>
              </a:spcBef>
              <a:buSzTx/>
              <a:buFontTx/>
              <a:buNone/>
              <a:defRPr/>
            </a:pPr>
            <a:endParaRPr lang="en-US" altLang="en-US" sz="1800" dirty="0" smtClean="0">
              <a:latin typeface="Arial" charset="0"/>
            </a:endParaRPr>
          </a:p>
          <a:p>
            <a:pPr eaLnBrk="1" hangingPunct="1">
              <a:spcBef>
                <a:spcPct val="0"/>
              </a:spcBef>
              <a:buSzTx/>
              <a:buFontTx/>
              <a:buNone/>
              <a:defRPr/>
            </a:pPr>
            <a:r>
              <a:rPr lang="en-US" altLang="en-US" sz="1800" b="1" dirty="0" smtClean="0">
                <a:solidFill>
                  <a:schemeClr val="tx1">
                    <a:lumMod val="50000"/>
                    <a:lumOff val="50000"/>
                  </a:schemeClr>
                </a:solidFill>
                <a:latin typeface="Arial" charset="0"/>
              </a:rPr>
              <a:t>THICKNESS.xls</a:t>
            </a:r>
            <a:r>
              <a:rPr lang="en-US" altLang="en-US" sz="1800" b="1" dirty="0" smtClean="0">
                <a:latin typeface="Arial" charset="0"/>
              </a:rPr>
              <a:t>: </a:t>
            </a:r>
            <a:r>
              <a:rPr lang="en-US" altLang="en-US" sz="1800" dirty="0" smtClean="0">
                <a:latin typeface="Arial" charset="0"/>
              </a:rPr>
              <a:t>list of thicknesses, either linked to spreads or to shapes</a:t>
            </a:r>
          </a:p>
          <a:p>
            <a:pPr eaLnBrk="1" hangingPunct="1">
              <a:spcBef>
                <a:spcPct val="0"/>
              </a:spcBef>
              <a:buSzTx/>
              <a:buFontTx/>
              <a:buNone/>
              <a:defRPr/>
            </a:pPr>
            <a:r>
              <a:rPr lang="en-US" altLang="en-US" sz="1800" dirty="0" smtClean="0">
                <a:latin typeface="Arial" charset="0"/>
              </a:rPr>
              <a:t>Thickness code (e.g. photo 59-1 for butter on bread or T0010 for 1 cm thick) – thickness in cm – comment shown on screen – food (sub)groups for which the thickness is proposed – recipe groups for which the thickness is proposed</a:t>
            </a:r>
          </a:p>
        </p:txBody>
      </p:sp>
      <p:pic>
        <p:nvPicPr>
          <p:cNvPr id="38917"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2250" y="1368425"/>
            <a:ext cx="3294063"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779838" y="188913"/>
            <a:ext cx="5113337" cy="3692525"/>
          </a:xfrm>
          <a:prstGeom prst="rect">
            <a:avLst/>
          </a:prstGeom>
          <a:noFill/>
        </p:spPr>
        <p:txBody>
          <a:bodyPr>
            <a:spAutoFit/>
          </a:bodyPr>
          <a:lstStyle/>
          <a:p>
            <a:pPr>
              <a:defRPr/>
            </a:pPr>
            <a:r>
              <a:rPr lang="en-GB" b="1" dirty="0"/>
              <a:t>Photos: </a:t>
            </a:r>
            <a:endParaRPr lang="en-GB" dirty="0"/>
          </a:p>
          <a:p>
            <a:pPr marL="342900" indent="-342900">
              <a:buFont typeface="+mj-lt"/>
              <a:buAutoNum type="arabicPeriod"/>
              <a:defRPr/>
            </a:pPr>
            <a:r>
              <a:rPr lang="en-GB" dirty="0"/>
              <a:t>Remember that recipes are quantified globally (not one photo for meat, one for side dish).</a:t>
            </a:r>
          </a:p>
          <a:p>
            <a:pPr marL="342900" indent="-342900">
              <a:buFont typeface="+mj-lt"/>
              <a:buAutoNum type="arabicPeriod"/>
              <a:defRPr/>
            </a:pPr>
            <a:r>
              <a:rPr lang="en-GB" dirty="0"/>
              <a:t>Photos are often linked to weights [in grams], which means they can be used only for items with similar densities. For new photos we advise to measure the volumes and densities to improve the flexibility of this method, so photos can also be linked to volumes [in ml].</a:t>
            </a:r>
          </a:p>
          <a:p>
            <a:pPr marL="342900" indent="-342900">
              <a:buFont typeface="+mj-lt"/>
              <a:buAutoNum type="arabicPeriod"/>
              <a:defRPr/>
            </a:pPr>
            <a:r>
              <a:rPr lang="en-GB" dirty="0"/>
              <a:t>Some photo series are used for spreads on bread (e.g. butter, jam). They are linked to the file </a:t>
            </a:r>
            <a:r>
              <a:rPr lang="en-GB" b="1" dirty="0">
                <a:solidFill>
                  <a:schemeClr val="tx1">
                    <a:lumMod val="50000"/>
                    <a:lumOff val="50000"/>
                  </a:schemeClr>
                </a:solidFill>
              </a:rPr>
              <a:t>THICKNESS.xls</a:t>
            </a:r>
            <a:r>
              <a:rPr lang="en-GB" dirty="0">
                <a:solidFill>
                  <a:schemeClr val="tx1">
                    <a:lumMod val="50000"/>
                    <a:lumOff val="50000"/>
                  </a:schemeClr>
                </a:solidFill>
              </a:rPr>
              <a:t>.</a:t>
            </a:r>
          </a:p>
        </p:txBody>
      </p:sp>
      <p:cxnSp>
        <p:nvCxnSpPr>
          <p:cNvPr id="9" name="Straight Arrow Connector 8"/>
          <p:cNvCxnSpPr/>
          <p:nvPr/>
        </p:nvCxnSpPr>
        <p:spPr>
          <a:xfrm flipH="1" flipV="1">
            <a:off x="827088" y="2708275"/>
            <a:ext cx="3240087" cy="165735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87450" y="873125"/>
            <a:ext cx="792163" cy="120173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6873" name="TextBox 11"/>
          <p:cNvSpPr txBox="1">
            <a:spLocks noChangeArrowheads="1"/>
          </p:cNvSpPr>
          <p:nvPr/>
        </p:nvSpPr>
        <p:spPr bwMode="auto">
          <a:xfrm>
            <a:off x="222250" y="550863"/>
            <a:ext cx="39893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defRPr/>
            </a:pPr>
            <a:r>
              <a:rPr lang="en-GB" altLang="en-US" sz="1800" dirty="0" smtClean="0">
                <a:latin typeface="Arial" charset="0"/>
              </a:rPr>
              <a:t>Fractions are predefined in </a:t>
            </a:r>
            <a:r>
              <a:rPr lang="en-GB" altLang="en-US" sz="1800" b="1" dirty="0" smtClean="0">
                <a:solidFill>
                  <a:schemeClr val="tx1">
                    <a:lumMod val="50000"/>
                    <a:lumOff val="50000"/>
                  </a:schemeClr>
                </a:solidFill>
                <a:latin typeface="Arial" charset="0"/>
              </a:rPr>
              <a:t>PARAM.xls</a:t>
            </a:r>
            <a:r>
              <a:rPr lang="en-GB" altLang="en-US" sz="1800" b="1" dirty="0" smtClean="0">
                <a:latin typeface="Arial" charset="0"/>
              </a:rPr>
              <a:t> </a:t>
            </a:r>
            <a:r>
              <a:rPr lang="en-GB" altLang="en-US" sz="1800" dirty="0" smtClean="0">
                <a:latin typeface="Arial" charset="0"/>
              </a:rPr>
              <a:t>(maintained by IARC)</a:t>
            </a:r>
          </a:p>
        </p:txBody>
      </p:sp>
      <p:sp>
        <p:nvSpPr>
          <p:cNvPr id="11"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EEF7A057-FCA8-4A02-AC69-C60BE4CF2C6A}" type="slidenum">
              <a:rPr lang="en-US" smtClean="0"/>
              <a:pPr>
                <a:defRPr/>
              </a:pPr>
              <a:t>29</a:t>
            </a:fld>
            <a:endParaRPr lang="en-US" dirty="0"/>
          </a:p>
        </p:txBody>
      </p:sp>
      <p:pic>
        <p:nvPicPr>
          <p:cNvPr id="399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2781300"/>
            <a:ext cx="5010150" cy="348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1" name="TextBox 4"/>
          <p:cNvSpPr txBox="1">
            <a:spLocks noChangeArrowheads="1"/>
          </p:cNvSpPr>
          <p:nvPr/>
        </p:nvSpPr>
        <p:spPr bwMode="auto">
          <a:xfrm>
            <a:off x="250825" y="4338638"/>
            <a:ext cx="3457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u="sng">
                <a:latin typeface="Arial" charset="0"/>
              </a:rPr>
              <a:t>Thickness linked to shapes</a:t>
            </a:r>
            <a:r>
              <a:rPr lang="en-GB" altLang="en-US" sz="1800">
                <a:latin typeface="Arial" charset="0"/>
              </a:rPr>
              <a:t>:</a:t>
            </a:r>
          </a:p>
        </p:txBody>
      </p:sp>
      <p:sp>
        <p:nvSpPr>
          <p:cNvPr id="7" name="TextBox 6"/>
          <p:cNvSpPr txBox="1"/>
          <p:nvPr/>
        </p:nvSpPr>
        <p:spPr>
          <a:xfrm>
            <a:off x="250825" y="522288"/>
            <a:ext cx="5062538" cy="1754187"/>
          </a:xfrm>
          <a:prstGeom prst="rect">
            <a:avLst/>
          </a:prstGeom>
          <a:noFill/>
        </p:spPr>
        <p:txBody>
          <a:bodyPr>
            <a:spAutoFit/>
          </a:bodyPr>
          <a:lstStyle/>
          <a:p>
            <a:pPr>
              <a:defRPr/>
            </a:pPr>
            <a:r>
              <a:rPr lang="en-GB" u="sng" dirty="0"/>
              <a:t>Thickness linked to spreads</a:t>
            </a:r>
            <a:r>
              <a:rPr lang="en-GB" dirty="0"/>
              <a:t>: during the interview, the steps are the following</a:t>
            </a:r>
          </a:p>
          <a:p>
            <a:pPr marL="342900" indent="-342900">
              <a:buFont typeface="+mj-lt"/>
              <a:buAutoNum type="arabicPeriod"/>
              <a:defRPr/>
            </a:pPr>
            <a:r>
              <a:rPr lang="en-GB" dirty="0"/>
              <a:t>Select the shape on which the item is spread</a:t>
            </a:r>
          </a:p>
          <a:p>
            <a:pPr marL="342900" indent="-342900">
              <a:buFont typeface="+mj-lt"/>
              <a:buAutoNum type="arabicPeriod"/>
              <a:defRPr/>
            </a:pPr>
            <a:r>
              <a:rPr lang="en-GB" dirty="0"/>
              <a:t>Select the number/fraction of the shape</a:t>
            </a:r>
          </a:p>
          <a:p>
            <a:pPr marL="342900" indent="-342900">
              <a:buFont typeface="+mj-lt"/>
              <a:buAutoNum type="arabicPeriod"/>
              <a:defRPr/>
            </a:pPr>
            <a:r>
              <a:rPr lang="en-GB" dirty="0"/>
              <a:t>Select the thickness using a photo</a:t>
            </a:r>
          </a:p>
          <a:p>
            <a:pPr marL="342900" indent="-342900">
              <a:buFont typeface="+mj-lt"/>
              <a:buAutoNum type="arabicPeriod"/>
              <a:defRPr/>
            </a:pPr>
            <a:endParaRPr lang="en-GB" dirty="0"/>
          </a:p>
        </p:txBody>
      </p:sp>
      <p:pic>
        <p:nvPicPr>
          <p:cNvPr id="39943"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13363" y="260350"/>
            <a:ext cx="3506787"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Arrow Connector 8"/>
          <p:cNvCxnSpPr/>
          <p:nvPr/>
        </p:nvCxnSpPr>
        <p:spPr>
          <a:xfrm>
            <a:off x="4356100" y="1844675"/>
            <a:ext cx="95726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2411413" y="765175"/>
            <a:ext cx="2963862" cy="43180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525198A6-4D02-45A5-899B-236E0564502A}" type="slidenum">
              <a:rPr lang="en-US" smtClean="0"/>
              <a:pPr>
                <a:defRPr/>
              </a:pPr>
              <a:t>30</a:t>
            </a:fld>
            <a:endParaRPr lang="en-US" dirty="0"/>
          </a:p>
        </p:txBody>
      </p:sp>
      <p:sp>
        <p:nvSpPr>
          <p:cNvPr id="6" name="TextBox 5"/>
          <p:cNvSpPr txBox="1"/>
          <p:nvPr/>
        </p:nvSpPr>
        <p:spPr>
          <a:xfrm>
            <a:off x="284163" y="2565400"/>
            <a:ext cx="8609012" cy="4524375"/>
          </a:xfrm>
          <a:prstGeom prst="rect">
            <a:avLst/>
          </a:prstGeom>
          <a:noFill/>
        </p:spPr>
        <p:txBody>
          <a:bodyPr>
            <a:spAutoFit/>
          </a:bodyPr>
          <a:lstStyle/>
          <a:p>
            <a:pPr>
              <a:defRPr/>
            </a:pPr>
            <a:r>
              <a:rPr lang="en-GB" b="1" dirty="0"/>
              <a:t>Shapes:</a:t>
            </a:r>
          </a:p>
          <a:p>
            <a:pPr>
              <a:defRPr/>
            </a:pPr>
            <a:r>
              <a:rPr lang="en-GB" dirty="0"/>
              <a:t>This quantification method can be used </a:t>
            </a:r>
            <a:r>
              <a:rPr lang="en-GB"/>
              <a:t>for food items </a:t>
            </a:r>
            <a:r>
              <a:rPr lang="en-GB" dirty="0"/>
              <a:t>having </a:t>
            </a:r>
            <a:r>
              <a:rPr lang="en-GB"/>
              <a:t>an </a:t>
            </a:r>
            <a:r>
              <a:rPr lang="en-GB" u="sng"/>
              <a:t>even </a:t>
            </a:r>
            <a:r>
              <a:rPr lang="en-GB" u="sng" dirty="0"/>
              <a:t>thickness</a:t>
            </a:r>
            <a:r>
              <a:rPr lang="en-GB" dirty="0"/>
              <a:t> </a:t>
            </a:r>
            <a:r>
              <a:rPr lang="en-GB"/>
              <a:t>or for foods that are commonly sliced to have </a:t>
            </a:r>
            <a:r>
              <a:rPr lang="en-GB" dirty="0"/>
              <a:t>an even thickness.</a:t>
            </a:r>
          </a:p>
          <a:p>
            <a:pPr marL="342900" indent="-342900">
              <a:buFont typeface="+mj-lt"/>
              <a:buAutoNum type="arabicPeriod"/>
              <a:defRPr/>
            </a:pPr>
            <a:endParaRPr lang="en-GB" dirty="0"/>
          </a:p>
          <a:p>
            <a:pPr>
              <a:defRPr/>
            </a:pPr>
            <a:r>
              <a:rPr lang="en-GB" u="sng" dirty="0"/>
              <a:t>Examples:</a:t>
            </a:r>
          </a:p>
          <a:p>
            <a:pPr marL="285750" indent="-285750">
              <a:buFontTx/>
              <a:buChar char="-"/>
              <a:defRPr/>
            </a:pPr>
            <a:r>
              <a:rPr lang="en-GB" dirty="0"/>
              <a:t>Rusk</a:t>
            </a:r>
          </a:p>
          <a:p>
            <a:pPr marL="285750" indent="-285750">
              <a:buFontTx/>
              <a:buChar char="-"/>
              <a:defRPr/>
            </a:pPr>
            <a:r>
              <a:rPr lang="en-GB" dirty="0"/>
              <a:t>Layer </a:t>
            </a:r>
            <a:r>
              <a:rPr lang="en-GB"/>
              <a:t>of solid piece of cheese</a:t>
            </a:r>
            <a:endParaRPr lang="en-GB" dirty="0"/>
          </a:p>
          <a:p>
            <a:pPr marL="285750" indent="-285750">
              <a:buFontTx/>
              <a:buChar char="-"/>
              <a:defRPr/>
            </a:pPr>
            <a:r>
              <a:rPr lang="en-GB" dirty="0"/>
              <a:t>Slices of bread</a:t>
            </a:r>
          </a:p>
          <a:p>
            <a:pPr marL="285750" indent="-285750">
              <a:buFontTx/>
              <a:buChar char="-"/>
              <a:defRPr/>
            </a:pPr>
            <a:r>
              <a:rPr lang="en-GB" dirty="0"/>
              <a:t>Pizza</a:t>
            </a:r>
          </a:p>
          <a:p>
            <a:pPr marL="285750" indent="-285750">
              <a:buFontTx/>
              <a:buChar char="-"/>
              <a:defRPr/>
            </a:pPr>
            <a:endParaRPr lang="en-GB" dirty="0"/>
          </a:p>
          <a:p>
            <a:pPr>
              <a:defRPr/>
            </a:pPr>
            <a:r>
              <a:rPr lang="en-GB">
                <a:solidFill>
                  <a:srgbClr val="FF0000"/>
                </a:solidFill>
              </a:rPr>
              <a:t>Shapes </a:t>
            </a:r>
            <a:r>
              <a:rPr lang="en-GB" u="sng">
                <a:solidFill>
                  <a:srgbClr val="FF0000"/>
                </a:solidFill>
              </a:rPr>
              <a:t>cannot</a:t>
            </a:r>
            <a:r>
              <a:rPr lang="en-GB">
                <a:solidFill>
                  <a:srgbClr val="FF0000"/>
                </a:solidFill>
              </a:rPr>
              <a:t> </a:t>
            </a:r>
            <a:r>
              <a:rPr lang="en-GB" dirty="0">
                <a:solidFill>
                  <a:srgbClr val="FF0000"/>
                </a:solidFill>
              </a:rPr>
              <a:t>be used when the </a:t>
            </a:r>
            <a:r>
              <a:rPr lang="en-GB" u="sng" dirty="0">
                <a:solidFill>
                  <a:srgbClr val="FF0000"/>
                </a:solidFill>
              </a:rPr>
              <a:t>thickness is irregular </a:t>
            </a:r>
            <a:r>
              <a:rPr lang="en-US" dirty="0">
                <a:solidFill>
                  <a:srgbClr val="FF0000"/>
                </a:solidFill>
              </a:rPr>
              <a:t>(e.g. buns, balls, waffle, </a:t>
            </a:r>
            <a:r>
              <a:rPr lang="en-US" dirty="0" err="1">
                <a:solidFill>
                  <a:srgbClr val="FF0000"/>
                </a:solidFill>
              </a:rPr>
              <a:t>kugelhopf</a:t>
            </a:r>
            <a:r>
              <a:rPr lang="en-US" dirty="0">
                <a:solidFill>
                  <a:srgbClr val="FF0000"/>
                </a:solidFill>
              </a:rPr>
              <a:t>…)  or when the </a:t>
            </a:r>
            <a:r>
              <a:rPr lang="en-US" u="sng" dirty="0">
                <a:solidFill>
                  <a:srgbClr val="FF0000"/>
                </a:solidFill>
              </a:rPr>
              <a:t>slices contain holes </a:t>
            </a:r>
            <a:r>
              <a:rPr lang="en-US" dirty="0">
                <a:solidFill>
                  <a:srgbClr val="FF0000"/>
                </a:solidFill>
              </a:rPr>
              <a:t>(e.g. melon, sweet pepper, pumpkin</a:t>
            </a:r>
            <a:r>
              <a:rPr lang="en-US">
                <a:solidFill>
                  <a:srgbClr val="FF0000"/>
                </a:solidFill>
              </a:rPr>
              <a:t>, Emmental cheese</a:t>
            </a:r>
            <a:r>
              <a:rPr lang="en-US" dirty="0">
                <a:solidFill>
                  <a:srgbClr val="FF0000"/>
                </a:solidFill>
              </a:rPr>
              <a:t>…).</a:t>
            </a:r>
            <a:endParaRPr lang="en-GB" dirty="0">
              <a:solidFill>
                <a:srgbClr val="FF0000"/>
              </a:solidFill>
            </a:endParaRPr>
          </a:p>
          <a:p>
            <a:pPr marL="285750" indent="-285750">
              <a:buFontTx/>
              <a:buChar char="-"/>
              <a:defRPr/>
            </a:pPr>
            <a:endParaRPr lang="en-GB" dirty="0"/>
          </a:p>
          <a:p>
            <a:pPr>
              <a:defRPr/>
            </a:pPr>
            <a:endParaRPr lang="en-GB" dirty="0"/>
          </a:p>
          <a:p>
            <a:pPr>
              <a:defRPr/>
            </a:pPr>
            <a:endParaRPr lang="en-GB" dirty="0"/>
          </a:p>
        </p:txBody>
      </p:sp>
      <p:pic>
        <p:nvPicPr>
          <p:cNvPr id="40965" name="Picture 19"/>
          <p:cNvPicPr>
            <a:picLocks noChangeAspect="1"/>
          </p:cNvPicPr>
          <p:nvPr/>
        </p:nvPicPr>
        <p:blipFill>
          <a:blip r:embed="rId2">
            <a:extLst>
              <a:ext uri="{28A0092B-C50C-407E-A947-70E740481C1C}">
                <a14:useLocalDpi xmlns:a14="http://schemas.microsoft.com/office/drawing/2010/main" val="0"/>
              </a:ext>
            </a:extLst>
          </a:blip>
          <a:srcRect l="21910" t="12262" r="9428" b="61862"/>
          <a:stretch>
            <a:fillRect/>
          </a:stretch>
        </p:blipFill>
        <p:spPr bwMode="auto">
          <a:xfrm>
            <a:off x="466725" y="212725"/>
            <a:ext cx="3902075"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
        <p:nvSpPr>
          <p:cNvPr id="40967" name="Rectangle 2"/>
          <p:cNvSpPr>
            <a:spLocks noChangeArrowheads="1"/>
          </p:cNvSpPr>
          <p:nvPr/>
        </p:nvSpPr>
        <p:spPr bwMode="auto">
          <a:xfrm>
            <a:off x="4356100" y="620713"/>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US" altLang="en-US" sz="1800" b="1">
                <a:latin typeface="Arial" charset="0"/>
              </a:rPr>
              <a:t>Rationale of this quantification method:</a:t>
            </a:r>
          </a:p>
          <a:p>
            <a:pPr eaLnBrk="1" hangingPunct="1">
              <a:spcBef>
                <a:spcPct val="0"/>
              </a:spcBef>
              <a:buSzTx/>
              <a:buFontTx/>
              <a:buNone/>
            </a:pPr>
            <a:endParaRPr lang="en-US" altLang="en-US" sz="1800">
              <a:latin typeface="Arial" charset="0"/>
            </a:endParaRPr>
          </a:p>
          <a:p>
            <a:pPr eaLnBrk="1" hangingPunct="1">
              <a:spcBef>
                <a:spcPct val="0"/>
              </a:spcBef>
              <a:buSzTx/>
              <a:buFontTx/>
              <a:buNone/>
            </a:pPr>
            <a:r>
              <a:rPr lang="en-US" altLang="en-US" sz="1800">
                <a:latin typeface="Arial" charset="0"/>
              </a:rPr>
              <a:t>Quantity = Surface x thickness x density</a:t>
            </a:r>
            <a:endParaRPr lang="en-GB" altLang="en-US" sz="1800">
              <a:latin typeface="Arial"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C1B69135-2F23-426C-94DF-80C09DDCFD24}" type="slidenum">
              <a:rPr lang="en-US" smtClean="0"/>
              <a:pPr>
                <a:defRPr/>
              </a:pPr>
              <a:t>31</a:t>
            </a:fld>
            <a:endParaRPr lang="en-US" dirty="0"/>
          </a:p>
        </p:txBody>
      </p:sp>
      <p:sp>
        <p:nvSpPr>
          <p:cNvPr id="6" name="TextBox 5"/>
          <p:cNvSpPr txBox="1"/>
          <p:nvPr/>
        </p:nvSpPr>
        <p:spPr>
          <a:xfrm>
            <a:off x="684213" y="268288"/>
            <a:ext cx="8351837" cy="2584450"/>
          </a:xfrm>
          <a:prstGeom prst="rect">
            <a:avLst/>
          </a:prstGeom>
          <a:noFill/>
        </p:spPr>
        <p:txBody>
          <a:bodyPr>
            <a:spAutoFit/>
          </a:bodyPr>
          <a:lstStyle/>
          <a:p>
            <a:pPr>
              <a:defRPr/>
            </a:pPr>
            <a:r>
              <a:rPr lang="en-GB" b="1" dirty="0"/>
              <a:t>Shapes:</a:t>
            </a:r>
          </a:p>
          <a:p>
            <a:pPr marL="342900" indent="-342900">
              <a:buFont typeface="+mj-lt"/>
              <a:buAutoNum type="arabicPeriod"/>
              <a:defRPr/>
            </a:pPr>
            <a:r>
              <a:rPr lang="en-GB" dirty="0"/>
              <a:t>Shapes are most useful to quantify breads, cakes, terrines, pies …(</a:t>
            </a:r>
            <a:r>
              <a:rPr lang="en-GB" u="sng" dirty="0"/>
              <a:t>foods and recipes</a:t>
            </a:r>
            <a:r>
              <a:rPr lang="en-GB" dirty="0"/>
              <a:t>) </a:t>
            </a:r>
          </a:p>
          <a:p>
            <a:pPr marL="342900" indent="-342900">
              <a:buFont typeface="+mj-lt"/>
              <a:buAutoNum type="arabicPeriod"/>
              <a:defRPr/>
            </a:pPr>
            <a:r>
              <a:rPr lang="en-GB" dirty="0"/>
              <a:t>Classify them in ‘round’, ‘normal/loaf type’, ‘flat/dense type’, ‘rectangular’, ‘square’ and ‘weird’</a:t>
            </a:r>
          </a:p>
          <a:p>
            <a:pPr marL="342900" indent="-342900">
              <a:buFont typeface="+mj-lt"/>
              <a:buAutoNum type="arabicPeriod"/>
              <a:defRPr/>
            </a:pPr>
            <a:r>
              <a:rPr lang="en-GB" dirty="0"/>
              <a:t>Draw them so that they are shown in the picture booklet - Measure their surfaces</a:t>
            </a:r>
          </a:p>
          <a:p>
            <a:pPr marL="342900" indent="-342900">
              <a:buFont typeface="+mj-lt"/>
              <a:buAutoNum type="arabicPeriod"/>
              <a:defRPr/>
            </a:pPr>
            <a:r>
              <a:rPr lang="en-GB" dirty="0"/>
              <a:t>Find/measure densities (weight in g/volume in cm3)</a:t>
            </a:r>
          </a:p>
          <a:p>
            <a:pPr marL="342900" indent="-342900">
              <a:buFont typeface="+mj-lt"/>
              <a:buAutoNum type="arabicPeriod"/>
              <a:defRPr/>
            </a:pPr>
            <a:endParaRPr lang="en-GB" dirty="0"/>
          </a:p>
        </p:txBody>
      </p:sp>
      <p:sp>
        <p:nvSpPr>
          <p:cNvPr id="38918" name="TextBox 6"/>
          <p:cNvSpPr txBox="1">
            <a:spLocks noChangeArrowheads="1"/>
          </p:cNvSpPr>
          <p:nvPr/>
        </p:nvSpPr>
        <p:spPr bwMode="auto">
          <a:xfrm>
            <a:off x="250825" y="2924175"/>
            <a:ext cx="410051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defRPr/>
            </a:pPr>
            <a:r>
              <a:rPr lang="en-GB" altLang="en-US" sz="1800" dirty="0" smtClean="0">
                <a:latin typeface="Arial" charset="0"/>
              </a:rPr>
              <a:t>File </a:t>
            </a:r>
            <a:r>
              <a:rPr lang="en-GB" altLang="en-US" sz="1800" b="1" dirty="0" smtClean="0">
                <a:solidFill>
                  <a:schemeClr val="tx1">
                    <a:lumMod val="50000"/>
                    <a:lumOff val="50000"/>
                  </a:schemeClr>
                </a:solidFill>
                <a:latin typeface="Arial" charset="0"/>
              </a:rPr>
              <a:t>M_SHAPES.xls</a:t>
            </a:r>
            <a:r>
              <a:rPr lang="en-GB" altLang="en-US" sz="1800" dirty="0" smtClean="0">
                <a:latin typeface="Arial" charset="0"/>
              </a:rPr>
              <a:t>:</a:t>
            </a:r>
          </a:p>
          <a:p>
            <a:pPr eaLnBrk="1" hangingPunct="1">
              <a:spcBef>
                <a:spcPct val="0"/>
              </a:spcBef>
              <a:buSzTx/>
              <a:buFontTx/>
              <a:buNone/>
              <a:defRPr/>
            </a:pPr>
            <a:r>
              <a:rPr lang="en-GB" altLang="en-US" sz="1800" dirty="0" smtClean="0">
                <a:latin typeface="Arial" charset="0"/>
              </a:rPr>
              <a:t>gather the shapes of the picture booklet and of the standard units needed for spreads (e.g. rusk S065)</a:t>
            </a:r>
          </a:p>
          <a:p>
            <a:pPr eaLnBrk="1" hangingPunct="1">
              <a:spcBef>
                <a:spcPct val="0"/>
              </a:spcBef>
              <a:buSzTx/>
              <a:buFontTx/>
              <a:buNone/>
              <a:defRPr/>
            </a:pPr>
            <a:endParaRPr lang="en-GB" altLang="en-US" sz="1800" dirty="0" smtClean="0">
              <a:latin typeface="Arial" charset="0"/>
            </a:endParaRPr>
          </a:p>
          <a:p>
            <a:pPr eaLnBrk="1" hangingPunct="1">
              <a:spcBef>
                <a:spcPct val="0"/>
              </a:spcBef>
              <a:buSzTx/>
              <a:buFontTx/>
              <a:buNone/>
              <a:defRPr/>
            </a:pPr>
            <a:r>
              <a:rPr lang="en-GB" altLang="en-US" sz="1800" dirty="0" smtClean="0">
                <a:latin typeface="Arial" charset="0"/>
              </a:rPr>
              <a:t>Shape code – shape surface – shape comment used to select a surface</a:t>
            </a:r>
          </a:p>
        </p:txBody>
      </p:sp>
      <p:pic>
        <p:nvPicPr>
          <p:cNvPr id="41990" name="Picture 7"/>
          <p:cNvPicPr>
            <a:picLocks noChangeAspect="1" noChangeArrowheads="1"/>
          </p:cNvPicPr>
          <p:nvPr/>
        </p:nvPicPr>
        <p:blipFill>
          <a:blip r:embed="rId2">
            <a:extLst>
              <a:ext uri="{28A0092B-C50C-407E-A947-70E740481C1C}">
                <a14:useLocalDpi xmlns:a14="http://schemas.microsoft.com/office/drawing/2010/main" val="0"/>
              </a:ext>
            </a:extLst>
          </a:blip>
          <a:srcRect l="346" t="264" r="-346" b="79848"/>
          <a:stretch>
            <a:fillRect/>
          </a:stretch>
        </p:blipFill>
        <p:spPr bwMode="auto">
          <a:xfrm>
            <a:off x="4695825" y="3376613"/>
            <a:ext cx="4052888" cy="16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Arrow Connector 10"/>
          <p:cNvCxnSpPr>
            <a:endCxn id="41992" idx="1"/>
          </p:cNvCxnSpPr>
          <p:nvPr/>
        </p:nvCxnSpPr>
        <p:spPr>
          <a:xfrm>
            <a:off x="1331913" y="4627563"/>
            <a:ext cx="749300" cy="116998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pic>
        <p:nvPicPr>
          <p:cNvPr id="41992"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5299075"/>
            <a:ext cx="5730875"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Straight Arrow Connector 16"/>
          <p:cNvCxnSpPr/>
          <p:nvPr/>
        </p:nvCxnSpPr>
        <p:spPr>
          <a:xfrm>
            <a:off x="2951163" y="4627563"/>
            <a:ext cx="541337" cy="116998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4"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84AA22EB-2058-4FA4-B2E4-E5FD595561C8}" type="slidenum">
              <a:rPr lang="en-US" smtClean="0"/>
              <a:pPr>
                <a:defRPr/>
              </a:pPr>
              <a:t>32</a:t>
            </a:fld>
            <a:endParaRPr lang="en-US" dirty="0"/>
          </a:p>
        </p:txBody>
      </p:sp>
      <p:pic>
        <p:nvPicPr>
          <p:cNvPr id="43012" name="Picture 4"/>
          <p:cNvPicPr>
            <a:picLocks noChangeAspect="1"/>
          </p:cNvPicPr>
          <p:nvPr/>
        </p:nvPicPr>
        <p:blipFill>
          <a:blip r:embed="rId2">
            <a:extLst>
              <a:ext uri="{28A0092B-C50C-407E-A947-70E740481C1C}">
                <a14:useLocalDpi xmlns:a14="http://schemas.microsoft.com/office/drawing/2010/main" val="0"/>
              </a:ext>
            </a:extLst>
          </a:blip>
          <a:srcRect l="-45990" r="45990" b="33624"/>
          <a:stretch>
            <a:fillRect/>
          </a:stretch>
        </p:blipFill>
        <p:spPr bwMode="auto">
          <a:xfrm>
            <a:off x="250825" y="260350"/>
            <a:ext cx="394017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5"/>
          <p:cNvPicPr>
            <a:picLocks noChangeAspect="1"/>
          </p:cNvPicPr>
          <p:nvPr/>
        </p:nvPicPr>
        <p:blipFill>
          <a:blip r:embed="rId3">
            <a:extLst>
              <a:ext uri="{28A0092B-C50C-407E-A947-70E740481C1C}">
                <a14:useLocalDpi xmlns:a14="http://schemas.microsoft.com/office/drawing/2010/main" val="0"/>
              </a:ext>
            </a:extLst>
          </a:blip>
          <a:srcRect b="53442"/>
          <a:stretch>
            <a:fillRect/>
          </a:stretch>
        </p:blipFill>
        <p:spPr bwMode="auto">
          <a:xfrm>
            <a:off x="4787900" y="947738"/>
            <a:ext cx="4113213" cy="269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TextBox 6"/>
          <p:cNvSpPr txBox="1">
            <a:spLocks noChangeArrowheads="1"/>
          </p:cNvSpPr>
          <p:nvPr/>
        </p:nvSpPr>
        <p:spPr bwMode="auto">
          <a:xfrm>
            <a:off x="250825" y="404813"/>
            <a:ext cx="15843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b="1">
                <a:latin typeface="Arial" charset="0"/>
              </a:rPr>
              <a:t>HHM:</a:t>
            </a:r>
          </a:p>
          <a:p>
            <a:pPr eaLnBrk="1" hangingPunct="1">
              <a:spcBef>
                <a:spcPct val="0"/>
              </a:spcBef>
              <a:buSzTx/>
              <a:buFontTx/>
              <a:buNone/>
            </a:pPr>
            <a:r>
              <a:rPr lang="en-GB" altLang="en-US" sz="1800" u="sng">
                <a:latin typeface="Arial" charset="0"/>
              </a:rPr>
              <a:t>For foods and recipes</a:t>
            </a:r>
          </a:p>
        </p:txBody>
      </p:sp>
      <p:sp>
        <p:nvSpPr>
          <p:cNvPr id="43015" name="TextBox 7"/>
          <p:cNvSpPr txBox="1">
            <a:spLocks noChangeArrowheads="1"/>
          </p:cNvSpPr>
          <p:nvPr/>
        </p:nvSpPr>
        <p:spPr bwMode="auto">
          <a:xfrm>
            <a:off x="323850" y="2133600"/>
            <a:ext cx="44640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latin typeface="Arial" charset="0"/>
              </a:rPr>
              <a:t>Most HHM will be shown in the picture booklet with measurements </a:t>
            </a:r>
          </a:p>
          <a:p>
            <a:pPr eaLnBrk="1" hangingPunct="1">
              <a:spcBef>
                <a:spcPct val="0"/>
              </a:spcBef>
              <a:buSzTx/>
              <a:buFontTx/>
              <a:buNone/>
            </a:pPr>
            <a:r>
              <a:rPr lang="en-GB" altLang="en-US" sz="1800">
                <a:latin typeface="Arial" charset="0"/>
              </a:rPr>
              <a:t>Spoons and some very standard cups (from vending machines) do not need to be included in the booklet.</a:t>
            </a:r>
          </a:p>
          <a:p>
            <a:pPr eaLnBrk="1" hangingPunct="1">
              <a:spcBef>
                <a:spcPct val="0"/>
              </a:spcBef>
              <a:buSzTx/>
              <a:buFontTx/>
              <a:buNone/>
            </a:pPr>
            <a:endParaRPr lang="en-GB" altLang="en-US" sz="1800">
              <a:latin typeface="Arial" charset="0"/>
            </a:endParaRPr>
          </a:p>
          <a:p>
            <a:pPr eaLnBrk="1" hangingPunct="1">
              <a:spcBef>
                <a:spcPct val="0"/>
              </a:spcBef>
              <a:buSzTx/>
              <a:buFontTx/>
              <a:buNone/>
            </a:pPr>
            <a:endParaRPr lang="en-GB" altLang="en-US" sz="1800">
              <a:latin typeface="Arial" charset="0"/>
            </a:endParaRPr>
          </a:p>
        </p:txBody>
      </p:sp>
      <p:pic>
        <p:nvPicPr>
          <p:cNvPr id="4301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0238" y="5013325"/>
            <a:ext cx="5730875"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
        <p:nvSpPr>
          <p:cNvPr id="3" name="Rectangle 2"/>
          <p:cNvSpPr/>
          <p:nvPr/>
        </p:nvSpPr>
        <p:spPr>
          <a:xfrm>
            <a:off x="395288" y="3762375"/>
            <a:ext cx="6337300" cy="1754188"/>
          </a:xfrm>
          <a:prstGeom prst="rect">
            <a:avLst/>
          </a:prstGeom>
        </p:spPr>
        <p:txBody>
          <a:bodyPr>
            <a:spAutoFit/>
          </a:bodyPr>
          <a:lstStyle/>
          <a:p>
            <a:pPr>
              <a:defRPr/>
            </a:pPr>
            <a:r>
              <a:rPr lang="en-GB" b="1" dirty="0">
                <a:solidFill>
                  <a:schemeClr val="tx1">
                    <a:lumMod val="50000"/>
                    <a:lumOff val="50000"/>
                  </a:schemeClr>
                </a:solidFill>
              </a:rPr>
              <a:t>M_HHM.xls</a:t>
            </a:r>
            <a:r>
              <a:rPr lang="en-GB" dirty="0"/>
              <a:t> contains</a:t>
            </a:r>
          </a:p>
          <a:p>
            <a:pPr marL="285750" indent="-285750">
              <a:buFont typeface="Arial" pitchFamily="34" charset="0"/>
              <a:buChar char="•"/>
              <a:defRPr/>
            </a:pPr>
            <a:r>
              <a:rPr lang="en-GB" dirty="0"/>
              <a:t>Household measure code</a:t>
            </a:r>
          </a:p>
          <a:p>
            <a:pPr marL="285750" indent="-285750">
              <a:buFont typeface="Arial" pitchFamily="34" charset="0"/>
              <a:buChar char="•"/>
              <a:defRPr/>
            </a:pPr>
            <a:r>
              <a:rPr lang="en-GB" dirty="0"/>
              <a:t>Volume corresponding to fraction 1</a:t>
            </a:r>
          </a:p>
          <a:p>
            <a:pPr marL="285750" indent="-285750">
              <a:buFont typeface="Arial" pitchFamily="34" charset="0"/>
              <a:buChar char="•"/>
              <a:defRPr/>
            </a:pPr>
            <a:r>
              <a:rPr lang="en-GB" dirty="0"/>
              <a:t>List of fractions, as they appear in the booklet</a:t>
            </a:r>
          </a:p>
          <a:p>
            <a:pPr marL="285750" indent="-285750">
              <a:buFont typeface="Arial" pitchFamily="34" charset="0"/>
              <a:buChar char="•"/>
              <a:defRPr/>
            </a:pPr>
            <a:r>
              <a:rPr lang="en-GB" dirty="0"/>
              <a:t>Comment</a:t>
            </a:r>
          </a:p>
          <a:p>
            <a:pPr marL="285750" indent="-285750">
              <a:buFont typeface="Arial" pitchFamily="34" charset="0"/>
              <a:buChar char="•"/>
              <a:defRPr/>
            </a:pPr>
            <a:r>
              <a:rPr lang="en-GB" dirty="0"/>
              <a:t>Order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635BF9CD-7DD9-45C6-8DEC-B49C3021396A}" type="slidenum">
              <a:rPr lang="en-US" smtClean="0"/>
              <a:pPr>
                <a:defRPr/>
              </a:pPr>
              <a:t>33</a:t>
            </a:fld>
            <a:endParaRPr lang="en-US" dirty="0"/>
          </a:p>
        </p:txBody>
      </p:sp>
      <p:sp>
        <p:nvSpPr>
          <p:cNvPr id="5" name="Rectangle 3"/>
          <p:cNvSpPr txBox="1">
            <a:spLocks noChangeArrowheads="1"/>
          </p:cNvSpPr>
          <p:nvPr/>
        </p:nvSpPr>
        <p:spPr bwMode="auto">
          <a:xfrm>
            <a:off x="395288" y="2854325"/>
            <a:ext cx="82296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nSpc>
                <a:spcPct val="80000"/>
              </a:lnSpc>
              <a:buFont typeface="Wingdings 2" pitchFamily="18" charset="2"/>
              <a:buNone/>
            </a:pPr>
            <a:r>
              <a:rPr lang="en-GB" altLang="en-US" sz="1800">
                <a:latin typeface="Arial" charset="0"/>
              </a:rPr>
              <a:t>File </a:t>
            </a:r>
            <a:r>
              <a:rPr lang="en-GB" altLang="en-US" sz="1800" b="1">
                <a:latin typeface="Arial" charset="0"/>
              </a:rPr>
              <a:t>FDQMDETAIL. end</a:t>
            </a:r>
            <a:endParaRPr lang="en-GB" altLang="en-US" sz="1800">
              <a:latin typeface="Arial" charset="0"/>
            </a:endParaRPr>
          </a:p>
          <a:p>
            <a:pPr>
              <a:lnSpc>
                <a:spcPct val="80000"/>
              </a:lnSpc>
              <a:buFontTx/>
              <a:buNone/>
            </a:pPr>
            <a:r>
              <a:rPr lang="en-GB" altLang="en-US" sz="1400">
                <a:latin typeface="Courier New" pitchFamily="49" charset="0"/>
                <a:cs typeface="Courier New" pitchFamily="49" charset="0"/>
              </a:rPr>
              <a:t>Example:</a:t>
            </a:r>
          </a:p>
          <a:p>
            <a:pPr>
              <a:lnSpc>
                <a:spcPct val="80000"/>
              </a:lnSpc>
              <a:buFontTx/>
              <a:buNone/>
            </a:pPr>
            <a:r>
              <a:rPr lang="en-GB" altLang="en-US" sz="1400">
                <a:latin typeface="Courier New" pitchFamily="49" charset="0"/>
                <a:cs typeface="Courier New" pitchFamily="49" charset="0"/>
              </a:rPr>
              <a:t>01 01    Potatoes                      </a:t>
            </a:r>
          </a:p>
          <a:p>
            <a:pPr>
              <a:lnSpc>
                <a:spcPct val="80000"/>
              </a:lnSpc>
              <a:buFontTx/>
              <a:buNone/>
            </a:pPr>
            <a:r>
              <a:rPr lang="en-GB" altLang="en-US" sz="1400">
                <a:latin typeface="Courier New" pitchFamily="49" charset="0"/>
                <a:cs typeface="Courier New" pitchFamily="49" charset="0"/>
              </a:rPr>
              <a:t>                                            00       HHM</a:t>
            </a:r>
          </a:p>
          <a:p>
            <a:pPr>
              <a:lnSpc>
                <a:spcPct val="80000"/>
              </a:lnSpc>
              <a:buFontTx/>
              <a:buNone/>
            </a:pPr>
            <a:r>
              <a:rPr lang="en-GB" altLang="en-US" sz="1400">
                <a:latin typeface="Courier New" pitchFamily="49" charset="0"/>
                <a:cs typeface="Courier New" pitchFamily="49" charset="0"/>
              </a:rPr>
              <a:t>                                            02   </a:t>
            </a:r>
            <a:r>
              <a:rPr lang="en-GB" altLang="en-US" sz="1400">
                <a:solidFill>
                  <a:srgbClr val="FF0000"/>
                </a:solidFill>
                <a:latin typeface="Courier New" pitchFamily="49" charset="0"/>
                <a:cs typeface="Courier New" pitchFamily="49" charset="0"/>
              </a:rPr>
              <a:t>2</a:t>
            </a:r>
            <a:r>
              <a:rPr lang="en-GB" altLang="en-US" sz="1400">
                <a:latin typeface="Courier New" pitchFamily="49" charset="0"/>
                <a:cs typeface="Courier New" pitchFamily="49" charset="0"/>
              </a:rPr>
              <a:t>   P4   mashed</a:t>
            </a:r>
          </a:p>
          <a:p>
            <a:pPr>
              <a:lnSpc>
                <a:spcPct val="80000"/>
              </a:lnSpc>
              <a:buFontTx/>
              <a:buNone/>
            </a:pPr>
            <a:r>
              <a:rPr lang="en-GB" altLang="en-US" sz="1400">
                <a:latin typeface="Courier New" pitchFamily="49" charset="0"/>
                <a:cs typeface="Courier New" pitchFamily="49" charset="0"/>
              </a:rPr>
              <a:t>                                            02       STDU potato products</a:t>
            </a:r>
          </a:p>
          <a:p>
            <a:pPr>
              <a:lnSpc>
                <a:spcPct val="80000"/>
              </a:lnSpc>
              <a:buFontTx/>
              <a:buNone/>
            </a:pPr>
            <a:r>
              <a:rPr lang="en-GB" altLang="en-US" sz="1400">
                <a:latin typeface="Courier New" pitchFamily="49" charset="0"/>
                <a:cs typeface="Courier New" pitchFamily="49" charset="0"/>
              </a:rPr>
              <a:t>                                            02       HHM</a:t>
            </a:r>
          </a:p>
          <a:p>
            <a:pPr>
              <a:lnSpc>
                <a:spcPct val="80000"/>
              </a:lnSpc>
              <a:buFontTx/>
              <a:buNone/>
            </a:pPr>
            <a:r>
              <a:rPr lang="en-GB" altLang="en-US" sz="1400">
                <a:latin typeface="Courier New" pitchFamily="49" charset="0"/>
                <a:cs typeface="Courier New" pitchFamily="49" charset="0"/>
              </a:rPr>
              <a:t>                                            03       HHM</a:t>
            </a:r>
          </a:p>
          <a:p>
            <a:pPr>
              <a:lnSpc>
                <a:spcPct val="80000"/>
              </a:lnSpc>
              <a:buFontTx/>
              <a:buNone/>
            </a:pPr>
            <a:r>
              <a:rPr lang="en-GB" altLang="en-US" sz="1400">
                <a:latin typeface="Courier New" pitchFamily="49" charset="0"/>
                <a:cs typeface="Courier New" pitchFamily="49" charset="0"/>
              </a:rPr>
              <a:t>                                            04   </a:t>
            </a:r>
            <a:r>
              <a:rPr lang="en-GB" altLang="en-US" sz="1400">
                <a:solidFill>
                  <a:srgbClr val="FF0000"/>
                </a:solidFill>
                <a:latin typeface="Courier New" pitchFamily="49" charset="0"/>
                <a:cs typeface="Courier New" pitchFamily="49" charset="0"/>
              </a:rPr>
              <a:t>2</a:t>
            </a:r>
            <a:r>
              <a:rPr lang="en-GB" altLang="en-US" sz="1400">
                <a:latin typeface="Courier New" pitchFamily="49" charset="0"/>
                <a:cs typeface="Courier New" pitchFamily="49" charset="0"/>
              </a:rPr>
              <a:t>   P1   large pieces</a:t>
            </a:r>
          </a:p>
          <a:p>
            <a:pPr>
              <a:lnSpc>
                <a:spcPct val="80000"/>
              </a:lnSpc>
              <a:buFontTx/>
              <a:buNone/>
            </a:pPr>
            <a:r>
              <a:rPr lang="en-GB" altLang="en-US" sz="1400">
                <a:latin typeface="Courier New" pitchFamily="49" charset="0"/>
                <a:cs typeface="Courier New" pitchFamily="49" charset="0"/>
              </a:rPr>
              <a:t>                                            04   </a:t>
            </a:r>
            <a:r>
              <a:rPr lang="en-GB" altLang="en-US" sz="1400">
                <a:solidFill>
                  <a:srgbClr val="FF0000"/>
                </a:solidFill>
                <a:latin typeface="Courier New" pitchFamily="49" charset="0"/>
                <a:cs typeface="Courier New" pitchFamily="49" charset="0"/>
              </a:rPr>
              <a:t>2</a:t>
            </a:r>
            <a:r>
              <a:rPr lang="en-GB" altLang="en-US" sz="1400">
                <a:latin typeface="Courier New" pitchFamily="49" charset="0"/>
                <a:cs typeface="Courier New" pitchFamily="49" charset="0"/>
              </a:rPr>
              <a:t>   P2   small pieces</a:t>
            </a:r>
          </a:p>
          <a:p>
            <a:pPr>
              <a:lnSpc>
                <a:spcPct val="80000"/>
              </a:lnSpc>
              <a:buFontTx/>
              <a:buNone/>
            </a:pPr>
            <a:r>
              <a:rPr lang="en-GB" altLang="en-US" sz="1400">
                <a:latin typeface="Courier New" pitchFamily="49" charset="0"/>
                <a:cs typeface="Courier New" pitchFamily="49" charset="0"/>
              </a:rPr>
              <a:t>                                            04   </a:t>
            </a:r>
            <a:r>
              <a:rPr lang="en-GB" altLang="en-US" sz="1400">
                <a:solidFill>
                  <a:srgbClr val="FF0000"/>
                </a:solidFill>
                <a:latin typeface="Courier New" pitchFamily="49" charset="0"/>
                <a:cs typeface="Courier New" pitchFamily="49" charset="0"/>
              </a:rPr>
              <a:t>2</a:t>
            </a:r>
            <a:r>
              <a:rPr lang="en-GB" altLang="en-US" sz="1400">
                <a:latin typeface="Courier New" pitchFamily="49" charset="0"/>
                <a:cs typeface="Courier New" pitchFamily="49" charset="0"/>
              </a:rPr>
              <a:t>   P3   french fries</a:t>
            </a:r>
          </a:p>
          <a:p>
            <a:pPr>
              <a:lnSpc>
                <a:spcPct val="80000"/>
              </a:lnSpc>
              <a:buFontTx/>
              <a:buNone/>
            </a:pPr>
            <a:r>
              <a:rPr lang="en-GB" altLang="en-US" sz="1400">
                <a:latin typeface="Courier New" pitchFamily="49" charset="0"/>
                <a:cs typeface="Courier New" pitchFamily="49" charset="0"/>
              </a:rPr>
              <a:t>                                            04       STDU unit, rosti</a:t>
            </a:r>
          </a:p>
          <a:p>
            <a:pPr>
              <a:lnSpc>
                <a:spcPct val="80000"/>
              </a:lnSpc>
              <a:buFontTx/>
              <a:buNone/>
            </a:pPr>
            <a:r>
              <a:rPr lang="en-GB" altLang="en-US" sz="1400">
                <a:latin typeface="Courier New" pitchFamily="49" charset="0"/>
                <a:cs typeface="Courier New" pitchFamily="49" charset="0"/>
              </a:rPr>
              <a:t>                                            04       HHM</a:t>
            </a:r>
          </a:p>
          <a:p>
            <a:pPr>
              <a:lnSpc>
                <a:spcPct val="80000"/>
              </a:lnSpc>
              <a:buFontTx/>
              <a:buNone/>
            </a:pPr>
            <a:r>
              <a:rPr lang="en-GB" altLang="en-US" sz="1400">
                <a:latin typeface="Courier New" pitchFamily="49" charset="0"/>
                <a:cs typeface="Courier New" pitchFamily="49" charset="0"/>
              </a:rPr>
              <a:t>                                            06   </a:t>
            </a:r>
            <a:r>
              <a:rPr lang="en-GB" altLang="en-US" sz="1400">
                <a:solidFill>
                  <a:srgbClr val="FF0000"/>
                </a:solidFill>
                <a:latin typeface="Courier New" pitchFamily="49" charset="0"/>
                <a:cs typeface="Courier New" pitchFamily="49" charset="0"/>
              </a:rPr>
              <a:t>2</a:t>
            </a:r>
            <a:r>
              <a:rPr lang="en-GB" altLang="en-US" sz="1400">
                <a:latin typeface="Courier New" pitchFamily="49" charset="0"/>
                <a:cs typeface="Courier New" pitchFamily="49" charset="0"/>
              </a:rPr>
              <a:t>   P4   mashed</a:t>
            </a:r>
          </a:p>
          <a:p>
            <a:pPr>
              <a:lnSpc>
                <a:spcPct val="80000"/>
              </a:lnSpc>
              <a:buFontTx/>
              <a:buNone/>
            </a:pPr>
            <a:r>
              <a:rPr lang="en-GB" altLang="en-US" sz="1400">
                <a:latin typeface="Courier New" pitchFamily="49" charset="0"/>
                <a:cs typeface="Courier New" pitchFamily="49" charset="0"/>
              </a:rPr>
              <a:t>                                            06       STDU potato products</a:t>
            </a:r>
          </a:p>
          <a:p>
            <a:pPr>
              <a:lnSpc>
                <a:spcPct val="80000"/>
              </a:lnSpc>
              <a:buFontTx/>
              <a:buNone/>
            </a:pPr>
            <a:r>
              <a:rPr lang="en-GB" altLang="en-US" sz="1400">
                <a:latin typeface="Courier New" pitchFamily="49" charset="0"/>
                <a:cs typeface="Courier New" pitchFamily="49" charset="0"/>
              </a:rPr>
              <a:t>                                            06       HHM</a:t>
            </a:r>
            <a:endParaRPr lang="en-US" altLang="en-US" sz="1400">
              <a:latin typeface="Courier New" pitchFamily="49" charset="0"/>
              <a:cs typeface="Courier New" pitchFamily="49" charset="0"/>
            </a:endParaRPr>
          </a:p>
        </p:txBody>
      </p:sp>
      <p:pic>
        <p:nvPicPr>
          <p:cNvPr id="44037" name="Picture 5"/>
          <p:cNvPicPr>
            <a:picLocks noChangeAspect="1" noChangeArrowheads="1"/>
          </p:cNvPicPr>
          <p:nvPr/>
        </p:nvPicPr>
        <p:blipFill>
          <a:blip r:embed="rId2">
            <a:extLst>
              <a:ext uri="{28A0092B-C50C-407E-A947-70E740481C1C}">
                <a14:useLocalDpi xmlns:a14="http://schemas.microsoft.com/office/drawing/2010/main" val="0"/>
              </a:ext>
            </a:extLst>
          </a:blip>
          <a:srcRect r="43785" b="32135"/>
          <a:stretch>
            <a:fillRect/>
          </a:stretch>
        </p:blipFill>
        <p:spPr bwMode="auto">
          <a:xfrm>
            <a:off x="250825" y="260350"/>
            <a:ext cx="2768600" cy="20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348038" y="223838"/>
            <a:ext cx="5545137" cy="2584450"/>
          </a:xfrm>
          <a:prstGeom prst="rect">
            <a:avLst/>
          </a:prstGeom>
          <a:noFill/>
        </p:spPr>
        <p:txBody>
          <a:bodyPr>
            <a:spAutoFit/>
          </a:bodyPr>
          <a:lstStyle/>
          <a:p>
            <a:pPr>
              <a:defRPr/>
            </a:pPr>
            <a:r>
              <a:rPr lang="en-GB" dirty="0"/>
              <a:t>Based on the list of quantification methods defined globally, the coordinator will define what methods:</a:t>
            </a:r>
          </a:p>
          <a:p>
            <a:pPr marL="285750" indent="-285750">
              <a:buFontTx/>
              <a:buChar char="-"/>
              <a:defRPr/>
            </a:pPr>
            <a:r>
              <a:rPr lang="en-GB" dirty="0"/>
              <a:t>photo codes </a:t>
            </a:r>
            <a:r>
              <a:rPr lang="en-GB" dirty="0">
                <a:sym typeface="Wingdings" pitchFamily="2" charset="2"/>
              </a:rPr>
              <a:t> P1 for example</a:t>
            </a:r>
            <a:endParaRPr lang="en-GB" dirty="0"/>
          </a:p>
          <a:p>
            <a:pPr marL="285750" indent="-285750">
              <a:buFontTx/>
              <a:buChar char="-"/>
              <a:defRPr/>
            </a:pPr>
            <a:r>
              <a:rPr lang="en-GB" dirty="0"/>
              <a:t>Standard unit </a:t>
            </a:r>
            <a:r>
              <a:rPr lang="en-GB" dirty="0">
                <a:sym typeface="Wingdings" pitchFamily="2" charset="2"/>
              </a:rPr>
              <a:t> STDU</a:t>
            </a:r>
          </a:p>
          <a:p>
            <a:pPr marL="285750" indent="-285750">
              <a:buFontTx/>
              <a:buChar char="-"/>
              <a:defRPr/>
            </a:pPr>
            <a:r>
              <a:rPr lang="en-GB" dirty="0">
                <a:sym typeface="Wingdings" pitchFamily="2" charset="2"/>
              </a:rPr>
              <a:t>Standard portion STDP</a:t>
            </a:r>
            <a:endParaRPr lang="en-GB" dirty="0"/>
          </a:p>
          <a:p>
            <a:pPr marL="285750" indent="-285750">
              <a:buFontTx/>
              <a:buChar char="-"/>
              <a:defRPr/>
            </a:pPr>
            <a:r>
              <a:rPr lang="en-GB" dirty="0"/>
              <a:t>Shapes </a:t>
            </a:r>
            <a:r>
              <a:rPr lang="en-GB" dirty="0">
                <a:sym typeface="Wingdings" pitchFamily="2" charset="2"/>
              </a:rPr>
              <a:t> A</a:t>
            </a:r>
          </a:p>
          <a:p>
            <a:pPr marL="285750" indent="-285750">
              <a:buFontTx/>
              <a:buChar char="-"/>
              <a:defRPr/>
            </a:pPr>
            <a:r>
              <a:rPr lang="en-GB" dirty="0">
                <a:sym typeface="Wingdings" pitchFamily="2" charset="2"/>
              </a:rPr>
              <a:t>Household measures  HHM</a:t>
            </a:r>
          </a:p>
          <a:p>
            <a:pPr>
              <a:defRPr/>
            </a:pPr>
            <a:r>
              <a:rPr lang="en-GB" dirty="0"/>
              <a:t>are applicable per </a:t>
            </a:r>
            <a:r>
              <a:rPr lang="en-GB" b="1" dirty="0"/>
              <a:t>food</a:t>
            </a:r>
            <a:r>
              <a:rPr lang="en-GB" dirty="0"/>
              <a:t> (sub-sub)group, based on IARC proposal</a:t>
            </a:r>
          </a:p>
        </p:txBody>
      </p:sp>
      <p:sp>
        <p:nvSpPr>
          <p:cNvPr id="8" name="Text Box 4"/>
          <p:cNvSpPr txBox="1">
            <a:spLocks noChangeArrowheads="1"/>
          </p:cNvSpPr>
          <p:nvPr/>
        </p:nvSpPr>
        <p:spPr bwMode="auto">
          <a:xfrm>
            <a:off x="1439863" y="3921125"/>
            <a:ext cx="34925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latin typeface="Arial" charset="0"/>
              </a:rPr>
              <a:t>Physical state </a:t>
            </a:r>
            <a:r>
              <a:rPr lang="en-GB" altLang="en-US" sz="1800" i="1">
                <a:latin typeface="Arial" charset="0"/>
              </a:rPr>
              <a:t>as quantified</a:t>
            </a:r>
            <a:r>
              <a:rPr lang="en-GB" altLang="en-US" sz="1800">
                <a:latin typeface="Arial" charset="0"/>
              </a:rPr>
              <a:t> descriptor:</a:t>
            </a:r>
          </a:p>
          <a:p>
            <a:pPr eaLnBrk="1" hangingPunct="1">
              <a:spcBef>
                <a:spcPct val="0"/>
              </a:spcBef>
              <a:buSzTx/>
              <a:buFontTx/>
              <a:buNone/>
            </a:pPr>
            <a:r>
              <a:rPr lang="en-GB" altLang="en-US" sz="1800">
                <a:latin typeface="Arial" charset="0"/>
              </a:rPr>
              <a:t>02 reconstituted from powder</a:t>
            </a:r>
          </a:p>
          <a:p>
            <a:pPr eaLnBrk="1" hangingPunct="1">
              <a:spcBef>
                <a:spcPct val="0"/>
              </a:spcBef>
              <a:buSzTx/>
              <a:buFontTx/>
              <a:buNone/>
            </a:pPr>
            <a:r>
              <a:rPr lang="en-GB" altLang="en-US" sz="1800">
                <a:latin typeface="Arial" charset="0"/>
              </a:rPr>
              <a:t>03 powdered</a:t>
            </a:r>
          </a:p>
          <a:p>
            <a:pPr eaLnBrk="1" hangingPunct="1">
              <a:spcBef>
                <a:spcPct val="0"/>
              </a:spcBef>
              <a:buSzTx/>
              <a:buFontTx/>
              <a:buNone/>
            </a:pPr>
            <a:r>
              <a:rPr lang="en-GB" altLang="en-US" sz="1800">
                <a:latin typeface="Arial" charset="0"/>
              </a:rPr>
              <a:t>04 flesh/default</a:t>
            </a:r>
          </a:p>
          <a:p>
            <a:pPr eaLnBrk="1" hangingPunct="1">
              <a:spcBef>
                <a:spcPct val="0"/>
              </a:spcBef>
              <a:buSzTx/>
              <a:buFontTx/>
              <a:buNone/>
            </a:pPr>
            <a:r>
              <a:rPr lang="en-GB" altLang="en-US" sz="1800">
                <a:latin typeface="Arial" charset="0"/>
              </a:rPr>
              <a:t>06 mashed</a:t>
            </a:r>
            <a:endParaRPr lang="en-US" altLang="en-US" sz="1800">
              <a:latin typeface="Arial" charset="0"/>
            </a:endParaRPr>
          </a:p>
        </p:txBody>
      </p:sp>
      <p:sp>
        <p:nvSpPr>
          <p:cNvPr id="9" name="Text Box 7"/>
          <p:cNvSpPr txBox="1">
            <a:spLocks noChangeArrowheads="1"/>
          </p:cNvSpPr>
          <p:nvPr/>
        </p:nvSpPr>
        <p:spPr bwMode="auto">
          <a:xfrm>
            <a:off x="5902325" y="2584450"/>
            <a:ext cx="313372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FF0000"/>
                </a:solidFill>
                <a:latin typeface="Arial" charset="0"/>
              </a:rPr>
              <a:t>Cooking method descriptor:</a:t>
            </a:r>
          </a:p>
          <a:p>
            <a:pPr eaLnBrk="1" hangingPunct="1">
              <a:spcBef>
                <a:spcPct val="0"/>
              </a:spcBef>
              <a:buSzTx/>
              <a:buFontTx/>
              <a:buNone/>
            </a:pPr>
            <a:r>
              <a:rPr lang="en-GB" altLang="en-US" sz="1800">
                <a:solidFill>
                  <a:srgbClr val="FF0000"/>
                </a:solidFill>
                <a:latin typeface="Arial" charset="0"/>
              </a:rPr>
              <a:t>2 = cooked</a:t>
            </a:r>
          </a:p>
          <a:p>
            <a:pPr eaLnBrk="1" hangingPunct="1">
              <a:spcBef>
                <a:spcPct val="0"/>
              </a:spcBef>
              <a:buSzTx/>
              <a:buFontTx/>
              <a:buNone/>
            </a:pPr>
            <a:r>
              <a:rPr lang="en-GB" altLang="en-US" sz="1800">
                <a:solidFill>
                  <a:srgbClr val="FF0000"/>
                </a:solidFill>
                <a:latin typeface="Arial" charset="0"/>
              </a:rPr>
              <a:t>1 = raw</a:t>
            </a:r>
            <a:endParaRPr lang="en-US" altLang="en-US" sz="1800">
              <a:solidFill>
                <a:srgbClr val="FF0000"/>
              </a:solidFill>
              <a:latin typeface="Arial" charset="0"/>
            </a:endParaRPr>
          </a:p>
        </p:txBody>
      </p:sp>
      <p:sp>
        <p:nvSpPr>
          <p:cNvPr id="10" name="Oval 8"/>
          <p:cNvSpPr>
            <a:spLocks noChangeArrowheads="1"/>
          </p:cNvSpPr>
          <p:nvPr/>
        </p:nvSpPr>
        <p:spPr bwMode="auto">
          <a:xfrm>
            <a:off x="5002213" y="3359150"/>
            <a:ext cx="576262" cy="3094038"/>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solidFill>
                <a:srgbClr val="FF0000"/>
              </a:solidFill>
              <a:latin typeface="Arial" charset="0"/>
            </a:endParaRPr>
          </a:p>
        </p:txBody>
      </p:sp>
      <p:sp>
        <p:nvSpPr>
          <p:cNvPr id="11" name="Oval 9"/>
          <p:cNvSpPr>
            <a:spLocks noChangeArrowheads="1"/>
          </p:cNvSpPr>
          <p:nvPr/>
        </p:nvSpPr>
        <p:spPr bwMode="auto">
          <a:xfrm>
            <a:off x="5435600" y="3359150"/>
            <a:ext cx="576263" cy="3094038"/>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solidFill>
                <a:srgbClr val="FF0000"/>
              </a:solidFill>
              <a:latin typeface="Arial" charset="0"/>
            </a:endParaRPr>
          </a:p>
        </p:txBody>
      </p:sp>
      <p:sp>
        <p:nvSpPr>
          <p:cNvPr id="12"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ox(in)">
                                      <p:cBhvr>
                                        <p:cTn id="7" dur="500"/>
                                        <p:tgtEl>
                                          <p:spTgt spid="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box(in)">
                                      <p:cBhvr>
                                        <p:cTn id="10" dur="500"/>
                                        <p:tgtEl>
                                          <p:spTgt spid="5">
                                            <p:txEl>
                                              <p:pRg st="0" end="0"/>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ox(in)">
                                      <p:cBhvr>
                                        <p:cTn id="13" dur="500"/>
                                        <p:tgtEl>
                                          <p:spTgt spid="5">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box(in)">
                                      <p:cBhvr>
                                        <p:cTn id="16" dur="500"/>
                                        <p:tgtEl>
                                          <p:spTgt spid="5">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box(in)">
                                      <p:cBhvr>
                                        <p:cTn id="19" dur="500"/>
                                        <p:tgtEl>
                                          <p:spTgt spid="5">
                                            <p:txEl>
                                              <p:pRg st="4" end="4"/>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box(in)">
                                      <p:cBhvr>
                                        <p:cTn id="22" dur="500"/>
                                        <p:tgtEl>
                                          <p:spTgt spid="5">
                                            <p:txEl>
                                              <p:pRg st="5" end="5"/>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box(in)">
                                      <p:cBhvr>
                                        <p:cTn id="25" dur="500"/>
                                        <p:tgtEl>
                                          <p:spTgt spid="5">
                                            <p:txEl>
                                              <p:pRg st="6" end="6"/>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box(in)">
                                      <p:cBhvr>
                                        <p:cTn id="28" dur="500"/>
                                        <p:tgtEl>
                                          <p:spTgt spid="5">
                                            <p:txEl>
                                              <p:pRg st="7" end="7"/>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Effect transition="in" filter="box(in)">
                                      <p:cBhvr>
                                        <p:cTn id="31" dur="500"/>
                                        <p:tgtEl>
                                          <p:spTgt spid="5">
                                            <p:txEl>
                                              <p:pRg st="8" end="8"/>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5">
                                            <p:txEl>
                                              <p:pRg st="9" end="9"/>
                                            </p:txEl>
                                          </p:spTgt>
                                        </p:tgtEl>
                                        <p:attrNameLst>
                                          <p:attrName>style.visibility</p:attrName>
                                        </p:attrNameLst>
                                      </p:cBhvr>
                                      <p:to>
                                        <p:strVal val="visible"/>
                                      </p:to>
                                    </p:set>
                                    <p:animEffect transition="in" filter="box(in)">
                                      <p:cBhvr>
                                        <p:cTn id="34" dur="500"/>
                                        <p:tgtEl>
                                          <p:spTgt spid="5">
                                            <p:txEl>
                                              <p:pRg st="9" end="9"/>
                                            </p:txEl>
                                          </p:spTgt>
                                        </p:tgtEl>
                                      </p:cBhvr>
                                    </p:animEffect>
                                  </p:childTnLst>
                                </p:cTn>
                              </p:par>
                              <p:par>
                                <p:cTn id="35" presetID="4" presetClass="entr" presetSubtype="16" fill="hold"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box(in)">
                                      <p:cBhvr>
                                        <p:cTn id="37" dur="500"/>
                                        <p:tgtEl>
                                          <p:spTgt spid="5">
                                            <p:txEl>
                                              <p:pRg st="10" end="10"/>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Effect transition="in" filter="box(in)">
                                      <p:cBhvr>
                                        <p:cTn id="40" dur="500"/>
                                        <p:tgtEl>
                                          <p:spTgt spid="5">
                                            <p:txEl>
                                              <p:pRg st="11" end="11"/>
                                            </p:txEl>
                                          </p:spTgt>
                                        </p:tgtEl>
                                      </p:cBhvr>
                                    </p:animEffect>
                                  </p:childTnLst>
                                </p:cTn>
                              </p:par>
                              <p:par>
                                <p:cTn id="41" presetID="4" presetClass="entr" presetSubtype="16" fill="hold" nodeType="withEffect">
                                  <p:stCondLst>
                                    <p:cond delay="0"/>
                                  </p:stCondLst>
                                  <p:childTnLst>
                                    <p:set>
                                      <p:cBhvr>
                                        <p:cTn id="42" dur="1" fill="hold">
                                          <p:stCondLst>
                                            <p:cond delay="0"/>
                                          </p:stCondLst>
                                        </p:cTn>
                                        <p:tgtEl>
                                          <p:spTgt spid="5">
                                            <p:txEl>
                                              <p:pRg st="12" end="12"/>
                                            </p:txEl>
                                          </p:spTgt>
                                        </p:tgtEl>
                                        <p:attrNameLst>
                                          <p:attrName>style.visibility</p:attrName>
                                        </p:attrNameLst>
                                      </p:cBhvr>
                                      <p:to>
                                        <p:strVal val="visible"/>
                                      </p:to>
                                    </p:set>
                                    <p:animEffect transition="in" filter="box(in)">
                                      <p:cBhvr>
                                        <p:cTn id="43" dur="500"/>
                                        <p:tgtEl>
                                          <p:spTgt spid="5">
                                            <p:txEl>
                                              <p:pRg st="12" end="12"/>
                                            </p:txEl>
                                          </p:spTgt>
                                        </p:tgtEl>
                                      </p:cBhvr>
                                    </p:animEffect>
                                  </p:childTnLst>
                                </p:cTn>
                              </p:par>
                              <p:par>
                                <p:cTn id="44" presetID="4" presetClass="entr" presetSubtype="16" fill="hold" nodeType="withEffect">
                                  <p:stCondLst>
                                    <p:cond delay="0"/>
                                  </p:stCondLst>
                                  <p:childTnLst>
                                    <p:set>
                                      <p:cBhvr>
                                        <p:cTn id="45" dur="1" fill="hold">
                                          <p:stCondLst>
                                            <p:cond delay="0"/>
                                          </p:stCondLst>
                                        </p:cTn>
                                        <p:tgtEl>
                                          <p:spTgt spid="5">
                                            <p:txEl>
                                              <p:pRg st="13" end="13"/>
                                            </p:txEl>
                                          </p:spTgt>
                                        </p:tgtEl>
                                        <p:attrNameLst>
                                          <p:attrName>style.visibility</p:attrName>
                                        </p:attrNameLst>
                                      </p:cBhvr>
                                      <p:to>
                                        <p:strVal val="visible"/>
                                      </p:to>
                                    </p:set>
                                    <p:animEffect transition="in" filter="box(in)">
                                      <p:cBhvr>
                                        <p:cTn id="46" dur="500"/>
                                        <p:tgtEl>
                                          <p:spTgt spid="5">
                                            <p:txEl>
                                              <p:pRg st="13" end="13"/>
                                            </p:txEl>
                                          </p:spTgt>
                                        </p:tgtEl>
                                      </p:cBhvr>
                                    </p:animEffect>
                                  </p:childTnLst>
                                </p:cTn>
                              </p:par>
                              <p:par>
                                <p:cTn id="47" presetID="4" presetClass="entr" presetSubtype="16" fill="hold" nodeType="withEffect">
                                  <p:stCondLst>
                                    <p:cond delay="0"/>
                                  </p:stCondLst>
                                  <p:childTnLst>
                                    <p:set>
                                      <p:cBhvr>
                                        <p:cTn id="48" dur="1" fill="hold">
                                          <p:stCondLst>
                                            <p:cond delay="0"/>
                                          </p:stCondLst>
                                        </p:cTn>
                                        <p:tgtEl>
                                          <p:spTgt spid="5">
                                            <p:txEl>
                                              <p:pRg st="14" end="14"/>
                                            </p:txEl>
                                          </p:spTgt>
                                        </p:tgtEl>
                                        <p:attrNameLst>
                                          <p:attrName>style.visibility</p:attrName>
                                        </p:attrNameLst>
                                      </p:cBhvr>
                                      <p:to>
                                        <p:strVal val="visible"/>
                                      </p:to>
                                    </p:set>
                                    <p:animEffect transition="in" filter="box(in)">
                                      <p:cBhvr>
                                        <p:cTn id="49" dur="500"/>
                                        <p:tgtEl>
                                          <p:spTgt spid="5">
                                            <p:txEl>
                                              <p:pRg st="14" end="14"/>
                                            </p:txEl>
                                          </p:spTgt>
                                        </p:tgtEl>
                                      </p:cBhvr>
                                    </p:animEffect>
                                  </p:childTnLst>
                                </p:cTn>
                              </p:par>
                              <p:par>
                                <p:cTn id="50" presetID="4" presetClass="entr" presetSubtype="16" fill="hold" nodeType="withEffect">
                                  <p:stCondLst>
                                    <p:cond delay="0"/>
                                  </p:stCondLst>
                                  <p:childTnLst>
                                    <p:set>
                                      <p:cBhvr>
                                        <p:cTn id="51" dur="1" fill="hold">
                                          <p:stCondLst>
                                            <p:cond delay="0"/>
                                          </p:stCondLst>
                                        </p:cTn>
                                        <p:tgtEl>
                                          <p:spTgt spid="5">
                                            <p:txEl>
                                              <p:pRg st="15" end="15"/>
                                            </p:txEl>
                                          </p:spTgt>
                                        </p:tgtEl>
                                        <p:attrNameLst>
                                          <p:attrName>style.visibility</p:attrName>
                                        </p:attrNameLst>
                                      </p:cBhvr>
                                      <p:to>
                                        <p:strVal val="visible"/>
                                      </p:to>
                                    </p:set>
                                    <p:animEffect transition="in" filter="box(in)">
                                      <p:cBhvr>
                                        <p:cTn id="52" dur="500"/>
                                        <p:tgtEl>
                                          <p:spTgt spid="5">
                                            <p:txEl>
                                              <p:pRg st="15" end="15"/>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box(in)">
                                      <p:cBhvr>
                                        <p:cTn id="57" dur="500"/>
                                        <p:tgtEl>
                                          <p:spTgt spid="8"/>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box(in)">
                                      <p:cBhvr>
                                        <p:cTn id="60" dur="500"/>
                                        <p:tgtEl>
                                          <p:spTgt spid="1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box(in)">
                                      <p:cBhvr>
                                        <p:cTn id="65" dur="500"/>
                                        <p:tgtEl>
                                          <p:spTgt spid="9"/>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box(in)">
                                      <p:cBhvr>
                                        <p:cTn id="6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73222232-3773-4AED-B44C-45D11D30C15B}" type="slidenum">
              <a:rPr lang="en-US" smtClean="0"/>
              <a:pPr>
                <a:defRPr/>
              </a:pPr>
              <a:t>34</a:t>
            </a:fld>
            <a:endParaRPr lang="en-US" dirty="0"/>
          </a:p>
        </p:txBody>
      </p:sp>
      <p:sp>
        <p:nvSpPr>
          <p:cNvPr id="5" name="Rectangle 4"/>
          <p:cNvSpPr/>
          <p:nvPr/>
        </p:nvSpPr>
        <p:spPr>
          <a:xfrm>
            <a:off x="250825" y="331788"/>
            <a:ext cx="8569325" cy="4248150"/>
          </a:xfrm>
          <a:prstGeom prst="rect">
            <a:avLst/>
          </a:prstGeom>
        </p:spPr>
        <p:txBody>
          <a:bodyPr>
            <a:spAutoFit/>
          </a:bodyPr>
          <a:lstStyle/>
          <a:p>
            <a:pPr>
              <a:defRPr/>
            </a:pPr>
            <a:r>
              <a:rPr lang="en-GB" dirty="0"/>
              <a:t>For the </a:t>
            </a:r>
            <a:r>
              <a:rPr lang="en-GB" b="1" dirty="0"/>
              <a:t>recipes</a:t>
            </a:r>
            <a:r>
              <a:rPr lang="en-GB" dirty="0"/>
              <a:t>, each coordinator will define what methods from the list of quantification methods is to be used globally:</a:t>
            </a:r>
          </a:p>
          <a:p>
            <a:pPr marL="285750" indent="-285750">
              <a:buFontTx/>
              <a:buChar char="-"/>
              <a:defRPr/>
            </a:pPr>
            <a:r>
              <a:rPr lang="en-GB" dirty="0"/>
              <a:t>photo codes </a:t>
            </a:r>
            <a:r>
              <a:rPr lang="en-GB" dirty="0">
                <a:sym typeface="Wingdings" pitchFamily="2" charset="2"/>
              </a:rPr>
              <a:t> P1 for example</a:t>
            </a:r>
            <a:endParaRPr lang="en-GB" dirty="0"/>
          </a:p>
          <a:p>
            <a:pPr marL="285750" indent="-285750">
              <a:buFontTx/>
              <a:buChar char="-"/>
              <a:defRPr/>
            </a:pPr>
            <a:r>
              <a:rPr lang="en-GB" dirty="0"/>
              <a:t>Standard unit </a:t>
            </a:r>
            <a:r>
              <a:rPr lang="en-GB" dirty="0">
                <a:sym typeface="Wingdings" pitchFamily="2" charset="2"/>
              </a:rPr>
              <a:t> STDU</a:t>
            </a:r>
          </a:p>
          <a:p>
            <a:pPr marL="285750" indent="-285750">
              <a:buFontTx/>
              <a:buChar char="-"/>
              <a:defRPr/>
            </a:pPr>
            <a:r>
              <a:rPr lang="en-GB" dirty="0"/>
              <a:t>Shapes </a:t>
            </a:r>
            <a:r>
              <a:rPr lang="en-GB" dirty="0">
                <a:sym typeface="Wingdings" pitchFamily="2" charset="2"/>
              </a:rPr>
              <a:t> A</a:t>
            </a:r>
          </a:p>
          <a:p>
            <a:pPr marL="285750" indent="-285750">
              <a:buFontTx/>
              <a:buChar char="-"/>
              <a:defRPr/>
            </a:pPr>
            <a:r>
              <a:rPr lang="en-GB" dirty="0">
                <a:sym typeface="Wingdings" pitchFamily="2" charset="2"/>
              </a:rPr>
              <a:t>Household measures  HHM</a:t>
            </a:r>
          </a:p>
          <a:p>
            <a:pPr>
              <a:defRPr/>
            </a:pPr>
            <a:r>
              <a:rPr lang="en-GB" dirty="0"/>
              <a:t>are applicable per recipe (sub-sub)group, based on IARC proposal.</a:t>
            </a:r>
          </a:p>
          <a:p>
            <a:pPr>
              <a:defRPr/>
            </a:pPr>
            <a:r>
              <a:rPr lang="en-GB" dirty="0"/>
              <a:t>File </a:t>
            </a:r>
            <a:r>
              <a:rPr lang="en-GB" b="1" dirty="0" err="1"/>
              <a:t>RCPQMDETAIL.end</a:t>
            </a:r>
            <a:endParaRPr lang="en-GB" b="1" dirty="0"/>
          </a:p>
          <a:p>
            <a:pPr>
              <a:defRPr/>
            </a:pPr>
            <a:endParaRPr lang="en-GB" dirty="0"/>
          </a:p>
          <a:p>
            <a:pPr>
              <a:defRPr/>
            </a:pPr>
            <a:r>
              <a:rPr lang="en-GB" dirty="0"/>
              <a:t>Notes:</a:t>
            </a:r>
          </a:p>
          <a:p>
            <a:pPr marL="342900" indent="-342900">
              <a:buFont typeface="+mj-lt"/>
              <a:buAutoNum type="arabicPeriod"/>
              <a:defRPr/>
            </a:pPr>
            <a:r>
              <a:rPr lang="en-GB" dirty="0"/>
              <a:t>No standard portion</a:t>
            </a:r>
          </a:p>
          <a:p>
            <a:pPr marL="342900" indent="-342900">
              <a:buFont typeface="+mj-lt"/>
              <a:buAutoNum type="arabicPeriod"/>
              <a:defRPr/>
            </a:pPr>
            <a:r>
              <a:rPr lang="en-GB" dirty="0"/>
              <a:t>No codes for facet Physical state, not for cooking method</a:t>
            </a:r>
          </a:p>
          <a:p>
            <a:pPr marL="342900" indent="-342900">
              <a:buFont typeface="+mj-lt"/>
              <a:buAutoNum type="arabicPeriod"/>
              <a:defRPr/>
            </a:pPr>
            <a:endParaRPr lang="en-GB" dirty="0"/>
          </a:p>
          <a:p>
            <a:pPr>
              <a:defRPr/>
            </a:pPr>
            <a:r>
              <a:rPr lang="en-GB" dirty="0"/>
              <a:t>The comments of files </a:t>
            </a:r>
            <a:r>
              <a:rPr lang="en-GB" b="1" dirty="0" err="1"/>
              <a:t>FDQMDETAIL.end</a:t>
            </a:r>
            <a:r>
              <a:rPr lang="en-GB" dirty="0"/>
              <a:t> and </a:t>
            </a:r>
            <a:r>
              <a:rPr lang="en-GB" b="1" dirty="0" err="1"/>
              <a:t>RCPQMDETAIL.end</a:t>
            </a:r>
            <a:r>
              <a:rPr lang="en-GB" dirty="0"/>
              <a:t> must be translated to prepare local versions.</a:t>
            </a:r>
            <a:endParaRPr lang="en-GB" b="1" dirty="0"/>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DA0732E7-E5F8-4263-8582-A01A52B4A850}" type="slidenum">
              <a:rPr lang="en-US" smtClean="0"/>
              <a:pPr>
                <a:defRPr/>
              </a:pPr>
              <a:t>35</a:t>
            </a:fld>
            <a:endParaRPr lang="en-US" dirty="0"/>
          </a:p>
        </p:txBody>
      </p:sp>
      <p:sp>
        <p:nvSpPr>
          <p:cNvPr id="46084" name="TextBox 4"/>
          <p:cNvSpPr txBox="1">
            <a:spLocks noChangeArrowheads="1"/>
          </p:cNvSpPr>
          <p:nvPr/>
        </p:nvSpPr>
        <p:spPr bwMode="auto">
          <a:xfrm>
            <a:off x="2700338" y="2565400"/>
            <a:ext cx="4032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2400">
                <a:latin typeface="Arial" charset="0"/>
              </a:rPr>
              <a:t>Quantification</a:t>
            </a:r>
          </a:p>
          <a:p>
            <a:pPr algn="ctr" eaLnBrk="1" hangingPunct="1">
              <a:spcBef>
                <a:spcPct val="0"/>
              </a:spcBef>
              <a:buSzTx/>
              <a:buFontTx/>
              <a:buNone/>
            </a:pPr>
            <a:endParaRPr lang="en-GB" altLang="en-US" sz="2400">
              <a:latin typeface="Arial" charset="0"/>
            </a:endParaRPr>
          </a:p>
          <a:p>
            <a:pPr algn="ctr" eaLnBrk="1" hangingPunct="1">
              <a:spcBef>
                <a:spcPct val="0"/>
              </a:spcBef>
              <a:buSzTx/>
              <a:buFontTx/>
              <a:buNone/>
            </a:pPr>
            <a:r>
              <a:rPr lang="en-GB" altLang="en-US" sz="2400">
                <a:latin typeface="Arial" charset="0"/>
              </a:rPr>
              <a:t>Country-specific files </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3119FCDC-C69A-4C57-B99F-1AF4527B7F18}" type="slidenum">
              <a:rPr lang="en-US" smtClean="0"/>
              <a:pPr>
                <a:defRPr/>
              </a:pPr>
              <a:t>36</a:t>
            </a:fld>
            <a:endParaRPr lang="en-US" dirty="0"/>
          </a:p>
        </p:txBody>
      </p:sp>
      <p:sp>
        <p:nvSpPr>
          <p:cNvPr id="5" name="TextBox 4"/>
          <p:cNvSpPr txBox="1"/>
          <p:nvPr/>
        </p:nvSpPr>
        <p:spPr>
          <a:xfrm>
            <a:off x="263525" y="188913"/>
            <a:ext cx="8497888" cy="6432550"/>
          </a:xfrm>
          <a:prstGeom prst="rect">
            <a:avLst/>
          </a:prstGeom>
          <a:noFill/>
        </p:spPr>
        <p:txBody>
          <a:bodyPr>
            <a:spAutoFit/>
          </a:bodyPr>
          <a:lstStyle/>
          <a:p>
            <a:pPr>
              <a:defRPr/>
            </a:pPr>
            <a:r>
              <a:rPr lang="en-GB" b="1" dirty="0"/>
              <a:t>Quantification of foods</a:t>
            </a:r>
          </a:p>
          <a:p>
            <a:pPr>
              <a:defRPr/>
            </a:pPr>
            <a:r>
              <a:rPr lang="en-GB" dirty="0"/>
              <a:t>IARC will prepare the file </a:t>
            </a:r>
            <a:r>
              <a:rPr lang="en-GB" b="1" dirty="0" err="1"/>
              <a:t>FDQUANT.end</a:t>
            </a:r>
            <a:r>
              <a:rPr lang="en-GB" dirty="0"/>
              <a:t> listing all foods of the file </a:t>
            </a:r>
            <a:r>
              <a:rPr lang="en-GB" b="1" dirty="0" err="1"/>
              <a:t>FDLIST.end</a:t>
            </a:r>
            <a:r>
              <a:rPr lang="en-GB" dirty="0"/>
              <a:t> and using the quantification methods of the file </a:t>
            </a:r>
            <a:r>
              <a:rPr lang="en-GB" b="1" dirty="0" err="1"/>
              <a:t>FDQMDETAIL.end</a:t>
            </a:r>
            <a:r>
              <a:rPr lang="en-GB" b="1" dirty="0"/>
              <a:t> </a:t>
            </a:r>
            <a:r>
              <a:rPr lang="en-GB" dirty="0"/>
              <a:t>corresponding to the food classification</a:t>
            </a:r>
            <a:r>
              <a:rPr lang="en-GB" b="1" dirty="0"/>
              <a:t>:</a:t>
            </a:r>
          </a:p>
          <a:p>
            <a:pPr>
              <a:defRPr/>
            </a:pPr>
            <a:r>
              <a:rPr lang="en-GB" dirty="0">
                <a:sym typeface="Wingdings" pitchFamily="2" charset="2"/>
              </a:rPr>
              <a:t></a:t>
            </a:r>
            <a:r>
              <a:rPr lang="en-GB" dirty="0"/>
              <a:t> Photo codes, H (HHM), U (STDU), P (STDP), A (shapes).</a:t>
            </a:r>
          </a:p>
          <a:p>
            <a:pPr>
              <a:defRPr/>
            </a:pPr>
            <a:r>
              <a:rPr lang="en-GB" dirty="0"/>
              <a:t>In that file, the coordinator has to </a:t>
            </a:r>
          </a:p>
          <a:p>
            <a:pPr marL="342900" indent="-342900">
              <a:buFont typeface="+mj-lt"/>
              <a:buAutoNum type="arabicPeriod"/>
              <a:defRPr/>
            </a:pPr>
            <a:r>
              <a:rPr lang="en-GB" dirty="0"/>
              <a:t>remove the quantification methods that are not applicable to each food and </a:t>
            </a:r>
          </a:p>
          <a:p>
            <a:pPr marL="342900" indent="-342900">
              <a:buFont typeface="+mj-lt"/>
              <a:buAutoNum type="arabicPeriod"/>
              <a:defRPr/>
            </a:pPr>
            <a:r>
              <a:rPr lang="en-GB" dirty="0"/>
              <a:t>specify the shape codes that are applicable to each food</a:t>
            </a:r>
          </a:p>
          <a:p>
            <a:pPr>
              <a:defRPr/>
            </a:pPr>
            <a:endParaRPr lang="en-GB" sz="800" dirty="0"/>
          </a:p>
          <a:p>
            <a:pPr marL="285750" indent="-285750">
              <a:buFontTx/>
              <a:buChar char="-"/>
              <a:defRPr/>
            </a:pPr>
            <a:r>
              <a:rPr lang="en-GB" dirty="0"/>
              <a:t>The format of the file cannot be changed </a:t>
            </a:r>
          </a:p>
          <a:p>
            <a:pPr marL="285750" indent="-285750">
              <a:buFontTx/>
              <a:buChar char="-"/>
              <a:defRPr/>
            </a:pPr>
            <a:r>
              <a:rPr lang="en-GB" dirty="0"/>
              <a:t>Quantification methods cannot be added (or else update </a:t>
            </a:r>
            <a:r>
              <a:rPr lang="en-GB" b="1" dirty="0" err="1"/>
              <a:t>FDQMDETAIL.end</a:t>
            </a:r>
            <a:r>
              <a:rPr lang="en-GB" dirty="0"/>
              <a:t>)</a:t>
            </a:r>
          </a:p>
          <a:p>
            <a:pPr lvl="1">
              <a:defRPr/>
            </a:pPr>
            <a:endParaRPr lang="en-GB" dirty="0"/>
          </a:p>
          <a:p>
            <a:pPr>
              <a:defRPr/>
            </a:pPr>
            <a:r>
              <a:rPr lang="en-GB" b="1" dirty="0"/>
              <a:t>Description of recipes</a:t>
            </a:r>
          </a:p>
          <a:p>
            <a:pPr>
              <a:defRPr/>
            </a:pPr>
            <a:r>
              <a:rPr lang="en-GB" dirty="0"/>
              <a:t>IARC will prepare the file </a:t>
            </a:r>
            <a:r>
              <a:rPr lang="en-GB" b="1" dirty="0" err="1"/>
              <a:t>RCPQUANT.end</a:t>
            </a:r>
            <a:r>
              <a:rPr lang="en-GB" dirty="0"/>
              <a:t> listing all foods of the file </a:t>
            </a:r>
            <a:r>
              <a:rPr lang="en-GB" b="1" dirty="0"/>
              <a:t>MIXEDREC.xls</a:t>
            </a:r>
            <a:r>
              <a:rPr lang="en-GB" dirty="0"/>
              <a:t> and using the quantification methods of the file </a:t>
            </a:r>
            <a:r>
              <a:rPr lang="en-GB" b="1" dirty="0" err="1"/>
              <a:t>RCPQMDETAIL.end</a:t>
            </a:r>
            <a:r>
              <a:rPr lang="en-GB" b="1" dirty="0"/>
              <a:t> </a:t>
            </a:r>
            <a:r>
              <a:rPr lang="en-GB" dirty="0"/>
              <a:t>corresponding to the recipe classification.</a:t>
            </a:r>
          </a:p>
          <a:p>
            <a:pPr>
              <a:defRPr/>
            </a:pPr>
            <a:r>
              <a:rPr lang="en-GB" dirty="0">
                <a:sym typeface="Wingdings" pitchFamily="2" charset="2"/>
              </a:rPr>
              <a:t></a:t>
            </a:r>
            <a:r>
              <a:rPr lang="en-GB" dirty="0"/>
              <a:t> Photo codes, H (HHM), U (STDU), A (shapes).</a:t>
            </a:r>
            <a:endParaRPr lang="en-GB" b="1" dirty="0"/>
          </a:p>
          <a:p>
            <a:pPr>
              <a:defRPr/>
            </a:pPr>
            <a:r>
              <a:rPr lang="en-GB" dirty="0"/>
              <a:t>In that file, the coordinator has to </a:t>
            </a:r>
          </a:p>
          <a:p>
            <a:pPr marL="342900" indent="-342900">
              <a:buFont typeface="+mj-lt"/>
              <a:buAutoNum type="arabicPeriod"/>
              <a:defRPr/>
            </a:pPr>
            <a:r>
              <a:rPr lang="en-GB" dirty="0"/>
              <a:t>remove the quantification methods that are not applicable to each food and </a:t>
            </a:r>
          </a:p>
          <a:p>
            <a:pPr marL="342900" indent="-342900">
              <a:buFont typeface="+mj-lt"/>
              <a:buAutoNum type="arabicPeriod"/>
              <a:defRPr/>
            </a:pPr>
            <a:r>
              <a:rPr lang="en-GB" dirty="0"/>
              <a:t>specify the shape codes that are applicable to each recipe</a:t>
            </a:r>
          </a:p>
          <a:p>
            <a:pPr>
              <a:defRPr/>
            </a:pPr>
            <a:endParaRPr lang="en-GB" sz="800" dirty="0"/>
          </a:p>
          <a:p>
            <a:pPr marL="285750" indent="-285750">
              <a:buFontTx/>
              <a:buChar char="-"/>
              <a:defRPr/>
            </a:pPr>
            <a:r>
              <a:rPr lang="en-GB" dirty="0"/>
              <a:t>The format of the file cannot be changed</a:t>
            </a:r>
          </a:p>
          <a:p>
            <a:pPr marL="285750" indent="-285750">
              <a:buFontTx/>
              <a:buChar char="-"/>
              <a:defRPr/>
            </a:pPr>
            <a:r>
              <a:rPr lang="en-GB" dirty="0"/>
              <a:t>Quantification methods cannot be added (or else update </a:t>
            </a:r>
            <a:r>
              <a:rPr lang="en-GB" b="1" dirty="0" err="1"/>
              <a:t>RCPQMDETAIL.end</a:t>
            </a:r>
            <a:r>
              <a:rPr lang="en-GB" dirty="0"/>
              <a:t>)</a:t>
            </a:r>
          </a:p>
          <a:p>
            <a:pPr>
              <a:defRPr/>
            </a:pPr>
            <a:endParaRPr lang="en-GB" dirty="0"/>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2C769FEC-D618-498B-BC50-E36D2C97DCF3}" type="slidenum">
              <a:rPr lang="en-US" smtClean="0"/>
              <a:pPr>
                <a:defRPr/>
              </a:pPr>
              <a:t>37</a:t>
            </a:fld>
            <a:endParaRPr lang="en-US" dirty="0"/>
          </a:p>
        </p:txBody>
      </p:sp>
      <p:pic>
        <p:nvPicPr>
          <p:cNvPr id="4813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31788"/>
            <a:ext cx="3940175"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TextBox 5"/>
          <p:cNvSpPr txBox="1">
            <a:spLocks noChangeArrowheads="1"/>
          </p:cNvSpPr>
          <p:nvPr/>
        </p:nvSpPr>
        <p:spPr bwMode="auto">
          <a:xfrm>
            <a:off x="244475" y="295275"/>
            <a:ext cx="47085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b="1">
                <a:latin typeface="Arial" charset="0"/>
              </a:rPr>
              <a:t>Standard units </a:t>
            </a:r>
            <a:r>
              <a:rPr lang="en-GB" altLang="en-US" sz="1800">
                <a:latin typeface="Arial" charset="0"/>
              </a:rPr>
              <a:t>have </a:t>
            </a:r>
            <a:r>
              <a:rPr lang="en-US" altLang="zh-CN" sz="1800">
                <a:latin typeface="Arial" charset="0"/>
              </a:rPr>
              <a:t>more or less standard weights (e.g. can/tin, package, box, Mars bar, drop) and can be purchased as such. </a:t>
            </a:r>
          </a:p>
          <a:p>
            <a:pPr eaLnBrk="1" hangingPunct="1">
              <a:spcBef>
                <a:spcPct val="0"/>
              </a:spcBef>
              <a:buSzTx/>
              <a:buFontTx/>
              <a:buNone/>
            </a:pPr>
            <a:r>
              <a:rPr lang="en-US" altLang="zh-CN" sz="1800">
                <a:latin typeface="Arial" charset="0"/>
              </a:rPr>
              <a:t>Each unit has a field ‘comment’ to describe it, to enable a choice during the interview</a:t>
            </a:r>
          </a:p>
        </p:txBody>
      </p:sp>
      <p:sp>
        <p:nvSpPr>
          <p:cNvPr id="7" name="TextBox 6"/>
          <p:cNvSpPr txBox="1"/>
          <p:nvPr/>
        </p:nvSpPr>
        <p:spPr>
          <a:xfrm>
            <a:off x="323850" y="1773238"/>
            <a:ext cx="8712200" cy="4216400"/>
          </a:xfrm>
          <a:prstGeom prst="rect">
            <a:avLst/>
          </a:prstGeom>
          <a:noFill/>
        </p:spPr>
        <p:txBody>
          <a:bodyPr>
            <a:spAutoFit/>
          </a:bodyPr>
          <a:lstStyle>
            <a:lvl1pPr marL="285750" indent="-28575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buFontTx/>
              <a:buChar char="-"/>
              <a:defRPr/>
            </a:pPr>
            <a:r>
              <a:rPr lang="en-US" altLang="zh-CN" dirty="0" smtClean="0"/>
              <a:t>To distinguish among STDU (e.g. small vs. medium vs. big apple) and to check that the correct unit is chosen, you should indicate some measurements in the comment (e.g. diameter for medium apple)</a:t>
            </a:r>
          </a:p>
          <a:p>
            <a:pPr eaLnBrk="1" hangingPunct="1">
              <a:buFontTx/>
              <a:buChar char="-"/>
              <a:defRPr/>
            </a:pPr>
            <a:r>
              <a:rPr lang="en-US" dirty="0" smtClean="0">
                <a:ea typeface="宋体" pitchFamily="2" charset="-122"/>
              </a:rPr>
              <a:t>For e.g. bread buns, rusks, crisp breads, indicate the related surface –which should appear in </a:t>
            </a:r>
            <a:r>
              <a:rPr lang="en-US" b="1" dirty="0" smtClean="0">
                <a:solidFill>
                  <a:schemeClr val="tx1">
                    <a:lumMod val="50000"/>
                    <a:lumOff val="50000"/>
                  </a:schemeClr>
                </a:solidFill>
                <a:ea typeface="宋体" pitchFamily="2" charset="-122"/>
              </a:rPr>
              <a:t>M_SHAPES.xls</a:t>
            </a:r>
            <a:r>
              <a:rPr lang="en-US" dirty="0" smtClean="0">
                <a:ea typeface="宋体" pitchFamily="2" charset="-122"/>
              </a:rPr>
              <a:t> - so that the shape can be chosen to spread something on them</a:t>
            </a:r>
          </a:p>
          <a:p>
            <a:pPr eaLnBrk="1" hangingPunct="1">
              <a:buFontTx/>
              <a:buChar char="-"/>
              <a:defRPr/>
            </a:pPr>
            <a:r>
              <a:rPr lang="en-US" dirty="0" smtClean="0">
                <a:ea typeface="宋体" pitchFamily="2" charset="-122"/>
              </a:rPr>
              <a:t>Some may be linked to ‘help photos’ </a:t>
            </a:r>
            <a:r>
              <a:rPr lang="en-US" sz="1400" dirty="0" smtClean="0">
                <a:ea typeface="宋体" pitchFamily="2" charset="-122"/>
              </a:rPr>
              <a:t>(not regular ones), </a:t>
            </a:r>
            <a:r>
              <a:rPr lang="en-US" dirty="0" smtClean="0">
                <a:ea typeface="宋体" pitchFamily="2" charset="-122"/>
              </a:rPr>
              <a:t>e.g. small flan as on P904-1</a:t>
            </a:r>
          </a:p>
          <a:p>
            <a:pPr eaLnBrk="1" hangingPunct="1">
              <a:buFontTx/>
              <a:buChar char="-"/>
              <a:defRPr/>
            </a:pPr>
            <a:r>
              <a:rPr lang="en-US" dirty="0" smtClean="0">
                <a:ea typeface="宋体" pitchFamily="2" charset="-122"/>
              </a:rPr>
              <a:t>For packages containing small units (e.g. can of meatballs, box of chocolates/ sweets), indicate the number of units in each package and/or enter the single unit (meatball, chocolate piece) as a separate standard unit</a:t>
            </a:r>
          </a:p>
          <a:p>
            <a:pPr eaLnBrk="1" hangingPunct="1">
              <a:buFontTx/>
              <a:buChar char="-"/>
              <a:defRPr/>
            </a:pPr>
            <a:endParaRPr lang="en-US" sz="800" dirty="0" smtClean="0">
              <a:ea typeface="宋体" pitchFamily="2" charset="-122"/>
            </a:endParaRPr>
          </a:p>
          <a:p>
            <a:pPr eaLnBrk="1" hangingPunct="1">
              <a:buFontTx/>
              <a:buChar char="-"/>
              <a:defRPr/>
            </a:pPr>
            <a:endParaRPr lang="en-US" sz="800" dirty="0" smtClean="0">
              <a:ea typeface="宋体" pitchFamily="2" charset="-122"/>
            </a:endParaRPr>
          </a:p>
          <a:p>
            <a:pPr marL="0" indent="0" eaLnBrk="1" hangingPunct="1">
              <a:defRPr/>
            </a:pPr>
            <a:r>
              <a:rPr lang="en-US" dirty="0" smtClean="0">
                <a:ea typeface="宋体" pitchFamily="2" charset="-122"/>
              </a:rPr>
              <a:t>Note that not all foods/recipes have standard units, only those having ‘U’ in the </a:t>
            </a:r>
            <a:r>
              <a:rPr lang="en-US" b="1" dirty="0" err="1" smtClean="0">
                <a:ea typeface="宋体" pitchFamily="2" charset="-122"/>
              </a:rPr>
              <a:t>FDQUANT.end</a:t>
            </a:r>
            <a:r>
              <a:rPr lang="en-US" dirty="0" smtClean="0">
                <a:ea typeface="宋体" pitchFamily="2" charset="-122"/>
              </a:rPr>
              <a:t> or </a:t>
            </a:r>
            <a:r>
              <a:rPr lang="en-US" b="1" dirty="0" err="1" smtClean="0">
                <a:ea typeface="宋体" pitchFamily="2" charset="-122"/>
              </a:rPr>
              <a:t>RCPQUANT.end</a:t>
            </a:r>
            <a:r>
              <a:rPr lang="en-US" dirty="0" smtClean="0">
                <a:ea typeface="宋体" pitchFamily="2" charset="-122"/>
              </a:rPr>
              <a:t> files.</a:t>
            </a:r>
          </a:p>
          <a:p>
            <a:pPr eaLnBrk="1" hangingPunct="1">
              <a:defRPr/>
            </a:pPr>
            <a:endParaRPr lang="en-GB" dirty="0" smtClean="0"/>
          </a:p>
          <a:p>
            <a:pPr eaLnBrk="1" hangingPunct="1">
              <a:defRPr/>
            </a:pPr>
            <a:endParaRPr lang="en-GB" dirty="0" smtClean="0"/>
          </a:p>
        </p:txBody>
      </p:sp>
      <p:sp>
        <p:nvSpPr>
          <p:cNvPr id="8"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64639027-3DCE-4B8C-8B9F-16A899122145}" type="slidenum">
              <a:rPr lang="en-US" smtClean="0"/>
              <a:pPr>
                <a:defRPr/>
              </a:pPr>
              <a:t>38</a:t>
            </a:fld>
            <a:endParaRPr lang="en-US" dirty="0"/>
          </a:p>
        </p:txBody>
      </p:sp>
      <p:sp>
        <p:nvSpPr>
          <p:cNvPr id="49156" name="Rectangle 4"/>
          <p:cNvSpPr>
            <a:spLocks noChangeArrowheads="1"/>
          </p:cNvSpPr>
          <p:nvPr/>
        </p:nvSpPr>
        <p:spPr bwMode="auto">
          <a:xfrm>
            <a:off x="323850" y="188913"/>
            <a:ext cx="8496300" cy="603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US" altLang="en-US" sz="1800" b="1">
                <a:latin typeface="Arial" charset="0"/>
                <a:ea typeface="宋体" pitchFamily="2" charset="-122"/>
              </a:rPr>
              <a:t>FDSTD.end</a:t>
            </a:r>
            <a:r>
              <a:rPr lang="en-US" altLang="en-US" sz="1800">
                <a:latin typeface="Arial" charset="0"/>
                <a:ea typeface="宋体" pitchFamily="2" charset="-122"/>
              </a:rPr>
              <a:t> contains the information on </a:t>
            </a:r>
            <a:r>
              <a:rPr lang="en-US" altLang="en-US" sz="1800" i="1">
                <a:latin typeface="Arial" charset="0"/>
                <a:ea typeface="宋体" pitchFamily="2" charset="-122"/>
              </a:rPr>
              <a:t>food standard units and portions</a:t>
            </a:r>
          </a:p>
          <a:p>
            <a:pPr eaLnBrk="1" hangingPunct="1">
              <a:spcBef>
                <a:spcPct val="0"/>
              </a:spcBef>
              <a:buSzTx/>
              <a:buFont typeface="Arial" charset="0"/>
              <a:buChar char="•"/>
            </a:pPr>
            <a:r>
              <a:rPr lang="en-US" altLang="en-US" sz="1800">
                <a:latin typeface="Arial" charset="0"/>
                <a:ea typeface="宋体" pitchFamily="2" charset="-122"/>
              </a:rPr>
              <a:t> food code – food name – unit code </a:t>
            </a:r>
          </a:p>
          <a:p>
            <a:pPr eaLnBrk="1" hangingPunct="1">
              <a:spcBef>
                <a:spcPct val="0"/>
              </a:spcBef>
              <a:buSzTx/>
              <a:buFont typeface="Arial" charset="0"/>
              <a:buChar char="•"/>
            </a:pPr>
            <a:r>
              <a:rPr lang="en-US" altLang="en-US" sz="1800">
                <a:latin typeface="Arial" charset="0"/>
                <a:ea typeface="宋体" pitchFamily="2" charset="-122"/>
              </a:rPr>
              <a:t> whether the weight/volume refers to raw or cooked/NA food: </a:t>
            </a:r>
          </a:p>
          <a:p>
            <a:pPr lvl="1" eaLnBrk="1" hangingPunct="1">
              <a:spcBef>
                <a:spcPct val="0"/>
              </a:spcBef>
              <a:buClrTx/>
              <a:buSzTx/>
              <a:buFont typeface="Arial" charset="0"/>
              <a:buChar char="•"/>
            </a:pPr>
            <a:r>
              <a:rPr lang="en-US" altLang="en-US" sz="1800">
                <a:solidFill>
                  <a:schemeClr val="tx1"/>
                </a:solidFill>
                <a:latin typeface="Arial" charset="0"/>
                <a:ea typeface="宋体" pitchFamily="2" charset="-122"/>
              </a:rPr>
              <a:t> </a:t>
            </a:r>
            <a:r>
              <a:rPr lang="en-US" altLang="en-US" sz="1800" u="sng">
                <a:solidFill>
                  <a:schemeClr val="tx1"/>
                </a:solidFill>
                <a:latin typeface="Arial" charset="0"/>
                <a:ea typeface="宋体" pitchFamily="2" charset="-122"/>
              </a:rPr>
              <a:t>if the item does not have facet Cooking method</a:t>
            </a:r>
            <a:r>
              <a:rPr lang="en-US" altLang="en-US" sz="1800">
                <a:solidFill>
                  <a:schemeClr val="tx1"/>
                </a:solidFill>
                <a:latin typeface="Arial" charset="0"/>
                <a:ea typeface="宋体" pitchFamily="2" charset="-122"/>
              </a:rPr>
              <a:t>, then enter ‘cooked/not applicable’</a:t>
            </a:r>
          </a:p>
          <a:p>
            <a:pPr lvl="1" eaLnBrk="1" hangingPunct="1">
              <a:spcBef>
                <a:spcPct val="0"/>
              </a:spcBef>
              <a:buClrTx/>
              <a:buSzTx/>
              <a:buFont typeface="Arial" charset="0"/>
              <a:buChar char="•"/>
            </a:pPr>
            <a:r>
              <a:rPr lang="en-US" altLang="en-US" sz="1800">
                <a:solidFill>
                  <a:schemeClr val="tx1"/>
                </a:solidFill>
                <a:latin typeface="Arial" charset="0"/>
                <a:ea typeface="宋体" pitchFamily="2" charset="-122"/>
              </a:rPr>
              <a:t> </a:t>
            </a:r>
            <a:r>
              <a:rPr lang="en-US" altLang="en-US" sz="1800" u="sng">
                <a:solidFill>
                  <a:schemeClr val="tx1"/>
                </a:solidFill>
                <a:latin typeface="Arial" charset="0"/>
                <a:ea typeface="宋体" pitchFamily="2" charset="-122"/>
              </a:rPr>
              <a:t>if the item has the facet Cooking method</a:t>
            </a:r>
            <a:r>
              <a:rPr lang="en-US" altLang="en-US" sz="1800">
                <a:solidFill>
                  <a:schemeClr val="tx1"/>
                </a:solidFill>
                <a:latin typeface="Arial" charset="0"/>
                <a:ea typeface="宋体" pitchFamily="2" charset="-122"/>
              </a:rPr>
              <a:t>, then enter ‘raw’ so that raw-to-cooked coefficient can be applied to the provided weight, else choose ‘cooked/not applicable’</a:t>
            </a:r>
          </a:p>
          <a:p>
            <a:pPr eaLnBrk="1" hangingPunct="1">
              <a:spcBef>
                <a:spcPct val="0"/>
              </a:spcBef>
              <a:buSzTx/>
              <a:buFont typeface="Arial" charset="0"/>
              <a:buChar char="•"/>
            </a:pPr>
            <a:r>
              <a:rPr lang="en-US" altLang="en-US" sz="1800">
                <a:latin typeface="Arial" charset="0"/>
                <a:ea typeface="宋体" pitchFamily="2" charset="-122"/>
              </a:rPr>
              <a:t> whether the waste is included or not in the weight/volume</a:t>
            </a:r>
          </a:p>
          <a:p>
            <a:pPr lvl="1" eaLnBrk="1" hangingPunct="1">
              <a:spcBef>
                <a:spcPct val="0"/>
              </a:spcBef>
              <a:buClrTx/>
              <a:buSzTx/>
              <a:buFont typeface="Arial" charset="0"/>
              <a:buChar char="•"/>
            </a:pPr>
            <a:r>
              <a:rPr lang="en-US" altLang="en-US" sz="1800" u="sng">
                <a:solidFill>
                  <a:schemeClr val="tx1"/>
                </a:solidFill>
                <a:latin typeface="Arial" charset="0"/>
                <a:ea typeface="宋体" pitchFamily="2" charset="-122"/>
              </a:rPr>
              <a:t> If the item does not have an EDIB coefficient</a:t>
            </a:r>
            <a:r>
              <a:rPr lang="en-US" altLang="en-US" sz="1800">
                <a:solidFill>
                  <a:schemeClr val="tx1"/>
                </a:solidFill>
                <a:latin typeface="Arial" charset="0"/>
                <a:ea typeface="宋体" pitchFamily="2" charset="-122"/>
              </a:rPr>
              <a:t>, then enter ‘without waste/not applicable’ = 1</a:t>
            </a:r>
          </a:p>
          <a:p>
            <a:pPr lvl="1" eaLnBrk="1" hangingPunct="1">
              <a:spcBef>
                <a:spcPct val="0"/>
              </a:spcBef>
              <a:buClrTx/>
              <a:buSzTx/>
              <a:buFont typeface="Arial" charset="0"/>
              <a:buChar char="•"/>
            </a:pPr>
            <a:r>
              <a:rPr lang="en-US" altLang="en-US" sz="1800">
                <a:solidFill>
                  <a:schemeClr val="tx1"/>
                </a:solidFill>
                <a:latin typeface="Arial" charset="0"/>
                <a:ea typeface="宋体" pitchFamily="2" charset="-122"/>
              </a:rPr>
              <a:t> </a:t>
            </a:r>
            <a:r>
              <a:rPr lang="en-US" altLang="en-US" sz="1800" u="sng">
                <a:solidFill>
                  <a:schemeClr val="tx1"/>
                </a:solidFill>
                <a:latin typeface="Arial" charset="0"/>
                <a:ea typeface="宋体" pitchFamily="2" charset="-122"/>
              </a:rPr>
              <a:t> If the item has an EDIB coefficient</a:t>
            </a:r>
            <a:r>
              <a:rPr lang="en-US" altLang="en-US" sz="1800">
                <a:solidFill>
                  <a:schemeClr val="tx1"/>
                </a:solidFill>
                <a:latin typeface="Arial" charset="0"/>
                <a:ea typeface="宋体" pitchFamily="2" charset="-122"/>
              </a:rPr>
              <a:t>, then enter ‘with waste’ = 2 so that an edible part coefficient can be applied to the provided weight, else choose ‘without waste/not applicable’ = 1</a:t>
            </a:r>
          </a:p>
          <a:p>
            <a:pPr eaLnBrk="1" hangingPunct="1">
              <a:spcBef>
                <a:spcPct val="0"/>
              </a:spcBef>
              <a:buSzTx/>
              <a:buFont typeface="Arial" charset="0"/>
              <a:buChar char="•"/>
            </a:pPr>
            <a:r>
              <a:rPr lang="en-US" altLang="en-US" sz="1800">
                <a:latin typeface="Arial" charset="0"/>
                <a:ea typeface="宋体" pitchFamily="2" charset="-122"/>
              </a:rPr>
              <a:t> Standard unit weight/volume (4 digits, but possibility to have decimal figures)</a:t>
            </a:r>
          </a:p>
          <a:p>
            <a:pPr eaLnBrk="1" hangingPunct="1">
              <a:spcBef>
                <a:spcPct val="0"/>
              </a:spcBef>
              <a:buSzTx/>
              <a:buFont typeface="Arial" charset="0"/>
              <a:buChar char="•"/>
            </a:pPr>
            <a:r>
              <a:rPr lang="en-US" altLang="en-US" sz="1800">
                <a:latin typeface="Arial" charset="0"/>
                <a:ea typeface="宋体" pitchFamily="2" charset="-122"/>
              </a:rPr>
              <a:t> Indication of whether it is a weight or volume</a:t>
            </a:r>
          </a:p>
          <a:p>
            <a:pPr eaLnBrk="1" hangingPunct="1">
              <a:spcBef>
                <a:spcPct val="0"/>
              </a:spcBef>
              <a:buSzTx/>
              <a:buFont typeface="Arial" charset="0"/>
              <a:buChar char="•"/>
            </a:pPr>
            <a:r>
              <a:rPr lang="en-US" altLang="en-US" sz="1800">
                <a:latin typeface="Arial" charset="0"/>
                <a:ea typeface="宋体" pitchFamily="2" charset="-122"/>
              </a:rPr>
              <a:t> Description field (100 characters) to enable the choice during the interview </a:t>
            </a:r>
          </a:p>
          <a:p>
            <a:pPr eaLnBrk="1" hangingPunct="1">
              <a:spcBef>
                <a:spcPct val="0"/>
              </a:spcBef>
              <a:buSzTx/>
              <a:buFontTx/>
              <a:buNone/>
            </a:pPr>
            <a:endParaRPr lang="en-US" altLang="en-US" sz="800">
              <a:latin typeface="Arial" charset="0"/>
              <a:ea typeface="宋体" pitchFamily="2" charset="-122"/>
            </a:endParaRPr>
          </a:p>
          <a:p>
            <a:pPr eaLnBrk="1" hangingPunct="1">
              <a:spcBef>
                <a:spcPct val="0"/>
              </a:spcBef>
              <a:buSzTx/>
              <a:buFontTx/>
              <a:buNone/>
            </a:pPr>
            <a:r>
              <a:rPr lang="en-US" altLang="en-US" sz="1800" b="1">
                <a:latin typeface="Arial" charset="0"/>
                <a:ea typeface="宋体" pitchFamily="2" charset="-122"/>
              </a:rPr>
              <a:t>RCPSTDU.end </a:t>
            </a:r>
            <a:r>
              <a:rPr lang="en-US" altLang="en-US" sz="1800">
                <a:latin typeface="Arial" charset="0"/>
                <a:ea typeface="宋体" pitchFamily="2" charset="-122"/>
              </a:rPr>
              <a:t>contains the information on </a:t>
            </a:r>
            <a:r>
              <a:rPr lang="en-US" altLang="en-US" sz="1800" i="1">
                <a:latin typeface="Arial" charset="0"/>
                <a:ea typeface="宋体" pitchFamily="2" charset="-122"/>
              </a:rPr>
              <a:t>recipe standard units</a:t>
            </a:r>
            <a:r>
              <a:rPr lang="en-US" altLang="en-US" sz="1800">
                <a:latin typeface="Arial" charset="0"/>
                <a:ea typeface="宋体" pitchFamily="2" charset="-122"/>
              </a:rPr>
              <a:t>. Same variables except those on raw/cooked and on waste </a:t>
            </a:r>
            <a:r>
              <a:rPr lang="en-US" altLang="en-US" sz="1800">
                <a:latin typeface="Arial" charset="0"/>
                <a:ea typeface="宋体" pitchFamily="2" charset="-122"/>
                <a:sym typeface="Wingdings" pitchFamily="2" charset="2"/>
              </a:rPr>
              <a:t> enter the </a:t>
            </a:r>
            <a:r>
              <a:rPr lang="en-US" altLang="en-US" sz="1800" u="sng">
                <a:latin typeface="Arial" charset="0"/>
                <a:ea typeface="宋体" pitchFamily="2" charset="-122"/>
                <a:sym typeface="Wingdings" pitchFamily="2" charset="2"/>
              </a:rPr>
              <a:t>final weights as consumed</a:t>
            </a:r>
            <a:r>
              <a:rPr lang="en-US" altLang="en-US" sz="1800">
                <a:latin typeface="Arial" charset="0"/>
                <a:ea typeface="宋体" pitchFamily="2" charset="-122"/>
                <a:sym typeface="Wingdings" pitchFamily="2" charset="2"/>
              </a:rPr>
              <a:t> (adapt the weights if baked/cooked after purchase e.g. pizzas, or if hydrated after purchase, e.g. convenient dishes, if needed)</a:t>
            </a:r>
            <a:endParaRPr lang="en-US" altLang="en-US" sz="1800">
              <a:latin typeface="Arial" charset="0"/>
              <a:ea typeface="宋体" pitchFamily="2" charset="-122"/>
            </a:endParaRPr>
          </a:p>
        </p:txBody>
      </p:sp>
      <p:sp>
        <p:nvSpPr>
          <p:cNvPr id="43013" name="TextBox 2"/>
          <p:cNvSpPr txBox="1">
            <a:spLocks noChangeArrowheads="1"/>
          </p:cNvSpPr>
          <p:nvPr/>
        </p:nvSpPr>
        <p:spPr bwMode="auto">
          <a:xfrm>
            <a:off x="5148263" y="6021388"/>
            <a:ext cx="3816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defRPr/>
            </a:pPr>
            <a:r>
              <a:rPr lang="en-GB" altLang="en-US" sz="1800" dirty="0" smtClean="0">
                <a:latin typeface="Arial" charset="0"/>
                <a:sym typeface="Wingdings" pitchFamily="2" charset="2"/>
              </a:rPr>
              <a:t> </a:t>
            </a:r>
            <a:r>
              <a:rPr lang="en-GB" altLang="en-US" sz="1800" b="1" dirty="0" smtClean="0">
                <a:solidFill>
                  <a:schemeClr val="tx1">
                    <a:lumMod val="50000"/>
                    <a:lumOff val="50000"/>
                  </a:schemeClr>
                </a:solidFill>
                <a:latin typeface="Arial" charset="0"/>
                <a:sym typeface="Wingdings" pitchFamily="2" charset="2"/>
              </a:rPr>
              <a:t>M_STDU.xls</a:t>
            </a:r>
            <a:r>
              <a:rPr lang="en-GB" altLang="en-US" sz="1800" dirty="0" smtClean="0">
                <a:solidFill>
                  <a:schemeClr val="tx1">
                    <a:lumMod val="50000"/>
                    <a:lumOff val="50000"/>
                  </a:schemeClr>
                </a:solidFill>
                <a:latin typeface="Arial" charset="0"/>
                <a:sym typeface="Wingdings" pitchFamily="2" charset="2"/>
              </a:rPr>
              <a:t> and </a:t>
            </a:r>
            <a:r>
              <a:rPr lang="en-GB" altLang="en-US" sz="1800" b="1" dirty="0" smtClean="0">
                <a:solidFill>
                  <a:schemeClr val="tx1">
                    <a:lumMod val="50000"/>
                    <a:lumOff val="50000"/>
                  </a:schemeClr>
                </a:solidFill>
                <a:latin typeface="Arial" charset="0"/>
                <a:sym typeface="Wingdings" pitchFamily="2" charset="2"/>
              </a:rPr>
              <a:t>M_STDP.xls</a:t>
            </a:r>
            <a:endParaRPr lang="en-GB" altLang="en-US" sz="1800" b="1" dirty="0" smtClean="0">
              <a:solidFill>
                <a:schemeClr val="tx1">
                  <a:lumMod val="50000"/>
                  <a:lumOff val="50000"/>
                </a:schemeClr>
              </a:solidFill>
              <a:latin typeface="Arial" charset="0"/>
            </a:endParaRP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8E5ADCB5-B66C-430E-AB3B-93C72687A5CA}" type="slidenum">
              <a:rPr lang="en-US" smtClean="0"/>
              <a:pPr>
                <a:defRPr/>
              </a:pPr>
              <a:t>39</a:t>
            </a:fld>
            <a:endParaRPr lang="en-US" dirty="0"/>
          </a:p>
        </p:txBody>
      </p:sp>
      <p:sp>
        <p:nvSpPr>
          <p:cNvPr id="50180" name="Rectangle 4"/>
          <p:cNvSpPr>
            <a:spLocks noChangeArrowheads="1"/>
          </p:cNvSpPr>
          <p:nvPr/>
        </p:nvSpPr>
        <p:spPr bwMode="auto">
          <a:xfrm>
            <a:off x="250825" y="200025"/>
            <a:ext cx="8569325" cy="610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 typeface="Wingdings 2" pitchFamily="18" charset="2"/>
              <a:buNone/>
            </a:pPr>
            <a:r>
              <a:rPr lang="en-US" altLang="zh-CN" sz="1800">
                <a:latin typeface="Arial" charset="0"/>
              </a:rPr>
              <a:t>A </a:t>
            </a:r>
            <a:r>
              <a:rPr lang="en-US" altLang="zh-CN" sz="1800" b="1">
                <a:latin typeface="Arial" charset="0"/>
              </a:rPr>
              <a:t>standard portion</a:t>
            </a:r>
            <a:r>
              <a:rPr lang="en-US" altLang="zh-CN" sz="1800">
                <a:latin typeface="Arial" charset="0"/>
              </a:rPr>
              <a:t> is applied when the food is identified but </a:t>
            </a:r>
            <a:r>
              <a:rPr lang="en-US" altLang="zh-CN" sz="1800" u="sng">
                <a:latin typeface="Arial" charset="0"/>
              </a:rPr>
              <a:t>cannot be quantified (“ I added some…”)</a:t>
            </a:r>
            <a:r>
              <a:rPr lang="en-US" altLang="zh-CN" sz="1800">
                <a:latin typeface="Arial" charset="0"/>
              </a:rPr>
              <a:t>.</a:t>
            </a:r>
            <a:r>
              <a:rPr lang="en-GB" altLang="en-US" sz="1800">
                <a:latin typeface="Arial" charset="0"/>
                <a:ea typeface="宋体" pitchFamily="2" charset="-122"/>
              </a:rPr>
              <a:t> This is usually a small quantity. Standard portions do not apply to recipes.</a:t>
            </a:r>
          </a:p>
          <a:p>
            <a:pPr eaLnBrk="1" hangingPunct="1">
              <a:spcBef>
                <a:spcPct val="0"/>
              </a:spcBef>
              <a:buSzTx/>
              <a:buFontTx/>
              <a:buNone/>
            </a:pPr>
            <a:r>
              <a:rPr lang="en-US" altLang="zh-CN" sz="1600">
                <a:latin typeface="Arial" charset="0"/>
              </a:rPr>
              <a:t>Examples:</a:t>
            </a:r>
          </a:p>
          <a:p>
            <a:pPr lvl="2" eaLnBrk="1" hangingPunct="1">
              <a:spcBef>
                <a:spcPct val="0"/>
              </a:spcBef>
              <a:buClrTx/>
              <a:buSzTx/>
              <a:buFontTx/>
              <a:buChar char="-"/>
            </a:pPr>
            <a:r>
              <a:rPr lang="en-US" altLang="zh-CN" sz="1600">
                <a:latin typeface="Arial" charset="0"/>
              </a:rPr>
              <a:t> melted/grated cheese on pasta </a:t>
            </a:r>
          </a:p>
          <a:p>
            <a:pPr lvl="2" eaLnBrk="1" hangingPunct="1">
              <a:spcBef>
                <a:spcPct val="0"/>
              </a:spcBef>
              <a:buClrTx/>
              <a:buSzTx/>
              <a:buFontTx/>
              <a:buChar char="-"/>
            </a:pPr>
            <a:r>
              <a:rPr lang="en-GB" altLang="en-US" sz="1600">
                <a:latin typeface="Arial" charset="0"/>
                <a:ea typeface="宋体" pitchFamily="2" charset="-122"/>
              </a:rPr>
              <a:t> nuts on ice cream</a:t>
            </a:r>
          </a:p>
          <a:p>
            <a:pPr eaLnBrk="1" hangingPunct="1">
              <a:spcBef>
                <a:spcPct val="0"/>
              </a:spcBef>
              <a:buSzTx/>
              <a:buFontTx/>
              <a:buNone/>
            </a:pPr>
            <a:endParaRPr lang="en-GB" altLang="en-US" sz="1600">
              <a:latin typeface="Arial" charset="0"/>
              <a:ea typeface="宋体" pitchFamily="2" charset="-122"/>
            </a:endParaRPr>
          </a:p>
          <a:p>
            <a:pPr eaLnBrk="1" hangingPunct="1">
              <a:spcBef>
                <a:spcPct val="0"/>
              </a:spcBef>
              <a:buSzTx/>
              <a:buFontTx/>
              <a:buNone/>
            </a:pPr>
            <a:r>
              <a:rPr lang="en-GB" altLang="en-US" sz="1800">
                <a:latin typeface="Arial" charset="0"/>
                <a:ea typeface="宋体" pitchFamily="2" charset="-122"/>
              </a:rPr>
              <a:t>Standard portions are gathered with standard units in </a:t>
            </a:r>
            <a:r>
              <a:rPr lang="en-GB" altLang="en-US" sz="1800" b="1">
                <a:latin typeface="Arial" charset="0"/>
                <a:ea typeface="宋体" pitchFamily="2" charset="-122"/>
              </a:rPr>
              <a:t>FDSTD.end </a:t>
            </a:r>
            <a:r>
              <a:rPr lang="en-GB" altLang="en-US" sz="1800">
                <a:latin typeface="Arial" charset="0"/>
                <a:ea typeface="宋体" pitchFamily="2" charset="-122"/>
              </a:rPr>
              <a:t>so same format.</a:t>
            </a:r>
          </a:p>
          <a:p>
            <a:pPr eaLnBrk="1" hangingPunct="1">
              <a:spcBef>
                <a:spcPct val="0"/>
              </a:spcBef>
              <a:buSzTx/>
              <a:buFontTx/>
              <a:buNone/>
            </a:pPr>
            <a:endParaRPr lang="en-GB" altLang="en-US" sz="1800" b="1">
              <a:latin typeface="Arial" charset="0"/>
              <a:ea typeface="宋体" pitchFamily="2" charset="-122"/>
            </a:endParaRPr>
          </a:p>
          <a:p>
            <a:pPr eaLnBrk="1" hangingPunct="1">
              <a:spcBef>
                <a:spcPct val="0"/>
              </a:spcBef>
              <a:buSzTx/>
              <a:buFontTx/>
              <a:buNone/>
            </a:pPr>
            <a:r>
              <a:rPr lang="en-GB" altLang="en-US" sz="1800" b="1">
                <a:latin typeface="Arial" charset="0"/>
                <a:ea typeface="宋体" pitchFamily="2" charset="-122"/>
              </a:rPr>
              <a:t>Notes: </a:t>
            </a:r>
            <a:endParaRPr lang="en-GB" altLang="en-US" sz="1800">
              <a:latin typeface="Arial" charset="0"/>
              <a:ea typeface="宋体" pitchFamily="2" charset="-122"/>
            </a:endParaRPr>
          </a:p>
          <a:p>
            <a:pPr eaLnBrk="1" hangingPunct="1">
              <a:spcBef>
                <a:spcPct val="0"/>
              </a:spcBef>
              <a:buSzTx/>
              <a:buFontTx/>
              <a:buNone/>
            </a:pPr>
            <a:r>
              <a:rPr lang="en-GB" altLang="en-US" sz="1800">
                <a:latin typeface="Arial" charset="0"/>
                <a:ea typeface="宋体" pitchFamily="2" charset="-122"/>
              </a:rPr>
              <a:t>There is often a confusion in the term ‘standard portion’. In GloboDiet, the goal is to capture the actual portion eaten by the subject on that particular day. Therefore we avoid listing ‘regular/mean/average’ portions which are useful for other types of dietary surveys.</a:t>
            </a:r>
          </a:p>
          <a:p>
            <a:pPr eaLnBrk="1" hangingPunct="1">
              <a:spcBef>
                <a:spcPct val="0"/>
              </a:spcBef>
              <a:buSzTx/>
              <a:buFontTx/>
              <a:buNone/>
            </a:pPr>
            <a:endParaRPr lang="en-GB" altLang="en-US" sz="900">
              <a:latin typeface="Arial" charset="0"/>
              <a:ea typeface="宋体" pitchFamily="2" charset="-122"/>
            </a:endParaRPr>
          </a:p>
          <a:p>
            <a:pPr eaLnBrk="1" hangingPunct="1">
              <a:spcBef>
                <a:spcPct val="0"/>
              </a:spcBef>
              <a:buSzTx/>
              <a:buFontTx/>
              <a:buNone/>
            </a:pPr>
            <a:r>
              <a:rPr lang="en-GB" altLang="en-US" sz="1800">
                <a:latin typeface="Arial" charset="0"/>
                <a:ea typeface="宋体" pitchFamily="2" charset="-122"/>
              </a:rPr>
              <a:t>We are aware that all required information cannot be collected before starting the field work. </a:t>
            </a:r>
            <a:r>
              <a:rPr lang="en-GB" altLang="en-US" sz="1800" b="1">
                <a:latin typeface="Arial" charset="0"/>
                <a:ea typeface="宋体" pitchFamily="2" charset="-122"/>
              </a:rPr>
              <a:t>FDSTD.end</a:t>
            </a:r>
            <a:r>
              <a:rPr lang="en-GB" altLang="en-US" sz="1800">
                <a:latin typeface="Arial" charset="0"/>
                <a:ea typeface="宋体" pitchFamily="2" charset="-122"/>
              </a:rPr>
              <a:t> can always be updated- at regular intervals – to enter new standard units.</a:t>
            </a:r>
          </a:p>
          <a:p>
            <a:pPr eaLnBrk="1" hangingPunct="1">
              <a:spcBef>
                <a:spcPct val="0"/>
              </a:spcBef>
              <a:buSzTx/>
              <a:buFontTx/>
              <a:buNone/>
            </a:pPr>
            <a:endParaRPr lang="en-GB" altLang="en-US" sz="1200">
              <a:latin typeface="Arial" charset="0"/>
              <a:ea typeface="宋体" pitchFamily="2" charset="-122"/>
            </a:endParaRPr>
          </a:p>
          <a:p>
            <a:pPr eaLnBrk="1" hangingPunct="1">
              <a:spcBef>
                <a:spcPct val="0"/>
              </a:spcBef>
              <a:buSzTx/>
              <a:buFontTx/>
              <a:buNone/>
            </a:pPr>
            <a:r>
              <a:rPr lang="en-GB" altLang="en-US" sz="1800">
                <a:latin typeface="Arial" charset="0"/>
                <a:ea typeface="宋体" pitchFamily="2" charset="-122"/>
              </a:rPr>
              <a:t>During the field work, if the item cannot be quantified by means of existing quantification methods, the interviewer should enter an estimate (to avoid missing quantities) and fill the ‘notes’ with as much precision as possible to later allow the coordinators to update the interview with true information.</a:t>
            </a:r>
          </a:p>
        </p:txBody>
      </p:sp>
      <p:sp>
        <p:nvSpPr>
          <p:cNvPr id="5"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3" name="Footer Placeholder 2"/>
          <p:cNvSpPr>
            <a:spLocks noGrp="1"/>
          </p:cNvSpPr>
          <p:nvPr>
            <p:ph type="ftr" sz="quarter" idx="11"/>
          </p:nvPr>
        </p:nvSpPr>
        <p:spPr/>
        <p:txBody>
          <a:bodyPr/>
          <a:lstStyle/>
          <a:p>
            <a:pPr>
              <a:defRPr/>
            </a:pPr>
            <a:r>
              <a:rPr lang="nl-BE" dirty="0" smtClean="0"/>
              <a:t>Maintenance</a:t>
            </a:r>
            <a:endParaRPr lang="en-US" dirty="0"/>
          </a:p>
        </p:txBody>
      </p:sp>
      <p:sp>
        <p:nvSpPr>
          <p:cNvPr id="4" name="Slide Number Placeholder 3"/>
          <p:cNvSpPr>
            <a:spLocks noGrp="1"/>
          </p:cNvSpPr>
          <p:nvPr>
            <p:ph type="sldNum" sz="quarter" idx="12"/>
          </p:nvPr>
        </p:nvSpPr>
        <p:spPr/>
        <p:txBody>
          <a:bodyPr/>
          <a:lstStyle/>
          <a:p>
            <a:pPr>
              <a:defRPr/>
            </a:pPr>
            <a:fld id="{1E8A1801-03E9-4971-94A9-D8B5831F1227}" type="slidenum">
              <a:rPr lang="en-US" smtClean="0"/>
              <a:pPr>
                <a:defRPr/>
              </a:pPr>
              <a:t>40</a:t>
            </a:fld>
            <a:endParaRPr lang="en-US" dirty="0"/>
          </a:p>
        </p:txBody>
      </p:sp>
      <p:sp>
        <p:nvSpPr>
          <p:cNvPr id="51205" name="TextBox 4"/>
          <p:cNvSpPr txBox="1">
            <a:spLocks noChangeArrowheads="1"/>
          </p:cNvSpPr>
          <p:nvPr/>
        </p:nvSpPr>
        <p:spPr bwMode="auto">
          <a:xfrm>
            <a:off x="250825" y="404813"/>
            <a:ext cx="8281988" cy="646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b="1"/>
              <a:t>Summary of work on quantification</a:t>
            </a:r>
          </a:p>
          <a:p>
            <a:pPr eaLnBrk="1" hangingPunct="1"/>
            <a:endParaRPr lang="en-GB" altLang="en-US"/>
          </a:p>
          <a:p>
            <a:pPr eaLnBrk="1" hangingPunct="1"/>
            <a:r>
              <a:rPr lang="en-GB" altLang="en-US" u="sng">
                <a:solidFill>
                  <a:srgbClr val="2A89C4"/>
                </a:solidFill>
              </a:rPr>
              <a:t>Common</a:t>
            </a:r>
          </a:p>
          <a:p>
            <a:pPr eaLnBrk="1" hangingPunct="1"/>
            <a:endParaRPr lang="en-GB" altLang="en-US">
              <a:solidFill>
                <a:srgbClr val="2A89C4"/>
              </a:solidFill>
            </a:endParaRPr>
          </a:p>
          <a:p>
            <a:pPr eaLnBrk="1" hangingPunct="1"/>
            <a:r>
              <a:rPr lang="en-GB" altLang="en-US">
                <a:solidFill>
                  <a:srgbClr val="2A89C4"/>
                </a:solidFill>
              </a:rPr>
              <a:t>	List of </a:t>
            </a:r>
            <a:r>
              <a:rPr lang="en-GB" altLang="en-US">
                <a:solidFill>
                  <a:srgbClr val="2780B7"/>
                </a:solidFill>
              </a:rPr>
              <a:t>PHOTOS		FDCLASS	</a:t>
            </a:r>
          </a:p>
          <a:p>
            <a:pPr eaLnBrk="1" hangingPunct="1"/>
            <a:endParaRPr lang="en-GB" altLang="en-US">
              <a:solidFill>
                <a:srgbClr val="2780B7"/>
              </a:solidFill>
            </a:endParaRPr>
          </a:p>
          <a:p>
            <a:pPr eaLnBrk="1" hangingPunct="1"/>
            <a:endParaRPr lang="en-GB" altLang="en-US">
              <a:solidFill>
                <a:srgbClr val="2780B7"/>
              </a:solidFill>
            </a:endParaRPr>
          </a:p>
          <a:p>
            <a:pPr eaLnBrk="1" hangingPunct="1"/>
            <a:r>
              <a:rPr lang="en-GB" altLang="en-US">
                <a:solidFill>
                  <a:srgbClr val="2780B7"/>
                </a:solidFill>
              </a:rPr>
              <a:t>		FDQMDETAIL (quantification methods by group)</a:t>
            </a:r>
          </a:p>
          <a:p>
            <a:pPr eaLnBrk="1" hangingPunct="1"/>
            <a:endParaRPr lang="en-GB" altLang="en-US"/>
          </a:p>
          <a:p>
            <a:pPr eaLnBrk="1" hangingPunct="1"/>
            <a:endParaRPr lang="en-GB" altLang="en-US"/>
          </a:p>
          <a:p>
            <a:pPr eaLnBrk="1" hangingPunct="1"/>
            <a:endParaRPr lang="en-GB" altLang="en-US"/>
          </a:p>
          <a:p>
            <a:pPr eaLnBrk="1" hangingPunct="1"/>
            <a:r>
              <a:rPr lang="en-GB" altLang="en-US" u="sng">
                <a:solidFill>
                  <a:srgbClr val="00B050"/>
                </a:solidFill>
              </a:rPr>
              <a:t>Country-specific</a:t>
            </a:r>
          </a:p>
          <a:p>
            <a:pPr eaLnBrk="1" hangingPunct="1"/>
            <a:endParaRPr lang="en-GB" altLang="en-US">
              <a:solidFill>
                <a:srgbClr val="00B050"/>
              </a:solidFill>
            </a:endParaRPr>
          </a:p>
          <a:p>
            <a:pPr eaLnBrk="1" hangingPunct="1"/>
            <a:r>
              <a:rPr lang="en-GB" altLang="en-US">
                <a:solidFill>
                  <a:srgbClr val="00B050"/>
                </a:solidFill>
              </a:rPr>
              <a:t>List of SHAPES			FDLIST	</a:t>
            </a:r>
          </a:p>
          <a:p>
            <a:pPr eaLnBrk="1" hangingPunct="1"/>
            <a:endParaRPr lang="en-GB" altLang="en-US">
              <a:solidFill>
                <a:srgbClr val="00B050"/>
              </a:solidFill>
            </a:endParaRPr>
          </a:p>
          <a:p>
            <a:pPr eaLnBrk="1" hangingPunct="1"/>
            <a:r>
              <a:rPr lang="en-GB" altLang="en-US">
                <a:solidFill>
                  <a:srgbClr val="00B050"/>
                </a:solidFill>
              </a:rPr>
              <a:t>List of HHM</a:t>
            </a:r>
          </a:p>
          <a:p>
            <a:pPr eaLnBrk="1" hangingPunct="1"/>
            <a:r>
              <a:rPr lang="en-GB" altLang="en-US">
                <a:solidFill>
                  <a:srgbClr val="00B050"/>
                </a:solidFill>
              </a:rPr>
              <a:t>			FDQUANT (quantification methods by food)</a:t>
            </a:r>
          </a:p>
          <a:p>
            <a:pPr eaLnBrk="1" hangingPunct="1"/>
            <a:r>
              <a:rPr lang="en-GB" altLang="en-US">
                <a:solidFill>
                  <a:srgbClr val="00B050"/>
                </a:solidFill>
              </a:rPr>
              <a:t>List of THICKNESSes</a:t>
            </a:r>
          </a:p>
          <a:p>
            <a:pPr eaLnBrk="1" hangingPunct="1"/>
            <a:r>
              <a:rPr lang="en-GB" altLang="en-US">
                <a:solidFill>
                  <a:srgbClr val="00B050"/>
                </a:solidFill>
              </a:rPr>
              <a:t>		</a:t>
            </a:r>
          </a:p>
          <a:p>
            <a:pPr eaLnBrk="1" hangingPunct="1"/>
            <a:r>
              <a:rPr lang="en-GB" altLang="en-US">
                <a:solidFill>
                  <a:srgbClr val="00B050"/>
                </a:solidFill>
              </a:rPr>
              <a:t>			FDSTD</a:t>
            </a:r>
          </a:p>
          <a:p>
            <a:pPr eaLnBrk="1" hangingPunct="1"/>
            <a:endParaRPr lang="en-GB" altLang="en-US">
              <a:solidFill>
                <a:srgbClr val="00B050"/>
              </a:solidFill>
            </a:endParaRPr>
          </a:p>
          <a:p>
            <a:pPr eaLnBrk="1" hangingPunct="1"/>
            <a:endParaRPr lang="en-GB" altLang="en-US"/>
          </a:p>
          <a:p>
            <a:pPr eaLnBrk="1" hangingPunct="1"/>
            <a:endParaRPr lang="en-GB" altLang="en-US"/>
          </a:p>
        </p:txBody>
      </p:sp>
      <p:cxnSp>
        <p:nvCxnSpPr>
          <p:cNvPr id="8" name="Straight Arrow Connector 7"/>
          <p:cNvCxnSpPr/>
          <p:nvPr/>
        </p:nvCxnSpPr>
        <p:spPr>
          <a:xfrm flipH="1">
            <a:off x="3635375" y="1858963"/>
            <a:ext cx="768350" cy="41751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411413" y="1844675"/>
            <a:ext cx="431800" cy="431800"/>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627313" y="2708275"/>
            <a:ext cx="720725" cy="20161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3708400" y="4292600"/>
            <a:ext cx="576263" cy="431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1979613" y="4222750"/>
            <a:ext cx="1008062" cy="573088"/>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408363" y="5157788"/>
            <a:ext cx="0" cy="431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824038" y="4314825"/>
            <a:ext cx="1163637" cy="1490663"/>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CCBE906F-E9AD-4303-8F3F-28936AA7968C}" type="slidenum">
              <a:rPr lang="en-US" smtClean="0"/>
              <a:pPr>
                <a:defRPr/>
              </a:pPr>
              <a:t>41</a:t>
            </a:fld>
            <a:endParaRPr lang="en-US" dirty="0"/>
          </a:p>
        </p:txBody>
      </p:sp>
      <p:sp>
        <p:nvSpPr>
          <p:cNvPr id="52228" name="TextBox 4"/>
          <p:cNvSpPr txBox="1">
            <a:spLocks noChangeArrowheads="1"/>
          </p:cNvSpPr>
          <p:nvPr/>
        </p:nvSpPr>
        <p:spPr bwMode="auto">
          <a:xfrm>
            <a:off x="2700338" y="2565400"/>
            <a:ext cx="4032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2400">
                <a:latin typeface="Arial" charset="0"/>
              </a:rPr>
              <a:t>Coefficients used to calculate the consumed quantities </a:t>
            </a: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B39A468B-9E33-4344-82B9-85D95906B2C5}" type="slidenum">
              <a:rPr lang="en-US" smtClean="0"/>
              <a:pPr>
                <a:defRPr/>
              </a:pPr>
              <a:t>42</a:t>
            </a:fld>
            <a:endParaRPr lang="en-US" dirty="0"/>
          </a:p>
        </p:txBody>
      </p:sp>
      <p:sp>
        <p:nvSpPr>
          <p:cNvPr id="6" name="TextBox 5"/>
          <p:cNvSpPr txBox="1"/>
          <p:nvPr/>
        </p:nvSpPr>
        <p:spPr>
          <a:xfrm>
            <a:off x="2987675" y="331788"/>
            <a:ext cx="5976938" cy="5354637"/>
          </a:xfrm>
          <a:prstGeom prst="rect">
            <a:avLst/>
          </a:prstGeom>
          <a:noFill/>
        </p:spPr>
        <p:txBody>
          <a:bodyPr>
            <a:spAutoFit/>
          </a:bodyPr>
          <a:lstStyle/>
          <a:p>
            <a:pPr>
              <a:defRPr/>
            </a:pPr>
            <a:r>
              <a:rPr lang="en-GB" dirty="0" err="1"/>
              <a:t>GloboDiet</a:t>
            </a:r>
            <a:r>
              <a:rPr lang="en-GB" dirty="0"/>
              <a:t> automatically calculates the consumed weights of the food items. This implies using a series of coefficients</a:t>
            </a:r>
          </a:p>
          <a:p>
            <a:pPr marL="285750" indent="-285750">
              <a:buFontTx/>
              <a:buChar char="-"/>
              <a:defRPr/>
            </a:pPr>
            <a:r>
              <a:rPr lang="en-GB" u="sng" dirty="0"/>
              <a:t>Density </a:t>
            </a:r>
            <a:r>
              <a:rPr lang="en-GB" dirty="0"/>
              <a:t>factor to convert volume in cm</a:t>
            </a:r>
            <a:r>
              <a:rPr lang="en-GB" baseline="30000" dirty="0"/>
              <a:t>3</a:t>
            </a:r>
            <a:r>
              <a:rPr lang="en-GB" dirty="0"/>
              <a:t> to weight in g</a:t>
            </a:r>
          </a:p>
          <a:p>
            <a:pPr marL="285750" indent="-285750">
              <a:buFontTx/>
              <a:buChar char="-"/>
              <a:defRPr/>
            </a:pPr>
            <a:r>
              <a:rPr lang="en-GB" u="sng" dirty="0"/>
              <a:t>RAW-to-COOKED </a:t>
            </a:r>
            <a:r>
              <a:rPr lang="en-GB" dirty="0"/>
              <a:t>coefficient </a:t>
            </a:r>
          </a:p>
          <a:p>
            <a:pPr marL="285750" indent="-285750">
              <a:buFontTx/>
              <a:buChar char="-"/>
              <a:defRPr/>
            </a:pPr>
            <a:r>
              <a:rPr lang="en-GB" u="sng" dirty="0"/>
              <a:t>Edible part </a:t>
            </a:r>
            <a:r>
              <a:rPr lang="en-GB" dirty="0"/>
              <a:t>coefficient (5% waste gives 0.95)</a:t>
            </a:r>
          </a:p>
          <a:p>
            <a:pPr marL="285750" indent="-285750">
              <a:buFontTx/>
              <a:buChar char="-"/>
              <a:defRPr/>
            </a:pPr>
            <a:r>
              <a:rPr lang="en-GB" dirty="0"/>
              <a:t>Standard percentages of fats/sauces/sweeteners (FSS)</a:t>
            </a:r>
          </a:p>
          <a:p>
            <a:pPr marL="285750" indent="-285750">
              <a:buFontTx/>
              <a:buChar char="-"/>
              <a:defRPr/>
            </a:pPr>
            <a:r>
              <a:rPr lang="en-GB" dirty="0"/>
              <a:t>Standard percentages of fats/sauces left in the dish</a:t>
            </a:r>
          </a:p>
          <a:p>
            <a:pPr marL="285750" indent="-285750">
              <a:buFontTx/>
              <a:buChar char="-"/>
              <a:defRPr/>
            </a:pPr>
            <a:endParaRPr lang="en-GB" dirty="0"/>
          </a:p>
          <a:p>
            <a:pPr marL="285750" indent="-285750">
              <a:buFontTx/>
              <a:buChar char="-"/>
              <a:defRPr/>
            </a:pPr>
            <a:r>
              <a:rPr lang="en-GB" dirty="0"/>
              <a:t>Standard percentages of fat absorbed during cooking</a:t>
            </a:r>
          </a:p>
          <a:p>
            <a:pPr marL="285750" indent="-285750">
              <a:buFontTx/>
              <a:buChar char="-"/>
              <a:defRPr/>
            </a:pPr>
            <a:endParaRPr lang="en-GB" dirty="0"/>
          </a:p>
          <a:p>
            <a:pPr>
              <a:defRPr/>
            </a:pPr>
            <a:r>
              <a:rPr lang="en-GB" dirty="0"/>
              <a:t>These are applied depending on the context. For example, for photo 2, in M_PHOTOS, the </a:t>
            </a:r>
            <a:r>
              <a:rPr lang="en-GB" u="sng" dirty="0"/>
              <a:t>weights</a:t>
            </a:r>
            <a:r>
              <a:rPr lang="en-GB" dirty="0"/>
              <a:t> are entered </a:t>
            </a:r>
          </a:p>
          <a:p>
            <a:pPr marL="342900" indent="-342900">
              <a:buFont typeface="+mj-lt"/>
              <a:buAutoNum type="arabicPeriod"/>
              <a:defRPr/>
            </a:pPr>
            <a:r>
              <a:rPr lang="en-GB" dirty="0"/>
              <a:t>as cooked so no need to use a RAW to COOKED coefficient</a:t>
            </a:r>
          </a:p>
          <a:p>
            <a:pPr marL="342900" indent="-342900">
              <a:buFont typeface="+mj-lt"/>
              <a:buAutoNum type="arabicPeriod"/>
              <a:defRPr/>
            </a:pPr>
            <a:r>
              <a:rPr lang="en-GB" dirty="0"/>
              <a:t>As all edible no need to use an EDIBLE PART coefficient</a:t>
            </a:r>
          </a:p>
        </p:txBody>
      </p:sp>
      <p:pic>
        <p:nvPicPr>
          <p:cNvPr id="53253" name="Picture 2"/>
          <p:cNvPicPr>
            <a:picLocks noChangeAspect="1" noChangeArrowheads="1"/>
          </p:cNvPicPr>
          <p:nvPr/>
        </p:nvPicPr>
        <p:blipFill>
          <a:blip r:embed="rId2">
            <a:extLst>
              <a:ext uri="{28A0092B-C50C-407E-A947-70E740481C1C}">
                <a14:useLocalDpi xmlns:a14="http://schemas.microsoft.com/office/drawing/2010/main" val="0"/>
              </a:ext>
            </a:extLst>
          </a:blip>
          <a:srcRect r="37085"/>
          <a:stretch>
            <a:fillRect/>
          </a:stretch>
        </p:blipFill>
        <p:spPr bwMode="auto">
          <a:xfrm>
            <a:off x="107950" y="995363"/>
            <a:ext cx="287655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p:cNvSpPr/>
          <p:nvPr/>
        </p:nvSpPr>
        <p:spPr>
          <a:xfrm>
            <a:off x="-36513" y="3357563"/>
            <a:ext cx="2876551" cy="129540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0000"/>
              </a:solidFill>
            </a:endParaRPr>
          </a:p>
        </p:txBody>
      </p:sp>
      <p:sp>
        <p:nvSpPr>
          <p:cNvPr id="7"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CCACA950-76C0-4504-B201-78CD215B540C}" type="slidenum">
              <a:rPr lang="en-US" smtClean="0"/>
              <a:pPr>
                <a:defRPr/>
              </a:pPr>
              <a:t>43</a:t>
            </a:fld>
            <a:endParaRPr lang="en-US" dirty="0"/>
          </a:p>
        </p:txBody>
      </p:sp>
      <p:sp>
        <p:nvSpPr>
          <p:cNvPr id="5" name="TextBox 4"/>
          <p:cNvSpPr txBox="1"/>
          <p:nvPr/>
        </p:nvSpPr>
        <p:spPr>
          <a:xfrm>
            <a:off x="250825" y="188913"/>
            <a:ext cx="8713788" cy="6556375"/>
          </a:xfrm>
          <a:prstGeom prst="rect">
            <a:avLst/>
          </a:prstGeom>
          <a:noFill/>
        </p:spPr>
        <p:txBody>
          <a:bodyPr>
            <a:spAutoFit/>
          </a:bodyPr>
          <a:lstStyle/>
          <a:p>
            <a:pPr>
              <a:defRPr/>
            </a:pPr>
            <a:r>
              <a:rPr lang="en-GB" b="1" dirty="0"/>
              <a:t>Note: </a:t>
            </a:r>
            <a:r>
              <a:rPr lang="en-GB" dirty="0"/>
              <a:t>IARC proposes coefficient files from other projects/countries.</a:t>
            </a:r>
            <a:endParaRPr lang="en-GB" b="1" dirty="0"/>
          </a:p>
          <a:p>
            <a:pPr>
              <a:defRPr/>
            </a:pPr>
            <a:endParaRPr lang="en-GB" sz="800" b="1" dirty="0"/>
          </a:p>
          <a:p>
            <a:pPr>
              <a:defRPr/>
            </a:pPr>
            <a:r>
              <a:rPr lang="en-GB" b="1" dirty="0"/>
              <a:t>DENSITY</a:t>
            </a:r>
          </a:p>
          <a:p>
            <a:pPr>
              <a:defRPr/>
            </a:pPr>
            <a:r>
              <a:rPr lang="en-GB" dirty="0"/>
              <a:t>At least one density coefficient has to be provided per food and recipe as the method Volume is always available to quantify, this is especially relevant when quantifying by </a:t>
            </a:r>
            <a:r>
              <a:rPr lang="en-GB" u="sng" dirty="0"/>
              <a:t>household measures and shapes (thickness)</a:t>
            </a:r>
            <a:r>
              <a:rPr lang="en-GB" dirty="0"/>
              <a:t>.</a:t>
            </a:r>
          </a:p>
          <a:p>
            <a:pPr>
              <a:defRPr/>
            </a:pPr>
            <a:r>
              <a:rPr lang="en-GB" dirty="0">
                <a:solidFill>
                  <a:schemeClr val="tx1">
                    <a:lumMod val="50000"/>
                    <a:lumOff val="50000"/>
                  </a:schemeClr>
                </a:solidFill>
              </a:rPr>
              <a:t>File </a:t>
            </a:r>
            <a:r>
              <a:rPr lang="en-GB" b="1" dirty="0">
                <a:solidFill>
                  <a:schemeClr val="tx1">
                    <a:lumMod val="50000"/>
                    <a:lumOff val="50000"/>
                  </a:schemeClr>
                </a:solidFill>
              </a:rPr>
              <a:t>DENSITY.xls</a:t>
            </a:r>
            <a:r>
              <a:rPr lang="en-GB" dirty="0">
                <a:solidFill>
                  <a:schemeClr val="tx1">
                    <a:lumMod val="50000"/>
                    <a:lumOff val="50000"/>
                  </a:schemeClr>
                </a:solidFill>
              </a:rPr>
              <a:t> which gather </a:t>
            </a:r>
            <a:r>
              <a:rPr lang="en-GB" b="1" dirty="0" err="1">
                <a:solidFill>
                  <a:schemeClr val="tx1">
                    <a:lumMod val="50000"/>
                    <a:lumOff val="50000"/>
                  </a:schemeClr>
                </a:solidFill>
              </a:rPr>
              <a:t>DENSITY.end</a:t>
            </a:r>
            <a:r>
              <a:rPr lang="en-GB" dirty="0">
                <a:solidFill>
                  <a:schemeClr val="tx1">
                    <a:lumMod val="50000"/>
                    <a:lumOff val="50000"/>
                  </a:schemeClr>
                </a:solidFill>
              </a:rPr>
              <a:t> and </a:t>
            </a:r>
            <a:r>
              <a:rPr lang="en-GB" b="1" dirty="0" err="1">
                <a:solidFill>
                  <a:schemeClr val="tx1">
                    <a:lumMod val="50000"/>
                    <a:lumOff val="50000"/>
                  </a:schemeClr>
                </a:solidFill>
              </a:rPr>
              <a:t>RCPDENSITY.end</a:t>
            </a:r>
            <a:r>
              <a:rPr lang="en-GB" b="1" dirty="0"/>
              <a:t>.</a:t>
            </a:r>
          </a:p>
          <a:p>
            <a:pPr>
              <a:defRPr/>
            </a:pPr>
            <a:endParaRPr lang="en-GB" sz="800" dirty="0"/>
          </a:p>
          <a:p>
            <a:pPr>
              <a:defRPr/>
            </a:pPr>
            <a:r>
              <a:rPr lang="en-GB" dirty="0"/>
              <a:t>For each food, several coefficients may be provided depending on </a:t>
            </a:r>
          </a:p>
          <a:p>
            <a:pPr marL="285750" indent="-285750">
              <a:buFont typeface="Arial" pitchFamily="34" charset="0"/>
              <a:buChar char="•"/>
              <a:defRPr/>
            </a:pPr>
            <a:r>
              <a:rPr lang="en-GB" dirty="0"/>
              <a:t>the food description, e.g. physical state (liquid vs. powder vs. concentrated), preservation method  (fresh vs. dried), cooking method (raw vs. cooked)…</a:t>
            </a:r>
          </a:p>
          <a:p>
            <a:pPr marL="285750" indent="-285750">
              <a:buFont typeface="Arial" pitchFamily="34" charset="0"/>
              <a:buChar char="•"/>
              <a:defRPr/>
            </a:pPr>
            <a:r>
              <a:rPr lang="en-GB" dirty="0"/>
              <a:t>the </a:t>
            </a:r>
            <a:r>
              <a:rPr lang="en-GB" u="sng" dirty="0"/>
              <a:t>edible part when quantified</a:t>
            </a:r>
            <a:r>
              <a:rPr lang="en-GB" dirty="0"/>
              <a:t>, e.g. mussels with (‘I:’) and without shells (‘E:’)</a:t>
            </a:r>
          </a:p>
          <a:p>
            <a:pPr marL="285750" indent="-285750">
              <a:buFont typeface="Arial" pitchFamily="34" charset="0"/>
              <a:buChar char="•"/>
              <a:defRPr/>
            </a:pPr>
            <a:r>
              <a:rPr lang="en-GB" dirty="0"/>
              <a:t>the </a:t>
            </a:r>
            <a:r>
              <a:rPr lang="en-GB" u="sng" dirty="0"/>
              <a:t>cooking status when quantified</a:t>
            </a:r>
            <a:r>
              <a:rPr lang="en-GB" dirty="0"/>
              <a:t>, e.g. raw rice (‘R:’) vs. cooked rice (‘C:’)</a:t>
            </a:r>
          </a:p>
          <a:p>
            <a:pPr>
              <a:defRPr/>
            </a:pPr>
            <a:r>
              <a:rPr lang="en-GB" dirty="0"/>
              <a:t>in a defined order – read carefully the specific guidelines.</a:t>
            </a:r>
          </a:p>
          <a:p>
            <a:pPr marL="285750" indent="-285750">
              <a:buFont typeface="Arial" pitchFamily="34" charset="0"/>
              <a:buChar char="•"/>
              <a:defRPr/>
            </a:pPr>
            <a:endParaRPr lang="en-GB" sz="800" dirty="0"/>
          </a:p>
          <a:p>
            <a:pPr>
              <a:defRPr/>
            </a:pPr>
            <a:r>
              <a:rPr lang="en-GB" dirty="0"/>
              <a:t>For recipes, one coefficient is enough as there is no variation expected.</a:t>
            </a:r>
          </a:p>
          <a:p>
            <a:pPr>
              <a:defRPr/>
            </a:pPr>
            <a:endParaRPr lang="en-GB" sz="800" dirty="0"/>
          </a:p>
          <a:p>
            <a:pPr>
              <a:defRPr/>
            </a:pPr>
            <a:r>
              <a:rPr lang="en-GB" b="1" dirty="0"/>
              <a:t>EDIBLE PART</a:t>
            </a:r>
          </a:p>
          <a:p>
            <a:pPr>
              <a:defRPr/>
            </a:pPr>
            <a:r>
              <a:rPr lang="en-GB" dirty="0"/>
              <a:t>For </a:t>
            </a:r>
            <a:r>
              <a:rPr lang="en-GB" u="sng" dirty="0"/>
              <a:t>foods </a:t>
            </a:r>
            <a:r>
              <a:rPr lang="en-GB" dirty="0"/>
              <a:t>for which it applies, edible part coefficients have to be provided. They may depend on food description, e.g. preservation method  (fresh vs. canned).</a:t>
            </a:r>
          </a:p>
          <a:p>
            <a:pPr>
              <a:defRPr/>
            </a:pPr>
            <a:r>
              <a:rPr lang="en-GB" dirty="0"/>
              <a:t>File </a:t>
            </a:r>
            <a:r>
              <a:rPr lang="en-GB" b="1" dirty="0" err="1"/>
              <a:t>EDIB.end</a:t>
            </a:r>
            <a:r>
              <a:rPr lang="en-GB" dirty="0"/>
              <a:t> enables to list one coefficient per food. </a:t>
            </a:r>
          </a:p>
          <a:p>
            <a:pPr>
              <a:defRPr/>
            </a:pPr>
            <a:r>
              <a:rPr lang="en-GB" dirty="0">
                <a:solidFill>
                  <a:schemeClr val="tx1">
                    <a:lumMod val="50000"/>
                    <a:lumOff val="50000"/>
                  </a:schemeClr>
                </a:solidFill>
              </a:rPr>
              <a:t>File </a:t>
            </a:r>
            <a:r>
              <a:rPr lang="en-GB" b="1" dirty="0">
                <a:solidFill>
                  <a:schemeClr val="tx1">
                    <a:lumMod val="50000"/>
                    <a:lumOff val="50000"/>
                  </a:schemeClr>
                </a:solidFill>
              </a:rPr>
              <a:t>EDIBLEP.xls</a:t>
            </a:r>
            <a:r>
              <a:rPr lang="en-GB" dirty="0">
                <a:solidFill>
                  <a:schemeClr val="tx1">
                    <a:lumMod val="50000"/>
                    <a:lumOff val="50000"/>
                  </a:schemeClr>
                </a:solidFill>
              </a:rPr>
              <a:t> enables to list several coefficients – maintained by IARC. </a:t>
            </a:r>
          </a:p>
          <a:p>
            <a:pPr>
              <a:defRPr/>
            </a:pPr>
            <a:r>
              <a:rPr lang="en-GB" sz="1600" dirty="0">
                <a:solidFill>
                  <a:schemeClr val="tx1">
                    <a:lumMod val="50000"/>
                    <a:lumOff val="50000"/>
                  </a:schemeClr>
                </a:solidFill>
              </a:rPr>
              <a:t>	- apple with skin or not (facet 13)</a:t>
            </a:r>
          </a:p>
          <a:p>
            <a:pPr>
              <a:defRPr/>
            </a:pPr>
            <a:r>
              <a:rPr lang="en-GB" sz="1600" dirty="0">
                <a:solidFill>
                  <a:schemeClr val="tx1">
                    <a:lumMod val="50000"/>
                    <a:lumOff val="50000"/>
                  </a:schemeClr>
                </a:solidFill>
              </a:rPr>
              <a:t>	- meat with visible fat or not (facet 14) </a:t>
            </a:r>
          </a:p>
          <a:p>
            <a:pPr>
              <a:defRPr/>
            </a:pPr>
            <a:r>
              <a:rPr lang="en-GB" sz="1600" dirty="0"/>
              <a:t>For each case, you have to define a default; for example ‘default = without skin’ vs. ‘1302 with’</a:t>
            </a:r>
          </a:p>
          <a:p>
            <a:pPr>
              <a:defRPr/>
            </a:pPr>
            <a:endParaRPr lang="en-GB" sz="1600" dirty="0"/>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smtClean="0"/>
              <a:t>Maintenance</a:t>
            </a:r>
            <a:endParaRPr lang="en-GB"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E823097E-E3B9-4927-9C32-6CA2ABA6F20F}" type="slidenum">
              <a:rPr lang="en-US" smtClean="0"/>
              <a:pPr>
                <a:defRPr/>
              </a:pPr>
              <a:t>44</a:t>
            </a:fld>
            <a:endParaRPr lang="en-US" dirty="0"/>
          </a:p>
        </p:txBody>
      </p:sp>
      <p:sp>
        <p:nvSpPr>
          <p:cNvPr id="5" name="TextBox 4"/>
          <p:cNvSpPr txBox="1"/>
          <p:nvPr/>
        </p:nvSpPr>
        <p:spPr>
          <a:xfrm>
            <a:off x="250825" y="611188"/>
            <a:ext cx="8569325" cy="5078412"/>
          </a:xfrm>
          <a:prstGeom prst="rect">
            <a:avLst/>
          </a:prstGeom>
          <a:noFill/>
        </p:spPr>
        <p:txBody>
          <a:bodyPr>
            <a:spAutoFit/>
          </a:bodyPr>
          <a:lstStyle/>
          <a:p>
            <a:pPr>
              <a:defRPr/>
            </a:pPr>
            <a:r>
              <a:rPr lang="en-GB" b="1" dirty="0"/>
              <a:t>RAW-to-COOKED </a:t>
            </a:r>
            <a:r>
              <a:rPr lang="en-GB" dirty="0"/>
              <a:t>coefficients for foods/ingredients, not for recipes.</a:t>
            </a:r>
          </a:p>
          <a:p>
            <a:pPr>
              <a:defRPr/>
            </a:pPr>
            <a:endParaRPr lang="en-GB" dirty="0"/>
          </a:p>
          <a:p>
            <a:pPr>
              <a:defRPr/>
            </a:pPr>
            <a:r>
              <a:rPr lang="en-GB" dirty="0"/>
              <a:t>Only foods having facet Cooking method are listed in the file </a:t>
            </a:r>
            <a:r>
              <a:rPr lang="en-GB" b="1" dirty="0" err="1"/>
              <a:t>RAWCOOK.end</a:t>
            </a:r>
            <a:r>
              <a:rPr lang="en-GB" b="1" dirty="0"/>
              <a:t>.</a:t>
            </a:r>
          </a:p>
          <a:p>
            <a:pPr>
              <a:defRPr/>
            </a:pPr>
            <a:endParaRPr lang="en-GB" dirty="0"/>
          </a:p>
          <a:p>
            <a:pPr>
              <a:defRPr/>
            </a:pPr>
            <a:r>
              <a:rPr lang="en-GB" dirty="0"/>
              <a:t>To ease the work, cooking method descriptors are grouped in several sets of similar expected weight loss/gains.</a:t>
            </a:r>
          </a:p>
          <a:p>
            <a:pPr>
              <a:defRPr/>
            </a:pPr>
            <a:endParaRPr lang="en-GB" dirty="0"/>
          </a:p>
          <a:p>
            <a:pPr>
              <a:defRPr/>
            </a:pPr>
            <a:r>
              <a:rPr lang="en-GB" dirty="0"/>
              <a:t>In </a:t>
            </a:r>
            <a:r>
              <a:rPr lang="en-GB" b="1" dirty="0" err="1"/>
              <a:t>RAWCOOK.end</a:t>
            </a:r>
            <a:r>
              <a:rPr lang="en-GB" dirty="0"/>
              <a:t>, there are different columns</a:t>
            </a:r>
          </a:p>
          <a:p>
            <a:pPr marL="285750" indent="-285750">
              <a:buFontTx/>
              <a:buChar char="-"/>
              <a:defRPr/>
            </a:pPr>
            <a:r>
              <a:rPr lang="en-GB" dirty="0"/>
              <a:t>Default value</a:t>
            </a:r>
          </a:p>
          <a:p>
            <a:pPr marL="285750" indent="-285750">
              <a:buFontTx/>
              <a:buChar char="-"/>
              <a:defRPr/>
            </a:pPr>
            <a:r>
              <a:rPr lang="en-GB" dirty="0"/>
              <a:t>Wet category ‘boiled/</a:t>
            </a:r>
            <a:r>
              <a:rPr lang="en-GB" dirty="0">
                <a:sym typeface="Wingdings" pitchFamily="2" charset="2"/>
              </a:rPr>
              <a:t>BO’</a:t>
            </a:r>
            <a:endParaRPr lang="en-GB" dirty="0"/>
          </a:p>
          <a:p>
            <a:pPr marL="285750" indent="-285750">
              <a:buFontTx/>
              <a:buChar char="-"/>
              <a:defRPr/>
            </a:pPr>
            <a:r>
              <a:rPr lang="en-GB" dirty="0"/>
              <a:t>Dry category ‘baked/BA’ and ‘roasted/RO’ (tendency to group them now)</a:t>
            </a:r>
          </a:p>
          <a:p>
            <a:pPr marL="285750" indent="-285750">
              <a:buFontTx/>
              <a:buChar char="-"/>
              <a:defRPr/>
            </a:pPr>
            <a:r>
              <a:rPr lang="en-GB" dirty="0"/>
              <a:t>Fry category ‘Fried/FR’: for those cooking methods, the regular raw-to-cooked coefficients cannot be used as such as the absorbed fat is included in those coefficients. Fat update has to be deducted to get the coefficient used in </a:t>
            </a:r>
            <a:r>
              <a:rPr lang="en-GB" dirty="0" err="1"/>
              <a:t>GloboDiet</a:t>
            </a:r>
            <a:r>
              <a:rPr lang="en-GB" dirty="0"/>
              <a:t> (see specific guidelines for the calculations).</a:t>
            </a:r>
          </a:p>
          <a:p>
            <a:pPr marL="285750" indent="-285750">
              <a:buFontTx/>
              <a:buChar char="-"/>
              <a:defRPr/>
            </a:pPr>
            <a:r>
              <a:rPr lang="en-GB" dirty="0"/>
              <a:t>Specific coefficient for 03-98 not applicable: 1.00</a:t>
            </a:r>
          </a:p>
          <a:p>
            <a:pPr marL="285750" indent="-285750">
              <a:buFontTx/>
              <a:buChar char="-"/>
              <a:defRPr/>
            </a:pPr>
            <a:r>
              <a:rPr lang="en-GB" dirty="0"/>
              <a:t>Specific coefficient for 04-03 (or 04-18) dried</a:t>
            </a:r>
          </a:p>
          <a:p>
            <a:pPr>
              <a:defRPr/>
            </a:pPr>
            <a:endParaRPr lang="en-GB" dirty="0"/>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313A611B-E241-43C2-8238-480C00E04471}" type="slidenum">
              <a:rPr lang="en-US" smtClean="0"/>
              <a:pPr>
                <a:defRPr/>
              </a:pPr>
              <a:t>45</a:t>
            </a:fld>
            <a:endParaRPr lang="en-US" dirty="0"/>
          </a:p>
        </p:txBody>
      </p:sp>
      <p:sp>
        <p:nvSpPr>
          <p:cNvPr id="6" name="TextBox 5"/>
          <p:cNvSpPr txBox="1"/>
          <p:nvPr/>
        </p:nvSpPr>
        <p:spPr>
          <a:xfrm>
            <a:off x="611188" y="331788"/>
            <a:ext cx="8137525" cy="6462712"/>
          </a:xfrm>
          <a:prstGeom prst="rect">
            <a:avLst/>
          </a:prstGeom>
          <a:noFill/>
        </p:spPr>
        <p:txBody>
          <a:bodyPr>
            <a:spAutoFit/>
          </a:bodyPr>
          <a:lstStyle/>
          <a:p>
            <a:pPr marL="285750" indent="-285750">
              <a:buFontTx/>
              <a:buChar char="-"/>
              <a:defRPr/>
            </a:pPr>
            <a:endParaRPr lang="en-GB" dirty="0"/>
          </a:p>
          <a:p>
            <a:pPr marL="285750" indent="-285750">
              <a:buFontTx/>
              <a:buChar char="-"/>
              <a:defRPr/>
            </a:pPr>
            <a:endParaRPr lang="en-GB" dirty="0"/>
          </a:p>
          <a:p>
            <a:pPr marL="285750" indent="-285750">
              <a:buFontTx/>
              <a:buChar char="-"/>
              <a:defRPr/>
            </a:pPr>
            <a:endParaRPr lang="en-GB" dirty="0"/>
          </a:p>
          <a:p>
            <a:pPr marL="285750" indent="-285750">
              <a:buFontTx/>
              <a:buChar char="-"/>
              <a:defRPr/>
            </a:pPr>
            <a:endParaRPr lang="en-GB" dirty="0"/>
          </a:p>
          <a:p>
            <a:pPr marL="285750" indent="-285750">
              <a:buFontTx/>
              <a:buChar char="-"/>
              <a:defRPr/>
            </a:pPr>
            <a:endParaRPr lang="en-GB" dirty="0"/>
          </a:p>
          <a:p>
            <a:pPr>
              <a:defRPr/>
            </a:pPr>
            <a:r>
              <a:rPr lang="en-GB" b="1" dirty="0"/>
              <a:t>Percentages of fat absorbed during cooking </a:t>
            </a:r>
          </a:p>
          <a:p>
            <a:pPr>
              <a:defRPr/>
            </a:pPr>
            <a:r>
              <a:rPr lang="en-GB" dirty="0"/>
              <a:t>As subjects are usually unable to quantify absorbed fat, the coordinator needs to provide such percentages to avoid missing quantities.</a:t>
            </a:r>
          </a:p>
          <a:p>
            <a:pPr>
              <a:defRPr/>
            </a:pPr>
            <a:r>
              <a:rPr lang="en-GB" dirty="0"/>
              <a:t>Only foods having the facet Cooking method are listed in the file </a:t>
            </a:r>
            <a:r>
              <a:rPr lang="en-GB" b="1" dirty="0" err="1"/>
              <a:t>PCTFAT.end</a:t>
            </a:r>
            <a:r>
              <a:rPr lang="en-GB" b="1" dirty="0"/>
              <a:t>.</a:t>
            </a:r>
            <a:endParaRPr lang="en-GB" dirty="0"/>
          </a:p>
          <a:p>
            <a:pPr>
              <a:defRPr/>
            </a:pPr>
            <a:r>
              <a:rPr lang="en-GB" dirty="0"/>
              <a:t>To ease the work, cooking method descriptors are grouped in several sets by similar expected absorption of fat.</a:t>
            </a:r>
          </a:p>
          <a:p>
            <a:pPr>
              <a:defRPr/>
            </a:pPr>
            <a:r>
              <a:rPr lang="en-GB" dirty="0"/>
              <a:t>In </a:t>
            </a:r>
            <a:r>
              <a:rPr lang="en-GB" b="1" dirty="0" err="1"/>
              <a:t>PCTFAT.end</a:t>
            </a:r>
            <a:r>
              <a:rPr lang="en-GB" dirty="0"/>
              <a:t>, there are different columns</a:t>
            </a:r>
          </a:p>
          <a:p>
            <a:pPr marL="285750" indent="-285750">
              <a:buFontTx/>
              <a:buChar char="-"/>
              <a:defRPr/>
            </a:pPr>
            <a:r>
              <a:rPr lang="en-GB" dirty="0"/>
              <a:t>Column 1 corresponds to ‘Very fatty’, such as deep fried</a:t>
            </a:r>
          </a:p>
          <a:p>
            <a:pPr marL="285750" indent="-285750">
              <a:buFontTx/>
              <a:buChar char="-"/>
              <a:defRPr/>
            </a:pPr>
            <a:r>
              <a:rPr lang="en-GB" dirty="0"/>
              <a:t>Column 2 corresponds to ‘Fatty’, such as fried in pan</a:t>
            </a:r>
          </a:p>
          <a:p>
            <a:pPr marL="285750" indent="-285750">
              <a:buFontTx/>
              <a:buChar char="-"/>
              <a:defRPr/>
            </a:pPr>
            <a:r>
              <a:rPr lang="en-GB" dirty="0"/>
              <a:t>Column 3 corresponds to ‘Very low fat’, such as stewed</a:t>
            </a:r>
          </a:p>
          <a:p>
            <a:pPr marL="285750" indent="-285750">
              <a:buFontTx/>
              <a:buChar char="-"/>
              <a:defRPr/>
            </a:pPr>
            <a:endParaRPr lang="en-GB" dirty="0"/>
          </a:p>
          <a:p>
            <a:pPr>
              <a:defRPr/>
            </a:pPr>
            <a:r>
              <a:rPr lang="en-GB" dirty="0"/>
              <a:t>Notes:</a:t>
            </a:r>
          </a:p>
          <a:p>
            <a:pPr marL="342900" indent="-342900">
              <a:buFont typeface="+mj-lt"/>
              <a:buAutoNum type="arabicPeriod"/>
              <a:defRPr/>
            </a:pPr>
            <a:r>
              <a:rPr lang="en-GB" dirty="0"/>
              <a:t>Some cooking methods do not absorb fat so no coefficient attached;</a:t>
            </a:r>
          </a:p>
          <a:p>
            <a:pPr marL="342900" indent="-342900">
              <a:buFont typeface="+mj-lt"/>
              <a:buAutoNum type="arabicPeriod"/>
              <a:defRPr/>
            </a:pPr>
            <a:r>
              <a:rPr lang="en-GB" dirty="0"/>
              <a:t>For recipe ingredients, this calculation does not take place – except if the ingredient is deep fried – and the fat used in the recipe is listed as a separate ingredient.</a:t>
            </a:r>
          </a:p>
          <a:p>
            <a:pPr marL="285750" indent="-285750">
              <a:buFontTx/>
              <a:buChar char="-"/>
              <a:defRPr/>
            </a:pPr>
            <a:endParaRPr lang="en-GB" dirty="0"/>
          </a:p>
          <a:p>
            <a:pPr>
              <a:defRPr/>
            </a:pPr>
            <a:endParaRPr lang="en-GB" dirty="0"/>
          </a:p>
        </p:txBody>
      </p:sp>
      <p:pic>
        <p:nvPicPr>
          <p:cNvPr id="56325" name="Picture 6"/>
          <p:cNvPicPr>
            <a:picLocks noChangeAspect="1"/>
          </p:cNvPicPr>
          <p:nvPr/>
        </p:nvPicPr>
        <p:blipFill>
          <a:blip r:embed="rId2">
            <a:extLst>
              <a:ext uri="{28A0092B-C50C-407E-A947-70E740481C1C}">
                <a14:useLocalDpi xmlns:a14="http://schemas.microsoft.com/office/drawing/2010/main" val="0"/>
              </a:ext>
            </a:extLst>
          </a:blip>
          <a:srcRect t="29668" r="43323" b="56976"/>
          <a:stretch>
            <a:fillRect/>
          </a:stretch>
        </p:blipFill>
        <p:spPr bwMode="auto">
          <a:xfrm>
            <a:off x="466725" y="331788"/>
            <a:ext cx="816292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53496377-09CD-4000-A99E-D1A1EEDF60FB}" type="slidenum">
              <a:rPr lang="en-US" smtClean="0"/>
              <a:pPr>
                <a:defRPr/>
              </a:pPr>
              <a:t>46</a:t>
            </a:fld>
            <a:endParaRPr lang="en-US" dirty="0"/>
          </a:p>
        </p:txBody>
      </p:sp>
      <p:sp>
        <p:nvSpPr>
          <p:cNvPr id="52228" name="TextBox 4"/>
          <p:cNvSpPr txBox="1">
            <a:spLocks noChangeArrowheads="1"/>
          </p:cNvSpPr>
          <p:nvPr/>
        </p:nvSpPr>
        <p:spPr bwMode="auto">
          <a:xfrm>
            <a:off x="323850" y="1557338"/>
            <a:ext cx="84963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defRPr/>
            </a:pPr>
            <a:endParaRPr lang="en-GB" altLang="en-US" sz="1800" dirty="0" smtClean="0">
              <a:latin typeface="Arial" charset="0"/>
            </a:endParaRPr>
          </a:p>
          <a:p>
            <a:pPr eaLnBrk="1" hangingPunct="1">
              <a:spcBef>
                <a:spcPct val="0"/>
              </a:spcBef>
              <a:buSzTx/>
              <a:buFontTx/>
              <a:buNone/>
              <a:defRPr/>
            </a:pPr>
            <a:r>
              <a:rPr lang="en-GB" altLang="en-US" sz="1800" dirty="0" smtClean="0">
                <a:latin typeface="Arial" charset="0"/>
              </a:rPr>
              <a:t>Used whenever a fat, sauce or sweetener </a:t>
            </a:r>
            <a:r>
              <a:rPr lang="en-GB" altLang="en-US" sz="1800" u="sng" dirty="0" smtClean="0">
                <a:latin typeface="Arial" charset="0"/>
              </a:rPr>
              <a:t>cannot be quantified</a:t>
            </a:r>
            <a:r>
              <a:rPr lang="en-GB" altLang="en-US" sz="1800" dirty="0" smtClean="0">
                <a:latin typeface="Arial" charset="0"/>
              </a:rPr>
              <a:t> during the interview: linked to quantification method ‘?’.</a:t>
            </a:r>
          </a:p>
          <a:p>
            <a:pPr eaLnBrk="1" hangingPunct="1">
              <a:spcBef>
                <a:spcPct val="0"/>
              </a:spcBef>
              <a:buSzTx/>
              <a:buFontTx/>
              <a:buNone/>
              <a:defRPr/>
            </a:pPr>
            <a:r>
              <a:rPr lang="en-GB" altLang="en-US" sz="1800" dirty="0" smtClean="0">
                <a:latin typeface="Arial" charset="0"/>
              </a:rPr>
              <a:t>In </a:t>
            </a:r>
            <a:r>
              <a:rPr lang="en-GB" altLang="en-US" sz="1800" b="1" dirty="0" smtClean="0">
                <a:latin typeface="Arial" charset="0"/>
              </a:rPr>
              <a:t>.end</a:t>
            </a:r>
            <a:r>
              <a:rPr lang="en-GB" altLang="en-US" sz="1800" dirty="0" smtClean="0">
                <a:latin typeface="Arial" charset="0"/>
              </a:rPr>
              <a:t> files, coefficients are organised in 3 columns</a:t>
            </a:r>
          </a:p>
          <a:p>
            <a:pPr eaLnBrk="1" hangingPunct="1">
              <a:spcBef>
                <a:spcPct val="0"/>
              </a:spcBef>
              <a:buSzTx/>
              <a:buFontTx/>
              <a:buChar char="-"/>
              <a:defRPr/>
            </a:pPr>
            <a:r>
              <a:rPr lang="en-GB" altLang="en-US" sz="1800" dirty="0" smtClean="0">
                <a:latin typeface="Arial" charset="0"/>
              </a:rPr>
              <a:t> </a:t>
            </a:r>
            <a:r>
              <a:rPr lang="en-GB" altLang="en-US" sz="1800" u="sng" dirty="0" smtClean="0">
                <a:latin typeface="Arial" charset="0"/>
              </a:rPr>
              <a:t>Fats:</a:t>
            </a:r>
            <a:r>
              <a:rPr lang="en-GB" altLang="en-US" sz="1800" dirty="0" smtClean="0">
                <a:latin typeface="Arial" charset="0"/>
              </a:rPr>
              <a:t> group 10 and sub-group 0507</a:t>
            </a:r>
          </a:p>
          <a:p>
            <a:pPr eaLnBrk="1" hangingPunct="1">
              <a:spcBef>
                <a:spcPct val="0"/>
              </a:spcBef>
              <a:buSzTx/>
              <a:buFontTx/>
              <a:buChar char="-"/>
              <a:defRPr/>
            </a:pPr>
            <a:r>
              <a:rPr lang="en-GB" altLang="en-US" sz="1800" dirty="0" smtClean="0">
                <a:latin typeface="Arial" charset="0"/>
              </a:rPr>
              <a:t> </a:t>
            </a:r>
            <a:r>
              <a:rPr lang="en-GB" altLang="en-US" sz="1800" u="sng" dirty="0" smtClean="0">
                <a:latin typeface="Arial" charset="0"/>
              </a:rPr>
              <a:t>Sauces:</a:t>
            </a:r>
            <a:r>
              <a:rPr lang="en-GB" altLang="en-US" sz="1800" dirty="0" smtClean="0">
                <a:latin typeface="Arial" charset="0"/>
              </a:rPr>
              <a:t> sub-group 1501</a:t>
            </a:r>
          </a:p>
          <a:p>
            <a:pPr eaLnBrk="1" hangingPunct="1">
              <a:spcBef>
                <a:spcPct val="0"/>
              </a:spcBef>
              <a:buSzTx/>
              <a:buFontTx/>
              <a:buChar char="-"/>
              <a:defRPr/>
            </a:pPr>
            <a:r>
              <a:rPr lang="en-GB" altLang="en-US" sz="1800" dirty="0" smtClean="0">
                <a:latin typeface="Arial" charset="0"/>
              </a:rPr>
              <a:t> </a:t>
            </a:r>
            <a:r>
              <a:rPr lang="en-GB" altLang="en-US" sz="1800" u="sng" dirty="0" smtClean="0">
                <a:latin typeface="Arial" charset="0"/>
              </a:rPr>
              <a:t>Sweeteners:</a:t>
            </a:r>
            <a:r>
              <a:rPr lang="en-GB" altLang="en-US" sz="1800" dirty="0" smtClean="0">
                <a:latin typeface="Arial" charset="0"/>
              </a:rPr>
              <a:t> some sub-groups of group 11</a:t>
            </a:r>
          </a:p>
          <a:p>
            <a:pPr eaLnBrk="1" hangingPunct="1">
              <a:spcBef>
                <a:spcPct val="0"/>
              </a:spcBef>
              <a:buSzTx/>
              <a:buFontTx/>
              <a:buNone/>
              <a:defRPr/>
            </a:pPr>
            <a:r>
              <a:rPr lang="en-GB" altLang="en-US" sz="1800" dirty="0" smtClean="0">
                <a:latin typeface="Arial" charset="0"/>
              </a:rPr>
              <a:t>These food (sub-sub)groups must first be identified in the </a:t>
            </a:r>
            <a:r>
              <a:rPr lang="en-GB" altLang="en-US" sz="1800" b="1" dirty="0" smtClean="0">
                <a:solidFill>
                  <a:schemeClr val="tx1">
                    <a:lumMod val="50000"/>
                    <a:lumOff val="50000"/>
                  </a:schemeClr>
                </a:solidFill>
                <a:latin typeface="Arial" charset="0"/>
              </a:rPr>
              <a:t>SUBGROUP.xls</a:t>
            </a:r>
            <a:r>
              <a:rPr lang="en-GB" altLang="en-US" sz="1800" dirty="0" smtClean="0">
                <a:latin typeface="Arial" charset="0"/>
              </a:rPr>
              <a:t> file.</a:t>
            </a:r>
          </a:p>
          <a:p>
            <a:pPr eaLnBrk="1" hangingPunct="1">
              <a:spcBef>
                <a:spcPct val="0"/>
              </a:spcBef>
              <a:buSzTx/>
              <a:buFontTx/>
              <a:buNone/>
              <a:defRPr/>
            </a:pPr>
            <a:r>
              <a:rPr lang="en-GB" altLang="en-US" sz="1800" dirty="0" smtClean="0">
                <a:latin typeface="Arial" charset="0"/>
              </a:rPr>
              <a:t>The coordinator needs to provide these three percentages, based on experience, analyses… for each food.</a:t>
            </a:r>
          </a:p>
          <a:p>
            <a:pPr eaLnBrk="1" hangingPunct="1">
              <a:spcBef>
                <a:spcPct val="0"/>
              </a:spcBef>
              <a:buSzTx/>
              <a:buFontTx/>
              <a:buNone/>
              <a:defRPr/>
            </a:pPr>
            <a:endParaRPr lang="en-GB" altLang="en-US" sz="800" dirty="0" smtClean="0">
              <a:latin typeface="Arial" charset="0"/>
            </a:endParaRPr>
          </a:p>
          <a:p>
            <a:pPr eaLnBrk="1" hangingPunct="1">
              <a:spcBef>
                <a:spcPct val="0"/>
              </a:spcBef>
              <a:buSzTx/>
              <a:buFontTx/>
              <a:buNone/>
              <a:defRPr/>
            </a:pPr>
            <a:r>
              <a:rPr lang="en-GB" altLang="en-US" sz="1800" dirty="0" smtClean="0">
                <a:latin typeface="Arial" charset="0"/>
              </a:rPr>
              <a:t>Note: </a:t>
            </a:r>
          </a:p>
          <a:p>
            <a:pPr eaLnBrk="1" hangingPunct="1">
              <a:spcBef>
                <a:spcPct val="0"/>
              </a:spcBef>
              <a:buSzTx/>
              <a:buFontTx/>
              <a:buAutoNum type="arabicPeriod"/>
              <a:defRPr/>
            </a:pPr>
            <a:r>
              <a:rPr lang="en-GB" altLang="en-US" sz="1800" dirty="0" smtClean="0">
                <a:latin typeface="Arial" charset="0"/>
              </a:rPr>
              <a:t>For the moment, percentages are the same for all foods of a given food group, e.g. same percentage applied to potatoes for added butter and for added oil (group 10). More flexibility will be possible with the e-SMP and is already on request.</a:t>
            </a:r>
          </a:p>
          <a:p>
            <a:pPr eaLnBrk="1" hangingPunct="1">
              <a:spcBef>
                <a:spcPct val="0"/>
              </a:spcBef>
              <a:buSzTx/>
              <a:buFontTx/>
              <a:buAutoNum type="arabicPeriod"/>
              <a:defRPr/>
            </a:pPr>
            <a:r>
              <a:rPr lang="en-GB" altLang="en-US" sz="1800" dirty="0" smtClean="0">
                <a:latin typeface="Arial" charset="0"/>
              </a:rPr>
              <a:t>Link with probing questions: if probing ‘sauce’ is linked to a food, we expect a percentage for ‘sauce’ to be available in case this sauce cannot be quantified.</a:t>
            </a:r>
          </a:p>
        </p:txBody>
      </p:sp>
      <p:pic>
        <p:nvPicPr>
          <p:cNvPr id="5734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01613"/>
            <a:ext cx="611187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0" name="TextBox 4"/>
          <p:cNvSpPr txBox="1">
            <a:spLocks noChangeArrowheads="1"/>
          </p:cNvSpPr>
          <p:nvPr/>
        </p:nvSpPr>
        <p:spPr bwMode="auto">
          <a:xfrm>
            <a:off x="6362700" y="115888"/>
            <a:ext cx="260191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b="1">
                <a:latin typeface="Arial" charset="0"/>
              </a:rPr>
              <a:t>Standard percentages of fats, sauces and sweeteners applied to foods (PCTFSS.end) and to recipes (RCPFSS.end)</a:t>
            </a:r>
          </a:p>
          <a:p>
            <a:pPr eaLnBrk="1" hangingPunct="1">
              <a:spcBef>
                <a:spcPct val="0"/>
              </a:spcBef>
              <a:buSzTx/>
              <a:buFontTx/>
              <a:buNone/>
            </a:pPr>
            <a:endParaRPr lang="en-GB" altLang="en-US" sz="1800">
              <a:latin typeface="Arial" charset="0"/>
            </a:endParaRPr>
          </a:p>
        </p:txBody>
      </p:sp>
      <p:cxnSp>
        <p:nvCxnSpPr>
          <p:cNvPr id="8" name="Straight Arrow Connector 7"/>
          <p:cNvCxnSpPr/>
          <p:nvPr/>
        </p:nvCxnSpPr>
        <p:spPr>
          <a:xfrm flipH="1" flipV="1">
            <a:off x="1500188" y="1631950"/>
            <a:ext cx="3143250" cy="42862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nvSpPr>
        <p:spPr>
          <a:xfrm>
            <a:off x="5791200" y="6405563"/>
            <a:ext cx="3044825" cy="365125"/>
          </a:xfrm>
          <a:prstGeom prst="rect">
            <a:avLst/>
          </a:prstGeom>
          <a:noFill/>
        </p:spPr>
        <p:txBody>
          <a:bodyPr/>
          <a:lstStyle/>
          <a:p>
            <a:pPr algn="r">
              <a:defRPr/>
            </a:pPr>
            <a:r>
              <a:rPr lang="nl-BE" sz="1400">
                <a:solidFill>
                  <a:srgbClr val="FFFFFF"/>
                </a:solidFill>
                <a:latin typeface="+mj-lt"/>
                <a:cs typeface="+mn-cs"/>
              </a:rPr>
              <a:t>IARC, Lyon - France</a:t>
            </a:r>
            <a:endParaRPr lang="en-US" sz="1400" dirty="0">
              <a:solidFill>
                <a:srgbClr val="FFFFFF"/>
              </a:solidFill>
              <a:latin typeface="+mj-lt"/>
              <a:cs typeface="+mn-cs"/>
            </a:endParaRPr>
          </a:p>
        </p:txBody>
      </p:sp>
      <p:sp>
        <p:nvSpPr>
          <p:cNvPr id="4" name="Slide Number Placeholder 3"/>
          <p:cNvSpPr txBox="1">
            <a:spLocks noGrp="1"/>
          </p:cNvSpPr>
          <p:nvPr/>
        </p:nvSpPr>
        <p:spPr>
          <a:xfrm>
            <a:off x="4286250" y="6345238"/>
            <a:ext cx="609600" cy="441325"/>
          </a:xfrm>
          <a:prstGeom prst="rect">
            <a:avLst/>
          </a:prstGeom>
          <a:noFill/>
        </p:spPr>
        <p:txBody>
          <a:bodyPr lIns="45720" rIns="45720" anchor="ctr">
            <a:normAutofit/>
          </a:bodyPr>
          <a:lstStyle/>
          <a:p>
            <a:pPr algn="ctr">
              <a:defRPr/>
            </a:pPr>
            <a:fld id="{A6F2B876-83D1-411E-B365-B6BE0F831979}" type="slidenum">
              <a:rPr lang="en-US" sz="1600">
                <a:solidFill>
                  <a:schemeClr val="bg1"/>
                </a:solidFill>
                <a:latin typeface="+mj-lt"/>
                <a:cs typeface="+mn-cs"/>
              </a:rPr>
              <a:pPr algn="ctr">
                <a:defRPr/>
              </a:pPr>
              <a:t>47</a:t>
            </a:fld>
            <a:endParaRPr lang="en-US" sz="1600" dirty="0">
              <a:solidFill>
                <a:schemeClr val="bg1"/>
              </a:solidFill>
              <a:latin typeface="+mj-lt"/>
              <a:cs typeface="+mn-cs"/>
            </a:endParaRPr>
          </a:p>
        </p:txBody>
      </p:sp>
      <p:sp>
        <p:nvSpPr>
          <p:cNvPr id="58372" name="Text Box 6"/>
          <p:cNvSpPr txBox="1">
            <a:spLocks noChangeArrowheads="1"/>
          </p:cNvSpPr>
          <p:nvPr/>
        </p:nvSpPr>
        <p:spPr bwMode="auto">
          <a:xfrm>
            <a:off x="304800" y="333375"/>
            <a:ext cx="8659813"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50000"/>
              </a:spcBef>
              <a:buSzTx/>
              <a:buFontTx/>
              <a:buNone/>
            </a:pPr>
            <a:r>
              <a:rPr lang="en-GB" altLang="en-US" sz="1800" b="1">
                <a:latin typeface="Arial" charset="0"/>
              </a:rPr>
              <a:t>Standard percentages of fat left in the dish</a:t>
            </a:r>
          </a:p>
          <a:p>
            <a:pPr eaLnBrk="1" hangingPunct="1">
              <a:spcBef>
                <a:spcPct val="50000"/>
              </a:spcBef>
              <a:buSzTx/>
              <a:buFontTx/>
              <a:buNone/>
            </a:pPr>
            <a:r>
              <a:rPr lang="en-GB" altLang="en-US" sz="1800">
                <a:latin typeface="Arial" charset="0"/>
              </a:rPr>
              <a:t>For fats and sauces poured on top of foods/dishes, some may be left in the dish </a:t>
            </a:r>
            <a:r>
              <a:rPr lang="en-GB" altLang="en-US" sz="1800">
                <a:latin typeface="Arial" charset="0"/>
                <a:sym typeface="Wingdings" pitchFamily="2" charset="2"/>
              </a:rPr>
              <a:t> this left over quantity must be deducted from the initial quantity to get the </a:t>
            </a:r>
            <a:r>
              <a:rPr lang="en-GB" altLang="en-US" sz="1800" u="sng">
                <a:latin typeface="Arial" charset="0"/>
                <a:sym typeface="Wingdings" pitchFamily="2" charset="2"/>
              </a:rPr>
              <a:t>consumed quantity.</a:t>
            </a:r>
          </a:p>
          <a:p>
            <a:pPr eaLnBrk="1" hangingPunct="1">
              <a:spcBef>
                <a:spcPct val="50000"/>
              </a:spcBef>
              <a:buSzTx/>
              <a:buFontTx/>
              <a:buNone/>
            </a:pPr>
            <a:r>
              <a:rPr lang="en-GB" altLang="en-US" sz="1800">
                <a:latin typeface="Arial" charset="0"/>
              </a:rPr>
              <a:t>The coordinator must first provide the list of food (sub)group for which this type of calculation is needed.</a:t>
            </a:r>
          </a:p>
          <a:p>
            <a:pPr eaLnBrk="1" hangingPunct="1">
              <a:spcBef>
                <a:spcPct val="50000"/>
              </a:spcBef>
              <a:buSzTx/>
              <a:buFontTx/>
              <a:buNone/>
            </a:pPr>
            <a:r>
              <a:rPr lang="en-GB" altLang="en-US" sz="1800">
                <a:latin typeface="Arial" charset="0"/>
              </a:rPr>
              <a:t>For each sub(group), a percentage must be provided.</a:t>
            </a:r>
          </a:p>
          <a:p>
            <a:pPr eaLnBrk="1" hangingPunct="1">
              <a:spcBef>
                <a:spcPct val="50000"/>
              </a:spcBef>
              <a:buSzTx/>
              <a:buFontTx/>
              <a:buNone/>
            </a:pPr>
            <a:r>
              <a:rPr lang="en-GB" altLang="en-US" sz="1800">
                <a:latin typeface="Arial" charset="0"/>
              </a:rPr>
              <a:t>File </a:t>
            </a:r>
            <a:r>
              <a:rPr lang="en-GB" altLang="en-US" sz="1800" b="1">
                <a:latin typeface="Arial" charset="0"/>
              </a:rPr>
              <a:t>PCTFATLEFT.end</a:t>
            </a:r>
            <a:endParaRPr lang="en-US" altLang="en-US" sz="1800" b="1">
              <a:latin typeface="Arial" charset="0"/>
            </a:endParaRPr>
          </a:p>
        </p:txBody>
      </p:sp>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dianummer 10"/>
          <p:cNvSpPr>
            <a:spLocks noGrp="1"/>
          </p:cNvSpPr>
          <p:nvPr>
            <p:ph type="sldNum" sz="quarter" idx="10"/>
          </p:nvPr>
        </p:nvSpPr>
        <p:spPr/>
        <p:txBody>
          <a:bodyPr/>
          <a:lstStyle/>
          <a:p>
            <a:pPr>
              <a:defRPr/>
            </a:pPr>
            <a:fld id="{C99AFF31-698D-4E9F-A4D5-333FDE011EF0}" type="slidenum">
              <a:rPr lang="en-US" smtClean="0"/>
              <a:pPr>
                <a:defRPr/>
              </a:pPr>
              <a:t>48</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pic>
        <p:nvPicPr>
          <p:cNvPr id="15" name="Afbeelding 14"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7" name="Rectangle 2"/>
          <p:cNvSpPr txBox="1">
            <a:spLocks noChangeArrowheads="1"/>
          </p:cNvSpPr>
          <p:nvPr/>
        </p:nvSpPr>
        <p:spPr>
          <a:xfrm>
            <a:off x="381000" y="1071546"/>
            <a:ext cx="2362200" cy="704848"/>
          </a:xfrm>
          <a:prstGeom prst="rect">
            <a:avLst/>
          </a:prstGeom>
        </p:spPr>
        <p:txBody>
          <a:bodyPr anchor="b"/>
          <a:lstStyle/>
          <a:p>
            <a:pPr fontAlgn="auto">
              <a:spcAft>
                <a:spcPts val="0"/>
              </a:spcAft>
              <a:defRPr/>
            </a:pPr>
            <a:r>
              <a:rPr lang="en-US" sz="2200" b="1" dirty="0">
                <a:solidFill>
                  <a:srgbClr val="FFFFFF"/>
                </a:solidFill>
                <a:effectLst>
                  <a:reflection blurRad="6350" stA="55000" endA="300" endPos="45500" dir="5400000" sy="-100000" algn="bl" rotWithShape="0"/>
                </a:effectLst>
                <a:latin typeface="+mj-lt"/>
                <a:ea typeface="+mj-ea"/>
                <a:cs typeface="+mj-cs"/>
              </a:rPr>
              <a:t>Outline</a:t>
            </a:r>
          </a:p>
        </p:txBody>
      </p:sp>
      <p:sp>
        <p:nvSpPr>
          <p:cNvPr id="16" name="Tijdelijke aanduiding voor tekst 11"/>
          <p:cNvSpPr txBox="1">
            <a:spLocks/>
          </p:cNvSpPr>
          <p:nvPr/>
        </p:nvSpPr>
        <p:spPr bwMode="auto">
          <a:xfrm>
            <a:off x="409550" y="1874428"/>
            <a:ext cx="2362200" cy="414496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rtl="0" eaLnBrk="0" fontAlgn="base" hangingPunct="0">
              <a:spcBef>
                <a:spcPct val="20000"/>
              </a:spcBef>
              <a:spcAft>
                <a:spcPts val="1000"/>
              </a:spcAft>
              <a:buSzPct val="85000"/>
              <a:buFont typeface="Wingdings 2" pitchFamily="18" charset="2"/>
              <a:buNone/>
              <a:defRPr sz="1600" kern="1200">
                <a:solidFill>
                  <a:srgbClr val="FFFFFF"/>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None/>
              <a:defRPr sz="1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None/>
              <a:defRPr sz="1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None/>
              <a:defRPr sz="9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None/>
              <a:defRPr sz="9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indent="-342900" eaLnBrk="1" fontAlgn="auto" hangingPunct="1">
              <a:spcAft>
                <a:spcPts val="300"/>
              </a:spcAft>
              <a:buClr>
                <a:schemeClr val="bg1"/>
              </a:buClr>
              <a:buFont typeface="+mj-lt"/>
              <a:buAutoNum type="arabicPeriod"/>
              <a:defRPr/>
            </a:pPr>
            <a:r>
              <a:rPr lang="en-US" b="1" dirty="0">
                <a:solidFill>
                  <a:schemeClr val="tx1">
                    <a:lumMod val="95000"/>
                    <a:lumOff val="5000"/>
                  </a:schemeClr>
                </a:solidFill>
              </a:rPr>
              <a:t>Introduction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General information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Quick list</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Description and quantification</a:t>
            </a:r>
          </a:p>
          <a:p>
            <a:pPr marL="265113" indent="-265113" eaLnBrk="1" fontAlgn="auto" hangingPunct="1">
              <a:spcAft>
                <a:spcPts val="300"/>
              </a:spcAft>
              <a:buFont typeface="+mj-lt"/>
              <a:buAutoNum type="arabicPeriod"/>
              <a:defRPr/>
            </a:pPr>
            <a:r>
              <a:rPr lang="en-US" b="1" dirty="0">
                <a:effectLst>
                  <a:glow rad="63500">
                    <a:schemeClr val="accent3">
                      <a:satMod val="175000"/>
                      <a:alpha val="40000"/>
                    </a:schemeClr>
                  </a:glow>
                </a:effectLst>
              </a:rPr>
              <a:t>C</a:t>
            </a:r>
            <a:r>
              <a:rPr lang="en-US" b="1" dirty="0" smtClean="0">
                <a:effectLst>
                  <a:glow rad="63500">
                    <a:schemeClr val="accent3">
                      <a:satMod val="175000"/>
                      <a:alpha val="40000"/>
                    </a:schemeClr>
                  </a:glow>
                </a:effectLst>
              </a:rPr>
              <a:t>ontrols</a:t>
            </a:r>
            <a:endParaRPr lang="en-US" b="1" dirty="0">
              <a:effectLst>
                <a:glow rad="63500">
                  <a:schemeClr val="accent3">
                    <a:satMod val="175000"/>
                    <a:alpha val="40000"/>
                  </a:schemeClr>
                </a:glow>
              </a:effectLst>
            </a:endParaRP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Preparation steps</a:t>
            </a:r>
          </a:p>
          <a:p>
            <a:pPr marL="265113" indent="-265113" eaLnBrk="1" fontAlgn="auto" hangingPunct="1">
              <a:spcAft>
                <a:spcPts val="300"/>
              </a:spcAft>
              <a:buFont typeface="+mj-lt"/>
              <a:buAutoNum type="arabicPeriod"/>
              <a:defRPr/>
            </a:pPr>
            <a:r>
              <a:rPr lang="en-US" b="1" dirty="0" smtClean="0">
                <a:solidFill>
                  <a:schemeClr val="tx1">
                    <a:lumMod val="95000"/>
                    <a:lumOff val="5000"/>
                  </a:schemeClr>
                </a:solidFill>
              </a:rPr>
              <a:t>Maintenance</a:t>
            </a:r>
          </a:p>
          <a:p>
            <a:pPr eaLnBrk="1" fontAlgn="auto" hangingPunct="1">
              <a:spcAft>
                <a:spcPts val="300"/>
              </a:spcAft>
              <a:buFont typeface="Wingdings 2"/>
              <a:buNone/>
              <a:defRPr/>
            </a:pPr>
            <a:endParaRPr lang="nl-BE" dirty="0"/>
          </a:p>
        </p:txBody>
      </p:sp>
      <p:pic>
        <p:nvPicPr>
          <p:cNvPr id="59399"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708025"/>
            <a:ext cx="5732462"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1"/>
          <p:cNvSpPr>
            <a:spLocks noGrp="1"/>
          </p:cNvSpPr>
          <p:nvPr>
            <p:ph sz="quarter" idx="1"/>
          </p:nvPr>
        </p:nvSpPr>
        <p:spPr>
          <a:xfrm>
            <a:off x="2987675" y="2205038"/>
            <a:ext cx="6048375" cy="3746500"/>
          </a:xfrm>
        </p:spPr>
        <p:txBody>
          <a:bodyPr/>
          <a:lstStyle/>
          <a:p>
            <a:pPr marL="0" indent="0">
              <a:buFont typeface="Wingdings 2" pitchFamily="18" charset="2"/>
              <a:buNone/>
              <a:defRPr/>
            </a:pPr>
            <a:r>
              <a:rPr lang="en-GB" sz="1800" dirty="0" smtClean="0">
                <a:latin typeface="Arial" pitchFamily="34" charset="0"/>
                <a:cs typeface="Arial" pitchFamily="34" charset="0"/>
              </a:rPr>
              <a:t>Warnings on ‘exceeding/overflow’ quantities are implemented in </a:t>
            </a:r>
            <a:r>
              <a:rPr lang="en-GB" sz="1800" dirty="0" err="1" smtClean="0">
                <a:latin typeface="Arial" pitchFamily="34" charset="0"/>
                <a:cs typeface="Arial" pitchFamily="34" charset="0"/>
              </a:rPr>
              <a:t>GloboDiet</a:t>
            </a:r>
            <a:r>
              <a:rPr lang="en-GB" sz="1800" dirty="0" smtClean="0">
                <a:latin typeface="Arial" pitchFamily="34" charset="0"/>
                <a:cs typeface="Arial" pitchFamily="34" charset="0"/>
              </a:rPr>
              <a:t>, but they do not block the interview.</a:t>
            </a:r>
          </a:p>
          <a:p>
            <a:pPr marL="0" indent="0">
              <a:buFont typeface="Wingdings 2" pitchFamily="18" charset="2"/>
              <a:buNone/>
              <a:defRPr/>
            </a:pPr>
            <a:endParaRPr lang="en-GB" sz="800" dirty="0">
              <a:latin typeface="Arial" pitchFamily="34" charset="0"/>
              <a:cs typeface="Arial" pitchFamily="34" charset="0"/>
            </a:endParaRPr>
          </a:p>
          <a:p>
            <a:pPr marL="0" indent="0">
              <a:buFont typeface="Wingdings 2" pitchFamily="18" charset="2"/>
              <a:buNone/>
              <a:defRPr/>
            </a:pPr>
            <a:r>
              <a:rPr lang="en-GB" sz="1800" dirty="0" smtClean="0">
                <a:latin typeface="Arial" pitchFamily="34" charset="0"/>
                <a:cs typeface="Arial" pitchFamily="34" charset="0"/>
              </a:rPr>
              <a:t>The file </a:t>
            </a:r>
            <a:r>
              <a:rPr lang="en-GB" sz="1800" b="1" dirty="0" err="1" smtClean="0">
                <a:latin typeface="Arial" pitchFamily="34" charset="0"/>
                <a:cs typeface="Arial" pitchFamily="34" charset="0"/>
              </a:rPr>
              <a:t>FDMAX.end</a:t>
            </a:r>
            <a:r>
              <a:rPr lang="en-GB" sz="1800" dirty="0" smtClean="0">
                <a:latin typeface="Arial" pitchFamily="34" charset="0"/>
                <a:cs typeface="Arial" pitchFamily="34" charset="0"/>
              </a:rPr>
              <a:t> – and </a:t>
            </a:r>
            <a:r>
              <a:rPr lang="en-GB" sz="1800" b="1" dirty="0" err="1" smtClean="0">
                <a:latin typeface="Arial" pitchFamily="34" charset="0"/>
                <a:cs typeface="Arial" pitchFamily="34" charset="0"/>
              </a:rPr>
              <a:t>RCPMAX.end</a:t>
            </a:r>
            <a:r>
              <a:rPr lang="en-GB" sz="1800" dirty="0" smtClean="0">
                <a:latin typeface="Arial" pitchFamily="34" charset="0"/>
                <a:cs typeface="Arial" pitchFamily="34" charset="0"/>
              </a:rPr>
              <a:t> – are prefilled at IARC based on</a:t>
            </a:r>
          </a:p>
          <a:p>
            <a:pPr>
              <a:buFontTx/>
              <a:buChar char="-"/>
              <a:defRPr/>
            </a:pPr>
            <a:r>
              <a:rPr lang="en-GB" sz="1800" dirty="0" smtClean="0">
                <a:latin typeface="Arial" pitchFamily="34" charset="0"/>
                <a:cs typeface="Arial" pitchFamily="34" charset="0"/>
              </a:rPr>
              <a:t>Information on photos used for the given item</a:t>
            </a:r>
          </a:p>
          <a:p>
            <a:pPr>
              <a:buFontTx/>
              <a:buChar char="-"/>
              <a:defRPr/>
            </a:pPr>
            <a:r>
              <a:rPr lang="en-GB" sz="1800" dirty="0" smtClean="0">
                <a:latin typeface="Arial" pitchFamily="34" charset="0"/>
                <a:cs typeface="Arial" pitchFamily="34" charset="0"/>
              </a:rPr>
              <a:t>Information on standard units of the given item</a:t>
            </a:r>
          </a:p>
          <a:p>
            <a:pPr>
              <a:buFontTx/>
              <a:buChar char="-"/>
              <a:defRPr/>
            </a:pPr>
            <a:r>
              <a:rPr lang="en-GB" sz="1800" dirty="0" smtClean="0">
                <a:latin typeface="Arial" pitchFamily="34" charset="0"/>
                <a:cs typeface="Arial" pitchFamily="34" charset="0"/>
              </a:rPr>
              <a:t>Past experience</a:t>
            </a:r>
          </a:p>
          <a:p>
            <a:pPr marL="0" indent="0">
              <a:buFont typeface="Wingdings 2" pitchFamily="18" charset="2"/>
              <a:buNone/>
              <a:defRPr/>
            </a:pPr>
            <a:r>
              <a:rPr lang="en-GB" sz="1800" dirty="0" smtClean="0">
                <a:latin typeface="Arial" pitchFamily="34" charset="0"/>
                <a:cs typeface="Arial" pitchFamily="34" charset="0"/>
              </a:rPr>
              <a:t>The national coordinator has to check these proposed values and adapt them if needed. </a:t>
            </a:r>
          </a:p>
          <a:p>
            <a:pPr marL="0" indent="0">
              <a:buFont typeface="Wingdings 2" pitchFamily="18" charset="2"/>
              <a:buNone/>
              <a:defRPr/>
            </a:pPr>
            <a:r>
              <a:rPr lang="en-GB" sz="1800" dirty="0" smtClean="0">
                <a:latin typeface="Arial" pitchFamily="34" charset="0"/>
                <a:cs typeface="Arial" pitchFamily="34" charset="0"/>
              </a:rPr>
              <a:t>Maxima values may depend on the description, for example the Physical state. These values may be added to the file.</a:t>
            </a:r>
            <a:endParaRPr lang="en-GB" sz="1800" dirty="0">
              <a:latin typeface="Arial" pitchFamily="34" charset="0"/>
              <a:cs typeface="Arial" pitchFamily="34" charset="0"/>
            </a:endParaRPr>
          </a:p>
        </p:txBody>
      </p:sp>
      <p:sp>
        <p:nvSpPr>
          <p:cNvPr id="9" name="Footer Placeholder 4"/>
          <p:cNvSpPr>
            <a:spLocks noGrp="1"/>
          </p:cNvSpPr>
          <p:nvPr>
            <p:ph type="ftr" sz="quarter" idx="12"/>
          </p:nvPr>
        </p:nvSpPr>
        <p:spPr>
          <a:xfrm>
            <a:off x="304800" y="6381750"/>
            <a:ext cx="3906838" cy="350838"/>
          </a:xfrm>
        </p:spPr>
        <p:txBody>
          <a:bodyPr lIns="45720" rIns="45720" anchor="ctr">
            <a:noAutofit/>
          </a:bodyPr>
          <a:lstStyle/>
          <a:p>
            <a:pPr>
              <a:defRPr/>
            </a:pPr>
            <a:r>
              <a:rPr lang="en-GB" dirty="0"/>
              <a:t>Maintenance</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nvSpPr>
        <p:spPr>
          <a:xfrm>
            <a:off x="5791200" y="6405563"/>
            <a:ext cx="3044825" cy="365125"/>
          </a:xfrm>
          <a:prstGeom prst="rect">
            <a:avLst/>
          </a:prstGeom>
          <a:noFill/>
        </p:spPr>
        <p:txBody>
          <a:bodyPr/>
          <a:lstStyle/>
          <a:p>
            <a:pPr algn="r">
              <a:defRPr/>
            </a:pPr>
            <a:r>
              <a:rPr lang="nl-BE" sz="1400">
                <a:solidFill>
                  <a:srgbClr val="FFFFFF"/>
                </a:solidFill>
                <a:latin typeface="+mj-lt"/>
                <a:cs typeface="+mn-cs"/>
              </a:rPr>
              <a:t>IARC, Lyon - France</a:t>
            </a:r>
            <a:endParaRPr lang="en-US" sz="1400" dirty="0">
              <a:solidFill>
                <a:srgbClr val="FFFFFF"/>
              </a:solidFill>
              <a:latin typeface="+mj-lt"/>
              <a:cs typeface="+mn-cs"/>
            </a:endParaRPr>
          </a:p>
        </p:txBody>
      </p:sp>
      <p:sp>
        <p:nvSpPr>
          <p:cNvPr id="4" name="Slide Number Placeholder 3"/>
          <p:cNvSpPr txBox="1">
            <a:spLocks noGrp="1"/>
          </p:cNvSpPr>
          <p:nvPr/>
        </p:nvSpPr>
        <p:spPr>
          <a:xfrm>
            <a:off x="4286250" y="6345238"/>
            <a:ext cx="609600" cy="441325"/>
          </a:xfrm>
          <a:prstGeom prst="rect">
            <a:avLst/>
          </a:prstGeom>
          <a:noFill/>
        </p:spPr>
        <p:txBody>
          <a:bodyPr lIns="45720" rIns="45720" anchor="ctr">
            <a:normAutofit/>
          </a:bodyPr>
          <a:lstStyle/>
          <a:p>
            <a:pPr algn="ctr">
              <a:defRPr/>
            </a:pPr>
            <a:fld id="{F2D4017A-7566-4123-8C90-EF956A2A2548}" type="slidenum">
              <a:rPr lang="en-US" sz="1600">
                <a:solidFill>
                  <a:schemeClr val="bg1"/>
                </a:solidFill>
                <a:latin typeface="+mj-lt"/>
                <a:cs typeface="+mn-cs"/>
              </a:rPr>
              <a:pPr algn="ctr">
                <a:defRPr/>
              </a:pPr>
              <a:t>49</a:t>
            </a:fld>
            <a:endParaRPr lang="en-US" sz="1600" dirty="0">
              <a:solidFill>
                <a:schemeClr val="bg1"/>
              </a:solidFill>
              <a:latin typeface="+mj-lt"/>
              <a:cs typeface="+mn-cs"/>
            </a:endParaRPr>
          </a:p>
        </p:txBody>
      </p:sp>
      <p:sp>
        <p:nvSpPr>
          <p:cNvPr id="65542" name="Text Box 6"/>
          <p:cNvSpPr txBox="1">
            <a:spLocks noChangeArrowheads="1"/>
          </p:cNvSpPr>
          <p:nvPr/>
        </p:nvSpPr>
        <p:spPr bwMode="auto">
          <a:xfrm>
            <a:off x="304800" y="1916113"/>
            <a:ext cx="8659813" cy="560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b="1" dirty="0"/>
              <a:t>Probing questions</a:t>
            </a:r>
            <a:r>
              <a:rPr lang="en-US" dirty="0"/>
              <a:t> are proposed to avoid forgetting items. This is based on local dietary habits.</a:t>
            </a:r>
          </a:p>
          <a:p>
            <a:pPr>
              <a:defRPr/>
            </a:pPr>
            <a:endParaRPr lang="en-GB" sz="800" dirty="0"/>
          </a:p>
          <a:p>
            <a:pPr>
              <a:defRPr/>
            </a:pPr>
            <a:r>
              <a:rPr lang="en-GB" u="sng" dirty="0"/>
              <a:t>1</a:t>
            </a:r>
            <a:r>
              <a:rPr lang="en-GB" u="sng" baseline="30000" dirty="0"/>
              <a:t>st</a:t>
            </a:r>
            <a:r>
              <a:rPr lang="en-GB" u="sng" dirty="0"/>
              <a:t> step: </a:t>
            </a:r>
            <a:r>
              <a:rPr lang="en-GB" dirty="0"/>
              <a:t>Each coordinator needs to provide a list of probing items chosen from the IARC library (code – name).</a:t>
            </a:r>
          </a:p>
          <a:p>
            <a:pPr>
              <a:defRPr/>
            </a:pPr>
            <a:r>
              <a:rPr lang="en-GB" dirty="0"/>
              <a:t>File </a:t>
            </a:r>
            <a:r>
              <a:rPr lang="en-GB" b="1" dirty="0" err="1"/>
              <a:t>PROBING.end</a:t>
            </a:r>
            <a:r>
              <a:rPr lang="en-GB" dirty="0"/>
              <a:t> to be translated into local language(s).</a:t>
            </a:r>
          </a:p>
          <a:p>
            <a:pPr>
              <a:defRPr/>
            </a:pPr>
            <a:endParaRPr lang="en-GB" sz="800" dirty="0"/>
          </a:p>
          <a:p>
            <a:pPr>
              <a:defRPr/>
            </a:pPr>
            <a:r>
              <a:rPr lang="en-GB" u="sng" dirty="0"/>
              <a:t>2</a:t>
            </a:r>
            <a:r>
              <a:rPr lang="en-GB" u="sng" baseline="30000" dirty="0"/>
              <a:t>nd</a:t>
            </a:r>
            <a:r>
              <a:rPr lang="en-GB" u="sng" dirty="0"/>
              <a:t> step: </a:t>
            </a:r>
            <a:r>
              <a:rPr lang="en-GB" dirty="0"/>
              <a:t>IARC will prepare the file </a:t>
            </a:r>
            <a:r>
              <a:rPr lang="en-GB" b="1" dirty="0" err="1"/>
              <a:t>FDPROBING.end</a:t>
            </a:r>
            <a:r>
              <a:rPr lang="en-GB" dirty="0"/>
              <a:t> based on the file </a:t>
            </a:r>
            <a:r>
              <a:rPr lang="en-GB" b="1" dirty="0" err="1"/>
              <a:t>FDLIST.end</a:t>
            </a:r>
            <a:r>
              <a:rPr lang="en-GB" dirty="0"/>
              <a:t> and proposals from IARC.</a:t>
            </a:r>
          </a:p>
          <a:p>
            <a:pPr>
              <a:defRPr/>
            </a:pPr>
            <a:r>
              <a:rPr lang="en-GB" dirty="0"/>
              <a:t>IARC will prepare the file </a:t>
            </a:r>
            <a:r>
              <a:rPr lang="en-GB" b="1" dirty="0" err="1"/>
              <a:t>RCPPROBING.end</a:t>
            </a:r>
            <a:r>
              <a:rPr lang="en-GB" dirty="0"/>
              <a:t> based on the file </a:t>
            </a:r>
            <a:r>
              <a:rPr lang="en-GB" b="1" dirty="0">
                <a:solidFill>
                  <a:schemeClr val="tx1">
                    <a:lumMod val="50000"/>
                    <a:lumOff val="50000"/>
                  </a:schemeClr>
                </a:solidFill>
              </a:rPr>
              <a:t>MIXEDREC.xls</a:t>
            </a:r>
            <a:r>
              <a:rPr lang="en-GB" dirty="0"/>
              <a:t> and proposals from IARC.</a:t>
            </a:r>
          </a:p>
          <a:p>
            <a:pPr>
              <a:defRPr/>
            </a:pPr>
            <a:r>
              <a:rPr lang="en-GB" dirty="0"/>
              <a:t>In those files, the coordinator has to </a:t>
            </a:r>
          </a:p>
          <a:p>
            <a:pPr marL="342900" indent="-342900">
              <a:buFont typeface="+mj-lt"/>
              <a:buAutoNum type="arabicPeriod"/>
              <a:defRPr/>
            </a:pPr>
            <a:r>
              <a:rPr lang="en-GB" dirty="0"/>
              <a:t>remove the probing question codes that are not applicable to each food/recipe </a:t>
            </a:r>
          </a:p>
          <a:p>
            <a:pPr marL="342900" indent="-342900">
              <a:buFont typeface="+mj-lt"/>
              <a:buAutoNum type="arabicPeriod"/>
              <a:defRPr/>
            </a:pPr>
            <a:r>
              <a:rPr lang="en-GB" dirty="0"/>
              <a:t>add those relevant to each food/recipe.</a:t>
            </a:r>
          </a:p>
          <a:p>
            <a:pPr>
              <a:defRPr/>
            </a:pPr>
            <a:endParaRPr lang="en-GB" sz="800" dirty="0"/>
          </a:p>
          <a:p>
            <a:pPr>
              <a:defRPr/>
            </a:pPr>
            <a:r>
              <a:rPr lang="en-GB" dirty="0"/>
              <a:t>Remember that there is a link with the standard percentages of fats, sauces and sweeteners for probing questions 07 cream, 15 fat, 22 savoury sauce and 23 sweet sauce.</a:t>
            </a:r>
          </a:p>
          <a:p>
            <a:pPr>
              <a:defRPr/>
            </a:pPr>
            <a:endParaRPr lang="en-GB" dirty="0"/>
          </a:p>
          <a:p>
            <a:pPr>
              <a:defRPr/>
            </a:pPr>
            <a:endParaRPr lang="en-GB" dirty="0"/>
          </a:p>
          <a:p>
            <a:pPr>
              <a:defRPr/>
            </a:pPr>
            <a:endParaRPr lang="en-GB" dirty="0"/>
          </a:p>
        </p:txBody>
      </p:sp>
      <p:pic>
        <p:nvPicPr>
          <p:cNvPr id="60421" name="Picture 5"/>
          <p:cNvPicPr>
            <a:picLocks noChangeAspect="1"/>
          </p:cNvPicPr>
          <p:nvPr/>
        </p:nvPicPr>
        <p:blipFill>
          <a:blip r:embed="rId3">
            <a:extLst>
              <a:ext uri="{28A0092B-C50C-407E-A947-70E740481C1C}">
                <a14:useLocalDpi xmlns:a14="http://schemas.microsoft.com/office/drawing/2010/main" val="0"/>
              </a:ext>
            </a:extLst>
          </a:blip>
          <a:srcRect t="15907" r="31447" b="58565"/>
          <a:stretch>
            <a:fillRect/>
          </a:stretch>
        </p:blipFill>
        <p:spPr bwMode="auto">
          <a:xfrm>
            <a:off x="638175" y="188913"/>
            <a:ext cx="7678738" cy="178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2F40C9FA-84F5-4B15-AEC8-864EBD5171B9}" type="slidenum">
              <a:rPr lang="en-US" smtClean="0"/>
              <a:pPr>
                <a:defRPr/>
              </a:pPr>
              <a:t>50</a:t>
            </a:fld>
            <a:endParaRPr lang="en-US" dirty="0"/>
          </a:p>
        </p:txBody>
      </p:sp>
      <p:sp>
        <p:nvSpPr>
          <p:cNvPr id="5" name="TextBox 4"/>
          <p:cNvSpPr txBox="1"/>
          <p:nvPr/>
        </p:nvSpPr>
        <p:spPr>
          <a:xfrm>
            <a:off x="323850" y="3141663"/>
            <a:ext cx="8496300" cy="3262312"/>
          </a:xfrm>
          <a:prstGeom prst="rect">
            <a:avLst/>
          </a:prstGeom>
          <a:noFill/>
        </p:spPr>
        <p:txBody>
          <a:bodyPr>
            <a:spAutoFit/>
          </a:bodyPr>
          <a:lstStyle/>
          <a:p>
            <a:pPr>
              <a:defRPr/>
            </a:pPr>
            <a:r>
              <a:rPr lang="en-GB" dirty="0"/>
              <a:t>To perform a broad control at the macronutrient level, a simplified food composition table (rounded, no decimal figures) is implemented in </a:t>
            </a:r>
            <a:r>
              <a:rPr lang="en-GB" dirty="0" err="1"/>
              <a:t>GloboDiet</a:t>
            </a:r>
            <a:r>
              <a:rPr lang="en-GB" dirty="0"/>
              <a:t>: file </a:t>
            </a:r>
            <a:r>
              <a:rPr lang="en-GB" b="1" dirty="0" err="1"/>
              <a:t>FDTABLE.end</a:t>
            </a:r>
            <a:r>
              <a:rPr lang="en-GB" b="1" dirty="0"/>
              <a:t>.</a:t>
            </a:r>
          </a:p>
          <a:p>
            <a:pPr>
              <a:defRPr/>
            </a:pPr>
            <a:r>
              <a:rPr lang="en-GB" u="sng" dirty="0"/>
              <a:t>At least one set </a:t>
            </a:r>
            <a:r>
              <a:rPr lang="en-GB" dirty="0"/>
              <a:t>of the following variables must be entered per food, i.e. as usually consumed (e.g. no ‘dried’ rice or legumes):</a:t>
            </a:r>
          </a:p>
          <a:p>
            <a:pPr marL="285750" indent="-285750">
              <a:buFontTx/>
              <a:buChar char="-"/>
              <a:defRPr/>
            </a:pPr>
            <a:r>
              <a:rPr lang="en-GB" dirty="0"/>
              <a:t>Energy, expressed in </a:t>
            </a:r>
            <a:r>
              <a:rPr lang="en-GB" dirty="0" err="1"/>
              <a:t>kCal</a:t>
            </a:r>
            <a:r>
              <a:rPr lang="en-GB" dirty="0"/>
              <a:t>/100g		- Proteins, in g/100g</a:t>
            </a:r>
          </a:p>
          <a:p>
            <a:pPr marL="285750" indent="-285750">
              <a:buFontTx/>
              <a:buChar char="-"/>
              <a:defRPr/>
            </a:pPr>
            <a:r>
              <a:rPr lang="en-GB" dirty="0"/>
              <a:t>Lipids, in g/100g</a:t>
            </a:r>
          </a:p>
          <a:p>
            <a:pPr marL="285750" indent="-285750">
              <a:buFontTx/>
              <a:buChar char="-"/>
              <a:defRPr/>
            </a:pPr>
            <a:r>
              <a:rPr lang="en-GB" dirty="0" err="1"/>
              <a:t>Glucids</a:t>
            </a:r>
            <a:r>
              <a:rPr lang="en-GB" dirty="0"/>
              <a:t>: available carbohydrates (without dietary </a:t>
            </a:r>
            <a:r>
              <a:rPr lang="en-GB" dirty="0" err="1"/>
              <a:t>fibers</a:t>
            </a:r>
            <a:r>
              <a:rPr lang="en-GB" dirty="0"/>
              <a:t>), in g/100g</a:t>
            </a:r>
          </a:p>
          <a:p>
            <a:pPr marL="285750" indent="-285750">
              <a:buFontTx/>
              <a:buChar char="-"/>
              <a:defRPr/>
            </a:pPr>
            <a:r>
              <a:rPr lang="en-GB" dirty="0"/>
              <a:t>Alcohol, in g/100g</a:t>
            </a:r>
          </a:p>
          <a:p>
            <a:pPr>
              <a:defRPr/>
            </a:pPr>
            <a:endParaRPr lang="en-GB" sz="800" dirty="0"/>
          </a:p>
          <a:p>
            <a:pPr>
              <a:defRPr/>
            </a:pPr>
            <a:r>
              <a:rPr lang="en-GB" dirty="0"/>
              <a:t>When eaten cooked, enter value sets for boiled or baked foods (i.e. without fat used for cooking).</a:t>
            </a:r>
          </a:p>
        </p:txBody>
      </p:sp>
      <p:pic>
        <p:nvPicPr>
          <p:cNvPr id="61445" name="Picture 2"/>
          <p:cNvPicPr>
            <a:picLocks noChangeAspect="1" noChangeArrowheads="1"/>
          </p:cNvPicPr>
          <p:nvPr/>
        </p:nvPicPr>
        <p:blipFill>
          <a:blip r:embed="rId2">
            <a:extLst>
              <a:ext uri="{28A0092B-C50C-407E-A947-70E740481C1C}">
                <a14:useLocalDpi xmlns:a14="http://schemas.microsoft.com/office/drawing/2010/main" val="0"/>
              </a:ext>
            </a:extLst>
          </a:blip>
          <a:srcRect t="3986" b="29408"/>
          <a:stretch>
            <a:fillRect/>
          </a:stretch>
        </p:blipFill>
        <p:spPr bwMode="auto">
          <a:xfrm>
            <a:off x="446088" y="354013"/>
            <a:ext cx="8231187"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dianummer 10"/>
          <p:cNvSpPr>
            <a:spLocks noGrp="1"/>
          </p:cNvSpPr>
          <p:nvPr>
            <p:ph type="sldNum" sz="quarter" idx="10"/>
          </p:nvPr>
        </p:nvSpPr>
        <p:spPr/>
        <p:txBody>
          <a:bodyPr/>
          <a:lstStyle/>
          <a:p>
            <a:pPr>
              <a:defRPr/>
            </a:pPr>
            <a:fld id="{7B6CEC91-C7AC-4582-A652-63F056E17CC1}" type="slidenum">
              <a:rPr lang="en-US" smtClean="0"/>
              <a:pPr>
                <a:defRPr/>
              </a:pPr>
              <a:t>51</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pic>
        <p:nvPicPr>
          <p:cNvPr id="15" name="Afbeelding 14"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7" name="Rectangle 2"/>
          <p:cNvSpPr txBox="1">
            <a:spLocks noChangeArrowheads="1"/>
          </p:cNvSpPr>
          <p:nvPr/>
        </p:nvSpPr>
        <p:spPr>
          <a:xfrm>
            <a:off x="381000" y="1071546"/>
            <a:ext cx="2362200" cy="704848"/>
          </a:xfrm>
          <a:prstGeom prst="rect">
            <a:avLst/>
          </a:prstGeom>
        </p:spPr>
        <p:txBody>
          <a:bodyPr anchor="b"/>
          <a:lstStyle/>
          <a:p>
            <a:pPr fontAlgn="auto">
              <a:spcAft>
                <a:spcPts val="0"/>
              </a:spcAft>
              <a:defRPr/>
            </a:pPr>
            <a:r>
              <a:rPr lang="en-US" sz="2200" b="1" dirty="0">
                <a:solidFill>
                  <a:srgbClr val="FFFFFF"/>
                </a:solidFill>
                <a:effectLst>
                  <a:reflection blurRad="6350" stA="55000" endA="300" endPos="45500" dir="5400000" sy="-100000" algn="bl" rotWithShape="0"/>
                </a:effectLst>
                <a:latin typeface="+mj-lt"/>
                <a:ea typeface="+mj-ea"/>
                <a:cs typeface="+mj-cs"/>
              </a:rPr>
              <a:t>Outline</a:t>
            </a:r>
          </a:p>
        </p:txBody>
      </p:sp>
      <p:sp>
        <p:nvSpPr>
          <p:cNvPr id="16" name="Tijdelijke aanduiding voor tekst 11"/>
          <p:cNvSpPr txBox="1">
            <a:spLocks/>
          </p:cNvSpPr>
          <p:nvPr/>
        </p:nvSpPr>
        <p:spPr bwMode="auto">
          <a:xfrm>
            <a:off x="409550" y="1857364"/>
            <a:ext cx="2362200" cy="414496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rtl="0" eaLnBrk="0" fontAlgn="base" hangingPunct="0">
              <a:spcBef>
                <a:spcPct val="20000"/>
              </a:spcBef>
              <a:spcAft>
                <a:spcPts val="1000"/>
              </a:spcAft>
              <a:buSzPct val="85000"/>
              <a:buFont typeface="Wingdings 2" pitchFamily="18" charset="2"/>
              <a:buNone/>
              <a:defRPr sz="1600" kern="1200">
                <a:solidFill>
                  <a:srgbClr val="FFFFFF"/>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None/>
              <a:defRPr sz="1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None/>
              <a:defRPr sz="1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None/>
              <a:defRPr sz="9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None/>
              <a:defRPr sz="9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indent="-342900" eaLnBrk="1" fontAlgn="auto" hangingPunct="1">
              <a:spcAft>
                <a:spcPts val="300"/>
              </a:spcAft>
              <a:buClr>
                <a:schemeClr val="bg1"/>
              </a:buClr>
              <a:buFont typeface="+mj-lt"/>
              <a:buAutoNum type="arabicPeriod"/>
              <a:defRPr/>
            </a:pPr>
            <a:r>
              <a:rPr lang="en-US" b="1" dirty="0">
                <a:solidFill>
                  <a:schemeClr val="tx1">
                    <a:lumMod val="95000"/>
                    <a:lumOff val="5000"/>
                  </a:schemeClr>
                </a:solidFill>
              </a:rPr>
              <a:t>Introduction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General information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Quick list</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Description and quantification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Controls</a:t>
            </a:r>
          </a:p>
          <a:p>
            <a:pPr marL="265113" indent="-265113" eaLnBrk="1" fontAlgn="auto" hangingPunct="1">
              <a:spcAft>
                <a:spcPts val="300"/>
              </a:spcAft>
              <a:buFont typeface="+mj-lt"/>
              <a:buAutoNum type="arabicPeriod"/>
              <a:defRPr/>
            </a:pPr>
            <a:r>
              <a:rPr lang="en-US" b="1" dirty="0">
                <a:effectLst>
                  <a:glow rad="63500">
                    <a:schemeClr val="accent3">
                      <a:satMod val="175000"/>
                      <a:alpha val="40000"/>
                    </a:schemeClr>
                  </a:glow>
                </a:effectLst>
              </a:rPr>
              <a:t>Preparation </a:t>
            </a:r>
            <a:r>
              <a:rPr lang="en-US" b="1" dirty="0" smtClean="0">
                <a:effectLst>
                  <a:glow rad="63500">
                    <a:schemeClr val="accent3">
                      <a:satMod val="175000"/>
                      <a:alpha val="40000"/>
                    </a:schemeClr>
                  </a:glow>
                </a:effectLst>
              </a:rPr>
              <a:t>steps</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Maintenance</a:t>
            </a:r>
          </a:p>
          <a:p>
            <a:pPr eaLnBrk="1" fontAlgn="auto" hangingPunct="1">
              <a:spcAft>
                <a:spcPts val="300"/>
              </a:spcAft>
              <a:buFont typeface="Wingdings 2"/>
              <a:buNone/>
              <a:defRPr/>
            </a:pPr>
            <a:endParaRPr lang="nl-BE" dirty="0"/>
          </a:p>
        </p:txBody>
      </p:sp>
      <p:sp>
        <p:nvSpPr>
          <p:cNvPr id="2" name="Content Placeholder 1"/>
          <p:cNvSpPr>
            <a:spLocks noGrp="1"/>
          </p:cNvSpPr>
          <p:nvPr>
            <p:ph sz="quarter" idx="1"/>
          </p:nvPr>
        </p:nvSpPr>
        <p:spPr>
          <a:xfrm>
            <a:off x="2987675" y="765175"/>
            <a:ext cx="5905500" cy="3746500"/>
          </a:xfrm>
        </p:spPr>
        <p:txBody>
          <a:bodyPr/>
          <a:lstStyle/>
          <a:p>
            <a:pPr marL="0" indent="0" algn="ctr">
              <a:buFont typeface="Wingdings 2" pitchFamily="18" charset="2"/>
              <a:buNone/>
              <a:defRPr/>
            </a:pPr>
            <a:r>
              <a:rPr lang="en-GB" sz="1800" dirty="0">
                <a:latin typeface="Arial" pitchFamily="34" charset="0"/>
                <a:cs typeface="Arial" pitchFamily="34" charset="0"/>
              </a:rPr>
              <a:t>C</a:t>
            </a:r>
            <a:r>
              <a:rPr lang="en-GB" sz="1800" dirty="0" smtClean="0">
                <a:latin typeface="Arial" pitchFamily="34" charset="0"/>
                <a:cs typeface="Arial" pitchFamily="34" charset="0"/>
              </a:rPr>
              <a:t>ommon files</a:t>
            </a:r>
          </a:p>
          <a:p>
            <a:pPr marL="0" indent="0" algn="ctr">
              <a:buFont typeface="Wingdings 2" pitchFamily="18" charset="2"/>
              <a:buNone/>
              <a:defRPr/>
            </a:pPr>
            <a:endParaRPr lang="en-GB" sz="1800" dirty="0">
              <a:latin typeface="Arial" pitchFamily="34" charset="0"/>
              <a:cs typeface="Arial" pitchFamily="34" charset="0"/>
            </a:endParaRPr>
          </a:p>
          <a:p>
            <a:pPr marL="0" indent="0" algn="ctr">
              <a:buFont typeface="Wingdings 2" pitchFamily="18" charset="2"/>
              <a:buNone/>
              <a:defRPr/>
            </a:pPr>
            <a:r>
              <a:rPr lang="en-GB" sz="1800" dirty="0" smtClean="0">
                <a:latin typeface="Arial" pitchFamily="34" charset="0"/>
                <a:cs typeface="Arial" pitchFamily="34" charset="0"/>
              </a:rPr>
              <a:t>Country-specific files</a:t>
            </a:r>
          </a:p>
          <a:p>
            <a:pPr marL="342900" indent="-342900" algn="ctr">
              <a:buFont typeface="+mj-lt"/>
              <a:buAutoNum type="arabicPeriod"/>
              <a:defRPr/>
            </a:pPr>
            <a:r>
              <a:rPr lang="en-GB" sz="1800" dirty="0" smtClean="0">
                <a:latin typeface="Arial" pitchFamily="34" charset="0"/>
                <a:cs typeface="Arial" pitchFamily="34" charset="0"/>
              </a:rPr>
              <a:t>Foods</a:t>
            </a:r>
          </a:p>
          <a:p>
            <a:pPr marL="0" indent="0" algn="ctr">
              <a:buFont typeface="Wingdings 2" pitchFamily="18" charset="2"/>
              <a:buNone/>
              <a:defRPr/>
            </a:pPr>
            <a:endParaRPr lang="en-GB" sz="1800" dirty="0" smtClean="0">
              <a:latin typeface="Arial" pitchFamily="34" charset="0"/>
              <a:cs typeface="Arial" pitchFamily="34" charset="0"/>
            </a:endParaRPr>
          </a:p>
          <a:p>
            <a:pPr marL="0" indent="0" algn="ctr">
              <a:buFont typeface="Wingdings 2" pitchFamily="18" charset="2"/>
              <a:buNone/>
              <a:defRPr/>
            </a:pPr>
            <a:r>
              <a:rPr lang="en-GB" sz="1800" dirty="0" err="1" smtClean="0">
                <a:latin typeface="Arial" pitchFamily="34" charset="0"/>
                <a:cs typeface="Arial" pitchFamily="34" charset="0"/>
              </a:rPr>
              <a:t>GloboDiet</a:t>
            </a:r>
            <a:r>
              <a:rPr lang="en-GB" sz="1800" dirty="0" smtClean="0">
                <a:latin typeface="Arial" pitchFamily="34" charset="0"/>
                <a:cs typeface="Arial" pitchFamily="34" charset="0"/>
              </a:rPr>
              <a:t> ‘food database version’</a:t>
            </a:r>
          </a:p>
          <a:p>
            <a:pPr marL="0" indent="0" algn="ctr">
              <a:buFont typeface="Wingdings 2" pitchFamily="18" charset="2"/>
              <a:buNone/>
              <a:defRPr/>
            </a:pPr>
            <a:r>
              <a:rPr lang="en-GB" sz="1800" dirty="0">
                <a:latin typeface="Arial" pitchFamily="34" charset="0"/>
                <a:cs typeface="Arial" pitchFamily="34" charset="0"/>
              </a:rPr>
              <a:t>a</a:t>
            </a:r>
            <a:r>
              <a:rPr lang="en-GB" sz="1800" dirty="0" smtClean="0">
                <a:latin typeface="Arial" pitchFamily="34" charset="0"/>
                <a:cs typeface="Arial" pitchFamily="34" charset="0"/>
              </a:rPr>
              <a:t>nd Recipe Manager</a:t>
            </a:r>
          </a:p>
          <a:p>
            <a:pPr marL="0" indent="0" algn="ctr">
              <a:buFont typeface="Wingdings 2" pitchFamily="18" charset="2"/>
              <a:buNone/>
              <a:defRPr/>
            </a:pPr>
            <a:endParaRPr lang="en-GB" sz="1800" dirty="0">
              <a:latin typeface="Arial" pitchFamily="34" charset="0"/>
              <a:cs typeface="Arial" pitchFamily="34" charset="0"/>
            </a:endParaRPr>
          </a:p>
          <a:p>
            <a:pPr marL="0" indent="0" algn="ctr">
              <a:buFont typeface="Wingdings 2" pitchFamily="18" charset="2"/>
              <a:buNone/>
              <a:defRPr/>
            </a:pPr>
            <a:r>
              <a:rPr lang="en-GB" sz="1800" dirty="0" smtClean="0">
                <a:latin typeface="Arial" pitchFamily="34" charset="0"/>
                <a:cs typeface="Arial" pitchFamily="34" charset="0"/>
              </a:rPr>
              <a:t>Country-specific files</a:t>
            </a:r>
          </a:p>
          <a:p>
            <a:pPr marL="0" indent="0" algn="ctr">
              <a:buFont typeface="Wingdings 2" pitchFamily="18" charset="2"/>
              <a:buNone/>
              <a:defRPr/>
            </a:pPr>
            <a:r>
              <a:rPr lang="en-GB" sz="1800" dirty="0" smtClean="0">
                <a:latin typeface="Arial" pitchFamily="34" charset="0"/>
                <a:cs typeface="Arial" pitchFamily="34" charset="0"/>
              </a:rPr>
              <a:t>2. Recipes</a:t>
            </a:r>
          </a:p>
          <a:p>
            <a:pPr marL="0" indent="0" algn="ctr">
              <a:buFont typeface="Wingdings 2" pitchFamily="18" charset="2"/>
              <a:buNone/>
              <a:defRPr/>
            </a:pPr>
            <a:endParaRPr lang="en-GB" sz="1800" dirty="0">
              <a:latin typeface="Arial" pitchFamily="34" charset="0"/>
              <a:cs typeface="Arial" pitchFamily="34" charset="0"/>
            </a:endParaRPr>
          </a:p>
          <a:p>
            <a:pPr marL="0" indent="0" algn="ctr">
              <a:buFont typeface="Wingdings 2" pitchFamily="18" charset="2"/>
              <a:buNone/>
              <a:defRPr/>
            </a:pPr>
            <a:r>
              <a:rPr lang="en-GB" sz="1800" dirty="0" smtClean="0">
                <a:latin typeface="Arial" pitchFamily="34" charset="0"/>
                <a:cs typeface="Arial" pitchFamily="34" charset="0"/>
              </a:rPr>
              <a:t>3. Dietary supplements</a:t>
            </a:r>
          </a:p>
          <a:p>
            <a:pPr marL="0" indent="0" algn="ctr">
              <a:buFont typeface="Wingdings 2" pitchFamily="18" charset="2"/>
              <a:buNone/>
              <a:defRPr/>
            </a:pPr>
            <a:endParaRPr lang="en-GB" sz="1800" dirty="0">
              <a:latin typeface="Arial" pitchFamily="34" charset="0"/>
              <a:cs typeface="Arial" pitchFamily="34" charset="0"/>
            </a:endParaRPr>
          </a:p>
          <a:p>
            <a:pPr marL="0" indent="0" algn="ctr">
              <a:buFont typeface="Wingdings 2" pitchFamily="18" charset="2"/>
              <a:buNone/>
              <a:defRPr/>
            </a:pPr>
            <a:r>
              <a:rPr lang="en-GB" sz="1800" dirty="0" err="1" smtClean="0">
                <a:latin typeface="Arial" pitchFamily="34" charset="0"/>
                <a:cs typeface="Arial" pitchFamily="34" charset="0"/>
              </a:rPr>
              <a:t>GloboDiet</a:t>
            </a:r>
            <a:r>
              <a:rPr lang="en-GB" sz="1800" dirty="0" smtClean="0">
                <a:latin typeface="Arial" pitchFamily="34" charset="0"/>
                <a:cs typeface="Arial" pitchFamily="34" charset="0"/>
              </a:rPr>
              <a:t> ‘final database version’</a:t>
            </a:r>
          </a:p>
          <a:p>
            <a:pPr marL="0" indent="0" algn="ctr">
              <a:buFont typeface="Wingdings 2" pitchFamily="18" charset="2"/>
              <a:buNone/>
              <a:defRPr/>
            </a:pPr>
            <a:endParaRPr lang="en-GB" sz="1800" dirty="0">
              <a:latin typeface="Arial" pitchFamily="34" charset="0"/>
              <a:cs typeface="Arial" pitchFamily="34" charset="0"/>
            </a:endParaRPr>
          </a:p>
          <a:p>
            <a:pPr marL="0" indent="0">
              <a:buFont typeface="Wingdings 2" pitchFamily="18" charset="2"/>
              <a:buNone/>
              <a:defRPr/>
            </a:pPr>
            <a:r>
              <a:rPr lang="en-GB" sz="1800" dirty="0" smtClean="0">
                <a:solidFill>
                  <a:srgbClr val="FF0000"/>
                </a:solidFill>
                <a:latin typeface="Arial" pitchFamily="34" charset="0"/>
                <a:cs typeface="Arial" pitchFamily="34" charset="0"/>
                <a:sym typeface="Wingdings" pitchFamily="2" charset="2"/>
              </a:rPr>
              <a:t> IARC guides throughout the whole preparation</a:t>
            </a:r>
            <a:endParaRPr lang="en-GB" sz="1800" dirty="0">
              <a:solidFill>
                <a:srgbClr val="FF0000"/>
              </a:solidFill>
              <a:latin typeface="Arial" pitchFamily="34" charset="0"/>
              <a:cs typeface="Arial" pitchFamily="34" charset="0"/>
            </a:endParaRPr>
          </a:p>
        </p:txBody>
      </p:sp>
      <p:sp>
        <p:nvSpPr>
          <p:cNvPr id="3" name="Down Arrow 2"/>
          <p:cNvSpPr/>
          <p:nvPr/>
        </p:nvSpPr>
        <p:spPr>
          <a:xfrm>
            <a:off x="5724525" y="1077913"/>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 name="Down Arrow 11"/>
          <p:cNvSpPr/>
          <p:nvPr/>
        </p:nvSpPr>
        <p:spPr>
          <a:xfrm>
            <a:off x="5724525" y="2085975"/>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 name="Down Arrow 12"/>
          <p:cNvSpPr/>
          <p:nvPr/>
        </p:nvSpPr>
        <p:spPr>
          <a:xfrm>
            <a:off x="5724525" y="3094038"/>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8" name="Down Arrow 17"/>
          <p:cNvSpPr/>
          <p:nvPr/>
        </p:nvSpPr>
        <p:spPr>
          <a:xfrm>
            <a:off x="5724525" y="4749800"/>
            <a:ext cx="431800"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4" name="Footer Placeholder 4"/>
          <p:cNvSpPr>
            <a:spLocks noGrp="1"/>
          </p:cNvSpPr>
          <p:nvPr>
            <p:ph type="ftr" sz="quarter" idx="12"/>
          </p:nvPr>
        </p:nvSpPr>
        <p:spPr>
          <a:xfrm>
            <a:off x="304800" y="6381750"/>
            <a:ext cx="3906838" cy="350838"/>
          </a:xfrm>
        </p:spPr>
        <p:txBody>
          <a:bodyPr lIns="45720" rIns="45720" anchor="ctr">
            <a:noAutofit/>
          </a:bodyPr>
          <a:lstStyle/>
          <a:p>
            <a:pPr>
              <a:defRPr/>
            </a:pPr>
            <a:r>
              <a:rPr lang="en-GB" dirty="0"/>
              <a:t>Maintenance</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3" name="Footer Placeholder 2"/>
          <p:cNvSpPr>
            <a:spLocks noGrp="1"/>
          </p:cNvSpPr>
          <p:nvPr>
            <p:ph type="ftr" sz="quarter" idx="11"/>
          </p:nvPr>
        </p:nvSpPr>
        <p:spPr/>
        <p:txBody>
          <a:bodyPr/>
          <a:lstStyle/>
          <a:p>
            <a:pPr>
              <a:defRPr/>
            </a:pPr>
            <a:r>
              <a:rPr lang="nl-BE" dirty="0" smtClean="0"/>
              <a:t>GloboDiet training:</a:t>
            </a:r>
            <a:endParaRPr lang="en-US" dirty="0"/>
          </a:p>
        </p:txBody>
      </p:sp>
      <p:sp>
        <p:nvSpPr>
          <p:cNvPr id="4" name="Slide Number Placeholder 3"/>
          <p:cNvSpPr>
            <a:spLocks noGrp="1"/>
          </p:cNvSpPr>
          <p:nvPr>
            <p:ph type="sldNum" sz="quarter" idx="12"/>
          </p:nvPr>
        </p:nvSpPr>
        <p:spPr/>
        <p:txBody>
          <a:bodyPr/>
          <a:lstStyle/>
          <a:p>
            <a:pPr>
              <a:defRPr/>
            </a:pPr>
            <a:fld id="{9127AB46-67E8-4782-BAED-8A130818C851}" type="slidenum">
              <a:rPr lang="en-US" smtClean="0"/>
              <a:pPr>
                <a:defRPr/>
              </a:pPr>
              <a:t>52</a:t>
            </a:fld>
            <a:endParaRPr lang="en-US" dirty="0"/>
          </a:p>
        </p:txBody>
      </p:sp>
      <p:sp>
        <p:nvSpPr>
          <p:cNvPr id="5" name="TextBox 4"/>
          <p:cNvSpPr txBox="1"/>
          <p:nvPr/>
        </p:nvSpPr>
        <p:spPr>
          <a:xfrm>
            <a:off x="323850" y="260350"/>
            <a:ext cx="8424863" cy="5910263"/>
          </a:xfrm>
          <a:prstGeom prst="rect">
            <a:avLst/>
          </a:prstGeom>
          <a:noFill/>
        </p:spPr>
        <p:txBody>
          <a:bodyPr>
            <a:spAutoFit/>
          </a:bodyPr>
          <a:lstStyle/>
          <a:p>
            <a:pPr>
              <a:defRPr/>
            </a:pPr>
            <a:r>
              <a:rPr lang="en-GB" dirty="0"/>
              <a:t>IARC maintains a </a:t>
            </a:r>
            <a:r>
              <a:rPr lang="en-GB" b="1" dirty="0"/>
              <a:t>library</a:t>
            </a:r>
            <a:r>
              <a:rPr lang="en-GB" dirty="0"/>
              <a:t> containing the </a:t>
            </a:r>
            <a:r>
              <a:rPr lang="en-GB" b="1" dirty="0"/>
              <a:t>common files </a:t>
            </a:r>
            <a:r>
              <a:rPr lang="en-GB" dirty="0"/>
              <a:t>used to control/allow for standardisation across projects/countries. It contains</a:t>
            </a:r>
          </a:p>
          <a:p>
            <a:pPr marL="285750" indent="-285750">
              <a:buFontTx/>
              <a:buChar char="-"/>
              <a:defRPr/>
            </a:pPr>
            <a:r>
              <a:rPr lang="en-GB" dirty="0"/>
              <a:t>Food and recipe classifications</a:t>
            </a:r>
          </a:p>
          <a:p>
            <a:pPr marL="285750" indent="-285750">
              <a:buFontTx/>
              <a:buChar char="-"/>
              <a:defRPr/>
            </a:pPr>
            <a:r>
              <a:rPr lang="en-GB" dirty="0"/>
              <a:t>List of facets and descriptors for foods, recipes and dietary supplements</a:t>
            </a:r>
          </a:p>
          <a:p>
            <a:pPr marL="285750" indent="-285750">
              <a:buFontTx/>
              <a:buChar char="-"/>
              <a:defRPr/>
            </a:pPr>
            <a:r>
              <a:rPr lang="en-GB" dirty="0"/>
              <a:t>Picture books, shapes, household measures photos</a:t>
            </a:r>
          </a:p>
          <a:p>
            <a:pPr marL="285750" indent="-285750">
              <a:buFontTx/>
              <a:buChar char="-"/>
              <a:defRPr/>
            </a:pPr>
            <a:r>
              <a:rPr lang="en-GB" dirty="0"/>
              <a:t>Setting files</a:t>
            </a:r>
          </a:p>
          <a:p>
            <a:pPr marL="285750" indent="-285750">
              <a:buFontTx/>
              <a:buChar char="-"/>
              <a:defRPr/>
            </a:pPr>
            <a:endParaRPr lang="en-GB" dirty="0"/>
          </a:p>
          <a:p>
            <a:pPr>
              <a:defRPr/>
            </a:pPr>
            <a:r>
              <a:rPr lang="en-GB" dirty="0"/>
              <a:t>When starting a project, an agreement among the countries participating in a project has to be found in terms of</a:t>
            </a:r>
          </a:p>
          <a:p>
            <a:pPr marL="285750" indent="-285750">
              <a:buFontTx/>
              <a:buChar char="-"/>
              <a:defRPr/>
            </a:pPr>
            <a:r>
              <a:rPr lang="en-GB" dirty="0"/>
              <a:t>Food and recipe classifications – rules on handling of complex foods such as soups, snacks</a:t>
            </a:r>
          </a:p>
          <a:p>
            <a:pPr marL="285750" indent="-285750">
              <a:buFontTx/>
              <a:buChar char="-"/>
              <a:defRPr/>
            </a:pPr>
            <a:r>
              <a:rPr lang="en-GB" dirty="0"/>
              <a:t>Level of details for the description</a:t>
            </a:r>
          </a:p>
          <a:p>
            <a:pPr marL="285750" indent="-285750">
              <a:buFontTx/>
              <a:buChar char="-"/>
              <a:defRPr/>
            </a:pPr>
            <a:r>
              <a:rPr lang="en-GB" dirty="0"/>
              <a:t>Quantification methods</a:t>
            </a:r>
          </a:p>
          <a:p>
            <a:pPr marL="285750" indent="-285750">
              <a:buFontTx/>
              <a:buChar char="-"/>
              <a:defRPr/>
            </a:pPr>
            <a:r>
              <a:rPr lang="en-GB" dirty="0"/>
              <a:t>Setting files (list of food consumption occasions, of places of consumption, of special days, of special diets…)</a:t>
            </a:r>
          </a:p>
          <a:p>
            <a:pPr>
              <a:defRPr/>
            </a:pPr>
            <a:r>
              <a:rPr lang="en-GB" dirty="0"/>
              <a:t>To come up with the </a:t>
            </a:r>
            <a:r>
              <a:rPr lang="en-GB" b="1" dirty="0"/>
              <a:t>common files of the project</a:t>
            </a:r>
            <a:r>
              <a:rPr lang="en-GB" dirty="0"/>
              <a:t>.</a:t>
            </a:r>
          </a:p>
          <a:p>
            <a:pPr>
              <a:defRPr/>
            </a:pPr>
            <a:endParaRPr lang="en-GB" dirty="0"/>
          </a:p>
          <a:p>
            <a:pPr>
              <a:defRPr/>
            </a:pPr>
            <a:r>
              <a:rPr lang="en-GB" dirty="0"/>
              <a:t>Based on the common project files, each country will prepare its </a:t>
            </a:r>
            <a:r>
              <a:rPr lang="en-GB" b="1" dirty="0"/>
              <a:t>country-specific files</a:t>
            </a:r>
            <a:r>
              <a:rPr lang="en-GB" dirty="0"/>
              <a:t>.</a:t>
            </a:r>
          </a:p>
          <a:p>
            <a:pPr>
              <a:defRPr/>
            </a:pPr>
            <a:endParaRPr lang="en-GB" dirty="0"/>
          </a:p>
          <a:p>
            <a:pPr>
              <a:defRPr/>
            </a:pPr>
            <a:r>
              <a:rPr lang="en-GB" dirty="0"/>
              <a:t>N.B. This approach applies also to a national project (one country only).</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4"/>
          <p:cNvSpPr txBox="1">
            <a:spLocks noChangeArrowheads="1"/>
          </p:cNvSpPr>
          <p:nvPr/>
        </p:nvSpPr>
        <p:spPr bwMode="auto">
          <a:xfrm>
            <a:off x="3563938" y="246063"/>
            <a:ext cx="1655762" cy="5905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i="1">
                <a:solidFill>
                  <a:srgbClr val="0000FF"/>
                </a:solidFill>
                <a:latin typeface="Arial" charset="0"/>
              </a:rPr>
              <a:t>Food Classification </a:t>
            </a:r>
          </a:p>
        </p:txBody>
      </p:sp>
      <p:sp>
        <p:nvSpPr>
          <p:cNvPr id="64515" name="Text Box 5"/>
          <p:cNvSpPr txBox="1">
            <a:spLocks noChangeArrowheads="1"/>
          </p:cNvSpPr>
          <p:nvPr/>
        </p:nvSpPr>
        <p:spPr bwMode="auto">
          <a:xfrm>
            <a:off x="874713" y="336550"/>
            <a:ext cx="1757362"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 &amp; Descriptors </a:t>
            </a:r>
          </a:p>
        </p:txBody>
      </p:sp>
      <p:sp>
        <p:nvSpPr>
          <p:cNvPr id="64516" name="Text Box 6"/>
          <p:cNvSpPr txBox="1">
            <a:spLocks noChangeArrowheads="1"/>
          </p:cNvSpPr>
          <p:nvPr/>
        </p:nvSpPr>
        <p:spPr bwMode="auto">
          <a:xfrm>
            <a:off x="895350" y="981075"/>
            <a:ext cx="168116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Facets/Descriptors </a:t>
            </a:r>
          </a:p>
          <a:p>
            <a:pPr algn="ctr" eaLnBrk="1" hangingPunct="1">
              <a:spcBef>
                <a:spcPct val="0"/>
              </a:spcBef>
              <a:buSzTx/>
              <a:buFontTx/>
              <a:buNone/>
            </a:pPr>
            <a:r>
              <a:rPr lang="en-GB" altLang="en-US" sz="1200" b="1" i="1">
                <a:solidFill>
                  <a:srgbClr val="0000FF"/>
                </a:solidFill>
                <a:latin typeface="Arial" charset="0"/>
              </a:rPr>
              <a:t>by Group/Subgroup </a:t>
            </a:r>
          </a:p>
        </p:txBody>
      </p:sp>
      <p:sp>
        <p:nvSpPr>
          <p:cNvPr id="64517" name="Text Box 7"/>
          <p:cNvSpPr txBox="1">
            <a:spLocks noChangeArrowheads="1"/>
          </p:cNvSpPr>
          <p:nvPr/>
        </p:nvSpPr>
        <p:spPr bwMode="auto">
          <a:xfrm>
            <a:off x="395288" y="1560513"/>
            <a:ext cx="1090612"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 Rules </a:t>
            </a:r>
          </a:p>
        </p:txBody>
      </p:sp>
      <p:sp>
        <p:nvSpPr>
          <p:cNvPr id="64518" name="Rectangle 16"/>
          <p:cNvSpPr>
            <a:spLocks noChangeArrowheads="1"/>
          </p:cNvSpPr>
          <p:nvPr/>
        </p:nvSpPr>
        <p:spPr bwMode="auto">
          <a:xfrm>
            <a:off x="5392738" y="2205038"/>
            <a:ext cx="1484312"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Quantification by </a:t>
            </a:r>
          </a:p>
          <a:p>
            <a:pPr algn="ctr" eaLnBrk="1" hangingPunct="1">
              <a:spcBef>
                <a:spcPct val="0"/>
              </a:spcBef>
              <a:buSzTx/>
              <a:buFontTx/>
              <a:buNone/>
            </a:pPr>
            <a:r>
              <a:rPr lang="en-GB" altLang="en-US" sz="1200" b="1" i="1">
                <a:solidFill>
                  <a:srgbClr val="0000FF"/>
                </a:solidFill>
                <a:latin typeface="Arial" charset="0"/>
              </a:rPr>
              <a:t>Group/Subgroup </a:t>
            </a:r>
          </a:p>
        </p:txBody>
      </p:sp>
      <p:sp>
        <p:nvSpPr>
          <p:cNvPr id="64519" name="Rectangle 17"/>
          <p:cNvSpPr>
            <a:spLocks noChangeArrowheads="1"/>
          </p:cNvSpPr>
          <p:nvPr/>
        </p:nvSpPr>
        <p:spPr bwMode="auto">
          <a:xfrm>
            <a:off x="2247900" y="2205038"/>
            <a:ext cx="1460500"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Probing by </a:t>
            </a:r>
          </a:p>
          <a:p>
            <a:pPr algn="ctr" eaLnBrk="1" hangingPunct="1">
              <a:spcBef>
                <a:spcPct val="0"/>
              </a:spcBef>
              <a:buSzTx/>
              <a:buFontTx/>
              <a:buNone/>
            </a:pPr>
            <a:r>
              <a:rPr lang="en-GB" altLang="en-US" sz="1200" b="1" i="1">
                <a:solidFill>
                  <a:srgbClr val="0000FF"/>
                </a:solidFill>
                <a:latin typeface="Arial" charset="0"/>
              </a:rPr>
              <a:t>Group/Subgroup </a:t>
            </a:r>
          </a:p>
        </p:txBody>
      </p:sp>
      <p:sp>
        <p:nvSpPr>
          <p:cNvPr id="64520" name="Rectangle 18"/>
          <p:cNvSpPr>
            <a:spLocks noChangeArrowheads="1"/>
          </p:cNvSpPr>
          <p:nvPr/>
        </p:nvSpPr>
        <p:spPr bwMode="auto">
          <a:xfrm>
            <a:off x="3419475" y="2852738"/>
            <a:ext cx="2201863" cy="3460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a:solidFill>
                  <a:srgbClr val="006600"/>
                </a:solidFill>
                <a:latin typeface="Arial" charset="0"/>
              </a:rPr>
              <a:t>Foods &amp; Shadows </a:t>
            </a:r>
          </a:p>
        </p:txBody>
      </p:sp>
      <p:sp>
        <p:nvSpPr>
          <p:cNvPr id="64521" name="Text Box 19"/>
          <p:cNvSpPr txBox="1">
            <a:spLocks noChangeArrowheads="1"/>
          </p:cNvSpPr>
          <p:nvPr/>
        </p:nvSpPr>
        <p:spPr bwMode="auto">
          <a:xfrm>
            <a:off x="7796213" y="477838"/>
            <a:ext cx="1168400"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Photo Series </a:t>
            </a:r>
          </a:p>
        </p:txBody>
      </p:sp>
      <p:sp>
        <p:nvSpPr>
          <p:cNvPr id="64522" name="Text Box 20"/>
          <p:cNvSpPr txBox="1">
            <a:spLocks noChangeArrowheads="1"/>
          </p:cNvSpPr>
          <p:nvPr/>
        </p:nvSpPr>
        <p:spPr bwMode="auto">
          <a:xfrm>
            <a:off x="7796213" y="790575"/>
            <a:ext cx="777875"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Shapes </a:t>
            </a:r>
          </a:p>
        </p:txBody>
      </p:sp>
      <p:sp>
        <p:nvSpPr>
          <p:cNvPr id="64523" name="Text Box 21"/>
          <p:cNvSpPr txBox="1">
            <a:spLocks noChangeArrowheads="1"/>
          </p:cNvSpPr>
          <p:nvPr/>
        </p:nvSpPr>
        <p:spPr bwMode="auto">
          <a:xfrm>
            <a:off x="7956550" y="1511300"/>
            <a:ext cx="539750"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HHM</a:t>
            </a:r>
          </a:p>
        </p:txBody>
      </p:sp>
      <p:sp>
        <p:nvSpPr>
          <p:cNvPr id="64524" name="Text Box 22"/>
          <p:cNvSpPr txBox="1">
            <a:spLocks noChangeArrowheads="1"/>
          </p:cNvSpPr>
          <p:nvPr/>
        </p:nvSpPr>
        <p:spPr bwMode="auto">
          <a:xfrm>
            <a:off x="7956550" y="1196975"/>
            <a:ext cx="981075"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Thickness </a:t>
            </a:r>
          </a:p>
        </p:txBody>
      </p:sp>
      <p:sp>
        <p:nvSpPr>
          <p:cNvPr id="64525" name="Rectangle 25"/>
          <p:cNvSpPr>
            <a:spLocks noChangeArrowheads="1"/>
          </p:cNvSpPr>
          <p:nvPr/>
        </p:nvSpPr>
        <p:spPr bwMode="auto">
          <a:xfrm>
            <a:off x="704850" y="3963988"/>
            <a:ext cx="1490663"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400" b="1">
                <a:solidFill>
                  <a:srgbClr val="006600"/>
                </a:solidFill>
                <a:latin typeface="Arial" charset="0"/>
              </a:rPr>
              <a:t>Facets by food </a:t>
            </a:r>
          </a:p>
        </p:txBody>
      </p:sp>
      <p:sp>
        <p:nvSpPr>
          <p:cNvPr id="64526" name="Rectangle 26"/>
          <p:cNvSpPr>
            <a:spLocks noChangeArrowheads="1"/>
          </p:cNvSpPr>
          <p:nvPr/>
        </p:nvSpPr>
        <p:spPr bwMode="auto">
          <a:xfrm>
            <a:off x="704850" y="4365625"/>
            <a:ext cx="1116013"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Brand name </a:t>
            </a:r>
          </a:p>
        </p:txBody>
      </p:sp>
      <p:sp>
        <p:nvSpPr>
          <p:cNvPr id="64527" name="Rectangle 27"/>
          <p:cNvSpPr>
            <a:spLocks noChangeArrowheads="1"/>
          </p:cNvSpPr>
          <p:nvPr/>
        </p:nvSpPr>
        <p:spPr bwMode="auto">
          <a:xfrm>
            <a:off x="6675438" y="3459163"/>
            <a:ext cx="2217737"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400" b="1">
                <a:solidFill>
                  <a:srgbClr val="006600"/>
                </a:solidFill>
                <a:latin typeface="Arial" charset="0"/>
              </a:rPr>
              <a:t>Quantifications by food </a:t>
            </a:r>
          </a:p>
        </p:txBody>
      </p:sp>
      <p:sp>
        <p:nvSpPr>
          <p:cNvPr id="64528" name="Rectangle 28"/>
          <p:cNvSpPr>
            <a:spLocks noChangeArrowheads="1"/>
          </p:cNvSpPr>
          <p:nvPr/>
        </p:nvSpPr>
        <p:spPr bwMode="auto">
          <a:xfrm>
            <a:off x="7451725" y="4078288"/>
            <a:ext cx="1262063"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Standard units</a:t>
            </a:r>
          </a:p>
        </p:txBody>
      </p:sp>
      <p:sp>
        <p:nvSpPr>
          <p:cNvPr id="64529" name="Rectangle 29"/>
          <p:cNvSpPr>
            <a:spLocks noChangeArrowheads="1"/>
          </p:cNvSpPr>
          <p:nvPr/>
        </p:nvSpPr>
        <p:spPr bwMode="auto">
          <a:xfrm>
            <a:off x="7451725" y="4438650"/>
            <a:ext cx="1508125"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Standard portions</a:t>
            </a:r>
          </a:p>
        </p:txBody>
      </p:sp>
      <p:sp>
        <p:nvSpPr>
          <p:cNvPr id="64530" name="Rectangle 30"/>
          <p:cNvSpPr>
            <a:spLocks noChangeArrowheads="1"/>
          </p:cNvSpPr>
          <p:nvPr/>
        </p:nvSpPr>
        <p:spPr bwMode="auto">
          <a:xfrm>
            <a:off x="6354763" y="4873625"/>
            <a:ext cx="785812"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Density </a:t>
            </a:r>
          </a:p>
        </p:txBody>
      </p:sp>
      <p:sp>
        <p:nvSpPr>
          <p:cNvPr id="64531" name="Rectangle 31"/>
          <p:cNvSpPr>
            <a:spLocks noChangeArrowheads="1"/>
          </p:cNvSpPr>
          <p:nvPr/>
        </p:nvSpPr>
        <p:spPr bwMode="auto">
          <a:xfrm>
            <a:off x="6354763" y="5808663"/>
            <a:ext cx="1312862"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Raw to cooked </a:t>
            </a:r>
          </a:p>
        </p:txBody>
      </p:sp>
      <p:sp>
        <p:nvSpPr>
          <p:cNvPr id="64532" name="Rectangle 32"/>
          <p:cNvSpPr>
            <a:spLocks noChangeArrowheads="1"/>
          </p:cNvSpPr>
          <p:nvPr/>
        </p:nvSpPr>
        <p:spPr bwMode="auto">
          <a:xfrm>
            <a:off x="6354763" y="5373688"/>
            <a:ext cx="1025525"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Edible part </a:t>
            </a:r>
          </a:p>
        </p:txBody>
      </p:sp>
      <p:sp>
        <p:nvSpPr>
          <p:cNvPr id="64533" name="Rectangle 33"/>
          <p:cNvSpPr>
            <a:spLocks noChangeArrowheads="1"/>
          </p:cNvSpPr>
          <p:nvPr/>
        </p:nvSpPr>
        <p:spPr bwMode="auto">
          <a:xfrm>
            <a:off x="1116013" y="4875213"/>
            <a:ext cx="1874837"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 Fats during cooking </a:t>
            </a:r>
          </a:p>
        </p:txBody>
      </p:sp>
      <p:sp>
        <p:nvSpPr>
          <p:cNvPr id="64534" name="Rectangle 34"/>
          <p:cNvSpPr>
            <a:spLocks noChangeArrowheads="1"/>
          </p:cNvSpPr>
          <p:nvPr/>
        </p:nvSpPr>
        <p:spPr bwMode="auto">
          <a:xfrm>
            <a:off x="1116013" y="5232400"/>
            <a:ext cx="2189162"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 Fats/Sauces/Sweeteners </a:t>
            </a:r>
          </a:p>
        </p:txBody>
      </p:sp>
      <p:sp>
        <p:nvSpPr>
          <p:cNvPr id="64535" name="Rectangle 35"/>
          <p:cNvSpPr>
            <a:spLocks noChangeArrowheads="1"/>
          </p:cNvSpPr>
          <p:nvPr/>
        </p:nvSpPr>
        <p:spPr bwMode="auto">
          <a:xfrm>
            <a:off x="179388" y="2924175"/>
            <a:ext cx="1439862"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 Fats/sauces left over</a:t>
            </a:r>
          </a:p>
        </p:txBody>
      </p:sp>
      <p:sp>
        <p:nvSpPr>
          <p:cNvPr id="64536" name="Rectangle 36"/>
          <p:cNvSpPr>
            <a:spLocks noChangeArrowheads="1"/>
          </p:cNvSpPr>
          <p:nvPr/>
        </p:nvSpPr>
        <p:spPr bwMode="auto">
          <a:xfrm>
            <a:off x="3276600" y="4868863"/>
            <a:ext cx="1493838"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Probings by food </a:t>
            </a:r>
          </a:p>
        </p:txBody>
      </p:sp>
      <p:sp>
        <p:nvSpPr>
          <p:cNvPr id="64537" name="Rectangle 37"/>
          <p:cNvSpPr>
            <a:spLocks noChangeArrowheads="1"/>
          </p:cNvSpPr>
          <p:nvPr/>
        </p:nvSpPr>
        <p:spPr bwMode="auto">
          <a:xfrm>
            <a:off x="5076825" y="4868863"/>
            <a:ext cx="793750"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Maxima </a:t>
            </a:r>
          </a:p>
        </p:txBody>
      </p:sp>
      <p:sp>
        <p:nvSpPr>
          <p:cNvPr id="64538" name="Rectangle 38"/>
          <p:cNvSpPr>
            <a:spLocks noChangeArrowheads="1"/>
          </p:cNvSpPr>
          <p:nvPr/>
        </p:nvSpPr>
        <p:spPr bwMode="auto">
          <a:xfrm>
            <a:off x="5076825" y="5267325"/>
            <a:ext cx="1008063"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Nutritional </a:t>
            </a:r>
          </a:p>
          <a:p>
            <a:pPr algn="ctr" eaLnBrk="1" hangingPunct="1">
              <a:spcBef>
                <a:spcPct val="0"/>
              </a:spcBef>
              <a:buSzTx/>
              <a:buFontTx/>
              <a:buNone/>
            </a:pPr>
            <a:r>
              <a:rPr lang="en-GB" altLang="en-US" sz="1200" b="1">
                <a:solidFill>
                  <a:srgbClr val="006600"/>
                </a:solidFill>
                <a:latin typeface="Arial" charset="0"/>
              </a:rPr>
              <a:t>values </a:t>
            </a:r>
          </a:p>
        </p:txBody>
      </p:sp>
      <p:sp>
        <p:nvSpPr>
          <p:cNvPr id="64539" name="Line 53"/>
          <p:cNvSpPr>
            <a:spLocks noChangeShapeType="1"/>
          </p:cNvSpPr>
          <p:nvPr/>
        </p:nvSpPr>
        <p:spPr bwMode="auto">
          <a:xfrm flipH="1">
            <a:off x="2555875" y="620713"/>
            <a:ext cx="1008063" cy="5762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0" name="Line 54"/>
          <p:cNvSpPr>
            <a:spLocks noChangeShapeType="1"/>
          </p:cNvSpPr>
          <p:nvPr/>
        </p:nvSpPr>
        <p:spPr bwMode="auto">
          <a:xfrm flipH="1">
            <a:off x="2843213" y="620713"/>
            <a:ext cx="720725" cy="158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1" name="Line 55"/>
          <p:cNvSpPr>
            <a:spLocks noChangeShapeType="1"/>
          </p:cNvSpPr>
          <p:nvPr/>
        </p:nvSpPr>
        <p:spPr bwMode="auto">
          <a:xfrm>
            <a:off x="5219700" y="620713"/>
            <a:ext cx="431800" cy="158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2" name="Line 57"/>
          <p:cNvSpPr>
            <a:spLocks noChangeShapeType="1"/>
          </p:cNvSpPr>
          <p:nvPr/>
        </p:nvSpPr>
        <p:spPr bwMode="auto">
          <a:xfrm flipH="1">
            <a:off x="5795963" y="836613"/>
            <a:ext cx="0" cy="13684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3" name="AutoShape 58"/>
          <p:cNvSpPr>
            <a:spLocks/>
          </p:cNvSpPr>
          <p:nvPr/>
        </p:nvSpPr>
        <p:spPr bwMode="auto">
          <a:xfrm>
            <a:off x="7596188" y="404813"/>
            <a:ext cx="288925" cy="792162"/>
          </a:xfrm>
          <a:prstGeom prst="leftBrace">
            <a:avLst>
              <a:gd name="adj1" fmla="val 22848"/>
              <a:gd name="adj2" fmla="val 50000"/>
            </a:avLst>
          </a:prstGeom>
          <a:noFill/>
          <a:ln w="19050">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4544" name="Line 59"/>
          <p:cNvSpPr>
            <a:spLocks noChangeShapeType="1"/>
          </p:cNvSpPr>
          <p:nvPr/>
        </p:nvSpPr>
        <p:spPr bwMode="auto">
          <a:xfrm flipH="1">
            <a:off x="7596188" y="801688"/>
            <a:ext cx="0" cy="262731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5" name="Line 60"/>
          <p:cNvSpPr>
            <a:spLocks noChangeShapeType="1"/>
          </p:cNvSpPr>
          <p:nvPr/>
        </p:nvSpPr>
        <p:spPr bwMode="auto">
          <a:xfrm>
            <a:off x="4356100" y="836613"/>
            <a:ext cx="0" cy="20161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6" name="Line 61"/>
          <p:cNvSpPr>
            <a:spLocks noChangeShapeType="1"/>
          </p:cNvSpPr>
          <p:nvPr/>
        </p:nvSpPr>
        <p:spPr bwMode="auto">
          <a:xfrm>
            <a:off x="1908175" y="1484313"/>
            <a:ext cx="0" cy="244951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7" name="Line 62"/>
          <p:cNvSpPr>
            <a:spLocks noChangeShapeType="1"/>
          </p:cNvSpPr>
          <p:nvPr/>
        </p:nvSpPr>
        <p:spPr bwMode="auto">
          <a:xfrm flipH="1">
            <a:off x="2195513" y="3213100"/>
            <a:ext cx="1368425" cy="8636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8" name="Line 63"/>
          <p:cNvSpPr>
            <a:spLocks noChangeShapeType="1"/>
          </p:cNvSpPr>
          <p:nvPr/>
        </p:nvSpPr>
        <p:spPr bwMode="auto">
          <a:xfrm flipH="1">
            <a:off x="2555875" y="3213100"/>
            <a:ext cx="1008063"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9" name="Line 64"/>
          <p:cNvSpPr>
            <a:spLocks noChangeShapeType="1"/>
          </p:cNvSpPr>
          <p:nvPr/>
        </p:nvSpPr>
        <p:spPr bwMode="auto">
          <a:xfrm>
            <a:off x="3563938" y="3213100"/>
            <a:ext cx="576262"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0" name="Line 66"/>
          <p:cNvSpPr>
            <a:spLocks noChangeShapeType="1"/>
          </p:cNvSpPr>
          <p:nvPr/>
        </p:nvSpPr>
        <p:spPr bwMode="auto">
          <a:xfrm>
            <a:off x="5292725" y="3213100"/>
            <a:ext cx="1223963"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1" name="Line 67"/>
          <p:cNvSpPr>
            <a:spLocks noChangeShapeType="1"/>
          </p:cNvSpPr>
          <p:nvPr/>
        </p:nvSpPr>
        <p:spPr bwMode="auto">
          <a:xfrm>
            <a:off x="5327650" y="3213100"/>
            <a:ext cx="1331913" cy="358775"/>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2" name="Text Box 78"/>
          <p:cNvSpPr txBox="1">
            <a:spLocks noChangeArrowheads="1"/>
          </p:cNvSpPr>
          <p:nvPr/>
        </p:nvSpPr>
        <p:spPr bwMode="auto">
          <a:xfrm>
            <a:off x="2916238" y="6021388"/>
            <a:ext cx="3095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i="1">
                <a:solidFill>
                  <a:srgbClr val="FF6600"/>
                </a:solidFill>
                <a:latin typeface="Arial" charset="0"/>
              </a:rPr>
              <a:t>‘FOOD’ DATABASE VERSION </a:t>
            </a:r>
          </a:p>
        </p:txBody>
      </p:sp>
      <p:sp>
        <p:nvSpPr>
          <p:cNvPr id="64553" name="Line 79"/>
          <p:cNvSpPr>
            <a:spLocks noChangeShapeType="1"/>
          </p:cNvSpPr>
          <p:nvPr/>
        </p:nvSpPr>
        <p:spPr bwMode="auto">
          <a:xfrm>
            <a:off x="1619250" y="620713"/>
            <a:ext cx="0" cy="3603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4" name="Line 88"/>
          <p:cNvSpPr>
            <a:spLocks noChangeShapeType="1"/>
          </p:cNvSpPr>
          <p:nvPr/>
        </p:nvSpPr>
        <p:spPr bwMode="auto">
          <a:xfrm>
            <a:off x="5292725" y="3213100"/>
            <a:ext cx="71438"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5" name="Line 89"/>
          <p:cNvSpPr>
            <a:spLocks noChangeShapeType="1"/>
          </p:cNvSpPr>
          <p:nvPr/>
        </p:nvSpPr>
        <p:spPr bwMode="auto">
          <a:xfrm>
            <a:off x="2771775" y="2708275"/>
            <a:ext cx="720725" cy="21605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6" name="Line 90"/>
          <p:cNvSpPr>
            <a:spLocks noChangeShapeType="1"/>
          </p:cNvSpPr>
          <p:nvPr/>
        </p:nvSpPr>
        <p:spPr bwMode="auto">
          <a:xfrm flipH="1">
            <a:off x="1187450" y="620713"/>
            <a:ext cx="2376488" cy="23034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57" name="Rectangle 91"/>
          <p:cNvSpPr>
            <a:spLocks noChangeArrowheads="1"/>
          </p:cNvSpPr>
          <p:nvPr/>
        </p:nvSpPr>
        <p:spPr bwMode="auto">
          <a:xfrm>
            <a:off x="3276600" y="1560513"/>
            <a:ext cx="771525"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Probing</a:t>
            </a:r>
          </a:p>
        </p:txBody>
      </p:sp>
      <p:sp>
        <p:nvSpPr>
          <p:cNvPr id="64558" name="Line 92"/>
          <p:cNvSpPr>
            <a:spLocks noChangeShapeType="1"/>
          </p:cNvSpPr>
          <p:nvPr/>
        </p:nvSpPr>
        <p:spPr bwMode="auto">
          <a:xfrm flipH="1">
            <a:off x="3419475" y="1844675"/>
            <a:ext cx="144463" cy="36036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64559" name="AutoShape 93"/>
          <p:cNvCxnSpPr>
            <a:cxnSpLocks noChangeShapeType="1"/>
          </p:cNvCxnSpPr>
          <p:nvPr/>
        </p:nvCxnSpPr>
        <p:spPr bwMode="auto">
          <a:xfrm>
            <a:off x="684213" y="4149725"/>
            <a:ext cx="5472112" cy="1871663"/>
          </a:xfrm>
          <a:prstGeom prst="bentConnector3">
            <a:avLst>
              <a:gd name="adj1" fmla="val -8792"/>
            </a:avLst>
          </a:prstGeom>
          <a:noFill/>
          <a:ln w="28575">
            <a:solidFill>
              <a:srgbClr val="00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60" name="Line 97"/>
          <p:cNvSpPr>
            <a:spLocks noChangeShapeType="1"/>
          </p:cNvSpPr>
          <p:nvPr/>
        </p:nvSpPr>
        <p:spPr bwMode="auto">
          <a:xfrm>
            <a:off x="6135688" y="2671763"/>
            <a:ext cx="1244600" cy="7572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61" name="Line 110"/>
          <p:cNvSpPr>
            <a:spLocks noChangeShapeType="1"/>
          </p:cNvSpPr>
          <p:nvPr/>
        </p:nvSpPr>
        <p:spPr bwMode="auto">
          <a:xfrm flipH="1">
            <a:off x="684213" y="1268413"/>
            <a:ext cx="215900" cy="288925"/>
          </a:xfrm>
          <a:prstGeom prst="line">
            <a:avLst/>
          </a:prstGeom>
          <a:noFill/>
          <a:ln w="2857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62" name="Text Box 112"/>
          <p:cNvSpPr txBox="1">
            <a:spLocks noChangeArrowheads="1"/>
          </p:cNvSpPr>
          <p:nvPr/>
        </p:nvSpPr>
        <p:spPr bwMode="auto">
          <a:xfrm>
            <a:off x="5995988" y="477838"/>
            <a:ext cx="1168400"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Photo Series </a:t>
            </a:r>
          </a:p>
        </p:txBody>
      </p:sp>
      <p:sp>
        <p:nvSpPr>
          <p:cNvPr id="64563" name="Text Box 113"/>
          <p:cNvSpPr txBox="1">
            <a:spLocks noChangeArrowheads="1"/>
          </p:cNvSpPr>
          <p:nvPr/>
        </p:nvSpPr>
        <p:spPr bwMode="auto">
          <a:xfrm>
            <a:off x="5995988" y="790575"/>
            <a:ext cx="777875"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Shapes </a:t>
            </a:r>
          </a:p>
        </p:txBody>
      </p:sp>
      <p:sp>
        <p:nvSpPr>
          <p:cNvPr id="64564" name="Text Box 114"/>
          <p:cNvSpPr txBox="1">
            <a:spLocks noChangeArrowheads="1"/>
          </p:cNvSpPr>
          <p:nvPr/>
        </p:nvSpPr>
        <p:spPr bwMode="auto">
          <a:xfrm>
            <a:off x="6227763" y="1511300"/>
            <a:ext cx="539750"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HHM</a:t>
            </a:r>
          </a:p>
        </p:txBody>
      </p:sp>
      <p:sp>
        <p:nvSpPr>
          <p:cNvPr id="64565" name="Text Box 115"/>
          <p:cNvSpPr txBox="1">
            <a:spLocks noChangeArrowheads="1"/>
          </p:cNvSpPr>
          <p:nvPr/>
        </p:nvSpPr>
        <p:spPr bwMode="auto">
          <a:xfrm>
            <a:off x="6227763" y="1196975"/>
            <a:ext cx="981075"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Thickness </a:t>
            </a:r>
          </a:p>
        </p:txBody>
      </p:sp>
      <p:sp>
        <p:nvSpPr>
          <p:cNvPr id="64566" name="AutoShape 116"/>
          <p:cNvSpPr>
            <a:spLocks/>
          </p:cNvSpPr>
          <p:nvPr/>
        </p:nvSpPr>
        <p:spPr bwMode="auto">
          <a:xfrm>
            <a:off x="5795963" y="404813"/>
            <a:ext cx="288925" cy="792162"/>
          </a:xfrm>
          <a:prstGeom prst="leftBrace">
            <a:avLst>
              <a:gd name="adj1" fmla="val 22848"/>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4567" name="AutoShape 118"/>
          <p:cNvSpPr>
            <a:spLocks/>
          </p:cNvSpPr>
          <p:nvPr/>
        </p:nvSpPr>
        <p:spPr bwMode="auto">
          <a:xfrm>
            <a:off x="5003800" y="4797425"/>
            <a:ext cx="73025" cy="1079500"/>
          </a:xfrm>
          <a:prstGeom prst="leftBracket">
            <a:avLst>
              <a:gd name="adj" fmla="val 123188"/>
            </a:avLst>
          </a:prstGeom>
          <a:noFill/>
          <a:ln w="19050">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4568" name="AutoShape 119"/>
          <p:cNvSpPr>
            <a:spLocks/>
          </p:cNvSpPr>
          <p:nvPr/>
        </p:nvSpPr>
        <p:spPr bwMode="auto">
          <a:xfrm>
            <a:off x="6227763" y="4797425"/>
            <a:ext cx="73025" cy="1368425"/>
          </a:xfrm>
          <a:prstGeom prst="leftBracket">
            <a:avLst>
              <a:gd name="adj" fmla="val 156159"/>
            </a:avLst>
          </a:prstGeom>
          <a:noFill/>
          <a:ln w="19050">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4569" name="Line 120"/>
          <p:cNvSpPr>
            <a:spLocks noChangeShapeType="1"/>
          </p:cNvSpPr>
          <p:nvPr/>
        </p:nvSpPr>
        <p:spPr bwMode="auto">
          <a:xfrm flipV="1">
            <a:off x="4427538" y="5373688"/>
            <a:ext cx="0" cy="6477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0" name="Line 121"/>
          <p:cNvSpPr>
            <a:spLocks noChangeShapeType="1"/>
          </p:cNvSpPr>
          <p:nvPr/>
        </p:nvSpPr>
        <p:spPr bwMode="auto">
          <a:xfrm>
            <a:off x="4427538" y="5373688"/>
            <a:ext cx="576262" cy="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1" name="Text Box 122"/>
          <p:cNvSpPr txBox="1">
            <a:spLocks noChangeArrowheads="1"/>
          </p:cNvSpPr>
          <p:nvPr/>
        </p:nvSpPr>
        <p:spPr bwMode="auto">
          <a:xfrm>
            <a:off x="215900" y="5995988"/>
            <a:ext cx="1763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200" b="1">
                <a:solidFill>
                  <a:srgbClr val="0000FF"/>
                </a:solidFill>
                <a:latin typeface="Arial" charset="0"/>
              </a:rPr>
              <a:t>Project data in blue</a:t>
            </a:r>
          </a:p>
          <a:p>
            <a:pPr eaLnBrk="1" hangingPunct="1">
              <a:spcBef>
                <a:spcPct val="0"/>
              </a:spcBef>
              <a:buSzTx/>
              <a:buFontTx/>
              <a:buNone/>
            </a:pPr>
            <a:r>
              <a:rPr lang="en-GB" altLang="en-US" sz="1200" b="1">
                <a:solidFill>
                  <a:srgbClr val="006600"/>
                </a:solidFill>
                <a:latin typeface="Arial" charset="0"/>
              </a:rPr>
              <a:t>Country data in green</a:t>
            </a:r>
            <a:endParaRPr lang="fr-FR" altLang="en-US" sz="1200" b="1">
              <a:solidFill>
                <a:srgbClr val="006600"/>
              </a:solidFill>
              <a:latin typeface="Arial" charset="0"/>
            </a:endParaRPr>
          </a:p>
        </p:txBody>
      </p:sp>
      <p:sp>
        <p:nvSpPr>
          <p:cNvPr id="64572" name="Line 67"/>
          <p:cNvSpPr>
            <a:spLocks noChangeShapeType="1"/>
          </p:cNvSpPr>
          <p:nvPr/>
        </p:nvSpPr>
        <p:spPr bwMode="auto">
          <a:xfrm>
            <a:off x="1938338" y="4295775"/>
            <a:ext cx="0" cy="579438"/>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3" name="Line 59"/>
          <p:cNvSpPr>
            <a:spLocks noChangeShapeType="1"/>
          </p:cNvSpPr>
          <p:nvPr/>
        </p:nvSpPr>
        <p:spPr bwMode="auto">
          <a:xfrm flipH="1">
            <a:off x="8101013" y="3773488"/>
            <a:ext cx="0" cy="3048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4" name="Line 120"/>
          <p:cNvSpPr>
            <a:spLocks noChangeShapeType="1"/>
          </p:cNvSpPr>
          <p:nvPr/>
        </p:nvSpPr>
        <p:spPr bwMode="auto">
          <a:xfrm flipH="1" flipV="1">
            <a:off x="7380288" y="5526088"/>
            <a:ext cx="873125" cy="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5" name="Line 120"/>
          <p:cNvSpPr>
            <a:spLocks noChangeShapeType="1"/>
          </p:cNvSpPr>
          <p:nvPr/>
        </p:nvSpPr>
        <p:spPr bwMode="auto">
          <a:xfrm flipH="1" flipV="1">
            <a:off x="7669213" y="5949950"/>
            <a:ext cx="584200" cy="1588"/>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6" name="Line 59"/>
          <p:cNvSpPr>
            <a:spLocks noChangeShapeType="1"/>
          </p:cNvSpPr>
          <p:nvPr/>
        </p:nvSpPr>
        <p:spPr bwMode="auto">
          <a:xfrm flipH="1" flipV="1">
            <a:off x="8253413" y="4722813"/>
            <a:ext cx="0" cy="122555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77" name="Line 120"/>
          <p:cNvSpPr>
            <a:spLocks noChangeShapeType="1"/>
          </p:cNvSpPr>
          <p:nvPr/>
        </p:nvSpPr>
        <p:spPr bwMode="auto">
          <a:xfrm flipH="1">
            <a:off x="7164388" y="5011738"/>
            <a:ext cx="1089025" cy="1587"/>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 name="Slide Number Placeholder 3"/>
          <p:cNvSpPr txBox="1">
            <a:spLocks noGrp="1"/>
          </p:cNvSpPr>
          <p:nvPr/>
        </p:nvSpPr>
        <p:spPr>
          <a:xfrm>
            <a:off x="4286250" y="6345238"/>
            <a:ext cx="609600" cy="441325"/>
          </a:xfrm>
          <a:prstGeom prst="rect">
            <a:avLst/>
          </a:prstGeom>
          <a:noFill/>
        </p:spPr>
        <p:txBody>
          <a:bodyPr lIns="45720" rIns="45720" anchor="ctr">
            <a:normAutofit/>
          </a:bodyPr>
          <a:lstStyle/>
          <a:p>
            <a:pPr algn="ctr">
              <a:defRPr/>
            </a:pPr>
            <a:fld id="{9F0F416F-190F-430A-B924-9F56FF43C364}" type="slidenum">
              <a:rPr lang="en-US" sz="1600">
                <a:solidFill>
                  <a:schemeClr val="bg1"/>
                </a:solidFill>
                <a:latin typeface="+mj-lt"/>
                <a:cs typeface="+mn-cs"/>
              </a:rPr>
              <a:pPr algn="ctr">
                <a:defRPr/>
              </a:pPr>
              <a:t>53</a:t>
            </a:fld>
            <a:endParaRPr lang="en-US" sz="1600" dirty="0">
              <a:solidFill>
                <a:schemeClr val="bg1"/>
              </a:solidFill>
              <a:latin typeface="+mj-lt"/>
              <a:cs typeface="+mn-cs"/>
            </a:endParaRPr>
          </a:p>
        </p:txBody>
      </p:sp>
      <p:sp>
        <p:nvSpPr>
          <p:cNvPr id="64579" name="Rectangle 16"/>
          <p:cNvSpPr>
            <a:spLocks noChangeArrowheads="1"/>
          </p:cNvSpPr>
          <p:nvPr/>
        </p:nvSpPr>
        <p:spPr bwMode="auto">
          <a:xfrm>
            <a:off x="7766050" y="2452688"/>
            <a:ext cx="1057275" cy="2762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Setting files</a:t>
            </a:r>
          </a:p>
        </p:txBody>
      </p:sp>
      <p:sp>
        <p:nvSpPr>
          <p:cNvPr id="68"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3563938" y="246063"/>
            <a:ext cx="1655762" cy="5905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i="1">
                <a:solidFill>
                  <a:srgbClr val="0000FF"/>
                </a:solidFill>
                <a:latin typeface="Arial" charset="0"/>
              </a:rPr>
              <a:t>Recipe Classification </a:t>
            </a:r>
          </a:p>
        </p:txBody>
      </p:sp>
      <p:sp>
        <p:nvSpPr>
          <p:cNvPr id="65539" name="Text Box 3"/>
          <p:cNvSpPr txBox="1">
            <a:spLocks noChangeArrowheads="1"/>
          </p:cNvSpPr>
          <p:nvPr/>
        </p:nvSpPr>
        <p:spPr bwMode="auto">
          <a:xfrm>
            <a:off x="874713" y="336550"/>
            <a:ext cx="1757362"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 &amp; Descriptors </a:t>
            </a:r>
          </a:p>
        </p:txBody>
      </p:sp>
      <p:sp>
        <p:nvSpPr>
          <p:cNvPr id="65540" name="Text Box 4"/>
          <p:cNvSpPr txBox="1">
            <a:spLocks noChangeArrowheads="1"/>
          </p:cNvSpPr>
          <p:nvPr/>
        </p:nvSpPr>
        <p:spPr bwMode="auto">
          <a:xfrm>
            <a:off x="895350" y="981075"/>
            <a:ext cx="168116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Facets/Descriptors </a:t>
            </a:r>
          </a:p>
          <a:p>
            <a:pPr algn="ctr" eaLnBrk="1" hangingPunct="1">
              <a:spcBef>
                <a:spcPct val="0"/>
              </a:spcBef>
              <a:buSzTx/>
              <a:buFontTx/>
              <a:buNone/>
            </a:pPr>
            <a:r>
              <a:rPr lang="en-GB" altLang="en-US" sz="1200" b="1" i="1">
                <a:solidFill>
                  <a:srgbClr val="0000FF"/>
                </a:solidFill>
                <a:latin typeface="Arial" charset="0"/>
              </a:rPr>
              <a:t>by Group/Subgroup </a:t>
            </a:r>
          </a:p>
        </p:txBody>
      </p:sp>
      <p:sp>
        <p:nvSpPr>
          <p:cNvPr id="65541" name="Text Box 5"/>
          <p:cNvSpPr txBox="1">
            <a:spLocks noChangeArrowheads="1"/>
          </p:cNvSpPr>
          <p:nvPr/>
        </p:nvSpPr>
        <p:spPr bwMode="auto">
          <a:xfrm>
            <a:off x="395288" y="1560513"/>
            <a:ext cx="1090612"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 Rules </a:t>
            </a:r>
          </a:p>
        </p:txBody>
      </p:sp>
      <p:sp>
        <p:nvSpPr>
          <p:cNvPr id="65542" name="Rectangle 6"/>
          <p:cNvSpPr>
            <a:spLocks noChangeArrowheads="1"/>
          </p:cNvSpPr>
          <p:nvPr/>
        </p:nvSpPr>
        <p:spPr bwMode="auto">
          <a:xfrm>
            <a:off x="5392738" y="2205038"/>
            <a:ext cx="1484312"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Quantification by </a:t>
            </a:r>
          </a:p>
          <a:p>
            <a:pPr algn="ctr" eaLnBrk="1" hangingPunct="1">
              <a:spcBef>
                <a:spcPct val="0"/>
              </a:spcBef>
              <a:buSzTx/>
              <a:buFontTx/>
              <a:buNone/>
            </a:pPr>
            <a:r>
              <a:rPr lang="en-GB" altLang="en-US" sz="1200" b="1" i="1">
                <a:solidFill>
                  <a:srgbClr val="0000FF"/>
                </a:solidFill>
                <a:latin typeface="Arial" charset="0"/>
              </a:rPr>
              <a:t>Group/Subgroup </a:t>
            </a:r>
          </a:p>
        </p:txBody>
      </p:sp>
      <p:sp>
        <p:nvSpPr>
          <p:cNvPr id="65543" name="Rectangle 7"/>
          <p:cNvSpPr>
            <a:spLocks noChangeArrowheads="1"/>
          </p:cNvSpPr>
          <p:nvPr/>
        </p:nvSpPr>
        <p:spPr bwMode="auto">
          <a:xfrm>
            <a:off x="2247900" y="2205038"/>
            <a:ext cx="1460500"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Probing by </a:t>
            </a:r>
          </a:p>
          <a:p>
            <a:pPr algn="ctr" eaLnBrk="1" hangingPunct="1">
              <a:spcBef>
                <a:spcPct val="0"/>
              </a:spcBef>
              <a:buSzTx/>
              <a:buFontTx/>
              <a:buNone/>
            </a:pPr>
            <a:r>
              <a:rPr lang="en-GB" altLang="en-US" sz="1200" b="1" i="1">
                <a:solidFill>
                  <a:srgbClr val="0000FF"/>
                </a:solidFill>
                <a:latin typeface="Arial" charset="0"/>
              </a:rPr>
              <a:t>Group/Subgroup </a:t>
            </a:r>
          </a:p>
        </p:txBody>
      </p:sp>
      <p:sp>
        <p:nvSpPr>
          <p:cNvPr id="65544" name="Rectangle 8"/>
          <p:cNvSpPr>
            <a:spLocks noChangeArrowheads="1"/>
          </p:cNvSpPr>
          <p:nvPr/>
        </p:nvSpPr>
        <p:spPr bwMode="auto">
          <a:xfrm>
            <a:off x="3419475" y="2852738"/>
            <a:ext cx="2201863" cy="3460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a:solidFill>
                  <a:srgbClr val="006600"/>
                </a:solidFill>
                <a:latin typeface="Arial" charset="0"/>
              </a:rPr>
              <a:t>Recipes &amp; Shadows </a:t>
            </a:r>
          </a:p>
        </p:txBody>
      </p:sp>
      <p:sp>
        <p:nvSpPr>
          <p:cNvPr id="65545" name="Text Box 9"/>
          <p:cNvSpPr txBox="1">
            <a:spLocks noChangeArrowheads="1"/>
          </p:cNvSpPr>
          <p:nvPr/>
        </p:nvSpPr>
        <p:spPr bwMode="auto">
          <a:xfrm>
            <a:off x="7796213" y="477838"/>
            <a:ext cx="1168400"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Photo Series </a:t>
            </a:r>
          </a:p>
        </p:txBody>
      </p:sp>
      <p:sp>
        <p:nvSpPr>
          <p:cNvPr id="65546" name="Text Box 10"/>
          <p:cNvSpPr txBox="1">
            <a:spLocks noChangeArrowheads="1"/>
          </p:cNvSpPr>
          <p:nvPr/>
        </p:nvSpPr>
        <p:spPr bwMode="auto">
          <a:xfrm>
            <a:off x="7796213" y="790575"/>
            <a:ext cx="777875"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Shapes </a:t>
            </a:r>
          </a:p>
        </p:txBody>
      </p:sp>
      <p:sp>
        <p:nvSpPr>
          <p:cNvPr id="65547" name="Text Box 11"/>
          <p:cNvSpPr txBox="1">
            <a:spLocks noChangeArrowheads="1"/>
          </p:cNvSpPr>
          <p:nvPr/>
        </p:nvSpPr>
        <p:spPr bwMode="auto">
          <a:xfrm>
            <a:off x="8027988" y="1511300"/>
            <a:ext cx="539750"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HHM</a:t>
            </a:r>
          </a:p>
        </p:txBody>
      </p:sp>
      <p:sp>
        <p:nvSpPr>
          <p:cNvPr id="65548" name="Text Box 12"/>
          <p:cNvSpPr txBox="1">
            <a:spLocks noChangeArrowheads="1"/>
          </p:cNvSpPr>
          <p:nvPr/>
        </p:nvSpPr>
        <p:spPr bwMode="auto">
          <a:xfrm>
            <a:off x="8027988" y="1196975"/>
            <a:ext cx="981075"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Thickness </a:t>
            </a:r>
          </a:p>
        </p:txBody>
      </p:sp>
      <p:sp>
        <p:nvSpPr>
          <p:cNvPr id="65549" name="Rectangle 13"/>
          <p:cNvSpPr>
            <a:spLocks noChangeArrowheads="1"/>
          </p:cNvSpPr>
          <p:nvPr/>
        </p:nvSpPr>
        <p:spPr bwMode="auto">
          <a:xfrm>
            <a:off x="565150" y="3963988"/>
            <a:ext cx="1630363" cy="31432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400" b="1">
                <a:solidFill>
                  <a:srgbClr val="006600"/>
                </a:solidFill>
                <a:latin typeface="Arial" charset="0"/>
              </a:rPr>
              <a:t>Facets by recipe </a:t>
            </a:r>
          </a:p>
        </p:txBody>
      </p:sp>
      <p:sp>
        <p:nvSpPr>
          <p:cNvPr id="65550" name="Rectangle 14"/>
          <p:cNvSpPr>
            <a:spLocks noChangeArrowheads="1"/>
          </p:cNvSpPr>
          <p:nvPr/>
        </p:nvSpPr>
        <p:spPr bwMode="auto">
          <a:xfrm>
            <a:off x="635000" y="4365625"/>
            <a:ext cx="1116013"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Brand name </a:t>
            </a:r>
          </a:p>
        </p:txBody>
      </p:sp>
      <p:sp>
        <p:nvSpPr>
          <p:cNvPr id="65551" name="Rectangle 15"/>
          <p:cNvSpPr>
            <a:spLocks noChangeArrowheads="1"/>
          </p:cNvSpPr>
          <p:nvPr/>
        </p:nvSpPr>
        <p:spPr bwMode="auto">
          <a:xfrm>
            <a:off x="6656388" y="3963988"/>
            <a:ext cx="2308225" cy="31432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400" b="1">
                <a:solidFill>
                  <a:srgbClr val="006600"/>
                </a:solidFill>
                <a:latin typeface="Arial" charset="0"/>
              </a:rPr>
              <a:t>Quantifications by recipe</a:t>
            </a:r>
          </a:p>
        </p:txBody>
      </p:sp>
      <p:sp>
        <p:nvSpPr>
          <p:cNvPr id="65552" name="Rectangle 16"/>
          <p:cNvSpPr>
            <a:spLocks noChangeArrowheads="1"/>
          </p:cNvSpPr>
          <p:nvPr/>
        </p:nvSpPr>
        <p:spPr bwMode="auto">
          <a:xfrm>
            <a:off x="8027988" y="4797425"/>
            <a:ext cx="962025" cy="46672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Standard units</a:t>
            </a:r>
          </a:p>
        </p:txBody>
      </p:sp>
      <p:sp>
        <p:nvSpPr>
          <p:cNvPr id="65553" name="Rectangle 18"/>
          <p:cNvSpPr>
            <a:spLocks noChangeArrowheads="1"/>
          </p:cNvSpPr>
          <p:nvPr/>
        </p:nvSpPr>
        <p:spPr bwMode="auto">
          <a:xfrm>
            <a:off x="5937250" y="4887913"/>
            <a:ext cx="785813"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Density </a:t>
            </a:r>
          </a:p>
        </p:txBody>
      </p:sp>
      <p:sp>
        <p:nvSpPr>
          <p:cNvPr id="65554" name="Rectangle 22"/>
          <p:cNvSpPr>
            <a:spLocks noChangeArrowheads="1"/>
          </p:cNvSpPr>
          <p:nvPr/>
        </p:nvSpPr>
        <p:spPr bwMode="auto">
          <a:xfrm>
            <a:off x="900113" y="4887913"/>
            <a:ext cx="2189162"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 Fats/Sauces/Sweeteners </a:t>
            </a:r>
          </a:p>
        </p:txBody>
      </p:sp>
      <p:sp>
        <p:nvSpPr>
          <p:cNvPr id="65555" name="Rectangle 24"/>
          <p:cNvSpPr>
            <a:spLocks noChangeArrowheads="1"/>
          </p:cNvSpPr>
          <p:nvPr/>
        </p:nvSpPr>
        <p:spPr bwMode="auto">
          <a:xfrm>
            <a:off x="3236913" y="4887913"/>
            <a:ext cx="1609725"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Probings by recipe </a:t>
            </a:r>
          </a:p>
        </p:txBody>
      </p:sp>
      <p:sp>
        <p:nvSpPr>
          <p:cNvPr id="65556" name="Rectangle 25"/>
          <p:cNvSpPr>
            <a:spLocks noChangeArrowheads="1"/>
          </p:cNvSpPr>
          <p:nvPr/>
        </p:nvSpPr>
        <p:spPr bwMode="auto">
          <a:xfrm>
            <a:off x="4994275" y="4887913"/>
            <a:ext cx="793750" cy="284162"/>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Maxima </a:t>
            </a:r>
          </a:p>
        </p:txBody>
      </p:sp>
      <p:sp>
        <p:nvSpPr>
          <p:cNvPr id="65557" name="Rectangle 26"/>
          <p:cNvSpPr>
            <a:spLocks noChangeArrowheads="1"/>
          </p:cNvSpPr>
          <p:nvPr/>
        </p:nvSpPr>
        <p:spPr bwMode="auto">
          <a:xfrm>
            <a:off x="6870700" y="4797425"/>
            <a:ext cx="1008063" cy="46672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Nutritional </a:t>
            </a:r>
          </a:p>
          <a:p>
            <a:pPr algn="ctr" eaLnBrk="1" hangingPunct="1">
              <a:spcBef>
                <a:spcPct val="0"/>
              </a:spcBef>
              <a:buSzTx/>
              <a:buFontTx/>
              <a:buNone/>
            </a:pPr>
            <a:r>
              <a:rPr lang="en-GB" altLang="en-US" sz="1200" b="1">
                <a:solidFill>
                  <a:srgbClr val="006600"/>
                </a:solidFill>
                <a:latin typeface="Arial" charset="0"/>
              </a:rPr>
              <a:t>values </a:t>
            </a:r>
          </a:p>
        </p:txBody>
      </p:sp>
      <p:sp>
        <p:nvSpPr>
          <p:cNvPr id="65558" name="Line 27"/>
          <p:cNvSpPr>
            <a:spLocks noChangeShapeType="1"/>
          </p:cNvSpPr>
          <p:nvPr/>
        </p:nvSpPr>
        <p:spPr bwMode="auto">
          <a:xfrm flipH="1">
            <a:off x="2555875" y="620713"/>
            <a:ext cx="1008063" cy="5762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9" name="Line 28"/>
          <p:cNvSpPr>
            <a:spLocks noChangeShapeType="1"/>
          </p:cNvSpPr>
          <p:nvPr/>
        </p:nvSpPr>
        <p:spPr bwMode="auto">
          <a:xfrm flipH="1">
            <a:off x="2843213" y="620713"/>
            <a:ext cx="720725" cy="158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0" name="Line 29"/>
          <p:cNvSpPr>
            <a:spLocks noChangeShapeType="1"/>
          </p:cNvSpPr>
          <p:nvPr/>
        </p:nvSpPr>
        <p:spPr bwMode="auto">
          <a:xfrm>
            <a:off x="5219700" y="620713"/>
            <a:ext cx="431800" cy="158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1" name="Line 30"/>
          <p:cNvSpPr>
            <a:spLocks noChangeShapeType="1"/>
          </p:cNvSpPr>
          <p:nvPr/>
        </p:nvSpPr>
        <p:spPr bwMode="auto">
          <a:xfrm flipH="1">
            <a:off x="5795963" y="836613"/>
            <a:ext cx="0" cy="13684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2" name="AutoShape 31"/>
          <p:cNvSpPr>
            <a:spLocks/>
          </p:cNvSpPr>
          <p:nvPr/>
        </p:nvSpPr>
        <p:spPr bwMode="auto">
          <a:xfrm>
            <a:off x="7596188" y="404813"/>
            <a:ext cx="288925" cy="792162"/>
          </a:xfrm>
          <a:prstGeom prst="leftBrace">
            <a:avLst>
              <a:gd name="adj1" fmla="val 22848"/>
              <a:gd name="adj2" fmla="val 50000"/>
            </a:avLst>
          </a:prstGeom>
          <a:noFill/>
          <a:ln w="19050">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5563" name="Line 32"/>
          <p:cNvSpPr>
            <a:spLocks noChangeShapeType="1"/>
          </p:cNvSpPr>
          <p:nvPr/>
        </p:nvSpPr>
        <p:spPr bwMode="auto">
          <a:xfrm flipH="1">
            <a:off x="7596188" y="836613"/>
            <a:ext cx="0" cy="309721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4" name="Line 33"/>
          <p:cNvSpPr>
            <a:spLocks noChangeShapeType="1"/>
          </p:cNvSpPr>
          <p:nvPr/>
        </p:nvSpPr>
        <p:spPr bwMode="auto">
          <a:xfrm>
            <a:off x="4356100" y="836613"/>
            <a:ext cx="0" cy="20161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5" name="Line 34"/>
          <p:cNvSpPr>
            <a:spLocks noChangeShapeType="1"/>
          </p:cNvSpPr>
          <p:nvPr/>
        </p:nvSpPr>
        <p:spPr bwMode="auto">
          <a:xfrm>
            <a:off x="1908175" y="1484313"/>
            <a:ext cx="0" cy="244951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6" name="Line 35"/>
          <p:cNvSpPr>
            <a:spLocks noChangeShapeType="1"/>
          </p:cNvSpPr>
          <p:nvPr/>
        </p:nvSpPr>
        <p:spPr bwMode="auto">
          <a:xfrm flipH="1">
            <a:off x="2195513" y="3213100"/>
            <a:ext cx="1368425" cy="8636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7" name="Line 36"/>
          <p:cNvSpPr>
            <a:spLocks noChangeShapeType="1"/>
          </p:cNvSpPr>
          <p:nvPr/>
        </p:nvSpPr>
        <p:spPr bwMode="auto">
          <a:xfrm flipH="1">
            <a:off x="2555875" y="3213100"/>
            <a:ext cx="1008063"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8" name="Line 37"/>
          <p:cNvSpPr>
            <a:spLocks noChangeShapeType="1"/>
          </p:cNvSpPr>
          <p:nvPr/>
        </p:nvSpPr>
        <p:spPr bwMode="auto">
          <a:xfrm>
            <a:off x="3563938" y="3213100"/>
            <a:ext cx="576262"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9" name="Line 38"/>
          <p:cNvSpPr>
            <a:spLocks noChangeShapeType="1"/>
          </p:cNvSpPr>
          <p:nvPr/>
        </p:nvSpPr>
        <p:spPr bwMode="auto">
          <a:xfrm>
            <a:off x="5292725" y="3213100"/>
            <a:ext cx="1871663" cy="1584325"/>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0" name="Line 39"/>
          <p:cNvSpPr>
            <a:spLocks noChangeShapeType="1"/>
          </p:cNvSpPr>
          <p:nvPr/>
        </p:nvSpPr>
        <p:spPr bwMode="auto">
          <a:xfrm>
            <a:off x="5292725" y="3213100"/>
            <a:ext cx="1366838" cy="8636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1" name="Line 40"/>
          <p:cNvSpPr>
            <a:spLocks noChangeShapeType="1"/>
          </p:cNvSpPr>
          <p:nvPr/>
        </p:nvSpPr>
        <p:spPr bwMode="auto">
          <a:xfrm>
            <a:off x="8532813" y="4292600"/>
            <a:ext cx="0" cy="504825"/>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2" name="Line 42"/>
          <p:cNvSpPr>
            <a:spLocks noChangeShapeType="1"/>
          </p:cNvSpPr>
          <p:nvPr/>
        </p:nvSpPr>
        <p:spPr bwMode="auto">
          <a:xfrm>
            <a:off x="1619250" y="620713"/>
            <a:ext cx="0" cy="36036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3" name="Line 43"/>
          <p:cNvSpPr>
            <a:spLocks noChangeShapeType="1"/>
          </p:cNvSpPr>
          <p:nvPr/>
        </p:nvSpPr>
        <p:spPr bwMode="auto">
          <a:xfrm>
            <a:off x="5292725" y="3213100"/>
            <a:ext cx="71438"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4" name="Line 44"/>
          <p:cNvSpPr>
            <a:spLocks noChangeShapeType="1"/>
          </p:cNvSpPr>
          <p:nvPr/>
        </p:nvSpPr>
        <p:spPr bwMode="auto">
          <a:xfrm>
            <a:off x="2771775" y="2708275"/>
            <a:ext cx="720725" cy="21605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5" name="Rectangle 46"/>
          <p:cNvSpPr>
            <a:spLocks noChangeArrowheads="1"/>
          </p:cNvSpPr>
          <p:nvPr/>
        </p:nvSpPr>
        <p:spPr bwMode="auto">
          <a:xfrm>
            <a:off x="3276600" y="1560513"/>
            <a:ext cx="771525"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Probing</a:t>
            </a:r>
          </a:p>
        </p:txBody>
      </p:sp>
      <p:sp>
        <p:nvSpPr>
          <p:cNvPr id="65576" name="Line 47"/>
          <p:cNvSpPr>
            <a:spLocks noChangeShapeType="1"/>
          </p:cNvSpPr>
          <p:nvPr/>
        </p:nvSpPr>
        <p:spPr bwMode="auto">
          <a:xfrm flipH="1">
            <a:off x="3419475" y="1844675"/>
            <a:ext cx="144463" cy="36036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7" name="Line 49"/>
          <p:cNvSpPr>
            <a:spLocks noChangeShapeType="1"/>
          </p:cNvSpPr>
          <p:nvPr/>
        </p:nvSpPr>
        <p:spPr bwMode="auto">
          <a:xfrm>
            <a:off x="6084888" y="2708275"/>
            <a:ext cx="1295400" cy="122555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8" name="Line 51"/>
          <p:cNvSpPr>
            <a:spLocks noChangeShapeType="1"/>
          </p:cNvSpPr>
          <p:nvPr/>
        </p:nvSpPr>
        <p:spPr bwMode="auto">
          <a:xfrm flipH="1">
            <a:off x="684213" y="1268413"/>
            <a:ext cx="215900" cy="288925"/>
          </a:xfrm>
          <a:prstGeom prst="line">
            <a:avLst/>
          </a:prstGeom>
          <a:noFill/>
          <a:ln w="2857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79" name="Text Box 52"/>
          <p:cNvSpPr txBox="1">
            <a:spLocks noChangeArrowheads="1"/>
          </p:cNvSpPr>
          <p:nvPr/>
        </p:nvSpPr>
        <p:spPr bwMode="auto">
          <a:xfrm>
            <a:off x="5995988" y="477838"/>
            <a:ext cx="1168400" cy="284162"/>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Photo Series </a:t>
            </a:r>
          </a:p>
        </p:txBody>
      </p:sp>
      <p:sp>
        <p:nvSpPr>
          <p:cNvPr id="65580" name="Text Box 53"/>
          <p:cNvSpPr txBox="1">
            <a:spLocks noChangeArrowheads="1"/>
          </p:cNvSpPr>
          <p:nvPr/>
        </p:nvSpPr>
        <p:spPr bwMode="auto">
          <a:xfrm>
            <a:off x="5995988" y="790575"/>
            <a:ext cx="777875"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Shapes </a:t>
            </a:r>
          </a:p>
        </p:txBody>
      </p:sp>
      <p:sp>
        <p:nvSpPr>
          <p:cNvPr id="65581" name="Text Box 54"/>
          <p:cNvSpPr txBox="1">
            <a:spLocks noChangeArrowheads="1"/>
          </p:cNvSpPr>
          <p:nvPr/>
        </p:nvSpPr>
        <p:spPr bwMode="auto">
          <a:xfrm>
            <a:off x="6227763" y="1511300"/>
            <a:ext cx="539750"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HHM</a:t>
            </a:r>
          </a:p>
        </p:txBody>
      </p:sp>
      <p:sp>
        <p:nvSpPr>
          <p:cNvPr id="65582" name="Text Box 55"/>
          <p:cNvSpPr txBox="1">
            <a:spLocks noChangeArrowheads="1"/>
          </p:cNvSpPr>
          <p:nvPr/>
        </p:nvSpPr>
        <p:spPr bwMode="auto">
          <a:xfrm>
            <a:off x="6227763" y="1196975"/>
            <a:ext cx="981075"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00FF"/>
                </a:solidFill>
                <a:latin typeface="Arial" charset="0"/>
              </a:rPr>
              <a:t>Thickness </a:t>
            </a:r>
          </a:p>
        </p:txBody>
      </p:sp>
      <p:sp>
        <p:nvSpPr>
          <p:cNvPr id="65583" name="AutoShape 56"/>
          <p:cNvSpPr>
            <a:spLocks/>
          </p:cNvSpPr>
          <p:nvPr/>
        </p:nvSpPr>
        <p:spPr bwMode="auto">
          <a:xfrm>
            <a:off x="5795963" y="404813"/>
            <a:ext cx="288925" cy="792162"/>
          </a:xfrm>
          <a:prstGeom prst="leftBrace">
            <a:avLst>
              <a:gd name="adj1" fmla="val 22848"/>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endParaRPr lang="en-GB" altLang="en-US" sz="1800">
              <a:latin typeface="Arial" charset="0"/>
            </a:endParaRPr>
          </a:p>
        </p:txBody>
      </p:sp>
      <p:sp>
        <p:nvSpPr>
          <p:cNvPr id="65584" name="Text Box 62"/>
          <p:cNvSpPr txBox="1">
            <a:spLocks noChangeArrowheads="1"/>
          </p:cNvSpPr>
          <p:nvPr/>
        </p:nvSpPr>
        <p:spPr bwMode="auto">
          <a:xfrm>
            <a:off x="215900" y="5241925"/>
            <a:ext cx="1763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200" b="1">
                <a:solidFill>
                  <a:srgbClr val="0000FF"/>
                </a:solidFill>
                <a:latin typeface="Arial" charset="0"/>
              </a:rPr>
              <a:t>Project data in blue</a:t>
            </a:r>
          </a:p>
          <a:p>
            <a:pPr eaLnBrk="1" hangingPunct="1">
              <a:spcBef>
                <a:spcPct val="0"/>
              </a:spcBef>
              <a:buSzTx/>
              <a:buFontTx/>
              <a:buNone/>
            </a:pPr>
            <a:r>
              <a:rPr lang="en-GB" altLang="en-US" sz="1200" b="1">
                <a:solidFill>
                  <a:srgbClr val="006600"/>
                </a:solidFill>
                <a:latin typeface="Arial" charset="0"/>
              </a:rPr>
              <a:t>Country data in green</a:t>
            </a:r>
            <a:endParaRPr lang="fr-FR" altLang="en-US" sz="1200" b="1">
              <a:solidFill>
                <a:srgbClr val="006600"/>
              </a:solidFill>
              <a:latin typeface="Arial" charset="0"/>
            </a:endParaRPr>
          </a:p>
        </p:txBody>
      </p:sp>
      <p:sp>
        <p:nvSpPr>
          <p:cNvPr id="65585" name="Rectangle 63"/>
          <p:cNvSpPr>
            <a:spLocks noChangeArrowheads="1"/>
          </p:cNvSpPr>
          <p:nvPr/>
        </p:nvSpPr>
        <p:spPr bwMode="auto">
          <a:xfrm>
            <a:off x="3995738" y="3357563"/>
            <a:ext cx="1081087" cy="466725"/>
          </a:xfrm>
          <a:prstGeom prst="rect">
            <a:avLst/>
          </a:prstGeom>
          <a:noFill/>
          <a:ln w="9525">
            <a:solidFill>
              <a:srgbClr val="006600"/>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Recipe </a:t>
            </a:r>
          </a:p>
          <a:p>
            <a:pPr algn="ctr" eaLnBrk="1" hangingPunct="1">
              <a:spcBef>
                <a:spcPct val="0"/>
              </a:spcBef>
              <a:buSzTx/>
              <a:buFontTx/>
              <a:buNone/>
            </a:pPr>
            <a:r>
              <a:rPr lang="en-GB" altLang="en-US" sz="1200" b="1">
                <a:solidFill>
                  <a:srgbClr val="006600"/>
                </a:solidFill>
                <a:latin typeface="Arial" charset="0"/>
              </a:rPr>
              <a:t>ingredients </a:t>
            </a:r>
          </a:p>
        </p:txBody>
      </p:sp>
      <p:sp>
        <p:nvSpPr>
          <p:cNvPr id="65586" name="Line 66"/>
          <p:cNvSpPr>
            <a:spLocks noChangeShapeType="1"/>
          </p:cNvSpPr>
          <p:nvPr/>
        </p:nvSpPr>
        <p:spPr bwMode="auto">
          <a:xfrm>
            <a:off x="5292725" y="3213100"/>
            <a:ext cx="935038" cy="16557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87" name="Text Box 67"/>
          <p:cNvSpPr txBox="1">
            <a:spLocks noChangeArrowheads="1"/>
          </p:cNvSpPr>
          <p:nvPr/>
        </p:nvSpPr>
        <p:spPr bwMode="auto">
          <a:xfrm>
            <a:off x="611188" y="5746750"/>
            <a:ext cx="2232025" cy="284163"/>
          </a:xfrm>
          <a:prstGeom prst="rect">
            <a:avLst/>
          </a:prstGeom>
          <a:noFill/>
          <a:ln w="9525">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Supplement Classification </a:t>
            </a:r>
          </a:p>
        </p:txBody>
      </p:sp>
      <p:sp>
        <p:nvSpPr>
          <p:cNvPr id="65588" name="Text Box 68"/>
          <p:cNvSpPr txBox="1">
            <a:spLocks noChangeArrowheads="1"/>
          </p:cNvSpPr>
          <p:nvPr/>
        </p:nvSpPr>
        <p:spPr bwMode="auto">
          <a:xfrm>
            <a:off x="6370638" y="5419725"/>
            <a:ext cx="2020887" cy="2841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0000FF"/>
                </a:solidFill>
                <a:latin typeface="Arial" charset="0"/>
              </a:rPr>
              <a:t>Facets &amp; Descriptors </a:t>
            </a:r>
          </a:p>
        </p:txBody>
      </p:sp>
      <p:sp>
        <p:nvSpPr>
          <p:cNvPr id="65589" name="Rectangle 69"/>
          <p:cNvSpPr>
            <a:spLocks noChangeArrowheads="1"/>
          </p:cNvSpPr>
          <p:nvPr/>
        </p:nvSpPr>
        <p:spPr bwMode="auto">
          <a:xfrm>
            <a:off x="3635375" y="5746750"/>
            <a:ext cx="1727200" cy="346075"/>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a:solidFill>
                  <a:srgbClr val="006600"/>
                </a:solidFill>
                <a:latin typeface="Arial" charset="0"/>
              </a:rPr>
              <a:t>Supplements</a:t>
            </a:r>
          </a:p>
        </p:txBody>
      </p:sp>
      <p:sp>
        <p:nvSpPr>
          <p:cNvPr id="65590" name="Line 70"/>
          <p:cNvSpPr>
            <a:spLocks noChangeShapeType="1"/>
          </p:cNvSpPr>
          <p:nvPr/>
        </p:nvSpPr>
        <p:spPr bwMode="auto">
          <a:xfrm flipV="1">
            <a:off x="2843213" y="5886450"/>
            <a:ext cx="792162" cy="0"/>
          </a:xfrm>
          <a:prstGeom prst="line">
            <a:avLst/>
          </a:prstGeom>
          <a:noFill/>
          <a:ln w="28575">
            <a:solidFill>
              <a:srgbClr val="00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91" name="Line 71"/>
          <p:cNvSpPr>
            <a:spLocks noChangeShapeType="1"/>
          </p:cNvSpPr>
          <p:nvPr/>
        </p:nvSpPr>
        <p:spPr bwMode="auto">
          <a:xfrm>
            <a:off x="7380288" y="5734050"/>
            <a:ext cx="0" cy="28733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92" name="Line 72"/>
          <p:cNvSpPr>
            <a:spLocks noChangeShapeType="1"/>
          </p:cNvSpPr>
          <p:nvPr/>
        </p:nvSpPr>
        <p:spPr bwMode="auto">
          <a:xfrm>
            <a:off x="4356100" y="3213100"/>
            <a:ext cx="0" cy="144463"/>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93" name="Rectangle 85"/>
          <p:cNvSpPr>
            <a:spLocks noChangeArrowheads="1"/>
          </p:cNvSpPr>
          <p:nvPr/>
        </p:nvSpPr>
        <p:spPr bwMode="auto">
          <a:xfrm>
            <a:off x="6370638" y="6051550"/>
            <a:ext cx="2089150" cy="284163"/>
          </a:xfrm>
          <a:prstGeom prst="rect">
            <a:avLst/>
          </a:prstGeom>
          <a:noFill/>
          <a:ln w="952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a:solidFill>
                  <a:srgbClr val="006600"/>
                </a:solidFill>
                <a:latin typeface="Arial" charset="0"/>
              </a:rPr>
              <a:t>Facets by Supplements</a:t>
            </a:r>
          </a:p>
        </p:txBody>
      </p:sp>
      <p:sp>
        <p:nvSpPr>
          <p:cNvPr id="65594" name="Line 86"/>
          <p:cNvSpPr>
            <a:spLocks noChangeShapeType="1"/>
          </p:cNvSpPr>
          <p:nvPr/>
        </p:nvSpPr>
        <p:spPr bwMode="auto">
          <a:xfrm>
            <a:off x="5364163" y="5949950"/>
            <a:ext cx="1008062" cy="215900"/>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95" name="Text Box 87"/>
          <p:cNvSpPr txBox="1">
            <a:spLocks noChangeArrowheads="1"/>
          </p:cNvSpPr>
          <p:nvPr/>
        </p:nvSpPr>
        <p:spPr bwMode="auto">
          <a:xfrm>
            <a:off x="2916238" y="6092825"/>
            <a:ext cx="3095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600" b="1" i="1">
                <a:solidFill>
                  <a:srgbClr val="FF6600"/>
                </a:solidFill>
                <a:latin typeface="Arial" charset="0"/>
              </a:rPr>
              <a:t>‘FINAL’ DATABASE VERSION </a:t>
            </a:r>
          </a:p>
        </p:txBody>
      </p:sp>
      <p:sp>
        <p:nvSpPr>
          <p:cNvPr id="60" name="Slide Number Placeholder 3"/>
          <p:cNvSpPr txBox="1">
            <a:spLocks noGrp="1"/>
          </p:cNvSpPr>
          <p:nvPr/>
        </p:nvSpPr>
        <p:spPr>
          <a:xfrm>
            <a:off x="4286250" y="6345238"/>
            <a:ext cx="609600" cy="441325"/>
          </a:xfrm>
          <a:prstGeom prst="rect">
            <a:avLst/>
          </a:prstGeom>
          <a:noFill/>
        </p:spPr>
        <p:txBody>
          <a:bodyPr lIns="45720" rIns="45720" anchor="ctr">
            <a:normAutofit/>
          </a:bodyPr>
          <a:lstStyle/>
          <a:p>
            <a:pPr algn="ctr">
              <a:defRPr/>
            </a:pPr>
            <a:fld id="{DF932942-0067-4B62-9291-02D2818D543B}" type="slidenum">
              <a:rPr lang="en-US" sz="1600">
                <a:solidFill>
                  <a:schemeClr val="bg1"/>
                </a:solidFill>
                <a:latin typeface="+mj-lt"/>
                <a:cs typeface="+mn-cs"/>
              </a:rPr>
              <a:pPr algn="ctr">
                <a:defRPr/>
              </a:pPr>
              <a:t>54</a:t>
            </a:fld>
            <a:endParaRPr lang="en-US" sz="1600" dirty="0">
              <a:solidFill>
                <a:schemeClr val="bg1"/>
              </a:solidFill>
              <a:latin typeface="+mj-lt"/>
              <a:cs typeface="+mn-cs"/>
            </a:endParaRPr>
          </a:p>
        </p:txBody>
      </p:sp>
      <p:sp>
        <p:nvSpPr>
          <p:cNvPr id="65597" name="Rectangle 16"/>
          <p:cNvSpPr>
            <a:spLocks noChangeArrowheads="1"/>
          </p:cNvSpPr>
          <p:nvPr/>
        </p:nvSpPr>
        <p:spPr bwMode="auto">
          <a:xfrm>
            <a:off x="3995738" y="3921125"/>
            <a:ext cx="1289050" cy="461963"/>
          </a:xfrm>
          <a:prstGeom prst="rect">
            <a:avLst/>
          </a:prstGeom>
          <a:noFill/>
          <a:ln w="9525">
            <a:solidFill>
              <a:srgbClr val="FFC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algn="ctr" eaLnBrk="1" hangingPunct="1">
              <a:spcBef>
                <a:spcPct val="0"/>
              </a:spcBef>
              <a:buSzTx/>
              <a:buFontTx/>
              <a:buNone/>
            </a:pPr>
            <a:r>
              <a:rPr lang="en-GB" altLang="en-US" sz="1200" b="1" i="1">
                <a:solidFill>
                  <a:srgbClr val="FF6600"/>
                </a:solidFill>
                <a:latin typeface="Arial" charset="0"/>
              </a:rPr>
              <a:t>FOOD pathway</a:t>
            </a:r>
          </a:p>
          <a:p>
            <a:pPr algn="ctr" eaLnBrk="1" hangingPunct="1">
              <a:spcBef>
                <a:spcPct val="0"/>
              </a:spcBef>
              <a:buSzTx/>
              <a:buFontTx/>
              <a:buNone/>
            </a:pPr>
            <a:r>
              <a:rPr lang="en-GB" altLang="en-US" sz="1200" b="1" i="1">
                <a:solidFill>
                  <a:srgbClr val="FF6600"/>
                </a:solidFill>
                <a:latin typeface="Arial" charset="0"/>
              </a:rPr>
              <a:t>files</a:t>
            </a:r>
          </a:p>
        </p:txBody>
      </p:sp>
      <p:sp>
        <p:nvSpPr>
          <p:cNvPr id="65"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dianummer 10"/>
          <p:cNvSpPr>
            <a:spLocks noGrp="1"/>
          </p:cNvSpPr>
          <p:nvPr>
            <p:ph type="sldNum" sz="quarter" idx="10"/>
          </p:nvPr>
        </p:nvSpPr>
        <p:spPr/>
        <p:txBody>
          <a:bodyPr/>
          <a:lstStyle/>
          <a:p>
            <a:pPr>
              <a:defRPr/>
            </a:pPr>
            <a:fld id="{A70FD017-053F-4BA1-8FA9-2EDB7A15DA5E}" type="slidenum">
              <a:rPr lang="en-US" smtClean="0"/>
              <a:pPr>
                <a:defRPr/>
              </a:pPr>
              <a:t>55</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pic>
        <p:nvPicPr>
          <p:cNvPr id="15" name="Afbeelding 14"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7" name="Rectangle 2"/>
          <p:cNvSpPr txBox="1">
            <a:spLocks noChangeArrowheads="1"/>
          </p:cNvSpPr>
          <p:nvPr/>
        </p:nvSpPr>
        <p:spPr>
          <a:xfrm>
            <a:off x="381000" y="1071546"/>
            <a:ext cx="2362200" cy="704848"/>
          </a:xfrm>
          <a:prstGeom prst="rect">
            <a:avLst/>
          </a:prstGeom>
        </p:spPr>
        <p:txBody>
          <a:bodyPr anchor="b"/>
          <a:lstStyle/>
          <a:p>
            <a:pPr fontAlgn="auto">
              <a:spcAft>
                <a:spcPts val="0"/>
              </a:spcAft>
              <a:defRPr/>
            </a:pPr>
            <a:r>
              <a:rPr lang="en-US" sz="2200" b="1" dirty="0">
                <a:solidFill>
                  <a:srgbClr val="FFFFFF"/>
                </a:solidFill>
                <a:effectLst>
                  <a:reflection blurRad="6350" stA="55000" endA="300" endPos="45500" dir="5400000" sy="-100000" algn="bl" rotWithShape="0"/>
                </a:effectLst>
                <a:latin typeface="+mj-lt"/>
                <a:ea typeface="+mj-ea"/>
                <a:cs typeface="+mj-cs"/>
              </a:rPr>
              <a:t>Outline</a:t>
            </a:r>
          </a:p>
        </p:txBody>
      </p:sp>
      <p:sp>
        <p:nvSpPr>
          <p:cNvPr id="16" name="Tijdelijke aanduiding voor tekst 11"/>
          <p:cNvSpPr txBox="1">
            <a:spLocks/>
          </p:cNvSpPr>
          <p:nvPr/>
        </p:nvSpPr>
        <p:spPr bwMode="auto">
          <a:xfrm>
            <a:off x="409550" y="1857364"/>
            <a:ext cx="2362200" cy="414496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rtl="0" eaLnBrk="0" fontAlgn="base" hangingPunct="0">
              <a:spcBef>
                <a:spcPct val="20000"/>
              </a:spcBef>
              <a:spcAft>
                <a:spcPts val="1000"/>
              </a:spcAft>
              <a:buSzPct val="85000"/>
              <a:buFont typeface="Wingdings 2" pitchFamily="18" charset="2"/>
              <a:buNone/>
              <a:defRPr sz="1600" kern="1200">
                <a:solidFill>
                  <a:srgbClr val="FFFFFF"/>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None/>
              <a:defRPr sz="1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None/>
              <a:defRPr sz="1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None/>
              <a:defRPr sz="9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None/>
              <a:defRPr sz="9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indent="-342900" eaLnBrk="1" fontAlgn="auto" hangingPunct="1">
              <a:spcAft>
                <a:spcPts val="300"/>
              </a:spcAft>
              <a:buClr>
                <a:schemeClr val="bg1"/>
              </a:buClr>
              <a:buFont typeface="+mj-lt"/>
              <a:buAutoNum type="arabicPeriod"/>
              <a:defRPr/>
            </a:pPr>
            <a:r>
              <a:rPr lang="en-US" b="1" dirty="0">
                <a:solidFill>
                  <a:schemeClr val="tx1">
                    <a:lumMod val="95000"/>
                    <a:lumOff val="5000"/>
                  </a:schemeClr>
                </a:solidFill>
              </a:rPr>
              <a:t>Introduction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General information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Quick list</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Description and quantification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Controls</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Preparation steps</a:t>
            </a:r>
          </a:p>
          <a:p>
            <a:pPr marL="265113" indent="-265113" eaLnBrk="1" fontAlgn="auto" hangingPunct="1">
              <a:spcAft>
                <a:spcPts val="300"/>
              </a:spcAft>
              <a:buFont typeface="+mj-lt"/>
              <a:buAutoNum type="arabicPeriod"/>
              <a:defRPr/>
            </a:pPr>
            <a:r>
              <a:rPr lang="en-US" b="1" dirty="0" smtClean="0">
                <a:effectLst>
                  <a:glow rad="63500">
                    <a:schemeClr val="accent3">
                      <a:satMod val="175000"/>
                      <a:alpha val="40000"/>
                    </a:schemeClr>
                  </a:glow>
                </a:effectLst>
              </a:rPr>
              <a:t>Maintenance</a:t>
            </a:r>
            <a:endParaRPr lang="en-US" b="1" dirty="0">
              <a:effectLst>
                <a:glow rad="63500">
                  <a:schemeClr val="accent3">
                    <a:satMod val="175000"/>
                    <a:alpha val="40000"/>
                  </a:schemeClr>
                </a:glow>
              </a:effectLst>
            </a:endParaRPr>
          </a:p>
          <a:p>
            <a:pPr eaLnBrk="1" fontAlgn="auto" hangingPunct="1">
              <a:spcAft>
                <a:spcPts val="300"/>
              </a:spcAft>
              <a:buFont typeface="Wingdings 2"/>
              <a:buNone/>
              <a:defRPr/>
            </a:pPr>
            <a:endParaRPr lang="nl-BE" dirty="0"/>
          </a:p>
        </p:txBody>
      </p:sp>
      <p:sp>
        <p:nvSpPr>
          <p:cNvPr id="2" name="Content Placeholder 1"/>
          <p:cNvSpPr>
            <a:spLocks noGrp="1"/>
          </p:cNvSpPr>
          <p:nvPr>
            <p:ph sz="quarter" idx="1"/>
          </p:nvPr>
        </p:nvSpPr>
        <p:spPr>
          <a:xfrm>
            <a:off x="2987675" y="765175"/>
            <a:ext cx="5905500" cy="3746500"/>
          </a:xfrm>
        </p:spPr>
        <p:txBody>
          <a:bodyPr/>
          <a:lstStyle/>
          <a:p>
            <a:pPr marL="0" indent="0">
              <a:buFont typeface="Wingdings 2" pitchFamily="18" charset="2"/>
              <a:buNone/>
              <a:defRPr/>
            </a:pPr>
            <a:r>
              <a:rPr lang="en-GB" sz="1800" b="1" dirty="0" smtClean="0">
                <a:latin typeface="Arial" pitchFamily="34" charset="0"/>
                <a:cs typeface="Arial" pitchFamily="34" charset="0"/>
              </a:rPr>
              <a:t>Food update form (FUF) and Recipe update form (RUF)</a:t>
            </a:r>
          </a:p>
          <a:p>
            <a:pPr marL="0" indent="0">
              <a:buFont typeface="Wingdings 2" pitchFamily="18" charset="2"/>
              <a:buNone/>
              <a:defRPr/>
            </a:pPr>
            <a:endParaRPr lang="en-GB" sz="800" dirty="0" smtClean="0">
              <a:latin typeface="Arial" pitchFamily="34" charset="0"/>
              <a:cs typeface="Arial" pitchFamily="34" charset="0"/>
            </a:endParaRPr>
          </a:p>
          <a:p>
            <a:pPr marL="0" indent="0">
              <a:buFont typeface="Wingdings 2" pitchFamily="18" charset="2"/>
              <a:buNone/>
              <a:defRPr/>
            </a:pPr>
            <a:r>
              <a:rPr lang="en-GB" sz="1800" dirty="0" smtClean="0">
                <a:latin typeface="Arial" pitchFamily="34" charset="0"/>
                <a:cs typeface="Arial" pitchFamily="34" charset="0"/>
              </a:rPr>
              <a:t>During the field work, new needs may be identified with regards to foods and recipes which can be incorporated into the </a:t>
            </a:r>
            <a:r>
              <a:rPr lang="en-GB" sz="1800" dirty="0" err="1" smtClean="0">
                <a:latin typeface="Arial" pitchFamily="34" charset="0"/>
                <a:cs typeface="Arial" pitchFamily="34" charset="0"/>
              </a:rPr>
              <a:t>GloboDiet</a:t>
            </a:r>
            <a:r>
              <a:rPr lang="en-GB" sz="1800" dirty="0" smtClean="0">
                <a:latin typeface="Arial" pitchFamily="34" charset="0"/>
                <a:cs typeface="Arial" pitchFamily="34" charset="0"/>
              </a:rPr>
              <a:t> files via standard forms: FUF and RUF (.end or Word).</a:t>
            </a:r>
          </a:p>
          <a:p>
            <a:pPr marL="0" indent="0">
              <a:buFont typeface="Wingdings 2" pitchFamily="18" charset="2"/>
              <a:buNone/>
              <a:defRPr/>
            </a:pPr>
            <a:endParaRPr lang="en-GB" sz="800" b="1" dirty="0" smtClean="0">
              <a:latin typeface="Arial" pitchFamily="34" charset="0"/>
              <a:cs typeface="Arial" pitchFamily="34" charset="0"/>
            </a:endParaRPr>
          </a:p>
          <a:p>
            <a:pPr marL="0" indent="0">
              <a:buFont typeface="Wingdings 2" pitchFamily="18" charset="2"/>
              <a:buNone/>
              <a:defRPr/>
            </a:pPr>
            <a:r>
              <a:rPr lang="en-GB" sz="1800" b="1" dirty="0" smtClean="0">
                <a:latin typeface="Arial" pitchFamily="34" charset="0"/>
                <a:cs typeface="Arial" pitchFamily="34" charset="0"/>
              </a:rPr>
              <a:t>Foods:</a:t>
            </a:r>
          </a:p>
          <a:p>
            <a:pPr marL="0" indent="0">
              <a:buFont typeface="Wingdings 2" pitchFamily="18" charset="2"/>
              <a:buNone/>
              <a:defRPr/>
            </a:pPr>
            <a:r>
              <a:rPr lang="en-GB" sz="1800" dirty="0" smtClean="0">
                <a:latin typeface="Arial" pitchFamily="34" charset="0"/>
                <a:cs typeface="Arial" pitchFamily="34" charset="0"/>
              </a:rPr>
              <a:t>The FUF enables to </a:t>
            </a:r>
          </a:p>
          <a:p>
            <a:pPr>
              <a:buFontTx/>
              <a:buChar char="-"/>
              <a:defRPr/>
            </a:pPr>
            <a:r>
              <a:rPr lang="en-GB" sz="1800" dirty="0" smtClean="0">
                <a:latin typeface="Arial" pitchFamily="34" charset="0"/>
                <a:cs typeface="Arial" pitchFamily="34" charset="0"/>
              </a:rPr>
              <a:t>Update information on an existing food (replace or add)</a:t>
            </a:r>
          </a:p>
          <a:p>
            <a:pPr>
              <a:buFontTx/>
              <a:buChar char="-"/>
              <a:defRPr/>
            </a:pPr>
            <a:r>
              <a:rPr lang="en-GB" sz="1800" dirty="0" smtClean="0">
                <a:latin typeface="Arial" pitchFamily="34" charset="0"/>
                <a:cs typeface="Arial" pitchFamily="34" charset="0"/>
              </a:rPr>
              <a:t>Add a new food</a:t>
            </a:r>
          </a:p>
          <a:p>
            <a:pPr>
              <a:buFontTx/>
              <a:buChar char="-"/>
              <a:defRPr/>
            </a:pPr>
            <a:endParaRPr lang="en-GB" sz="1800" dirty="0">
              <a:latin typeface="Arial" pitchFamily="34" charset="0"/>
              <a:cs typeface="Arial" pitchFamily="34" charset="0"/>
            </a:endParaRPr>
          </a:p>
          <a:p>
            <a:pPr marL="0" indent="0">
              <a:buFont typeface="Wingdings 2" pitchFamily="18" charset="2"/>
              <a:buNone/>
              <a:defRPr/>
            </a:pPr>
            <a:r>
              <a:rPr lang="en-GB" sz="1800" b="1" dirty="0" smtClean="0">
                <a:latin typeface="Arial" pitchFamily="34" charset="0"/>
                <a:cs typeface="Arial" pitchFamily="34" charset="0"/>
              </a:rPr>
              <a:t>Recipes:</a:t>
            </a:r>
          </a:p>
          <a:p>
            <a:pPr marL="0" indent="0">
              <a:buFont typeface="Wingdings 2" pitchFamily="18" charset="2"/>
              <a:buNone/>
              <a:defRPr/>
            </a:pPr>
            <a:r>
              <a:rPr lang="en-GB" sz="1800" dirty="0" smtClean="0">
                <a:latin typeface="Arial" pitchFamily="34" charset="0"/>
                <a:cs typeface="Arial" pitchFamily="34" charset="0"/>
              </a:rPr>
              <a:t>Updates of recipes and their ingredients are made in the Recipe Manager.</a:t>
            </a:r>
          </a:p>
          <a:p>
            <a:pPr marL="0" indent="0">
              <a:buFont typeface="Wingdings 2" pitchFamily="18" charset="2"/>
              <a:buNone/>
              <a:defRPr/>
            </a:pPr>
            <a:r>
              <a:rPr lang="en-GB" sz="1800" dirty="0" smtClean="0">
                <a:latin typeface="Arial" pitchFamily="34" charset="0"/>
                <a:cs typeface="Arial" pitchFamily="34" charset="0"/>
              </a:rPr>
              <a:t>The RUF enables to update the other recipe information</a:t>
            </a:r>
          </a:p>
          <a:p>
            <a:pPr>
              <a:buFontTx/>
              <a:buChar char="-"/>
              <a:defRPr/>
            </a:pPr>
            <a:endParaRPr lang="en-GB" sz="1800" dirty="0">
              <a:latin typeface="Arial" pitchFamily="34" charset="0"/>
              <a:cs typeface="Arial" pitchFamily="34" charset="0"/>
            </a:endParaRPr>
          </a:p>
          <a:p>
            <a:pPr marL="0" indent="0">
              <a:buFont typeface="Wingdings 2" pitchFamily="18" charset="2"/>
              <a:buNone/>
              <a:defRPr/>
            </a:pPr>
            <a:endParaRPr lang="en-GB" sz="1800" dirty="0" smtClean="0">
              <a:latin typeface="Arial" pitchFamily="34" charset="0"/>
              <a:cs typeface="Arial" pitchFamily="34" charset="0"/>
            </a:endParaRPr>
          </a:p>
          <a:p>
            <a:pPr marL="0" indent="0" algn="ctr">
              <a:buFont typeface="Wingdings 2" pitchFamily="18" charset="2"/>
              <a:buNone/>
              <a:defRPr/>
            </a:pPr>
            <a:endParaRPr lang="en-GB" sz="1800" dirty="0">
              <a:latin typeface="Arial" pitchFamily="34" charset="0"/>
              <a:cs typeface="Arial" pitchFamily="34" charset="0"/>
            </a:endParaRPr>
          </a:p>
        </p:txBody>
      </p:sp>
      <p:sp>
        <p:nvSpPr>
          <p:cNvPr id="14" name="Footer Placeholder 4"/>
          <p:cNvSpPr>
            <a:spLocks noGrp="1"/>
          </p:cNvSpPr>
          <p:nvPr>
            <p:ph type="ftr" sz="quarter" idx="12"/>
          </p:nvPr>
        </p:nvSpPr>
        <p:spPr>
          <a:xfrm>
            <a:off x="304800" y="6381750"/>
            <a:ext cx="3906838" cy="350838"/>
          </a:xfrm>
        </p:spPr>
        <p:txBody>
          <a:bodyPr lIns="45720" rIns="45720" anchor="ctr">
            <a:noAutofit/>
          </a:bodyPr>
          <a:lstStyle/>
          <a:p>
            <a:pPr>
              <a:defRPr/>
            </a:pPr>
            <a:r>
              <a:rPr lang="en-GB" dirty="0"/>
              <a:t>Maintenance</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A4A80CC3-A380-48EA-A2DA-9A525489E77D}" type="slidenum">
              <a:rPr lang="en-US" smtClean="0"/>
              <a:pPr>
                <a:defRPr/>
              </a:pPr>
              <a:t>56</a:t>
            </a:fld>
            <a:endParaRPr lang="en-US" dirty="0"/>
          </a:p>
        </p:txBody>
      </p:sp>
      <p:sp>
        <p:nvSpPr>
          <p:cNvPr id="67588" name="TextBox 4"/>
          <p:cNvSpPr txBox="1">
            <a:spLocks noChangeArrowheads="1"/>
          </p:cNvSpPr>
          <p:nvPr/>
        </p:nvSpPr>
        <p:spPr bwMode="auto">
          <a:xfrm>
            <a:off x="250825" y="260350"/>
            <a:ext cx="8569325" cy="640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b="1">
                <a:latin typeface="Arial" charset="0"/>
              </a:rPr>
              <a:t>Food update form (FUF) and Recipe update form (RUF)</a:t>
            </a:r>
          </a:p>
          <a:p>
            <a:pPr eaLnBrk="1" hangingPunct="1">
              <a:spcBef>
                <a:spcPct val="0"/>
              </a:spcBef>
              <a:buSzTx/>
              <a:buFontTx/>
              <a:buNone/>
            </a:pPr>
            <a:endParaRPr lang="en-GB" altLang="en-US" sz="1800">
              <a:latin typeface="Arial" charset="0"/>
            </a:endParaRPr>
          </a:p>
          <a:p>
            <a:pPr eaLnBrk="1" hangingPunct="1">
              <a:spcBef>
                <a:spcPct val="0"/>
              </a:spcBef>
              <a:buSzTx/>
              <a:buFontTx/>
              <a:buNone/>
            </a:pPr>
            <a:r>
              <a:rPr lang="en-GB" altLang="en-US" sz="1800">
                <a:latin typeface="Arial" charset="0"/>
              </a:rPr>
              <a:t>During the field work, new identified needs with regards to foods and recipes can be incorporated into the GloboDiet files via a procedure using dedicated forms: FUF and RUF.</a:t>
            </a:r>
          </a:p>
          <a:p>
            <a:pPr eaLnBrk="1" hangingPunct="1">
              <a:spcBef>
                <a:spcPct val="0"/>
              </a:spcBef>
              <a:buSzTx/>
              <a:buFontTx/>
              <a:buNone/>
            </a:pP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FOOD UPDATE FORM (version 1.2)                             12 January 1996</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1.  Country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2.  Code (for new food IARC complets)    0000</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3.  Food name, 50 caracters max.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own language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English(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4.  Group/subgroup (   )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5.  Shadow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Synonym, 50 caracters max.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Other group (   )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6.  Brandname (if not yet listed)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a:t>
            </a:r>
            <a:r>
              <a:rPr lang="fr-FR" altLang="en-US" sz="1400">
                <a:latin typeface="Courier New" pitchFamily="49" charset="0"/>
                <a:cs typeface="Courier New" pitchFamily="49" charset="0"/>
              </a:rPr>
              <a:t>- 1. Brandname                       .</a:t>
            </a:r>
            <a:endParaRPr lang="en-GB" altLang="en-US" sz="1400">
              <a:latin typeface="Courier New" pitchFamily="49" charset="0"/>
              <a:cs typeface="Courier New" pitchFamily="49" charset="0"/>
            </a:endParaRPr>
          </a:p>
          <a:p>
            <a:pPr eaLnBrk="1" hangingPunct="1">
              <a:spcBef>
                <a:spcPct val="0"/>
              </a:spcBef>
              <a:buSzTx/>
              <a:buFontTx/>
              <a:buNone/>
            </a:pPr>
            <a:r>
              <a:rPr lang="fr-FR" altLang="en-US" sz="1400">
                <a:latin typeface="Courier New" pitchFamily="49" charset="0"/>
                <a:cs typeface="Courier New" pitchFamily="49" charset="0"/>
              </a:rPr>
              <a:t>    - 2. Brandname                       .</a:t>
            </a:r>
            <a:endParaRPr lang="en-GB" altLang="en-US" sz="1400">
              <a:latin typeface="Courier New" pitchFamily="49" charset="0"/>
              <a:cs typeface="Courier New" pitchFamily="49" charset="0"/>
            </a:endParaRPr>
          </a:p>
          <a:p>
            <a:pPr eaLnBrk="1" hangingPunct="1">
              <a:spcBef>
                <a:spcPct val="0"/>
              </a:spcBef>
              <a:buSzTx/>
              <a:buFontTx/>
              <a:buNone/>
            </a:pPr>
            <a:r>
              <a:rPr lang="fr-FR" altLang="en-US" sz="1400">
                <a:latin typeface="Courier New" pitchFamily="49" charset="0"/>
                <a:cs typeface="Courier New" pitchFamily="49" charset="0"/>
              </a:rPr>
              <a:t>7.  Facet (   )                          .. .. .. .. .. .. .. .. .. .. ..</a:t>
            </a:r>
            <a:endParaRPr lang="en-GB" altLang="en-US" sz="1400">
              <a:latin typeface="Courier New" pitchFamily="49" charset="0"/>
              <a:cs typeface="Courier New" pitchFamily="49" charset="0"/>
            </a:endParaRPr>
          </a:p>
          <a:p>
            <a:pPr eaLnBrk="1" hangingPunct="1">
              <a:spcBef>
                <a:spcPct val="0"/>
              </a:spcBef>
              <a:buSzTx/>
              <a:buFontTx/>
              <a:buNone/>
            </a:pPr>
            <a:endParaRPr lang="en-GB" altLang="en-US" sz="1800">
              <a:latin typeface="Arial" charset="0"/>
            </a:endParaRPr>
          </a:p>
          <a:p>
            <a:pPr eaLnBrk="1" hangingPunct="1">
              <a:spcBef>
                <a:spcPct val="0"/>
              </a:spcBef>
              <a:buSzTx/>
              <a:buFontTx/>
              <a:buNone/>
            </a:pPr>
            <a:endParaRPr lang="en-GB" altLang="en-US" sz="1800">
              <a:latin typeface="Arial" charset="0"/>
            </a:endParaRPr>
          </a:p>
          <a:p>
            <a:pPr eaLnBrk="1" hangingPunct="1">
              <a:spcBef>
                <a:spcPct val="0"/>
              </a:spcBef>
              <a:buSzTx/>
              <a:buFontTx/>
              <a:buNone/>
            </a:pPr>
            <a:endParaRPr lang="en-GB" altLang="en-US" sz="1800">
              <a:latin typeface="Arial" charset="0"/>
            </a:endParaRPr>
          </a:p>
        </p:txBody>
      </p:sp>
      <p:sp>
        <p:nvSpPr>
          <p:cNvPr id="61445" name="TextBox 5"/>
          <p:cNvSpPr txBox="1">
            <a:spLocks noChangeArrowheads="1"/>
          </p:cNvSpPr>
          <p:nvPr/>
        </p:nvSpPr>
        <p:spPr bwMode="auto">
          <a:xfrm>
            <a:off x="5651500" y="2276475"/>
            <a:ext cx="3492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Leave 0000 if new food</a:t>
            </a:r>
          </a:p>
          <a:p>
            <a:pPr eaLnBrk="1" hangingPunct="1">
              <a:spcBef>
                <a:spcPct val="0"/>
              </a:spcBef>
              <a:buSzTx/>
              <a:buFontTx/>
              <a:buNone/>
            </a:pPr>
            <a:r>
              <a:rPr lang="en-GB" altLang="en-US" sz="1800">
                <a:solidFill>
                  <a:srgbClr val="2780B7"/>
                </a:solidFill>
                <a:latin typeface="Arial" charset="0"/>
              </a:rPr>
              <a:t>Otherwise enter the food code</a:t>
            </a:r>
          </a:p>
        </p:txBody>
      </p:sp>
      <p:sp>
        <p:nvSpPr>
          <p:cNvPr id="61446" name="TextBox 6"/>
          <p:cNvSpPr txBox="1">
            <a:spLocks noChangeArrowheads="1"/>
          </p:cNvSpPr>
          <p:nvPr/>
        </p:nvSpPr>
        <p:spPr bwMode="auto">
          <a:xfrm>
            <a:off x="5292725" y="3143250"/>
            <a:ext cx="34909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Provide the food name in both languages</a:t>
            </a:r>
          </a:p>
        </p:txBody>
      </p:sp>
      <p:sp>
        <p:nvSpPr>
          <p:cNvPr id="8" name="Right Brace 7"/>
          <p:cNvSpPr/>
          <p:nvPr/>
        </p:nvSpPr>
        <p:spPr>
          <a:xfrm>
            <a:off x="5003800" y="3213100"/>
            <a:ext cx="215900" cy="431800"/>
          </a:xfrm>
          <a:prstGeom prst="rightBrace">
            <a:avLst/>
          </a:prstGeom>
          <a:ln>
            <a:tailEnd type="arrow"/>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61448" name="TextBox 9"/>
          <p:cNvSpPr txBox="1">
            <a:spLocks noChangeArrowheads="1"/>
          </p:cNvSpPr>
          <p:nvPr/>
        </p:nvSpPr>
        <p:spPr bwMode="auto">
          <a:xfrm>
            <a:off x="5445125" y="3935413"/>
            <a:ext cx="35909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If applicable, </a:t>
            </a:r>
            <a:r>
              <a:rPr lang="en-GB" altLang="en-US" sz="1800" u="sng">
                <a:solidFill>
                  <a:srgbClr val="2780B7"/>
                </a:solidFill>
                <a:latin typeface="Arial" charset="0"/>
              </a:rPr>
              <a:t>several</a:t>
            </a:r>
            <a:r>
              <a:rPr lang="en-GB" altLang="en-US" sz="1800">
                <a:solidFill>
                  <a:srgbClr val="2780B7"/>
                </a:solidFill>
                <a:latin typeface="Arial" charset="0"/>
              </a:rPr>
              <a:t> shadow items can be specified (copy row)</a:t>
            </a:r>
          </a:p>
        </p:txBody>
      </p:sp>
      <p:sp>
        <p:nvSpPr>
          <p:cNvPr id="61449" name="TextBox 10"/>
          <p:cNvSpPr txBox="1">
            <a:spLocks noChangeArrowheads="1"/>
          </p:cNvSpPr>
          <p:nvPr/>
        </p:nvSpPr>
        <p:spPr bwMode="auto">
          <a:xfrm>
            <a:off x="5292725" y="4581525"/>
            <a:ext cx="34909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If applicable, </a:t>
            </a:r>
            <a:r>
              <a:rPr lang="en-GB" altLang="en-US" sz="1800" u="sng">
                <a:solidFill>
                  <a:srgbClr val="2780B7"/>
                </a:solidFill>
                <a:latin typeface="Arial" charset="0"/>
              </a:rPr>
              <a:t>several</a:t>
            </a:r>
            <a:r>
              <a:rPr lang="en-GB" altLang="en-US" sz="1800">
                <a:solidFill>
                  <a:srgbClr val="2780B7"/>
                </a:solidFill>
                <a:latin typeface="Arial" charset="0"/>
              </a:rPr>
              <a:t> new brand or product names can be specified (copy row)</a:t>
            </a:r>
          </a:p>
        </p:txBody>
      </p:sp>
      <p:sp>
        <p:nvSpPr>
          <p:cNvPr id="61450" name="TextBox 11"/>
          <p:cNvSpPr txBox="1">
            <a:spLocks noChangeArrowheads="1"/>
          </p:cNvSpPr>
          <p:nvPr/>
        </p:nvSpPr>
        <p:spPr bwMode="auto">
          <a:xfrm>
            <a:off x="1258888" y="5516563"/>
            <a:ext cx="74183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Specify the facets you wish to keep from the FADEBYGROUP file</a:t>
            </a:r>
          </a:p>
        </p:txBody>
      </p:sp>
      <p:sp>
        <p:nvSpPr>
          <p:cNvPr id="13"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cxnSp>
        <p:nvCxnSpPr>
          <p:cNvPr id="5" name="Straight Arrow Connector 4"/>
          <p:cNvCxnSpPr/>
          <p:nvPr/>
        </p:nvCxnSpPr>
        <p:spPr>
          <a:xfrm flipH="1">
            <a:off x="5219700" y="2492375"/>
            <a:ext cx="431800" cy="1095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wipe(down)">
                                      <p:cBhvr>
                                        <p:cTn id="7" dur="500"/>
                                        <p:tgtEl>
                                          <p:spTgt spid="61445"/>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1446"/>
                                        </p:tgtEl>
                                        <p:attrNameLst>
                                          <p:attrName>style.visibility</p:attrName>
                                        </p:attrNameLst>
                                      </p:cBhvr>
                                      <p:to>
                                        <p:strVal val="visible"/>
                                      </p:to>
                                    </p:set>
                                    <p:animEffect transition="in" filter="wipe(down)">
                                      <p:cBhvr>
                                        <p:cTn id="15" dur="500"/>
                                        <p:tgtEl>
                                          <p:spTgt spid="6144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61448"/>
                                        </p:tgtEl>
                                        <p:attrNameLst>
                                          <p:attrName>style.visibility</p:attrName>
                                        </p:attrNameLst>
                                      </p:cBhvr>
                                      <p:to>
                                        <p:strVal val="visible"/>
                                      </p:to>
                                    </p:set>
                                    <p:animEffect transition="in" filter="wipe(down)">
                                      <p:cBhvr>
                                        <p:cTn id="23" dur="500"/>
                                        <p:tgtEl>
                                          <p:spTgt spid="6144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1449"/>
                                        </p:tgtEl>
                                        <p:attrNameLst>
                                          <p:attrName>style.visibility</p:attrName>
                                        </p:attrNameLst>
                                      </p:cBhvr>
                                      <p:to>
                                        <p:strVal val="visible"/>
                                      </p:to>
                                    </p:set>
                                    <p:animEffect transition="in" filter="wipe(down)">
                                      <p:cBhvr>
                                        <p:cTn id="28" dur="500"/>
                                        <p:tgtEl>
                                          <p:spTgt spid="6144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1450"/>
                                        </p:tgtEl>
                                        <p:attrNameLst>
                                          <p:attrName>style.visibility</p:attrName>
                                        </p:attrNameLst>
                                      </p:cBhvr>
                                      <p:to>
                                        <p:strVal val="visible"/>
                                      </p:to>
                                    </p:set>
                                    <p:animEffect transition="in" filter="wipe(down)">
                                      <p:cBhvr>
                                        <p:cTn id="33" dur="500"/>
                                        <p:tgtEl>
                                          <p:spTgt spid="61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p:bldP spid="61446" grpId="0"/>
      <p:bldP spid="8" grpId="0" animBg="1"/>
      <p:bldP spid="61448" grpId="0"/>
      <p:bldP spid="61449" grpId="0"/>
      <p:bldP spid="6145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5C17A9F4-01B4-4BAE-9168-DD393E18D563}" type="slidenum">
              <a:rPr lang="en-US" smtClean="0"/>
              <a:pPr>
                <a:defRPr/>
              </a:pPr>
              <a:t>57</a:t>
            </a:fld>
            <a:endParaRPr lang="en-US" dirty="0"/>
          </a:p>
        </p:txBody>
      </p:sp>
      <p:sp>
        <p:nvSpPr>
          <p:cNvPr id="68612" name="Rectangle 4"/>
          <p:cNvSpPr>
            <a:spLocks noChangeArrowheads="1"/>
          </p:cNvSpPr>
          <p:nvPr/>
        </p:nvSpPr>
        <p:spPr bwMode="auto">
          <a:xfrm>
            <a:off x="250825" y="338138"/>
            <a:ext cx="8497888" cy="618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fr-FR" altLang="en-US" sz="1400">
                <a:latin typeface="Courier New" pitchFamily="49" charset="0"/>
                <a:cs typeface="Courier New" pitchFamily="49" charset="0"/>
              </a:rPr>
              <a:t>8.  Quantification (   )</a:t>
            </a:r>
            <a:endParaRPr lang="en-GB" altLang="en-US" sz="1400">
              <a:latin typeface="Courier New" pitchFamily="49" charset="0"/>
              <a:cs typeface="Courier New" pitchFamily="49" charset="0"/>
            </a:endParaRPr>
          </a:p>
          <a:p>
            <a:pPr eaLnBrk="1" hangingPunct="1">
              <a:spcBef>
                <a:spcPct val="0"/>
              </a:spcBef>
              <a:buSzTx/>
              <a:buFontTx/>
              <a:buNone/>
            </a:pPr>
            <a:r>
              <a:rPr lang="fr-FR" altLang="en-US" sz="1400">
                <a:latin typeface="Courier New" pitchFamily="49" charset="0"/>
                <a:cs typeface="Courier New" pitchFamily="49" charset="0"/>
              </a:rPr>
              <a:t>    - photos (   )                       ..,..</a:t>
            </a:r>
            <a:endParaRPr lang="en-GB" altLang="en-US" sz="1400">
              <a:latin typeface="Courier New" pitchFamily="49" charset="0"/>
              <a:cs typeface="Courier New" pitchFamily="49" charset="0"/>
            </a:endParaRPr>
          </a:p>
          <a:p>
            <a:pPr eaLnBrk="1" hangingPunct="1">
              <a:spcBef>
                <a:spcPct val="0"/>
              </a:spcBef>
              <a:buSzTx/>
              <a:buFontTx/>
              <a:buNone/>
            </a:pPr>
            <a:r>
              <a:rPr lang="fr-FR" altLang="en-US" sz="1400">
                <a:latin typeface="Courier New" pitchFamily="49" charset="0"/>
                <a:cs typeface="Courier New" pitchFamily="49" charset="0"/>
              </a:rPr>
              <a:t>    - HHM (   )                          .</a:t>
            </a:r>
            <a:endParaRPr lang="en-GB" altLang="en-US" sz="1400">
              <a:latin typeface="Courier New" pitchFamily="49" charset="0"/>
              <a:cs typeface="Courier New" pitchFamily="49" charset="0"/>
            </a:endParaRPr>
          </a:p>
          <a:p>
            <a:pPr eaLnBrk="1" hangingPunct="1">
              <a:spcBef>
                <a:spcPct val="0"/>
              </a:spcBef>
              <a:buSzTx/>
              <a:buFontTx/>
              <a:buNone/>
            </a:pPr>
            <a:r>
              <a:rPr lang="fr-FR" altLang="en-US" sz="1400">
                <a:latin typeface="Courier New" pitchFamily="49" charset="0"/>
                <a:cs typeface="Courier New" pitchFamily="49" charset="0"/>
              </a:rPr>
              <a:t>    </a:t>
            </a:r>
            <a:r>
              <a:rPr lang="en-US" altLang="en-US" sz="1400">
                <a:latin typeface="Courier New" pitchFamily="49" charset="0"/>
                <a:cs typeface="Courier New" pitchFamily="49" charset="0"/>
              </a:rPr>
              <a:t>- STDU and comment (   )             U.1 C 2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STDU and comment (   )             U.2 C 1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STDU and comment (   )             U.3 C 1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STDP and comment (   )             P.1 C 1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STDP and comment (   )             P.2 C 1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9.  Maxima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10. Probings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11. Nutrient values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Energy (   )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Protein (   )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Fat (   )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Carbohydrate (   )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Alcohol (   )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Priority number                        1           2           3</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Facet-string (   )                 .... ....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12. Density/facet-string (if HHM used)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Raw                                R:0.__ ....           R:0.__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Cooked                             C:0.__ ....           C:0.__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Default density                      0.__ ....             0.__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13. Edible Part (   )</a:t>
            </a:r>
            <a:endParaRPr lang="en-GB" altLang="en-US" sz="1800">
              <a:latin typeface="Arial" charset="0"/>
            </a:endParaRPr>
          </a:p>
          <a:p>
            <a:pPr eaLnBrk="1" hangingPunct="1">
              <a:spcBef>
                <a:spcPct val="0"/>
              </a:spcBef>
              <a:buSzTx/>
              <a:buFontTx/>
              <a:buNone/>
            </a:pPr>
            <a:r>
              <a:rPr lang="en-US" altLang="en-US" sz="1400">
                <a:latin typeface="Courier New" pitchFamily="49" charset="0"/>
                <a:cs typeface="Courier New" pitchFamily="49" charset="0"/>
              </a:rPr>
              <a:t>    - Default edib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for fish: whole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for fish: fillet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for fish: steak/slice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for fish: canned (   )             0.__</a:t>
            </a:r>
            <a:endParaRPr lang="en-GB" altLang="en-US" sz="1400">
              <a:latin typeface="Courier New" pitchFamily="49" charset="0"/>
              <a:cs typeface="Courier New" pitchFamily="49" charset="0"/>
            </a:endParaRPr>
          </a:p>
        </p:txBody>
      </p:sp>
      <p:sp>
        <p:nvSpPr>
          <p:cNvPr id="6" name="TextBox 5"/>
          <p:cNvSpPr txBox="1"/>
          <p:nvPr/>
        </p:nvSpPr>
        <p:spPr>
          <a:xfrm>
            <a:off x="5616575" y="188913"/>
            <a:ext cx="3563938" cy="2308225"/>
          </a:xfrm>
          <a:prstGeom prst="rect">
            <a:avLst/>
          </a:prstGeom>
          <a:noFill/>
        </p:spPr>
        <p:txBody>
          <a:bodyPr>
            <a:spAutoFit/>
          </a:bodyPr>
          <a:lstStyle/>
          <a:p>
            <a:pPr>
              <a:defRPr/>
            </a:pPr>
            <a:r>
              <a:rPr lang="en-GB" dirty="0">
                <a:solidFill>
                  <a:srgbClr val="2780B7"/>
                </a:solidFill>
              </a:rPr>
              <a:t>Specify the quantification methods you wish to keep from the FDQMDETAIL file – </a:t>
            </a:r>
          </a:p>
          <a:p>
            <a:pPr>
              <a:defRPr/>
            </a:pPr>
            <a:r>
              <a:rPr lang="en-GB" dirty="0">
                <a:solidFill>
                  <a:srgbClr val="2780B7"/>
                </a:solidFill>
              </a:rPr>
              <a:t>for units and portions: </a:t>
            </a:r>
          </a:p>
          <a:p>
            <a:pPr marL="285750" indent="-285750">
              <a:buFont typeface="Arial" pitchFamily="34" charset="0"/>
              <a:buChar char="•"/>
              <a:defRPr/>
            </a:pPr>
            <a:r>
              <a:rPr lang="en-GB" dirty="0">
                <a:solidFill>
                  <a:srgbClr val="2780B7"/>
                </a:solidFill>
              </a:rPr>
              <a:t>be careful with the numbering and with the variables raw/cooked and edible part</a:t>
            </a:r>
          </a:p>
          <a:p>
            <a:pPr marL="285750" indent="-285750">
              <a:buFont typeface="Arial" pitchFamily="34" charset="0"/>
              <a:buChar char="•"/>
              <a:defRPr/>
            </a:pPr>
            <a:r>
              <a:rPr lang="en-GB" dirty="0">
                <a:solidFill>
                  <a:srgbClr val="2780B7"/>
                </a:solidFill>
              </a:rPr>
              <a:t>new rows may be added</a:t>
            </a:r>
          </a:p>
        </p:txBody>
      </p:sp>
      <p:sp>
        <p:nvSpPr>
          <p:cNvPr id="62470" name="Rectangle 6"/>
          <p:cNvSpPr>
            <a:spLocks noChangeArrowheads="1"/>
          </p:cNvSpPr>
          <p:nvPr/>
        </p:nvSpPr>
        <p:spPr bwMode="auto">
          <a:xfrm>
            <a:off x="2987675" y="2460625"/>
            <a:ext cx="5905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Provide a set of nutrients values, if several sets, please specify the description attached (facet-descriptor string)</a:t>
            </a:r>
            <a:endParaRPr lang="en-GB" altLang="en-US" sz="1800">
              <a:latin typeface="Arial" charset="0"/>
            </a:endParaRPr>
          </a:p>
        </p:txBody>
      </p:sp>
      <p:sp>
        <p:nvSpPr>
          <p:cNvPr id="62471" name="TextBox 8"/>
          <p:cNvSpPr txBox="1">
            <a:spLocks noChangeArrowheads="1"/>
          </p:cNvSpPr>
          <p:nvPr/>
        </p:nvSpPr>
        <p:spPr bwMode="auto">
          <a:xfrm>
            <a:off x="5867400" y="5157788"/>
            <a:ext cx="2403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facet-descriptor string</a:t>
            </a:r>
            <a:endParaRPr lang="en-GB" altLang="en-US" sz="1800">
              <a:latin typeface="Arial" charset="0"/>
            </a:endParaRPr>
          </a:p>
        </p:txBody>
      </p:sp>
      <p:cxnSp>
        <p:nvCxnSpPr>
          <p:cNvPr id="11" name="Straight Arrow Connector 10"/>
          <p:cNvCxnSpPr/>
          <p:nvPr/>
        </p:nvCxnSpPr>
        <p:spPr>
          <a:xfrm flipH="1" flipV="1">
            <a:off x="5616575" y="4868863"/>
            <a:ext cx="250825" cy="288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473" name="TextBox 12"/>
          <p:cNvSpPr txBox="1">
            <a:spLocks noChangeArrowheads="1"/>
          </p:cNvSpPr>
          <p:nvPr/>
        </p:nvSpPr>
        <p:spPr bwMode="auto">
          <a:xfrm>
            <a:off x="5219700" y="5516563"/>
            <a:ext cx="37449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Other EDIB coefficients may be entered, linked to specific facet-descriptor string(s)</a:t>
            </a:r>
            <a:endParaRPr lang="en-GB" altLang="en-US" sz="1800">
              <a:latin typeface="Arial" charset="0"/>
            </a:endParaRPr>
          </a:p>
        </p:txBody>
      </p:sp>
      <p:sp>
        <p:nvSpPr>
          <p:cNvPr id="14"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cxnSp>
        <p:nvCxnSpPr>
          <p:cNvPr id="12" name="Straight Arrow Connector 11"/>
          <p:cNvCxnSpPr/>
          <p:nvPr/>
        </p:nvCxnSpPr>
        <p:spPr>
          <a:xfrm flipH="1" flipV="1">
            <a:off x="2411413" y="2673350"/>
            <a:ext cx="576262" cy="1095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2470"/>
                                        </p:tgtEl>
                                        <p:attrNameLst>
                                          <p:attrName>style.visibility</p:attrName>
                                        </p:attrNameLst>
                                      </p:cBhvr>
                                      <p:to>
                                        <p:strVal val="visible"/>
                                      </p:to>
                                    </p:set>
                                    <p:animEffect transition="in" filter="wipe(down)">
                                      <p:cBhvr>
                                        <p:cTn id="12" dur="500"/>
                                        <p:tgtEl>
                                          <p:spTgt spid="62470"/>
                                        </p:tgtEl>
                                      </p:cBhvr>
                                    </p:animEffect>
                                  </p:childTnLst>
                                </p:cTn>
                              </p:par>
                              <p:par>
                                <p:cTn id="13" presetID="2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2471"/>
                                        </p:tgtEl>
                                        <p:attrNameLst>
                                          <p:attrName>style.visibility</p:attrName>
                                        </p:attrNameLst>
                                      </p:cBhvr>
                                      <p:to>
                                        <p:strVal val="visible"/>
                                      </p:to>
                                    </p:set>
                                    <p:animEffect transition="in" filter="wipe(down)">
                                      <p:cBhvr>
                                        <p:cTn id="20" dur="500"/>
                                        <p:tgtEl>
                                          <p:spTgt spid="62471"/>
                                        </p:tgtEl>
                                      </p:cBhvr>
                                    </p:animEffect>
                                  </p:childTnLst>
                                </p:cTn>
                              </p:par>
                              <p:par>
                                <p:cTn id="21" presetID="22" presetClass="entr" presetSubtype="4"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2473"/>
                                        </p:tgtEl>
                                        <p:attrNameLst>
                                          <p:attrName>style.visibility</p:attrName>
                                        </p:attrNameLst>
                                      </p:cBhvr>
                                      <p:to>
                                        <p:strVal val="visible"/>
                                      </p:to>
                                    </p:set>
                                    <p:animEffect transition="in" filter="wipe(down)">
                                      <p:cBhvr>
                                        <p:cTn id="28" dur="500"/>
                                        <p:tgtEl>
                                          <p:spTgt spid="62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2470" grpId="0"/>
      <p:bldP spid="62471" grpId="0"/>
      <p:bldP spid="6247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7F00665C-591F-4590-9685-01C8FFECB7E9}" type="slidenum">
              <a:rPr lang="en-US" smtClean="0"/>
              <a:pPr>
                <a:defRPr/>
              </a:pPr>
              <a:t>58</a:t>
            </a:fld>
            <a:endParaRPr lang="en-US" dirty="0"/>
          </a:p>
        </p:txBody>
      </p:sp>
      <p:sp>
        <p:nvSpPr>
          <p:cNvPr id="69636" name="Rectangle 4"/>
          <p:cNvSpPr>
            <a:spLocks noChangeArrowheads="1"/>
          </p:cNvSpPr>
          <p:nvPr/>
        </p:nvSpPr>
        <p:spPr bwMode="auto">
          <a:xfrm>
            <a:off x="250825" y="404813"/>
            <a:ext cx="8569325" cy="353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US" altLang="en-US" sz="1400">
                <a:latin typeface="Courier New" pitchFamily="49" charset="0"/>
                <a:cs typeface="Courier New" pitchFamily="49" charset="0"/>
              </a:rPr>
              <a:t>14. Rawcook coef. (if facet 03)  (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Default R/C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Boiled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Baked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Roasted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Fried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from dried (if facet 0403)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15. PCTFAT (if facet 03)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Group1 very fatty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Group2 fatty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Group3 less fatty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16. PCTFSS (   )</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%Fat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%Sauce (   )                       0.__</a:t>
            </a:r>
            <a:endParaRPr lang="en-GB" altLang="en-US" sz="1400">
              <a:latin typeface="Courier New" pitchFamily="49" charset="0"/>
              <a:cs typeface="Courier New" pitchFamily="49" charset="0"/>
            </a:endParaRPr>
          </a:p>
          <a:p>
            <a:pPr eaLnBrk="1" hangingPunct="1">
              <a:spcBef>
                <a:spcPct val="0"/>
              </a:spcBef>
              <a:buSzTx/>
              <a:buFontTx/>
              <a:buNone/>
            </a:pPr>
            <a:r>
              <a:rPr lang="en-US" altLang="en-US" sz="1400">
                <a:latin typeface="Courier New" pitchFamily="49" charset="0"/>
                <a:cs typeface="Courier New" pitchFamily="49" charset="0"/>
              </a:rPr>
              <a:t>    - %Sweetener (   )                   0.__</a:t>
            </a:r>
            <a:endParaRPr lang="en-GB" altLang="en-US" sz="1400">
              <a:latin typeface="Courier New" pitchFamily="49" charset="0"/>
              <a:cs typeface="Courier New" pitchFamily="49" charset="0"/>
            </a:endParaRPr>
          </a:p>
        </p:txBody>
      </p:sp>
      <p:sp>
        <p:nvSpPr>
          <p:cNvPr id="63493" name="TextBox 5"/>
          <p:cNvSpPr txBox="1">
            <a:spLocks noChangeArrowheads="1"/>
          </p:cNvSpPr>
          <p:nvPr/>
        </p:nvSpPr>
        <p:spPr bwMode="auto">
          <a:xfrm>
            <a:off x="466725" y="4365625"/>
            <a:ext cx="849788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latin typeface="Arial" charset="0"/>
              </a:rPr>
              <a:t>If you wish to have the </a:t>
            </a:r>
            <a:r>
              <a:rPr lang="en-GB" altLang="en-US" sz="1800" u="sng">
                <a:latin typeface="Arial" charset="0"/>
              </a:rPr>
              <a:t>shape method</a:t>
            </a:r>
            <a:r>
              <a:rPr lang="en-GB" altLang="en-US" sz="1800">
                <a:latin typeface="Arial" charset="0"/>
              </a:rPr>
              <a:t>, please write so after ‘</a:t>
            </a:r>
            <a:r>
              <a:rPr lang="en-US" altLang="en-US" sz="1800">
                <a:latin typeface="Arial" charset="0"/>
              </a:rPr>
              <a:t>STDP and comment’ </a:t>
            </a:r>
            <a:r>
              <a:rPr lang="en-GB" altLang="en-US" sz="1800">
                <a:latin typeface="Arial" charset="0"/>
              </a:rPr>
              <a:t>and specify the shape codes attached to the food, e.g. ‘A1 R055, R065’.</a:t>
            </a:r>
          </a:p>
          <a:p>
            <a:pPr eaLnBrk="1" hangingPunct="1">
              <a:spcBef>
                <a:spcPct val="0"/>
              </a:spcBef>
              <a:buSzTx/>
              <a:buFontTx/>
              <a:buNone/>
            </a:pPr>
            <a:r>
              <a:rPr lang="en-GB" altLang="en-US" sz="1800">
                <a:latin typeface="Arial" charset="0"/>
              </a:rPr>
              <a:t>For units and portions in volume [ml], enter ‘$’ in the description field.</a:t>
            </a:r>
          </a:p>
          <a:p>
            <a:pPr eaLnBrk="1" hangingPunct="1">
              <a:spcBef>
                <a:spcPct val="0"/>
              </a:spcBef>
              <a:buSzTx/>
              <a:buFontTx/>
              <a:buNone/>
            </a:pPr>
            <a:endParaRPr lang="en-GB" altLang="en-US" sz="1800">
              <a:latin typeface="Arial" charset="0"/>
            </a:endParaRPr>
          </a:p>
          <a:p>
            <a:pPr eaLnBrk="1" hangingPunct="1">
              <a:spcBef>
                <a:spcPct val="0"/>
              </a:spcBef>
              <a:buSzTx/>
              <a:buFontTx/>
              <a:buNone/>
            </a:pPr>
            <a:r>
              <a:rPr lang="en-GB" altLang="en-US" sz="1800">
                <a:latin typeface="Arial" charset="0"/>
              </a:rPr>
              <a:t>If you wish to update and/or create several foods, please prepare a single file gathering all the individual FUFs.</a:t>
            </a:r>
          </a:p>
        </p:txBody>
      </p:sp>
      <p:sp>
        <p:nvSpPr>
          <p:cNvPr id="7"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3493"/>
                                        </p:tgtEl>
                                        <p:attrNameLst>
                                          <p:attrName>style.visibility</p:attrName>
                                        </p:attrNameLst>
                                      </p:cBhvr>
                                      <p:to>
                                        <p:strVal val="visible"/>
                                      </p:to>
                                    </p:set>
                                    <p:animEffect transition="in" filter="wipe(down)">
                                      <p:cBhvr>
                                        <p:cTn id="7" dur="500"/>
                                        <p:tgtEl>
                                          <p:spTgt spid="63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nl-BE" smtClean="0"/>
              <a:t>IARC, Lyon - France</a:t>
            </a:r>
            <a:endParaRPr lang="en-US" dirty="0"/>
          </a:p>
        </p:txBody>
      </p:sp>
      <p:sp>
        <p:nvSpPr>
          <p:cNvPr id="4" name="Slide Number Placeholder 3"/>
          <p:cNvSpPr>
            <a:spLocks noGrp="1"/>
          </p:cNvSpPr>
          <p:nvPr>
            <p:ph type="sldNum" sz="quarter" idx="12"/>
          </p:nvPr>
        </p:nvSpPr>
        <p:spPr/>
        <p:txBody>
          <a:bodyPr/>
          <a:lstStyle/>
          <a:p>
            <a:pPr>
              <a:defRPr/>
            </a:pPr>
            <a:fld id="{04E26640-1C94-461F-9D35-DE07EDD689EF}" type="slidenum">
              <a:rPr lang="en-US" smtClean="0"/>
              <a:pPr>
                <a:defRPr/>
              </a:pPr>
              <a:t>59</a:t>
            </a:fld>
            <a:endParaRPr lang="en-US" dirty="0"/>
          </a:p>
        </p:txBody>
      </p:sp>
      <p:sp>
        <p:nvSpPr>
          <p:cNvPr id="64518" name="TextBox 6"/>
          <p:cNvSpPr txBox="1">
            <a:spLocks noChangeArrowheads="1"/>
          </p:cNvSpPr>
          <p:nvPr/>
        </p:nvSpPr>
        <p:spPr bwMode="auto">
          <a:xfrm>
            <a:off x="5292725" y="404813"/>
            <a:ext cx="38163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Provide the recipe code, name and classification as entered in the Recipe Manager</a:t>
            </a:r>
          </a:p>
        </p:txBody>
      </p:sp>
      <p:sp>
        <p:nvSpPr>
          <p:cNvPr id="8" name="TextBox 7"/>
          <p:cNvSpPr txBox="1"/>
          <p:nvPr/>
        </p:nvSpPr>
        <p:spPr>
          <a:xfrm>
            <a:off x="5148263" y="2924175"/>
            <a:ext cx="3924300" cy="3140075"/>
          </a:xfrm>
          <a:prstGeom prst="rect">
            <a:avLst/>
          </a:prstGeom>
          <a:noFill/>
        </p:spPr>
        <p:txBody>
          <a:bodyPr>
            <a:spAutoFit/>
          </a:bodyPr>
          <a:lstStyle/>
          <a:p>
            <a:pPr>
              <a:defRPr/>
            </a:pPr>
            <a:r>
              <a:rPr lang="en-GB" dirty="0">
                <a:solidFill>
                  <a:srgbClr val="2780B7"/>
                </a:solidFill>
              </a:rPr>
              <a:t>Specify the quantification methods you wish to keep from the RCPQMDETAIL file – for units : </a:t>
            </a:r>
          </a:p>
          <a:p>
            <a:pPr marL="285750" indent="-285750">
              <a:buFont typeface="Arial" pitchFamily="34" charset="0"/>
              <a:buChar char="•"/>
              <a:defRPr/>
            </a:pPr>
            <a:r>
              <a:rPr lang="en-GB" dirty="0">
                <a:solidFill>
                  <a:srgbClr val="2780B7"/>
                </a:solidFill>
              </a:rPr>
              <a:t>be careful with the numbering,</a:t>
            </a:r>
          </a:p>
          <a:p>
            <a:pPr marL="285750" indent="-285750">
              <a:buFont typeface="Arial" pitchFamily="34" charset="0"/>
              <a:buChar char="•"/>
              <a:defRPr/>
            </a:pPr>
            <a:r>
              <a:rPr lang="en-GB" dirty="0">
                <a:solidFill>
                  <a:srgbClr val="2780B7"/>
                </a:solidFill>
              </a:rPr>
              <a:t>new rows may be added</a:t>
            </a:r>
          </a:p>
          <a:p>
            <a:pPr marL="285750" indent="-285750">
              <a:buFont typeface="Arial" pitchFamily="34" charset="0"/>
              <a:buChar char="•"/>
              <a:defRPr/>
            </a:pPr>
            <a:r>
              <a:rPr lang="en-GB" altLang="en-US" dirty="0">
                <a:solidFill>
                  <a:srgbClr val="2780B7"/>
                </a:solidFill>
              </a:rPr>
              <a:t>For the shape method, specify the shape codes attached to the recipe, e.g. ‘A1 R055, R065’.</a:t>
            </a:r>
          </a:p>
          <a:p>
            <a:pPr marL="285750" indent="-285750">
              <a:buFont typeface="Arial" pitchFamily="34" charset="0"/>
              <a:buChar char="•"/>
              <a:defRPr/>
            </a:pPr>
            <a:r>
              <a:rPr lang="en-GB" altLang="en-US" dirty="0">
                <a:solidFill>
                  <a:srgbClr val="2780B7"/>
                </a:solidFill>
              </a:rPr>
              <a:t>For units in volume [ml], enter ‘$’ in the description field.</a:t>
            </a:r>
          </a:p>
          <a:p>
            <a:pPr marL="285750" indent="-285750">
              <a:buFont typeface="Arial" pitchFamily="34" charset="0"/>
              <a:buChar char="•"/>
              <a:defRPr/>
            </a:pPr>
            <a:endParaRPr lang="en-GB" altLang="en-US" dirty="0">
              <a:solidFill>
                <a:srgbClr val="2780B7"/>
              </a:solidFill>
            </a:endParaRPr>
          </a:p>
        </p:txBody>
      </p:sp>
      <p:sp>
        <p:nvSpPr>
          <p:cNvPr id="10" name="Footer Placeholder 4"/>
          <p:cNvSpPr>
            <a:spLocks noGrp="1"/>
          </p:cNvSpPr>
          <p:nvPr>
            <p:ph type="ftr" sz="quarter" idx="11"/>
          </p:nvPr>
        </p:nvSpPr>
        <p:spPr>
          <a:xfrm>
            <a:off x="304800" y="6381750"/>
            <a:ext cx="3906838" cy="350838"/>
          </a:xfrm>
        </p:spPr>
        <p:txBody>
          <a:bodyPr/>
          <a:lstStyle/>
          <a:p>
            <a:pPr>
              <a:defRPr/>
            </a:pPr>
            <a:r>
              <a:rPr lang="en-GB" dirty="0"/>
              <a:t>Maintenance</a:t>
            </a:r>
          </a:p>
        </p:txBody>
      </p:sp>
      <p:sp>
        <p:nvSpPr>
          <p:cNvPr id="70663" name="Rectangle 6"/>
          <p:cNvSpPr>
            <a:spLocks noChangeArrowheads="1"/>
          </p:cNvSpPr>
          <p:nvPr/>
        </p:nvSpPr>
        <p:spPr bwMode="auto">
          <a:xfrm>
            <a:off x="179388" y="203200"/>
            <a:ext cx="9072562"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400">
                <a:latin typeface="Courier New" pitchFamily="49" charset="0"/>
                <a:cs typeface="Courier New" pitchFamily="49" charset="0"/>
              </a:rPr>
              <a:t>RECIPE UPDATE FORM (version 1.0)                             SEPTEMBER 2013</a:t>
            </a:r>
          </a:p>
          <a:p>
            <a:pPr eaLnBrk="1" hangingPunct="1">
              <a:spcBef>
                <a:spcPct val="0"/>
              </a:spcBef>
              <a:buSzTx/>
              <a:buFontTx/>
              <a:buNone/>
            </a:pPr>
            <a:endParaRPr lang="en-GB" altLang="en-US" sz="1400">
              <a:latin typeface="Courier New" pitchFamily="49" charset="0"/>
              <a:cs typeface="Courier New" pitchFamily="49" charset="0"/>
            </a:endParaRPr>
          </a:p>
          <a:p>
            <a:pPr eaLnBrk="1" hangingPunct="1">
              <a:spcBef>
                <a:spcPct val="0"/>
              </a:spcBef>
              <a:buSzTx/>
              <a:buFontTx/>
              <a:buNone/>
            </a:pPr>
            <a:r>
              <a:rPr lang="en-GB" altLang="en-US" sz="1400">
                <a:latin typeface="Courier New" pitchFamily="49" charset="0"/>
                <a:cs typeface="Courier New" pitchFamily="49" charset="0"/>
              </a:rPr>
              <a:t>1.  Country                              .</a:t>
            </a:r>
          </a:p>
          <a:p>
            <a:pPr eaLnBrk="1" hangingPunct="1">
              <a:spcBef>
                <a:spcPct val="0"/>
              </a:spcBef>
              <a:buSzTx/>
              <a:buFontTx/>
              <a:buNone/>
            </a:pPr>
            <a:r>
              <a:rPr lang="en-GB" altLang="en-US" sz="1400">
                <a:latin typeface="Courier New" pitchFamily="49" charset="0"/>
                <a:cs typeface="Courier New" pitchFamily="49" charset="0"/>
              </a:rPr>
              <a:t>2.  Code                                 .</a:t>
            </a:r>
          </a:p>
          <a:p>
            <a:pPr eaLnBrk="1" hangingPunct="1">
              <a:spcBef>
                <a:spcPct val="0"/>
              </a:spcBef>
              <a:buSzTx/>
              <a:buFontTx/>
              <a:buNone/>
            </a:pPr>
            <a:r>
              <a:rPr lang="en-GB" altLang="en-US" sz="1400">
                <a:latin typeface="Courier New" pitchFamily="49" charset="0"/>
                <a:cs typeface="Courier New" pitchFamily="49" charset="0"/>
              </a:rPr>
              <a:t>3.  Recipe name, 50 caracters max. (   ) .</a:t>
            </a:r>
          </a:p>
          <a:p>
            <a:pPr eaLnBrk="1" hangingPunct="1">
              <a:spcBef>
                <a:spcPct val="0"/>
              </a:spcBef>
              <a:buSzTx/>
              <a:buFontTx/>
              <a:buNone/>
            </a:pPr>
            <a:r>
              <a:rPr lang="en-GB" altLang="en-US" sz="1400">
                <a:latin typeface="Courier New" pitchFamily="49" charset="0"/>
                <a:cs typeface="Courier New" pitchFamily="49" charset="0"/>
              </a:rPr>
              <a:t>4.  Group/subgroup (   )                 . </a:t>
            </a:r>
          </a:p>
          <a:p>
            <a:pPr eaLnBrk="1" hangingPunct="1">
              <a:spcBef>
                <a:spcPct val="0"/>
              </a:spcBef>
              <a:buSzTx/>
              <a:buFontTx/>
              <a:buNone/>
            </a:pPr>
            <a:r>
              <a:rPr lang="en-GB" altLang="en-US" sz="1400">
                <a:latin typeface="Courier New" pitchFamily="49" charset="0"/>
                <a:cs typeface="Courier New" pitchFamily="49" charset="0"/>
              </a:rPr>
              <a:t>5.  Quantification (   )</a:t>
            </a:r>
          </a:p>
          <a:p>
            <a:pPr eaLnBrk="1" hangingPunct="1">
              <a:spcBef>
                <a:spcPct val="0"/>
              </a:spcBef>
              <a:buSzTx/>
              <a:buFontTx/>
              <a:buNone/>
            </a:pPr>
            <a:r>
              <a:rPr lang="en-GB" altLang="en-US" sz="1400">
                <a:latin typeface="Courier New" pitchFamily="49" charset="0"/>
                <a:cs typeface="Courier New" pitchFamily="49" charset="0"/>
              </a:rPr>
              <a:t>    - photos (   )                       ..,..</a:t>
            </a:r>
          </a:p>
          <a:p>
            <a:pPr eaLnBrk="1" hangingPunct="1">
              <a:spcBef>
                <a:spcPct val="0"/>
              </a:spcBef>
              <a:buSzTx/>
              <a:buFontTx/>
              <a:buNone/>
            </a:pPr>
            <a:r>
              <a:rPr lang="en-GB" altLang="en-US" sz="1400">
                <a:latin typeface="Courier New" pitchFamily="49" charset="0"/>
                <a:cs typeface="Courier New" pitchFamily="49" charset="0"/>
              </a:rPr>
              <a:t>    - HHM (   )                          .</a:t>
            </a:r>
          </a:p>
          <a:p>
            <a:pPr eaLnBrk="1" hangingPunct="1">
              <a:spcBef>
                <a:spcPct val="0"/>
              </a:spcBef>
              <a:buSzTx/>
              <a:buFontTx/>
              <a:buNone/>
            </a:pPr>
            <a:r>
              <a:rPr lang="en-GB" altLang="en-US" sz="1400">
                <a:latin typeface="Courier New" pitchFamily="49" charset="0"/>
                <a:cs typeface="Courier New" pitchFamily="49" charset="0"/>
              </a:rPr>
              <a:t>    - STDU and comment (   )             U.1     0000 ....................</a:t>
            </a:r>
          </a:p>
          <a:p>
            <a:pPr eaLnBrk="1" hangingPunct="1">
              <a:spcBef>
                <a:spcPct val="0"/>
              </a:spcBef>
              <a:buSzTx/>
              <a:buFontTx/>
              <a:buNone/>
            </a:pPr>
            <a:r>
              <a:rPr lang="en-GB" altLang="en-US" sz="1400">
                <a:latin typeface="Courier New" pitchFamily="49" charset="0"/>
                <a:cs typeface="Courier New" pitchFamily="49" charset="0"/>
              </a:rPr>
              <a:t>    - STDU and comment (   )             U.2     0000 ....................</a:t>
            </a:r>
          </a:p>
          <a:p>
            <a:pPr eaLnBrk="1" hangingPunct="1">
              <a:spcBef>
                <a:spcPct val="0"/>
              </a:spcBef>
              <a:buSzTx/>
              <a:buFontTx/>
              <a:buNone/>
            </a:pPr>
            <a:r>
              <a:rPr lang="en-GB" altLang="en-US" sz="1400">
                <a:latin typeface="Courier New" pitchFamily="49" charset="0"/>
                <a:cs typeface="Courier New" pitchFamily="49" charset="0"/>
              </a:rPr>
              <a:t>    - STDU and comment (   )             U.3     .... ....................</a:t>
            </a:r>
          </a:p>
          <a:p>
            <a:pPr eaLnBrk="1" hangingPunct="1">
              <a:spcBef>
                <a:spcPct val="0"/>
              </a:spcBef>
              <a:buSzTx/>
              <a:buFontTx/>
              <a:buNone/>
            </a:pPr>
            <a:r>
              <a:rPr lang="en-GB" altLang="en-US" sz="1400">
                <a:latin typeface="Courier New" pitchFamily="49" charset="0"/>
                <a:cs typeface="Courier New" pitchFamily="49" charset="0"/>
              </a:rPr>
              <a:t>    - Shape                              A </a:t>
            </a:r>
          </a:p>
          <a:p>
            <a:pPr eaLnBrk="1" hangingPunct="1">
              <a:spcBef>
                <a:spcPct val="0"/>
              </a:spcBef>
              <a:buSzTx/>
              <a:buFontTx/>
              <a:buNone/>
            </a:pPr>
            <a:r>
              <a:rPr lang="en-GB" altLang="en-US" sz="1400">
                <a:latin typeface="Courier New" pitchFamily="49" charset="0"/>
                <a:cs typeface="Courier New" pitchFamily="49" charset="0"/>
              </a:rPr>
              <a:t>6.  Maxima (   )                         0000</a:t>
            </a:r>
          </a:p>
          <a:p>
            <a:pPr eaLnBrk="1" hangingPunct="1">
              <a:spcBef>
                <a:spcPct val="0"/>
              </a:spcBef>
              <a:buSzTx/>
              <a:buFontTx/>
              <a:buNone/>
            </a:pPr>
            <a:r>
              <a:rPr lang="en-GB" altLang="en-US" sz="1400">
                <a:latin typeface="Courier New" pitchFamily="49" charset="0"/>
                <a:cs typeface="Courier New" pitchFamily="49" charset="0"/>
              </a:rPr>
              <a:t>7.  Probings (   )                       ..,..</a:t>
            </a:r>
          </a:p>
          <a:p>
            <a:pPr eaLnBrk="1" hangingPunct="1">
              <a:spcBef>
                <a:spcPct val="0"/>
              </a:spcBef>
              <a:buSzTx/>
              <a:buFontTx/>
              <a:buNone/>
            </a:pPr>
            <a:r>
              <a:rPr lang="en-GB" altLang="en-US" sz="1400">
                <a:latin typeface="Courier New" pitchFamily="49" charset="0"/>
                <a:cs typeface="Courier New" pitchFamily="49" charset="0"/>
              </a:rPr>
              <a:t>8.  PCTFSS (   )</a:t>
            </a:r>
          </a:p>
          <a:p>
            <a:pPr eaLnBrk="1" hangingPunct="1">
              <a:spcBef>
                <a:spcPct val="0"/>
              </a:spcBef>
              <a:buSzTx/>
              <a:buFontTx/>
              <a:buNone/>
            </a:pPr>
            <a:r>
              <a:rPr lang="en-GB" altLang="en-US" sz="1400">
                <a:latin typeface="Courier New" pitchFamily="49" charset="0"/>
                <a:cs typeface="Courier New" pitchFamily="49" charset="0"/>
              </a:rPr>
              <a:t>    - %Fat (   )                         0.__</a:t>
            </a:r>
          </a:p>
          <a:p>
            <a:pPr eaLnBrk="1" hangingPunct="1">
              <a:spcBef>
                <a:spcPct val="0"/>
              </a:spcBef>
              <a:buSzTx/>
              <a:buFontTx/>
              <a:buNone/>
            </a:pPr>
            <a:r>
              <a:rPr lang="en-GB" altLang="en-US" sz="1400">
                <a:latin typeface="Courier New" pitchFamily="49" charset="0"/>
                <a:cs typeface="Courier New" pitchFamily="49" charset="0"/>
              </a:rPr>
              <a:t>    - %Sauce (   )                       0.__</a:t>
            </a:r>
          </a:p>
          <a:p>
            <a:pPr eaLnBrk="1" hangingPunct="1">
              <a:spcBef>
                <a:spcPct val="0"/>
              </a:spcBef>
              <a:buSzTx/>
              <a:buFontTx/>
              <a:buNone/>
            </a:pPr>
            <a:r>
              <a:rPr lang="en-GB" altLang="en-US" sz="1400">
                <a:latin typeface="Courier New" pitchFamily="49" charset="0"/>
                <a:cs typeface="Courier New" pitchFamily="49" charset="0"/>
              </a:rPr>
              <a:t>    - %Sweetener (   )                   0.__</a:t>
            </a:r>
          </a:p>
          <a:p>
            <a:pPr eaLnBrk="1" hangingPunct="1">
              <a:spcBef>
                <a:spcPct val="0"/>
              </a:spcBef>
              <a:buSzTx/>
              <a:buFontTx/>
              <a:buNone/>
            </a:pPr>
            <a:r>
              <a:rPr lang="en-GB" altLang="en-US" sz="1400">
                <a:latin typeface="Courier New" pitchFamily="49" charset="0"/>
                <a:cs typeface="Courier New" pitchFamily="49" charset="0"/>
              </a:rPr>
              <a:t>9.  Density                              . </a:t>
            </a:r>
          </a:p>
          <a:p>
            <a:pPr eaLnBrk="1" hangingPunct="1">
              <a:spcBef>
                <a:spcPct val="0"/>
              </a:spcBef>
              <a:buSzTx/>
              <a:buFontTx/>
              <a:buNone/>
            </a:pPr>
            <a:r>
              <a:rPr lang="en-GB" altLang="en-US" sz="1400">
                <a:latin typeface="Courier New" pitchFamily="49" charset="0"/>
                <a:cs typeface="Courier New" pitchFamily="49" charset="0"/>
              </a:rPr>
              <a:t>10. Facet                                .. .. .. .. .. .. .. ..</a:t>
            </a:r>
          </a:p>
        </p:txBody>
      </p:sp>
      <p:sp>
        <p:nvSpPr>
          <p:cNvPr id="11" name="Rectangle 10"/>
          <p:cNvSpPr>
            <a:spLocks noChangeArrowheads="1"/>
          </p:cNvSpPr>
          <p:nvPr/>
        </p:nvSpPr>
        <p:spPr bwMode="auto">
          <a:xfrm>
            <a:off x="395288" y="5867400"/>
            <a:ext cx="8208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Font typeface="Wingdings 2" pitchFamily="18" charset="2"/>
              <a:buChar char=""/>
              <a:defRPr sz="2700">
                <a:solidFill>
                  <a:schemeClr val="tx1"/>
                </a:solidFill>
                <a:latin typeface="Calibri" pitchFamily="34" charset="0"/>
              </a:defRPr>
            </a:lvl1pPr>
            <a:lvl2pPr marL="742950" indent="-285750" eaLnBrk="0" hangingPunct="0">
              <a:spcBef>
                <a:spcPct val="20000"/>
              </a:spcBef>
              <a:buClr>
                <a:schemeClr val="accent1"/>
              </a:buClr>
              <a:buSzPct val="70000"/>
              <a:buFont typeface="Wingdings" pitchFamily="2" charset="2"/>
              <a:buChar char="§"/>
              <a:defRPr sz="2200">
                <a:solidFill>
                  <a:srgbClr val="2780B7"/>
                </a:solidFill>
                <a:latin typeface="Calibri" pitchFamily="34" charset="0"/>
              </a:defRPr>
            </a:lvl2pPr>
            <a:lvl3pPr marL="1143000" indent="-228600" eaLnBrk="0" hangingPunct="0">
              <a:spcBef>
                <a:spcPct val="20000"/>
              </a:spcBef>
              <a:buClr>
                <a:schemeClr val="tx1"/>
              </a:buClr>
              <a:buSzPct val="75000"/>
              <a:buFont typeface="Wingdings 2" pitchFamily="18" charset="2"/>
              <a:buChar char=""/>
              <a:defRPr sz="2000">
                <a:solidFill>
                  <a:schemeClr val="tx1"/>
                </a:solidFill>
                <a:latin typeface="Calibri" pitchFamily="34" charset="0"/>
              </a:defRPr>
            </a:lvl3pPr>
            <a:lvl4pPr marL="1600200" indent="-228600" eaLnBrk="0" hangingPunct="0">
              <a:spcBef>
                <a:spcPct val="20000"/>
              </a:spcBef>
              <a:buClr>
                <a:schemeClr val="tx2"/>
              </a:buClr>
              <a:buSzPct val="70000"/>
              <a:buFont typeface="Wingdings" pitchFamily="2" charset="2"/>
              <a:buChar char=""/>
              <a:defRPr sz="2000">
                <a:solidFill>
                  <a:schemeClr val="tx2"/>
                </a:solidFill>
                <a:latin typeface="Calibri" pitchFamily="34" charset="0"/>
              </a:defRPr>
            </a:lvl4pPr>
            <a:lvl5pPr marL="2057400" indent="-228600" eaLnBrk="0" hangingPunct="0">
              <a:spcBef>
                <a:spcPct val="20000"/>
              </a:spcBef>
              <a:buClr>
                <a:schemeClr val="tx1"/>
              </a:buClr>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1"/>
              </a:buClr>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1"/>
              </a:buClr>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1"/>
              </a:buClr>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1"/>
              </a:buClr>
              <a:buChar char="•"/>
              <a:defRPr>
                <a:solidFill>
                  <a:schemeClr val="tx1"/>
                </a:solidFill>
                <a:latin typeface="Calibri" pitchFamily="34" charset="0"/>
              </a:defRPr>
            </a:lvl9pPr>
          </a:lstStyle>
          <a:p>
            <a:pPr eaLnBrk="1" hangingPunct="1">
              <a:spcBef>
                <a:spcPct val="0"/>
              </a:spcBef>
              <a:buSzTx/>
              <a:buFontTx/>
              <a:buNone/>
            </a:pPr>
            <a:r>
              <a:rPr lang="en-GB" altLang="en-US" sz="1800">
                <a:solidFill>
                  <a:srgbClr val="2780B7"/>
                </a:solidFill>
                <a:latin typeface="Arial" charset="0"/>
              </a:rPr>
              <a:t>Specify the facets you wish to keep from the RCPFADEBYGROUP file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518"/>
                                        </p:tgtEl>
                                        <p:attrNameLst>
                                          <p:attrName>style.visibility</p:attrName>
                                        </p:attrNameLst>
                                      </p:cBhvr>
                                      <p:to>
                                        <p:strVal val="visible"/>
                                      </p:to>
                                    </p:set>
                                    <p:animEffect transition="in" filter="wipe(down)">
                                      <p:cBhvr>
                                        <p:cTn id="7" dur="500"/>
                                        <p:tgtEl>
                                          <p:spTgt spid="645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8" grpId="0"/>
      <p:bldP spid="8" grpId="0"/>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dianummer 10"/>
          <p:cNvSpPr>
            <a:spLocks noGrp="1"/>
          </p:cNvSpPr>
          <p:nvPr>
            <p:ph type="sldNum" sz="quarter" idx="10"/>
          </p:nvPr>
        </p:nvSpPr>
        <p:spPr/>
        <p:txBody>
          <a:bodyPr/>
          <a:lstStyle/>
          <a:p>
            <a:pPr>
              <a:defRPr/>
            </a:pPr>
            <a:fld id="{7B6CEC91-C7AC-4582-A652-63F056E17CC1}" type="slidenum">
              <a:rPr lang="en-US" smtClean="0"/>
              <a:pPr>
                <a:defRPr/>
              </a:pPr>
              <a:t>60</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pic>
        <p:nvPicPr>
          <p:cNvPr id="15" name="Afbeelding 14"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7" name="Rectangle 2"/>
          <p:cNvSpPr txBox="1">
            <a:spLocks noChangeArrowheads="1"/>
          </p:cNvSpPr>
          <p:nvPr/>
        </p:nvSpPr>
        <p:spPr>
          <a:xfrm>
            <a:off x="381000" y="1071546"/>
            <a:ext cx="2362200" cy="704848"/>
          </a:xfrm>
          <a:prstGeom prst="rect">
            <a:avLst/>
          </a:prstGeom>
        </p:spPr>
        <p:txBody>
          <a:bodyPr anchor="b"/>
          <a:lstStyle/>
          <a:p>
            <a:pPr fontAlgn="auto">
              <a:spcAft>
                <a:spcPts val="0"/>
              </a:spcAft>
              <a:defRPr/>
            </a:pPr>
            <a:r>
              <a:rPr lang="en-US" sz="2200" b="1" dirty="0">
                <a:solidFill>
                  <a:srgbClr val="FFFFFF"/>
                </a:solidFill>
                <a:effectLst>
                  <a:reflection blurRad="6350" stA="55000" endA="300" endPos="45500" dir="5400000" sy="-100000" algn="bl" rotWithShape="0"/>
                </a:effectLst>
                <a:latin typeface="+mj-lt"/>
                <a:ea typeface="+mj-ea"/>
                <a:cs typeface="+mj-cs"/>
              </a:rPr>
              <a:t>Outline</a:t>
            </a:r>
          </a:p>
        </p:txBody>
      </p:sp>
      <p:sp>
        <p:nvSpPr>
          <p:cNvPr id="16" name="Tijdelijke aanduiding voor tekst 11"/>
          <p:cNvSpPr txBox="1">
            <a:spLocks/>
          </p:cNvSpPr>
          <p:nvPr/>
        </p:nvSpPr>
        <p:spPr bwMode="auto">
          <a:xfrm>
            <a:off x="409550" y="1857364"/>
            <a:ext cx="2362200" cy="414496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rtl="0" eaLnBrk="0" fontAlgn="base" hangingPunct="0">
              <a:spcBef>
                <a:spcPct val="20000"/>
              </a:spcBef>
              <a:spcAft>
                <a:spcPts val="1000"/>
              </a:spcAft>
              <a:buSzPct val="85000"/>
              <a:buFont typeface="Wingdings 2" pitchFamily="18" charset="2"/>
              <a:buNone/>
              <a:defRPr sz="1600" kern="1200">
                <a:solidFill>
                  <a:srgbClr val="FFFFFF"/>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None/>
              <a:defRPr sz="1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None/>
              <a:defRPr sz="1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None/>
              <a:defRPr sz="9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None/>
              <a:defRPr sz="9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indent="-342900" eaLnBrk="1" fontAlgn="auto" hangingPunct="1">
              <a:spcAft>
                <a:spcPts val="300"/>
              </a:spcAft>
              <a:buClr>
                <a:schemeClr val="bg1"/>
              </a:buClr>
              <a:buFont typeface="+mj-lt"/>
              <a:buAutoNum type="arabicPeriod"/>
              <a:defRPr/>
            </a:pPr>
            <a:r>
              <a:rPr lang="en-US" b="1" dirty="0">
                <a:solidFill>
                  <a:schemeClr val="tx1">
                    <a:lumMod val="95000"/>
                    <a:lumOff val="5000"/>
                  </a:schemeClr>
                </a:solidFill>
              </a:rPr>
              <a:t>Introduction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General information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Quick list</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Description and quantification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Controls</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Preparation </a:t>
            </a:r>
            <a:r>
              <a:rPr lang="en-US" b="1" dirty="0">
                <a:solidFill>
                  <a:schemeClr val="tx1">
                    <a:lumMod val="95000"/>
                    <a:lumOff val="5000"/>
                  </a:schemeClr>
                </a:solidFill>
              </a:rPr>
              <a:t>steps</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Maintenance</a:t>
            </a:r>
          </a:p>
          <a:p>
            <a:pPr marL="265113" indent="-265113" eaLnBrk="1" fontAlgn="auto" hangingPunct="1">
              <a:spcAft>
                <a:spcPts val="300"/>
              </a:spcAft>
              <a:buFont typeface="+mj-lt"/>
              <a:buAutoNum type="arabicPeriod"/>
              <a:defRPr/>
            </a:pPr>
            <a:r>
              <a:rPr lang="en-US" b="1" dirty="0" smtClean="0">
                <a:effectLst>
                  <a:glow rad="63500">
                    <a:schemeClr val="accent3">
                      <a:satMod val="175000"/>
                      <a:alpha val="40000"/>
                    </a:schemeClr>
                  </a:glow>
                </a:effectLst>
              </a:rPr>
              <a:t>Preparation steps IT point of view</a:t>
            </a:r>
            <a:endParaRPr lang="en-US" b="1" dirty="0">
              <a:effectLst>
                <a:glow rad="63500">
                  <a:schemeClr val="accent3">
                    <a:satMod val="175000"/>
                    <a:alpha val="40000"/>
                  </a:schemeClr>
                </a:glow>
              </a:effectLst>
            </a:endParaRPr>
          </a:p>
          <a:p>
            <a:pPr eaLnBrk="1" fontAlgn="auto" hangingPunct="1">
              <a:spcAft>
                <a:spcPts val="300"/>
              </a:spcAft>
              <a:buFont typeface="Wingdings 2"/>
              <a:buNone/>
              <a:defRPr/>
            </a:pPr>
            <a:endParaRPr lang="nl-BE" dirty="0"/>
          </a:p>
        </p:txBody>
      </p:sp>
      <p:sp>
        <p:nvSpPr>
          <p:cNvPr id="2" name="Content Placeholder 1"/>
          <p:cNvSpPr>
            <a:spLocks noGrp="1"/>
          </p:cNvSpPr>
          <p:nvPr>
            <p:ph sz="quarter" idx="1"/>
          </p:nvPr>
        </p:nvSpPr>
        <p:spPr>
          <a:xfrm>
            <a:off x="2915770" y="764630"/>
            <a:ext cx="6048840" cy="5544225"/>
          </a:xfrm>
        </p:spPr>
        <p:txBody>
          <a:bodyPr/>
          <a:lstStyle/>
          <a:p>
            <a:pPr marL="0" indent="0">
              <a:buNone/>
              <a:tabLst>
                <a:tab pos="2870200" algn="l"/>
                <a:tab pos="3319463" algn="l"/>
              </a:tabLst>
              <a:defRPr/>
            </a:pPr>
            <a:r>
              <a:rPr lang="en-GB" sz="1800" dirty="0">
                <a:solidFill>
                  <a:srgbClr val="FF0000"/>
                </a:solidFill>
                <a:latin typeface="Arial" pitchFamily="34" charset="0"/>
                <a:cs typeface="Arial" pitchFamily="34" charset="0"/>
              </a:rPr>
              <a:t>C</a:t>
            </a:r>
            <a:r>
              <a:rPr lang="en-GB" sz="1800" dirty="0" smtClean="0">
                <a:solidFill>
                  <a:srgbClr val="FF0000"/>
                </a:solidFill>
                <a:latin typeface="Arial" pitchFamily="34" charset="0"/>
                <a:cs typeface="Arial" pitchFamily="34" charset="0"/>
              </a:rPr>
              <a:t>ommon </a:t>
            </a:r>
            <a:r>
              <a:rPr lang="en-GB" sz="1800" dirty="0" smtClean="0">
                <a:solidFill>
                  <a:srgbClr val="FF0000"/>
                </a:solidFill>
                <a:latin typeface="Arial" pitchFamily="34" charset="0"/>
                <a:cs typeface="Arial" pitchFamily="34" charset="0"/>
              </a:rPr>
              <a:t>files</a:t>
            </a:r>
            <a:r>
              <a:rPr lang="en-GB" sz="1800" dirty="0" smtClean="0">
                <a:latin typeface="Arial" pitchFamily="34" charset="0"/>
                <a:cs typeface="Arial" pitchFamily="34" charset="0"/>
              </a:rPr>
              <a:t>	</a:t>
            </a:r>
            <a:r>
              <a:rPr lang="en-GB" sz="1600" dirty="0" smtClean="0">
                <a:latin typeface="Arial" pitchFamily="34" charset="0"/>
                <a:cs typeface="Arial" pitchFamily="34" charset="0"/>
              </a:rPr>
              <a:t>2.Preparation </a:t>
            </a:r>
            <a:r>
              <a:rPr lang="en-GB" sz="1600" dirty="0">
                <a:latin typeface="Arial" panose="020B0604020202020204" pitchFamily="34" charset="0"/>
                <a:cs typeface="Arial" panose="020B0604020202020204" pitchFamily="34" charset="0"/>
              </a:rPr>
              <a:t>of </a:t>
            </a:r>
            <a:r>
              <a:rPr lang="en-GB" sz="1600" dirty="0" smtClean="0">
                <a:latin typeface="Arial" panose="020B0604020202020204" pitchFamily="34" charset="0"/>
                <a:cs typeface="Arial" panose="020B0604020202020204" pitchFamily="34" charset="0"/>
              </a:rPr>
              <a:t>common </a:t>
            </a:r>
            <a:r>
              <a:rPr lang="en-GB" sz="1600" dirty="0">
                <a:latin typeface="Arial" panose="020B0604020202020204" pitchFamily="34" charset="0"/>
                <a:cs typeface="Arial" panose="020B0604020202020204" pitchFamily="34" charset="0"/>
              </a:rPr>
              <a:t>files</a:t>
            </a:r>
            <a:endParaRPr lang="en-GB" sz="1600" dirty="0" smtClean="0">
              <a:latin typeface="Arial" pitchFamily="34" charset="0"/>
              <a:cs typeface="Arial" pitchFamily="34" charset="0"/>
            </a:endParaRPr>
          </a:p>
          <a:p>
            <a:pPr marL="0" indent="0">
              <a:buFont typeface="Wingdings 2" pitchFamily="18" charset="2"/>
              <a:buNone/>
              <a:defRPr/>
            </a:pPr>
            <a:endParaRPr lang="en-GB" sz="1800" dirty="0">
              <a:latin typeface="Arial" pitchFamily="34" charset="0"/>
              <a:cs typeface="Arial" pitchFamily="34" charset="0"/>
            </a:endParaRPr>
          </a:p>
          <a:p>
            <a:pPr marL="0" indent="0">
              <a:buNone/>
              <a:tabLst>
                <a:tab pos="2870200" algn="l"/>
              </a:tabLst>
              <a:defRPr/>
            </a:pPr>
            <a:r>
              <a:rPr lang="en-GB" sz="1800" dirty="0" smtClean="0">
                <a:solidFill>
                  <a:srgbClr val="FF0000"/>
                </a:solidFill>
                <a:latin typeface="Arial" pitchFamily="34" charset="0"/>
                <a:cs typeface="Arial" pitchFamily="34" charset="0"/>
              </a:rPr>
              <a:t>Country-specific </a:t>
            </a:r>
            <a:r>
              <a:rPr lang="en-GB" sz="1800" dirty="0" smtClean="0">
                <a:solidFill>
                  <a:srgbClr val="FF0000"/>
                </a:solidFill>
                <a:latin typeface="Arial" pitchFamily="34" charset="0"/>
                <a:cs typeface="Arial" pitchFamily="34" charset="0"/>
              </a:rPr>
              <a:t>files</a:t>
            </a:r>
            <a:r>
              <a:rPr lang="en-GB" sz="1800" dirty="0" smtClean="0">
                <a:latin typeface="Arial" pitchFamily="34" charset="0"/>
                <a:cs typeface="Arial" pitchFamily="34" charset="0"/>
              </a:rPr>
              <a:t>	</a:t>
            </a:r>
            <a:r>
              <a:rPr lang="en-GB" sz="1600" dirty="0" smtClean="0">
                <a:latin typeface="Arial" pitchFamily="34" charset="0"/>
                <a:cs typeface="Arial" pitchFamily="34" charset="0"/>
              </a:rPr>
              <a:t>3.</a:t>
            </a:r>
            <a:r>
              <a:rPr lang="en-US" sz="1600" dirty="0" smtClean="0">
                <a:latin typeface="Arial" panose="020B0604020202020204" pitchFamily="34" charset="0"/>
                <a:cs typeface="Arial" panose="020B0604020202020204" pitchFamily="34" charset="0"/>
              </a:rPr>
              <a:t>Construction </a:t>
            </a:r>
            <a:r>
              <a:rPr lang="en-US" sz="1600" dirty="0">
                <a:latin typeface="Arial" panose="020B0604020202020204" pitchFamily="34" charset="0"/>
                <a:cs typeface="Arial" panose="020B0604020202020204" pitchFamily="34" charset="0"/>
              </a:rPr>
              <a:t>of </a:t>
            </a:r>
            <a:r>
              <a:rPr lang="en-US" sz="1600" dirty="0" err="1" smtClean="0">
                <a:latin typeface="Arial" panose="020B0604020202020204" pitchFamily="34" charset="0"/>
                <a:cs typeface="Arial" panose="020B0604020202020204" pitchFamily="34" charset="0"/>
              </a:rPr>
              <a:t>tmp</a:t>
            </a:r>
            <a:r>
              <a:rPr lang="en-US" sz="1600" dirty="0" smtClean="0">
                <a:latin typeface="Arial" panose="020B0604020202020204" pitchFamily="34" charset="0"/>
                <a:cs typeface="Arial" panose="020B0604020202020204" pitchFamily="34" charset="0"/>
              </a:rPr>
              <a:t> &amp; new-files</a:t>
            </a:r>
            <a:endParaRPr lang="en-GB" sz="1600" dirty="0" smtClean="0">
              <a:latin typeface="Arial" pitchFamily="34" charset="0"/>
              <a:cs typeface="Arial" pitchFamily="34" charset="0"/>
            </a:endParaRPr>
          </a:p>
          <a:p>
            <a:pPr marL="342900" indent="-342900" defTabSz="1041400">
              <a:buFont typeface="+mj-lt"/>
              <a:buAutoNum type="arabicPeriod"/>
              <a:tabLst>
                <a:tab pos="2870200" algn="l"/>
              </a:tabLst>
              <a:defRPr/>
            </a:pPr>
            <a:r>
              <a:rPr lang="en-GB" sz="1800" dirty="0" smtClean="0">
                <a:latin typeface="Arial" pitchFamily="34" charset="0"/>
                <a:cs typeface="Arial" pitchFamily="34" charset="0"/>
              </a:rPr>
              <a:t>Foods</a:t>
            </a:r>
            <a:r>
              <a:rPr lang="en-GB" sz="1800" dirty="0">
                <a:latin typeface="Arial" pitchFamily="34" charset="0"/>
                <a:cs typeface="Arial" pitchFamily="34" charset="0"/>
              </a:rPr>
              <a:t>	</a:t>
            </a:r>
            <a:endParaRPr lang="en-GB" sz="1600" dirty="0" smtClean="0">
              <a:latin typeface="Arial" panose="020B0604020202020204" pitchFamily="34" charset="0"/>
              <a:cs typeface="Arial" pitchFamily="34" charset="0"/>
            </a:endParaRPr>
          </a:p>
          <a:p>
            <a:pPr marL="0" indent="0">
              <a:buFont typeface="Wingdings 2" pitchFamily="18" charset="2"/>
              <a:buNone/>
              <a:defRPr/>
            </a:pPr>
            <a:endParaRPr lang="en-GB" sz="1800" dirty="0" smtClean="0">
              <a:latin typeface="Arial" pitchFamily="34" charset="0"/>
              <a:cs typeface="Arial" pitchFamily="34" charset="0"/>
            </a:endParaRPr>
          </a:p>
          <a:p>
            <a:pPr marL="0" indent="0">
              <a:buNone/>
              <a:tabLst>
                <a:tab pos="2870200" algn="l"/>
              </a:tabLst>
              <a:defRPr/>
            </a:pPr>
            <a:r>
              <a:rPr lang="en-GB" sz="1800" dirty="0" smtClean="0">
                <a:latin typeface="Arial" pitchFamily="34" charset="0"/>
                <a:cs typeface="Arial" pitchFamily="34" charset="0"/>
              </a:rPr>
              <a:t>    Food database	</a:t>
            </a:r>
            <a:r>
              <a:rPr lang="en-GB" sz="1600" dirty="0" smtClean="0">
                <a:latin typeface="Arial" panose="020B0604020202020204" pitchFamily="34" charset="0"/>
                <a:cs typeface="Arial" pitchFamily="34" charset="0"/>
              </a:rPr>
              <a:t>4.Controls </a:t>
            </a:r>
            <a:r>
              <a:rPr lang="en-GB" sz="1600" dirty="0">
                <a:latin typeface="Arial" panose="020B0604020202020204" pitchFamily="34" charset="0"/>
                <a:cs typeface="Arial" pitchFamily="34" charset="0"/>
              </a:rPr>
              <a:t>on FOOD end-files</a:t>
            </a:r>
            <a:endParaRPr lang="en-GB" sz="1600" dirty="0" smtClean="0">
              <a:latin typeface="Arial" pitchFamily="34" charset="0"/>
              <a:cs typeface="Arial" pitchFamily="34" charset="0"/>
            </a:endParaRPr>
          </a:p>
          <a:p>
            <a:pPr marL="0" indent="0">
              <a:buNone/>
              <a:tabLst>
                <a:tab pos="2870200" algn="l"/>
              </a:tabLst>
              <a:defRPr/>
            </a:pPr>
            <a:r>
              <a:rPr lang="en-GB" sz="1800" dirty="0" smtClean="0">
                <a:latin typeface="Arial" pitchFamily="34" charset="0"/>
                <a:cs typeface="Arial" pitchFamily="34" charset="0"/>
              </a:rPr>
              <a:t>    &amp; Recipe Manager	</a:t>
            </a:r>
            <a:r>
              <a:rPr lang="en-GB" sz="1600" dirty="0" smtClean="0">
                <a:latin typeface="Arial" pitchFamily="34" charset="0"/>
                <a:cs typeface="Arial" pitchFamily="34" charset="0"/>
              </a:rPr>
              <a:t>3.</a:t>
            </a:r>
            <a:r>
              <a:rPr lang="en-US" sz="1600" dirty="0">
                <a:latin typeface="Arial" panose="020B0604020202020204" pitchFamily="34" charset="0"/>
                <a:cs typeface="Arial" panose="020B0604020202020204" pitchFamily="34" charset="0"/>
              </a:rPr>
              <a:t>Construction of </a:t>
            </a:r>
            <a:r>
              <a:rPr lang="en-US" sz="1600" dirty="0" err="1">
                <a:latin typeface="Arial" panose="020B0604020202020204" pitchFamily="34" charset="0"/>
                <a:cs typeface="Arial" panose="020B0604020202020204" pitchFamily="34" charset="0"/>
              </a:rPr>
              <a:t>tmp</a:t>
            </a:r>
            <a:r>
              <a:rPr lang="en-US" sz="1600" dirty="0">
                <a:latin typeface="Arial" panose="020B0604020202020204" pitchFamily="34" charset="0"/>
                <a:cs typeface="Arial" panose="020B0604020202020204" pitchFamily="34" charset="0"/>
              </a:rPr>
              <a:t> &amp; new-files</a:t>
            </a:r>
            <a:endParaRPr lang="en-GB" sz="1600" dirty="0" smtClean="0">
              <a:latin typeface="Arial" pitchFamily="34" charset="0"/>
              <a:cs typeface="Arial" pitchFamily="34" charset="0"/>
            </a:endParaRPr>
          </a:p>
          <a:p>
            <a:pPr marL="0" indent="0">
              <a:buFont typeface="Wingdings 2" pitchFamily="18" charset="2"/>
              <a:buNone/>
              <a:defRPr/>
            </a:pPr>
            <a:endParaRPr lang="en-GB" sz="1800" dirty="0">
              <a:latin typeface="Arial" pitchFamily="34" charset="0"/>
              <a:cs typeface="Arial" pitchFamily="34" charset="0"/>
            </a:endParaRPr>
          </a:p>
          <a:p>
            <a:pPr marL="0" indent="0">
              <a:buNone/>
              <a:tabLst>
                <a:tab pos="2870200" algn="l"/>
              </a:tabLst>
              <a:defRPr/>
            </a:pPr>
            <a:r>
              <a:rPr lang="en-GB" sz="1800" dirty="0" smtClean="0">
                <a:latin typeface="Arial" pitchFamily="34" charset="0"/>
                <a:cs typeface="Arial" pitchFamily="34" charset="0"/>
              </a:rPr>
              <a:t>2</a:t>
            </a:r>
            <a:r>
              <a:rPr lang="en-GB" sz="1800" dirty="0" smtClean="0">
                <a:latin typeface="Arial" pitchFamily="34" charset="0"/>
                <a:cs typeface="Arial" pitchFamily="34" charset="0"/>
              </a:rPr>
              <a:t>. </a:t>
            </a:r>
            <a:r>
              <a:rPr lang="en-GB" sz="1800" dirty="0" smtClean="0">
                <a:latin typeface="Arial" pitchFamily="34" charset="0"/>
                <a:cs typeface="Arial" pitchFamily="34" charset="0"/>
              </a:rPr>
              <a:t>Recipes	</a:t>
            </a:r>
            <a:r>
              <a:rPr lang="en-GB" sz="1600" dirty="0" smtClean="0">
                <a:latin typeface="Arial" pitchFamily="34" charset="0"/>
                <a:cs typeface="Arial" pitchFamily="34" charset="0"/>
              </a:rPr>
              <a:t>5.</a:t>
            </a:r>
            <a:r>
              <a:rPr lang="en-GB" sz="1600" dirty="0">
                <a:latin typeface="Arial" panose="020B0604020202020204" pitchFamily="34" charset="0"/>
                <a:cs typeface="Arial" panose="020B0604020202020204" pitchFamily="34" charset="0"/>
              </a:rPr>
              <a:t> Controls </a:t>
            </a:r>
            <a:r>
              <a:rPr lang="en-GB" sz="1600" dirty="0" smtClean="0">
                <a:latin typeface="Arial" panose="020B0604020202020204" pitchFamily="34" charset="0"/>
                <a:cs typeface="Arial" panose="020B0604020202020204" pitchFamily="34" charset="0"/>
              </a:rPr>
              <a:t>on RECIPE </a:t>
            </a:r>
            <a:r>
              <a:rPr lang="en-GB" sz="1600" dirty="0">
                <a:latin typeface="Arial" panose="020B0604020202020204" pitchFamily="34" charset="0"/>
                <a:cs typeface="Arial" panose="020B0604020202020204" pitchFamily="34" charset="0"/>
              </a:rPr>
              <a:t>end-files</a:t>
            </a:r>
            <a:endParaRPr lang="en-GB" sz="1600" dirty="0" smtClean="0">
              <a:latin typeface="Arial" pitchFamily="34" charset="0"/>
              <a:cs typeface="Arial" pitchFamily="34" charset="0"/>
            </a:endParaRPr>
          </a:p>
          <a:p>
            <a:pPr marL="0" indent="0">
              <a:buFont typeface="Wingdings 2" pitchFamily="18" charset="2"/>
              <a:buNone/>
              <a:defRPr/>
            </a:pPr>
            <a:r>
              <a:rPr lang="en-GB" sz="1800" dirty="0" smtClean="0">
                <a:latin typeface="Arial" pitchFamily="34" charset="0"/>
                <a:cs typeface="Arial" pitchFamily="34" charset="0"/>
              </a:rPr>
              <a:t>3</a:t>
            </a:r>
            <a:r>
              <a:rPr lang="en-GB" sz="1800" dirty="0" smtClean="0">
                <a:latin typeface="Arial" pitchFamily="34" charset="0"/>
                <a:cs typeface="Arial" pitchFamily="34" charset="0"/>
              </a:rPr>
              <a:t>. Dietary </a:t>
            </a:r>
            <a:r>
              <a:rPr lang="en-GB" sz="1800" dirty="0" smtClean="0">
                <a:latin typeface="Arial" pitchFamily="34" charset="0"/>
                <a:cs typeface="Arial" pitchFamily="34" charset="0"/>
              </a:rPr>
              <a:t>supplements	</a:t>
            </a:r>
            <a:endParaRPr lang="en-GB" sz="1800" dirty="0" smtClean="0">
              <a:latin typeface="Arial" pitchFamily="34" charset="0"/>
              <a:cs typeface="Arial" pitchFamily="34" charset="0"/>
            </a:endParaRPr>
          </a:p>
          <a:p>
            <a:pPr marL="0" indent="0">
              <a:buNone/>
              <a:tabLst>
                <a:tab pos="2870200" algn="l"/>
              </a:tabLst>
              <a:defRPr/>
            </a:pPr>
            <a:r>
              <a:rPr lang="en-GB" sz="1800" dirty="0" smtClean="0">
                <a:latin typeface="Arial" pitchFamily="34" charset="0"/>
                <a:cs typeface="Arial" pitchFamily="34" charset="0"/>
              </a:rPr>
              <a:t>4. FUF	</a:t>
            </a:r>
            <a:r>
              <a:rPr lang="en-GB" sz="1600" dirty="0" smtClean="0">
                <a:latin typeface="Arial" panose="020B0604020202020204" pitchFamily="34" charset="0"/>
                <a:cs typeface="Arial" panose="020B0604020202020204" pitchFamily="34" charset="0"/>
              </a:rPr>
              <a:t>6.Management </a:t>
            </a:r>
            <a:r>
              <a:rPr lang="en-GB" sz="1600" dirty="0">
                <a:latin typeface="Arial" panose="020B0604020202020204" pitchFamily="34" charset="0"/>
                <a:cs typeface="Arial" panose="020B0604020202020204" pitchFamily="34" charset="0"/>
              </a:rPr>
              <a:t>of FUF</a:t>
            </a:r>
            <a:endParaRPr lang="en-GB" sz="1600" dirty="0" smtClean="0">
              <a:latin typeface="Arial" pitchFamily="34" charset="0"/>
              <a:cs typeface="Arial" pitchFamily="34" charset="0"/>
            </a:endParaRPr>
          </a:p>
          <a:p>
            <a:pPr marL="0" indent="0">
              <a:buNone/>
              <a:tabLst>
                <a:tab pos="2870200" algn="l"/>
              </a:tabLst>
              <a:defRPr/>
            </a:pPr>
            <a:r>
              <a:rPr lang="en-GB" sz="1800" dirty="0" smtClean="0">
                <a:latin typeface="Arial" pitchFamily="34" charset="0"/>
                <a:cs typeface="Arial" pitchFamily="34" charset="0"/>
              </a:rPr>
              <a:t>5. RUF	</a:t>
            </a:r>
            <a:r>
              <a:rPr lang="en-GB" sz="1600" dirty="0" smtClean="0">
                <a:latin typeface="Arial" pitchFamily="34" charset="0"/>
                <a:cs typeface="Arial" pitchFamily="34" charset="0"/>
              </a:rPr>
              <a:t>7.Management </a:t>
            </a:r>
            <a:r>
              <a:rPr lang="en-GB" sz="1600" dirty="0">
                <a:latin typeface="Arial" pitchFamily="34" charset="0"/>
                <a:cs typeface="Arial" pitchFamily="34" charset="0"/>
              </a:rPr>
              <a:t>of </a:t>
            </a:r>
            <a:r>
              <a:rPr lang="en-GB" sz="1600" dirty="0" smtClean="0">
                <a:latin typeface="Arial" pitchFamily="34" charset="0"/>
                <a:cs typeface="Arial" pitchFamily="34" charset="0"/>
              </a:rPr>
              <a:t>RUF</a:t>
            </a:r>
          </a:p>
          <a:p>
            <a:pPr marL="0" indent="0">
              <a:buNone/>
              <a:tabLst>
                <a:tab pos="2870200" algn="l"/>
              </a:tabLst>
              <a:defRPr/>
            </a:pPr>
            <a:endParaRPr lang="en-GB" sz="1600" dirty="0">
              <a:latin typeface="Arial" pitchFamily="34" charset="0"/>
              <a:cs typeface="Arial" pitchFamily="34" charset="0"/>
            </a:endParaRPr>
          </a:p>
          <a:p>
            <a:pPr marL="0" indent="0">
              <a:buNone/>
              <a:tabLst>
                <a:tab pos="2870200" algn="l"/>
              </a:tabLst>
              <a:defRPr/>
            </a:pPr>
            <a:r>
              <a:rPr lang="en-GB" sz="1800" dirty="0">
                <a:latin typeface="Arial" pitchFamily="34" charset="0"/>
                <a:cs typeface="Arial" pitchFamily="34" charset="0"/>
              </a:rPr>
              <a:t>6. </a:t>
            </a:r>
            <a:r>
              <a:rPr lang="en-GB" sz="1800" dirty="0" smtClean="0">
                <a:latin typeface="Arial" pitchFamily="34" charset="0"/>
                <a:cs typeface="Arial" pitchFamily="34" charset="0"/>
              </a:rPr>
              <a:t>Migration 	</a:t>
            </a:r>
            <a:r>
              <a:rPr lang="en-GB" sz="1600" dirty="0" smtClean="0">
                <a:latin typeface="Arial" pitchFamily="34" charset="0"/>
                <a:cs typeface="Arial" pitchFamily="34" charset="0"/>
              </a:rPr>
              <a:t>8</a:t>
            </a:r>
            <a:r>
              <a:rPr lang="en-GB" sz="1600" dirty="0">
                <a:latin typeface="Arial" pitchFamily="34" charset="0"/>
                <a:cs typeface="Arial" pitchFamily="34" charset="0"/>
              </a:rPr>
              <a:t>. Generation </a:t>
            </a:r>
            <a:r>
              <a:rPr lang="en-GB" sz="1600" dirty="0">
                <a:latin typeface="Arial" pitchFamily="34" charset="0"/>
                <a:cs typeface="Arial" pitchFamily="34" charset="0"/>
              </a:rPr>
              <a:t>of </a:t>
            </a:r>
            <a:r>
              <a:rPr lang="en-GB" sz="1600" dirty="0" smtClean="0">
                <a:latin typeface="Arial" pitchFamily="34" charset="0"/>
                <a:cs typeface="Arial" pitchFamily="34" charset="0"/>
              </a:rPr>
              <a:t>db3-files</a:t>
            </a:r>
          </a:p>
          <a:p>
            <a:pPr marL="0" indent="0">
              <a:buNone/>
              <a:tabLst>
                <a:tab pos="2870200" algn="l"/>
              </a:tabLst>
              <a:defRPr/>
            </a:pPr>
            <a:r>
              <a:rPr lang="en-GB" sz="1600" dirty="0">
                <a:latin typeface="Arial" pitchFamily="34" charset="0"/>
                <a:cs typeface="Arial" pitchFamily="34" charset="0"/>
              </a:rPr>
              <a:t>	</a:t>
            </a:r>
            <a:r>
              <a:rPr lang="en-GB" sz="1600" dirty="0" smtClean="0">
                <a:latin typeface="Arial" pitchFamily="34" charset="0"/>
                <a:cs typeface="Arial" pitchFamily="34" charset="0"/>
              </a:rPr>
              <a:t>9. Migration applicatio</a:t>
            </a:r>
            <a:r>
              <a:rPr lang="en-GB" sz="1600" dirty="0">
                <a:latin typeface="Arial" pitchFamily="34" charset="0"/>
                <a:cs typeface="Arial" pitchFamily="34" charset="0"/>
              </a:rPr>
              <a:t>n</a:t>
            </a:r>
          </a:p>
          <a:p>
            <a:pPr marL="0" indent="0" algn="ctr">
              <a:buFont typeface="Wingdings 2" pitchFamily="18" charset="2"/>
              <a:buNone/>
              <a:defRPr/>
            </a:pPr>
            <a:r>
              <a:rPr lang="en-GB" sz="1800" dirty="0" smtClean="0">
                <a:latin typeface="Arial" pitchFamily="34" charset="0"/>
                <a:cs typeface="Arial" pitchFamily="34" charset="0"/>
                <a:sym typeface="Wingdings" panose="05000000000000000000" pitchFamily="2" charset="2"/>
              </a:rPr>
              <a:t> </a:t>
            </a:r>
            <a:r>
              <a:rPr lang="en-GB" sz="1800" dirty="0" err="1" smtClean="0">
                <a:latin typeface="Arial" pitchFamily="34" charset="0"/>
                <a:cs typeface="Arial" pitchFamily="34" charset="0"/>
              </a:rPr>
              <a:t>GloboDiet</a:t>
            </a:r>
            <a:r>
              <a:rPr lang="en-GB" sz="1800" dirty="0" smtClean="0">
                <a:latin typeface="Arial" pitchFamily="34" charset="0"/>
                <a:cs typeface="Arial" pitchFamily="34" charset="0"/>
              </a:rPr>
              <a:t> ‘final database version’</a:t>
            </a:r>
          </a:p>
          <a:p>
            <a:pPr>
              <a:buFont typeface="Wingdings" pitchFamily="2" charset="2"/>
              <a:buChar char="à"/>
              <a:defRPr/>
            </a:pPr>
            <a:r>
              <a:rPr lang="en-GB" sz="1800" dirty="0" smtClean="0">
                <a:solidFill>
                  <a:srgbClr val="FF0000"/>
                </a:solidFill>
                <a:latin typeface="Arial" pitchFamily="34" charset="0"/>
                <a:cs typeface="Arial" pitchFamily="34" charset="0"/>
                <a:sym typeface="Wingdings" pitchFamily="2" charset="2"/>
              </a:rPr>
              <a:t>Guideline 02_Readme_Procedure_ref_GER.docx</a:t>
            </a:r>
          </a:p>
          <a:p>
            <a:pPr>
              <a:buFontTx/>
              <a:buChar char="-"/>
              <a:defRPr/>
            </a:pPr>
            <a:endParaRPr lang="en-GB" sz="1800" dirty="0">
              <a:solidFill>
                <a:srgbClr val="FF0000"/>
              </a:solidFill>
              <a:latin typeface="Arial" pitchFamily="34" charset="0"/>
              <a:cs typeface="Arial" pitchFamily="34" charset="0"/>
            </a:endParaRPr>
          </a:p>
        </p:txBody>
      </p:sp>
      <p:sp>
        <p:nvSpPr>
          <p:cNvPr id="3" name="Down Arrow 2"/>
          <p:cNvSpPr/>
          <p:nvPr/>
        </p:nvSpPr>
        <p:spPr>
          <a:xfrm>
            <a:off x="7308640" y="1077913"/>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 name="Down Arrow 11"/>
          <p:cNvSpPr/>
          <p:nvPr/>
        </p:nvSpPr>
        <p:spPr>
          <a:xfrm>
            <a:off x="7308640" y="2085975"/>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 name="Down Arrow 12"/>
          <p:cNvSpPr/>
          <p:nvPr/>
        </p:nvSpPr>
        <p:spPr>
          <a:xfrm>
            <a:off x="7308640" y="3094038"/>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8" name="Down Arrow 17"/>
          <p:cNvSpPr/>
          <p:nvPr/>
        </p:nvSpPr>
        <p:spPr>
          <a:xfrm>
            <a:off x="7308640" y="4725180"/>
            <a:ext cx="431800"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4" name="Footer Placeholder 4"/>
          <p:cNvSpPr>
            <a:spLocks noGrp="1"/>
          </p:cNvSpPr>
          <p:nvPr>
            <p:ph type="ftr" sz="quarter" idx="12"/>
          </p:nvPr>
        </p:nvSpPr>
        <p:spPr>
          <a:xfrm>
            <a:off x="304800" y="6381750"/>
            <a:ext cx="3906838" cy="350838"/>
          </a:xfrm>
        </p:spPr>
        <p:txBody>
          <a:bodyPr lIns="45720" rIns="45720" anchor="ctr">
            <a:noAutofit/>
          </a:bodyPr>
          <a:lstStyle/>
          <a:p>
            <a:pPr>
              <a:defRPr/>
            </a:pPr>
            <a:r>
              <a:rPr lang="en-GB" dirty="0"/>
              <a:t>Maintenance</a:t>
            </a:r>
          </a:p>
        </p:txBody>
      </p:sp>
      <p:sp>
        <p:nvSpPr>
          <p:cNvPr id="21" name="Down Arrow 20"/>
          <p:cNvSpPr/>
          <p:nvPr/>
        </p:nvSpPr>
        <p:spPr>
          <a:xfrm>
            <a:off x="3419840" y="1077600"/>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2" name="Down Arrow 21"/>
          <p:cNvSpPr/>
          <p:nvPr/>
        </p:nvSpPr>
        <p:spPr>
          <a:xfrm>
            <a:off x="3419840" y="2085662"/>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3" name="Down Arrow 22"/>
          <p:cNvSpPr/>
          <p:nvPr/>
        </p:nvSpPr>
        <p:spPr>
          <a:xfrm>
            <a:off x="3419840" y="3093725"/>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4" name="Down Arrow 23"/>
          <p:cNvSpPr/>
          <p:nvPr/>
        </p:nvSpPr>
        <p:spPr>
          <a:xfrm>
            <a:off x="3419840" y="4725180"/>
            <a:ext cx="431800"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Tree>
    <p:extLst>
      <p:ext uri="{BB962C8B-B14F-4D97-AF65-F5344CB8AC3E}">
        <p14:creationId xmlns:p14="http://schemas.microsoft.com/office/powerpoint/2010/main" val="422302348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dianummer 10"/>
          <p:cNvSpPr>
            <a:spLocks noGrp="1"/>
          </p:cNvSpPr>
          <p:nvPr>
            <p:ph type="sldNum" sz="quarter" idx="10"/>
          </p:nvPr>
        </p:nvSpPr>
        <p:spPr/>
        <p:txBody>
          <a:bodyPr/>
          <a:lstStyle/>
          <a:p>
            <a:pPr>
              <a:defRPr/>
            </a:pPr>
            <a:fld id="{7B6CEC91-C7AC-4582-A652-63F056E17CC1}" type="slidenum">
              <a:rPr lang="en-US" smtClean="0"/>
              <a:pPr>
                <a:defRPr/>
              </a:pPr>
              <a:t>61</a:t>
            </a:fld>
            <a:endParaRPr lang="en-US" sz="1800" dirty="0"/>
          </a:p>
        </p:txBody>
      </p:sp>
      <p:sp>
        <p:nvSpPr>
          <p:cNvPr id="10" name="Tijdelijke aanduiding voor datum 9"/>
          <p:cNvSpPr>
            <a:spLocks noGrp="1"/>
          </p:cNvSpPr>
          <p:nvPr>
            <p:ph type="dt" sz="quarter" idx="11"/>
          </p:nvPr>
        </p:nvSpPr>
        <p:spPr/>
        <p:txBody>
          <a:bodyPr/>
          <a:lstStyle/>
          <a:p>
            <a:pPr>
              <a:defRPr/>
            </a:pPr>
            <a:r>
              <a:rPr lang="nl-BE"/>
              <a:t>IARC, Lyon - France</a:t>
            </a:r>
            <a:endParaRPr lang="en-US" dirty="0"/>
          </a:p>
        </p:txBody>
      </p:sp>
      <p:pic>
        <p:nvPicPr>
          <p:cNvPr id="15" name="Afbeelding 14" descr="124741-matte-white-square-icon-business-home7.png">
            <a:hlinkClick r:id="rId3" action="ppaction://hlinksldjump"/>
          </p:cNvPr>
          <p:cNvPicPr>
            <a:picLocks noChangeAspect="1"/>
          </p:cNvPicPr>
          <p:nvPr/>
        </p:nvPicPr>
        <p:blipFill>
          <a:blip r:embed="rId4" cstate="print">
            <a:duotone>
              <a:prstClr val="black"/>
              <a:schemeClr val="accent5">
                <a:lumMod val="20000"/>
                <a:lumOff val="80000"/>
                <a:tint val="45000"/>
                <a:satMod val="400000"/>
              </a:schemeClr>
            </a:duotone>
          </a:blip>
          <a:stretch>
            <a:fillRect/>
          </a:stretch>
        </p:blipFill>
        <p:spPr>
          <a:xfrm>
            <a:off x="2321338" y="642918"/>
            <a:ext cx="536150" cy="536150"/>
          </a:xfrm>
          <a:prstGeom prst="rect">
            <a:avLst/>
          </a:prstGeom>
          <a:effectLst>
            <a:outerShdw blurRad="50800" dist="38100" dir="2700000" algn="tl" rotWithShape="0">
              <a:prstClr val="black">
                <a:alpha val="40000"/>
              </a:prstClr>
            </a:outerShdw>
          </a:effectLst>
        </p:spPr>
      </p:pic>
      <p:sp>
        <p:nvSpPr>
          <p:cNvPr id="17" name="Rectangle 2"/>
          <p:cNvSpPr txBox="1">
            <a:spLocks noChangeArrowheads="1"/>
          </p:cNvSpPr>
          <p:nvPr/>
        </p:nvSpPr>
        <p:spPr>
          <a:xfrm>
            <a:off x="381000" y="1071546"/>
            <a:ext cx="2362200" cy="704848"/>
          </a:xfrm>
          <a:prstGeom prst="rect">
            <a:avLst/>
          </a:prstGeom>
        </p:spPr>
        <p:txBody>
          <a:bodyPr anchor="b"/>
          <a:lstStyle/>
          <a:p>
            <a:pPr fontAlgn="auto">
              <a:spcAft>
                <a:spcPts val="0"/>
              </a:spcAft>
              <a:defRPr/>
            </a:pPr>
            <a:r>
              <a:rPr lang="en-US" sz="2200" b="1" dirty="0">
                <a:solidFill>
                  <a:srgbClr val="FFFFFF"/>
                </a:solidFill>
                <a:effectLst>
                  <a:reflection blurRad="6350" stA="55000" endA="300" endPos="45500" dir="5400000" sy="-100000" algn="bl" rotWithShape="0"/>
                </a:effectLst>
                <a:latin typeface="+mj-lt"/>
                <a:ea typeface="+mj-ea"/>
                <a:cs typeface="+mj-cs"/>
              </a:rPr>
              <a:t>Outline</a:t>
            </a:r>
          </a:p>
        </p:txBody>
      </p:sp>
      <p:sp>
        <p:nvSpPr>
          <p:cNvPr id="16" name="Tijdelijke aanduiding voor tekst 11"/>
          <p:cNvSpPr txBox="1">
            <a:spLocks/>
          </p:cNvSpPr>
          <p:nvPr/>
        </p:nvSpPr>
        <p:spPr bwMode="auto">
          <a:xfrm>
            <a:off x="409550" y="1857364"/>
            <a:ext cx="2362200" cy="414496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rtl="0" eaLnBrk="0" fontAlgn="base" hangingPunct="0">
              <a:spcBef>
                <a:spcPct val="20000"/>
              </a:spcBef>
              <a:spcAft>
                <a:spcPts val="1000"/>
              </a:spcAft>
              <a:buSzPct val="85000"/>
              <a:buFont typeface="Wingdings 2" pitchFamily="18" charset="2"/>
              <a:buNone/>
              <a:defRPr sz="1600" kern="1200">
                <a:solidFill>
                  <a:srgbClr val="FFFFFF"/>
                </a:solidFill>
                <a:latin typeface="+mn-lt"/>
                <a:ea typeface="+mn-ea"/>
                <a:cs typeface="+mn-cs"/>
              </a:defRPr>
            </a:lvl1pPr>
            <a:lvl2pPr marL="547688" indent="-273050" algn="l" rtl="0" eaLnBrk="0" fontAlgn="base" hangingPunct="0">
              <a:spcBef>
                <a:spcPct val="20000"/>
              </a:spcBef>
              <a:spcAft>
                <a:spcPct val="0"/>
              </a:spcAft>
              <a:buClr>
                <a:schemeClr val="accent1"/>
              </a:buClr>
              <a:buSzPct val="70000"/>
              <a:buFont typeface="Wingdings" pitchFamily="2" charset="2"/>
              <a:buNone/>
              <a:defRPr sz="1200" kern="1200">
                <a:solidFill>
                  <a:srgbClr val="2780B7"/>
                </a:solidFill>
                <a:latin typeface="+mn-lt"/>
                <a:ea typeface="+mn-ea"/>
                <a:cs typeface="+mn-cs"/>
              </a:defRPr>
            </a:lvl2pPr>
            <a:lvl3pPr marL="822325" indent="-228600" algn="l" rtl="0" eaLnBrk="0" fontAlgn="base" hangingPunct="0">
              <a:spcBef>
                <a:spcPct val="20000"/>
              </a:spcBef>
              <a:spcAft>
                <a:spcPct val="0"/>
              </a:spcAft>
              <a:buClr>
                <a:schemeClr val="tx1"/>
              </a:buClr>
              <a:buSzPct val="75000"/>
              <a:buFont typeface="Wingdings 2" pitchFamily="18" charset="2"/>
              <a:buNone/>
              <a:defRPr sz="1000" kern="1200">
                <a:solidFill>
                  <a:schemeClr val="tx1"/>
                </a:solidFill>
                <a:latin typeface="+mn-lt"/>
                <a:ea typeface="+mn-ea"/>
                <a:cs typeface="+mn-cs"/>
              </a:defRPr>
            </a:lvl3pPr>
            <a:lvl4pPr marL="1096963" indent="-228600" algn="l" rtl="0" eaLnBrk="0" fontAlgn="base" hangingPunct="0">
              <a:spcBef>
                <a:spcPct val="20000"/>
              </a:spcBef>
              <a:spcAft>
                <a:spcPct val="0"/>
              </a:spcAft>
              <a:buClr>
                <a:schemeClr val="tx2"/>
              </a:buClr>
              <a:buSzPct val="70000"/>
              <a:buFont typeface="Wingdings" pitchFamily="2" charset="2"/>
              <a:buNone/>
              <a:defRPr sz="900" kern="1200">
                <a:solidFill>
                  <a:schemeClr val="tx2"/>
                </a:solidFill>
                <a:latin typeface="+mn-lt"/>
                <a:ea typeface="+mn-ea"/>
                <a:cs typeface="+mn-cs"/>
              </a:defRPr>
            </a:lvl4pPr>
            <a:lvl5pPr marL="1371600" indent="-228600" algn="l" rtl="0" eaLnBrk="0" fontAlgn="base" hangingPunct="0">
              <a:spcBef>
                <a:spcPct val="20000"/>
              </a:spcBef>
              <a:spcAft>
                <a:spcPct val="0"/>
              </a:spcAft>
              <a:buClr>
                <a:schemeClr val="tx1"/>
              </a:buClr>
              <a:buNone/>
              <a:defRPr sz="9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indent="-342900" eaLnBrk="1" fontAlgn="auto" hangingPunct="1">
              <a:spcAft>
                <a:spcPts val="300"/>
              </a:spcAft>
              <a:buClr>
                <a:schemeClr val="bg1"/>
              </a:buClr>
              <a:buFont typeface="+mj-lt"/>
              <a:buAutoNum type="arabicPeriod"/>
              <a:defRPr/>
            </a:pPr>
            <a:r>
              <a:rPr lang="en-US" b="1" dirty="0">
                <a:solidFill>
                  <a:schemeClr val="tx1">
                    <a:lumMod val="95000"/>
                    <a:lumOff val="5000"/>
                  </a:schemeClr>
                </a:solidFill>
              </a:rPr>
              <a:t>Introduction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General information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Quick list</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Description and quantification</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Controls</a:t>
            </a:r>
          </a:p>
          <a:p>
            <a:pPr marL="265113" indent="-265113" eaLnBrk="1" fontAlgn="auto" hangingPunct="1">
              <a:spcAft>
                <a:spcPts val="300"/>
              </a:spcAft>
              <a:buFont typeface="+mj-lt"/>
              <a:buAutoNum type="arabicPeriod"/>
              <a:defRPr/>
            </a:pPr>
            <a:r>
              <a:rPr lang="en-US" b="1" dirty="0">
                <a:effectLst>
                  <a:glow rad="63500">
                    <a:schemeClr val="accent3">
                      <a:satMod val="175000"/>
                      <a:alpha val="40000"/>
                    </a:schemeClr>
                  </a:glow>
                </a:effectLst>
              </a:rPr>
              <a:t>Preparation </a:t>
            </a:r>
            <a:r>
              <a:rPr lang="en-US" b="1" dirty="0" smtClean="0">
                <a:effectLst>
                  <a:glow rad="63500">
                    <a:schemeClr val="accent3">
                      <a:satMod val="175000"/>
                      <a:alpha val="40000"/>
                    </a:schemeClr>
                  </a:glow>
                </a:effectLst>
              </a:rPr>
              <a:t>steps</a:t>
            </a:r>
          </a:p>
          <a:p>
            <a:pPr marL="265113" indent="-265113" eaLnBrk="1" fontAlgn="auto" hangingPunct="1">
              <a:spcAft>
                <a:spcPts val="300"/>
              </a:spcAft>
              <a:buFont typeface="+mj-lt"/>
              <a:buAutoNum type="arabicPeriod"/>
              <a:defRPr/>
            </a:pPr>
            <a:r>
              <a:rPr lang="en-US" b="1" dirty="0">
                <a:solidFill>
                  <a:schemeClr val="tx1">
                    <a:lumMod val="95000"/>
                    <a:lumOff val="5000"/>
                  </a:schemeClr>
                </a:solidFill>
              </a:rPr>
              <a:t>Maintenance</a:t>
            </a:r>
          </a:p>
          <a:p>
            <a:pPr eaLnBrk="1" fontAlgn="auto" hangingPunct="1">
              <a:spcAft>
                <a:spcPts val="300"/>
              </a:spcAft>
              <a:buFont typeface="Wingdings 2"/>
              <a:buNone/>
              <a:defRPr/>
            </a:pPr>
            <a:endParaRPr lang="nl-BE" dirty="0"/>
          </a:p>
        </p:txBody>
      </p:sp>
      <p:sp>
        <p:nvSpPr>
          <p:cNvPr id="2" name="Content Placeholder 1"/>
          <p:cNvSpPr>
            <a:spLocks noGrp="1"/>
          </p:cNvSpPr>
          <p:nvPr>
            <p:ph sz="quarter" idx="1"/>
          </p:nvPr>
        </p:nvSpPr>
        <p:spPr>
          <a:xfrm>
            <a:off x="2987675" y="765175"/>
            <a:ext cx="5905500" cy="3746500"/>
          </a:xfrm>
        </p:spPr>
        <p:txBody>
          <a:bodyPr/>
          <a:lstStyle/>
          <a:p>
            <a:pPr marL="0" indent="0" algn="ctr">
              <a:buFont typeface="Wingdings 2" pitchFamily="18" charset="2"/>
              <a:buNone/>
              <a:defRPr/>
            </a:pPr>
            <a:r>
              <a:rPr lang="en-GB" sz="1800" dirty="0">
                <a:latin typeface="Arial" pitchFamily="34" charset="0"/>
                <a:cs typeface="Arial" pitchFamily="34" charset="0"/>
              </a:rPr>
              <a:t>C</a:t>
            </a:r>
            <a:r>
              <a:rPr lang="en-GB" sz="1800" dirty="0" smtClean="0">
                <a:latin typeface="Arial" pitchFamily="34" charset="0"/>
                <a:cs typeface="Arial" pitchFamily="34" charset="0"/>
              </a:rPr>
              <a:t>ommon files</a:t>
            </a:r>
          </a:p>
          <a:p>
            <a:pPr marL="0" indent="0" algn="ctr">
              <a:buFont typeface="Wingdings 2" pitchFamily="18" charset="2"/>
              <a:buNone/>
              <a:defRPr/>
            </a:pPr>
            <a:endParaRPr lang="en-GB" sz="1800" dirty="0">
              <a:latin typeface="Arial" pitchFamily="34" charset="0"/>
              <a:cs typeface="Arial" pitchFamily="34" charset="0"/>
            </a:endParaRPr>
          </a:p>
          <a:p>
            <a:pPr marL="0" indent="0" algn="ctr">
              <a:buFont typeface="Wingdings 2" pitchFamily="18" charset="2"/>
              <a:buNone/>
              <a:defRPr/>
            </a:pPr>
            <a:r>
              <a:rPr lang="en-GB" sz="1800" dirty="0" smtClean="0">
                <a:latin typeface="Arial" pitchFamily="34" charset="0"/>
                <a:cs typeface="Arial" pitchFamily="34" charset="0"/>
              </a:rPr>
              <a:t>Country-specific files</a:t>
            </a:r>
          </a:p>
          <a:p>
            <a:pPr marL="342900" indent="-342900" algn="ctr">
              <a:buFont typeface="+mj-lt"/>
              <a:buAutoNum type="arabicPeriod"/>
              <a:defRPr/>
            </a:pPr>
            <a:r>
              <a:rPr lang="en-GB" sz="1800" dirty="0" smtClean="0">
                <a:latin typeface="Arial" pitchFamily="34" charset="0"/>
                <a:cs typeface="Arial" pitchFamily="34" charset="0"/>
              </a:rPr>
              <a:t>Foods</a:t>
            </a:r>
          </a:p>
          <a:p>
            <a:pPr marL="0" indent="0" algn="ctr">
              <a:buFont typeface="Wingdings 2" pitchFamily="18" charset="2"/>
              <a:buNone/>
              <a:defRPr/>
            </a:pPr>
            <a:endParaRPr lang="en-GB" sz="1800" dirty="0" smtClean="0">
              <a:latin typeface="Arial" pitchFamily="34" charset="0"/>
              <a:cs typeface="Arial" pitchFamily="34" charset="0"/>
            </a:endParaRPr>
          </a:p>
          <a:p>
            <a:pPr marL="0" indent="0" algn="ctr">
              <a:buFont typeface="Wingdings 2" pitchFamily="18" charset="2"/>
              <a:buNone/>
              <a:defRPr/>
            </a:pPr>
            <a:r>
              <a:rPr lang="en-GB" sz="1800" dirty="0" err="1" smtClean="0">
                <a:latin typeface="Arial" pitchFamily="34" charset="0"/>
                <a:cs typeface="Arial" pitchFamily="34" charset="0"/>
              </a:rPr>
              <a:t>GloboDiet</a:t>
            </a:r>
            <a:r>
              <a:rPr lang="en-GB" sz="1800" dirty="0" smtClean="0">
                <a:latin typeface="Arial" pitchFamily="34" charset="0"/>
                <a:cs typeface="Arial" pitchFamily="34" charset="0"/>
              </a:rPr>
              <a:t> ‘food database version’</a:t>
            </a:r>
          </a:p>
          <a:p>
            <a:pPr marL="0" indent="0" algn="ctr">
              <a:buFont typeface="Wingdings 2" pitchFamily="18" charset="2"/>
              <a:buNone/>
              <a:defRPr/>
            </a:pPr>
            <a:r>
              <a:rPr lang="en-GB" sz="1800" dirty="0">
                <a:latin typeface="Arial" pitchFamily="34" charset="0"/>
                <a:cs typeface="Arial" pitchFamily="34" charset="0"/>
              </a:rPr>
              <a:t>a</a:t>
            </a:r>
            <a:r>
              <a:rPr lang="en-GB" sz="1800" dirty="0" smtClean="0">
                <a:latin typeface="Arial" pitchFamily="34" charset="0"/>
                <a:cs typeface="Arial" pitchFamily="34" charset="0"/>
              </a:rPr>
              <a:t>nd Recipe Manager</a:t>
            </a:r>
          </a:p>
          <a:p>
            <a:pPr marL="0" indent="0" algn="ctr">
              <a:buFont typeface="Wingdings 2" pitchFamily="18" charset="2"/>
              <a:buNone/>
              <a:defRPr/>
            </a:pPr>
            <a:endParaRPr lang="en-GB" sz="1800" dirty="0">
              <a:latin typeface="Arial" pitchFamily="34" charset="0"/>
              <a:cs typeface="Arial" pitchFamily="34" charset="0"/>
            </a:endParaRPr>
          </a:p>
          <a:p>
            <a:pPr marL="0" indent="0" algn="ctr">
              <a:buFont typeface="Wingdings 2" pitchFamily="18" charset="2"/>
              <a:buNone/>
              <a:defRPr/>
            </a:pPr>
            <a:r>
              <a:rPr lang="en-GB" sz="1800" dirty="0" smtClean="0">
                <a:latin typeface="Arial" pitchFamily="34" charset="0"/>
                <a:cs typeface="Arial" pitchFamily="34" charset="0"/>
              </a:rPr>
              <a:t>Country-specific files</a:t>
            </a:r>
          </a:p>
          <a:p>
            <a:pPr marL="0" indent="0" algn="ctr">
              <a:buFont typeface="Wingdings 2" pitchFamily="18" charset="2"/>
              <a:buNone/>
              <a:defRPr/>
            </a:pPr>
            <a:r>
              <a:rPr lang="en-GB" sz="1800" dirty="0" smtClean="0">
                <a:latin typeface="Arial" pitchFamily="34" charset="0"/>
                <a:cs typeface="Arial" pitchFamily="34" charset="0"/>
              </a:rPr>
              <a:t>2. Recipes</a:t>
            </a:r>
          </a:p>
          <a:p>
            <a:pPr marL="0" indent="0" algn="ctr">
              <a:buFont typeface="Wingdings 2" pitchFamily="18" charset="2"/>
              <a:buNone/>
              <a:defRPr/>
            </a:pPr>
            <a:endParaRPr lang="en-GB" sz="1800" dirty="0">
              <a:latin typeface="Arial" pitchFamily="34" charset="0"/>
              <a:cs typeface="Arial" pitchFamily="34" charset="0"/>
            </a:endParaRPr>
          </a:p>
          <a:p>
            <a:pPr marL="0" indent="0" algn="ctr">
              <a:buFont typeface="Wingdings 2" pitchFamily="18" charset="2"/>
              <a:buNone/>
              <a:defRPr/>
            </a:pPr>
            <a:r>
              <a:rPr lang="en-GB" sz="1800" dirty="0" smtClean="0">
                <a:latin typeface="Arial" pitchFamily="34" charset="0"/>
                <a:cs typeface="Arial" pitchFamily="34" charset="0"/>
              </a:rPr>
              <a:t>3. Dietary supplements</a:t>
            </a:r>
          </a:p>
          <a:p>
            <a:pPr marL="0" indent="0" algn="ctr">
              <a:buFont typeface="Wingdings 2" pitchFamily="18" charset="2"/>
              <a:buNone/>
              <a:defRPr/>
            </a:pPr>
            <a:endParaRPr lang="en-GB" sz="1800" dirty="0">
              <a:latin typeface="Arial" pitchFamily="34" charset="0"/>
              <a:cs typeface="Arial" pitchFamily="34" charset="0"/>
            </a:endParaRPr>
          </a:p>
          <a:p>
            <a:pPr marL="0" indent="0" algn="ctr">
              <a:buFont typeface="Wingdings 2" pitchFamily="18" charset="2"/>
              <a:buNone/>
              <a:defRPr/>
            </a:pPr>
            <a:r>
              <a:rPr lang="en-GB" sz="1800" dirty="0" err="1" smtClean="0">
                <a:latin typeface="Arial" pitchFamily="34" charset="0"/>
                <a:cs typeface="Arial" pitchFamily="34" charset="0"/>
              </a:rPr>
              <a:t>GloboDiet</a:t>
            </a:r>
            <a:r>
              <a:rPr lang="en-GB" sz="1800" dirty="0" smtClean="0">
                <a:latin typeface="Arial" pitchFamily="34" charset="0"/>
                <a:cs typeface="Arial" pitchFamily="34" charset="0"/>
              </a:rPr>
              <a:t> ‘final database version’</a:t>
            </a:r>
          </a:p>
          <a:p>
            <a:pPr marL="0" indent="0" algn="ctr">
              <a:buFont typeface="Wingdings 2" pitchFamily="18" charset="2"/>
              <a:buNone/>
              <a:defRPr/>
            </a:pPr>
            <a:endParaRPr lang="en-GB" sz="1800" dirty="0">
              <a:latin typeface="Arial" pitchFamily="34" charset="0"/>
              <a:cs typeface="Arial" pitchFamily="34" charset="0"/>
            </a:endParaRPr>
          </a:p>
          <a:p>
            <a:pPr marL="0" indent="0">
              <a:buFont typeface="Wingdings 2" pitchFamily="18" charset="2"/>
              <a:buNone/>
              <a:defRPr/>
            </a:pPr>
            <a:r>
              <a:rPr lang="en-GB" sz="1800" dirty="0" smtClean="0">
                <a:solidFill>
                  <a:srgbClr val="FF0000"/>
                </a:solidFill>
                <a:latin typeface="Arial" pitchFamily="34" charset="0"/>
                <a:cs typeface="Arial" pitchFamily="34" charset="0"/>
                <a:sym typeface="Wingdings" pitchFamily="2" charset="2"/>
              </a:rPr>
              <a:t> IARC guides throughout the whole preparation</a:t>
            </a:r>
            <a:endParaRPr lang="en-GB" sz="1800" dirty="0">
              <a:solidFill>
                <a:srgbClr val="FF0000"/>
              </a:solidFill>
              <a:latin typeface="Arial" pitchFamily="34" charset="0"/>
              <a:cs typeface="Arial" pitchFamily="34" charset="0"/>
            </a:endParaRPr>
          </a:p>
        </p:txBody>
      </p:sp>
      <p:sp>
        <p:nvSpPr>
          <p:cNvPr id="3" name="Down Arrow 2"/>
          <p:cNvSpPr/>
          <p:nvPr/>
        </p:nvSpPr>
        <p:spPr>
          <a:xfrm>
            <a:off x="5724525" y="1077913"/>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 name="Down Arrow 11"/>
          <p:cNvSpPr/>
          <p:nvPr/>
        </p:nvSpPr>
        <p:spPr>
          <a:xfrm>
            <a:off x="5724525" y="2085975"/>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 name="Down Arrow 12"/>
          <p:cNvSpPr/>
          <p:nvPr/>
        </p:nvSpPr>
        <p:spPr>
          <a:xfrm>
            <a:off x="5724525" y="3094038"/>
            <a:ext cx="4318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8" name="Down Arrow 17"/>
          <p:cNvSpPr/>
          <p:nvPr/>
        </p:nvSpPr>
        <p:spPr>
          <a:xfrm>
            <a:off x="5724525" y="4749800"/>
            <a:ext cx="431800"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4" name="Footer Placeholder 4"/>
          <p:cNvSpPr>
            <a:spLocks noGrp="1"/>
          </p:cNvSpPr>
          <p:nvPr>
            <p:ph type="ftr" sz="quarter" idx="12"/>
          </p:nvPr>
        </p:nvSpPr>
        <p:spPr>
          <a:xfrm>
            <a:off x="304800" y="6381750"/>
            <a:ext cx="3906838" cy="350838"/>
          </a:xfrm>
        </p:spPr>
        <p:txBody>
          <a:bodyPr lIns="45720" rIns="45720" anchor="ctr">
            <a:noAutofit/>
          </a:bodyPr>
          <a:lstStyle/>
          <a:p>
            <a:pPr>
              <a:defRPr/>
            </a:pPr>
            <a:r>
              <a:rPr lang="en-GB" dirty="0"/>
              <a:t>Maintenance</a:t>
            </a:r>
          </a:p>
        </p:txBody>
      </p:sp>
    </p:spTree>
    <p:extLst>
      <p:ext uri="{BB962C8B-B14F-4D97-AF65-F5344CB8AC3E}">
        <p14:creationId xmlns:p14="http://schemas.microsoft.com/office/powerpoint/2010/main" val="170901865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el">
  <a:themeElements>
    <a:clrScheme name="EPIC-IARC">
      <a:dk1>
        <a:sysClr val="windowText" lastClr="000000"/>
      </a:dk1>
      <a:lt1>
        <a:sysClr val="window" lastClr="FFFFFF"/>
      </a:lt1>
      <a:dk2>
        <a:srgbClr val="646B86"/>
      </a:dk2>
      <a:lt2>
        <a:srgbClr val="F0F4F0"/>
      </a:lt2>
      <a:accent1>
        <a:srgbClr val="4BA2D9"/>
      </a:accent1>
      <a:accent2>
        <a:srgbClr val="CCB400"/>
      </a:accent2>
      <a:accent3>
        <a:srgbClr val="99CC33"/>
      </a:accent3>
      <a:accent4>
        <a:srgbClr val="8C7B70"/>
      </a:accent4>
      <a:accent5>
        <a:srgbClr val="8FB08C"/>
      </a:accent5>
      <a:accent6>
        <a:srgbClr val="D19049"/>
      </a:accent6>
      <a:hlink>
        <a:srgbClr val="4BA2D9"/>
      </a:hlink>
      <a:folHlink>
        <a:srgbClr val="4BA2D9"/>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ivie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lnDef>
      <a:spPr>
        <a:ln>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3117C618FBFB40856EC52F4C60CBC5" ma:contentTypeVersion="18" ma:contentTypeDescription="Create a new document." ma:contentTypeScope="" ma:versionID="49df8a4e50af2e0b35fb1d2cbeaf40b9">
  <xsd:schema xmlns:xsd="http://www.w3.org/2001/XMLSchema" xmlns:xs="http://www.w3.org/2001/XMLSchema" xmlns:p="http://schemas.microsoft.com/office/2006/metadata/properties" xmlns:ns2="8340c1bc-d1cd-4b41-91bb-2c2f20a57517" xmlns:ns3="1891344d-db52-4f9c-9457-ef23ea7639fb" targetNamespace="http://schemas.microsoft.com/office/2006/metadata/properties" ma:root="true" ma:fieldsID="ba476b508b474beda7edf354cc99a575" ns2:_="" ns3:_="">
    <xsd:import namespace="8340c1bc-d1cd-4b41-91bb-2c2f20a57517"/>
    <xsd:import namespace="1891344d-db52-4f9c-9457-ef23ea7639f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40c1bc-d1cd-4b41-91bb-2c2f20a5751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a4eac88-8ae6-4a96-90c7-97bc93c844e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Location" ma:index="23" nillable="true" ma:displayName="Location" ma:descrip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891344d-db52-4f9c-9457-ef23ea7639f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25c54d7-cef0-400e-a044-5cf48fe0a388}" ma:internalName="TaxCatchAll" ma:showField="CatchAllData" ma:web="1891344d-db52-4f9c-9457-ef23ea7639fb">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340c1bc-d1cd-4b41-91bb-2c2f20a57517">
      <Terms xmlns="http://schemas.microsoft.com/office/infopath/2007/PartnerControls"/>
    </lcf76f155ced4ddcb4097134ff3c332f>
    <TaxCatchAll xmlns="1891344d-db52-4f9c-9457-ef23ea7639fb" xsi:nil="true"/>
  </documentManagement>
</p:properties>
</file>

<file path=customXml/itemProps1.xml><?xml version="1.0" encoding="utf-8"?>
<ds:datastoreItem xmlns:ds="http://schemas.openxmlformats.org/officeDocument/2006/customXml" ds:itemID="{9DA734FF-0752-4A07-AB79-67D78298287D}"/>
</file>

<file path=customXml/itemProps2.xml><?xml version="1.0" encoding="utf-8"?>
<ds:datastoreItem xmlns:ds="http://schemas.openxmlformats.org/officeDocument/2006/customXml" ds:itemID="{66562B06-98BA-4C37-B160-5BF2D0D9F574}"/>
</file>

<file path=customXml/itemProps3.xml><?xml version="1.0" encoding="utf-8"?>
<ds:datastoreItem xmlns:ds="http://schemas.openxmlformats.org/officeDocument/2006/customXml" ds:itemID="{CB87E169-1DCD-4F00-BEA5-B96395657CC6}"/>
</file>

<file path=docProps/app.xml><?xml version="1.0" encoding="utf-8"?>
<Properties xmlns="http://schemas.openxmlformats.org/officeDocument/2006/extended-properties" xmlns:vt="http://schemas.openxmlformats.org/officeDocument/2006/docPropsVTypes">
  <Template>Civic</Template>
  <TotalTime>7874</TotalTime>
  <Words>6766</Words>
  <Application>Microsoft Office PowerPoint</Application>
  <PresentationFormat>On-screen Show (4:3)</PresentationFormat>
  <Paragraphs>1113</Paragraphs>
  <Slides>61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Arial</vt:lpstr>
      <vt:lpstr>Calibri</vt:lpstr>
      <vt:lpstr>Wingdings 2</vt:lpstr>
      <vt:lpstr>Wingdings</vt:lpstr>
      <vt:lpstr>Courier New</vt:lpstr>
      <vt:lpstr>宋体</vt:lpstr>
      <vt:lpstr>Civiel</vt:lpstr>
      <vt:lpstr>GloboDiet databases maintenance</vt:lpstr>
      <vt:lpstr>Outline</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WHO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 by step interview</dc:title>
  <dc:creator>IARC</dc:creator>
  <cp:lastModifiedBy>Casagrande Corinne</cp:lastModifiedBy>
  <cp:revision>675</cp:revision>
  <cp:lastPrinted>2013-02-04T09:20:11Z</cp:lastPrinted>
  <dcterms:created xsi:type="dcterms:W3CDTF">2011-05-26T07:56:24Z</dcterms:created>
  <dcterms:modified xsi:type="dcterms:W3CDTF">2017-05-19T16:06:30Z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0x010100E43117C618FBFB40856EC52F4C60CBC5</vt:lpwstr>
  </property>
</Properties>
</file>