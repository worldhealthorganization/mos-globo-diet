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1428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730C-0847-4B82-BC26-31210C8C98A0}" type="datetimeFigureOut">
              <a:rPr lang="en-GB" smtClean="0"/>
              <a:t>02/06/2015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FDFD4-5B3A-409F-A860-8854C72005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281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730C-0847-4B82-BC26-31210C8C98A0}" type="datetimeFigureOut">
              <a:rPr lang="en-GB" smtClean="0"/>
              <a:t>02/06/2015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FDFD4-5B3A-409F-A860-8854C72005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9471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730C-0847-4B82-BC26-31210C8C98A0}" type="datetimeFigureOut">
              <a:rPr lang="en-GB" smtClean="0"/>
              <a:t>02/06/2015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FDFD4-5B3A-409F-A860-8854C72005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999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730C-0847-4B82-BC26-31210C8C98A0}" type="datetimeFigureOut">
              <a:rPr lang="en-GB" smtClean="0"/>
              <a:t>02/06/2015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FDFD4-5B3A-409F-A860-8854C72005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24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730C-0847-4B82-BC26-31210C8C98A0}" type="datetimeFigureOut">
              <a:rPr lang="en-GB" smtClean="0"/>
              <a:t>02/06/2015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FDFD4-5B3A-409F-A860-8854C72005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6697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730C-0847-4B82-BC26-31210C8C98A0}" type="datetimeFigureOut">
              <a:rPr lang="en-GB" smtClean="0"/>
              <a:t>02/06/2015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FDFD4-5B3A-409F-A860-8854C72005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9371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730C-0847-4B82-BC26-31210C8C98A0}" type="datetimeFigureOut">
              <a:rPr lang="en-GB" smtClean="0"/>
              <a:t>02/06/2015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FDFD4-5B3A-409F-A860-8854C72005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245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730C-0847-4B82-BC26-31210C8C98A0}" type="datetimeFigureOut">
              <a:rPr lang="en-GB" smtClean="0"/>
              <a:t>02/06/2015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FDFD4-5B3A-409F-A860-8854C72005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88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730C-0847-4B82-BC26-31210C8C98A0}" type="datetimeFigureOut">
              <a:rPr lang="en-GB" smtClean="0"/>
              <a:t>02/06/2015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FDFD4-5B3A-409F-A860-8854C72005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439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730C-0847-4B82-BC26-31210C8C98A0}" type="datetimeFigureOut">
              <a:rPr lang="en-GB" smtClean="0"/>
              <a:t>02/06/2015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FDFD4-5B3A-409F-A860-8854C72005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247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730C-0847-4B82-BC26-31210C8C98A0}" type="datetimeFigureOut">
              <a:rPr lang="en-GB" smtClean="0"/>
              <a:t>02/06/2015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FDFD4-5B3A-409F-A860-8854C72005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088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9730C-0847-4B82-BC26-31210C8C98A0}" type="datetimeFigureOut">
              <a:rPr lang="en-GB" smtClean="0"/>
              <a:t>02/06/2015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FDFD4-5B3A-409F-A860-8854C72005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381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Overview of the files needed 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257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4"/>
          <p:cNvSpPr txBox="1">
            <a:spLocks noChangeArrowheads="1"/>
          </p:cNvSpPr>
          <p:nvPr/>
        </p:nvSpPr>
        <p:spPr bwMode="auto">
          <a:xfrm>
            <a:off x="3563938" y="246063"/>
            <a:ext cx="1655762" cy="59055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600" b="1" i="1">
                <a:solidFill>
                  <a:srgbClr val="0000FF"/>
                </a:solidFill>
                <a:latin typeface="Arial" charset="0"/>
              </a:rPr>
              <a:t>Food Classification </a:t>
            </a:r>
          </a:p>
        </p:txBody>
      </p:sp>
      <p:sp>
        <p:nvSpPr>
          <p:cNvPr id="63491" name="Text Box 5"/>
          <p:cNvSpPr txBox="1">
            <a:spLocks noChangeArrowheads="1"/>
          </p:cNvSpPr>
          <p:nvPr/>
        </p:nvSpPr>
        <p:spPr bwMode="auto">
          <a:xfrm>
            <a:off x="874713" y="336550"/>
            <a:ext cx="1757362" cy="2841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Facets &amp; Descriptors </a:t>
            </a:r>
          </a:p>
        </p:txBody>
      </p:sp>
      <p:sp>
        <p:nvSpPr>
          <p:cNvPr id="63492" name="Text Box 6"/>
          <p:cNvSpPr txBox="1">
            <a:spLocks noChangeArrowheads="1"/>
          </p:cNvSpPr>
          <p:nvPr/>
        </p:nvSpPr>
        <p:spPr bwMode="auto">
          <a:xfrm>
            <a:off x="895350" y="981075"/>
            <a:ext cx="1681163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Facets/Descriptors 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by Group/Subgroup </a:t>
            </a:r>
          </a:p>
        </p:txBody>
      </p:sp>
      <p:sp>
        <p:nvSpPr>
          <p:cNvPr id="63493" name="Text Box 7"/>
          <p:cNvSpPr txBox="1">
            <a:spLocks noChangeArrowheads="1"/>
          </p:cNvSpPr>
          <p:nvPr/>
        </p:nvSpPr>
        <p:spPr bwMode="auto">
          <a:xfrm>
            <a:off x="395288" y="1560513"/>
            <a:ext cx="1090612" cy="28416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Facet Rules </a:t>
            </a:r>
          </a:p>
        </p:txBody>
      </p:sp>
      <p:sp>
        <p:nvSpPr>
          <p:cNvPr id="63494" name="Rectangle 16"/>
          <p:cNvSpPr>
            <a:spLocks noChangeArrowheads="1"/>
          </p:cNvSpPr>
          <p:nvPr/>
        </p:nvSpPr>
        <p:spPr bwMode="auto">
          <a:xfrm>
            <a:off x="5392738" y="2205038"/>
            <a:ext cx="1484312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Quantification by 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Group/Subgroup </a:t>
            </a:r>
          </a:p>
        </p:txBody>
      </p:sp>
      <p:sp>
        <p:nvSpPr>
          <p:cNvPr id="63495" name="Rectangle 17"/>
          <p:cNvSpPr>
            <a:spLocks noChangeArrowheads="1"/>
          </p:cNvSpPr>
          <p:nvPr/>
        </p:nvSpPr>
        <p:spPr bwMode="auto">
          <a:xfrm>
            <a:off x="2247900" y="2205038"/>
            <a:ext cx="1460500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Probing by 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Group/Subgroup </a:t>
            </a:r>
          </a:p>
        </p:txBody>
      </p:sp>
      <p:sp>
        <p:nvSpPr>
          <p:cNvPr id="63496" name="Rectangle 18"/>
          <p:cNvSpPr>
            <a:spLocks noChangeArrowheads="1"/>
          </p:cNvSpPr>
          <p:nvPr/>
        </p:nvSpPr>
        <p:spPr bwMode="auto">
          <a:xfrm>
            <a:off x="3419475" y="2852738"/>
            <a:ext cx="2201863" cy="346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600" b="1">
                <a:solidFill>
                  <a:srgbClr val="006600"/>
                </a:solidFill>
                <a:latin typeface="Arial" charset="0"/>
              </a:rPr>
              <a:t>Foods &amp; Shadows </a:t>
            </a:r>
          </a:p>
        </p:txBody>
      </p:sp>
      <p:sp>
        <p:nvSpPr>
          <p:cNvPr id="63497" name="Text Box 19"/>
          <p:cNvSpPr txBox="1">
            <a:spLocks noChangeArrowheads="1"/>
          </p:cNvSpPr>
          <p:nvPr/>
        </p:nvSpPr>
        <p:spPr bwMode="auto">
          <a:xfrm>
            <a:off x="7796213" y="477838"/>
            <a:ext cx="1168400" cy="2841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Photo Series </a:t>
            </a:r>
          </a:p>
        </p:txBody>
      </p:sp>
      <p:sp>
        <p:nvSpPr>
          <p:cNvPr id="63498" name="Text Box 20"/>
          <p:cNvSpPr txBox="1">
            <a:spLocks noChangeArrowheads="1"/>
          </p:cNvSpPr>
          <p:nvPr/>
        </p:nvSpPr>
        <p:spPr bwMode="auto">
          <a:xfrm>
            <a:off x="7796213" y="790575"/>
            <a:ext cx="777875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Shapes </a:t>
            </a:r>
          </a:p>
        </p:txBody>
      </p:sp>
      <p:sp>
        <p:nvSpPr>
          <p:cNvPr id="63499" name="Text Box 21"/>
          <p:cNvSpPr txBox="1">
            <a:spLocks noChangeArrowheads="1"/>
          </p:cNvSpPr>
          <p:nvPr/>
        </p:nvSpPr>
        <p:spPr bwMode="auto">
          <a:xfrm>
            <a:off x="7956550" y="1511300"/>
            <a:ext cx="539750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HHM</a:t>
            </a:r>
          </a:p>
        </p:txBody>
      </p:sp>
      <p:sp>
        <p:nvSpPr>
          <p:cNvPr id="63500" name="Text Box 22"/>
          <p:cNvSpPr txBox="1">
            <a:spLocks noChangeArrowheads="1"/>
          </p:cNvSpPr>
          <p:nvPr/>
        </p:nvSpPr>
        <p:spPr bwMode="auto">
          <a:xfrm>
            <a:off x="7956550" y="1196975"/>
            <a:ext cx="981075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Thickness </a:t>
            </a:r>
          </a:p>
        </p:txBody>
      </p:sp>
      <p:sp>
        <p:nvSpPr>
          <p:cNvPr id="63501" name="Rectangle 25"/>
          <p:cNvSpPr>
            <a:spLocks noChangeArrowheads="1"/>
          </p:cNvSpPr>
          <p:nvPr/>
        </p:nvSpPr>
        <p:spPr bwMode="auto">
          <a:xfrm>
            <a:off x="704850" y="3963988"/>
            <a:ext cx="1490663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b="1">
                <a:solidFill>
                  <a:srgbClr val="006600"/>
                </a:solidFill>
                <a:latin typeface="Arial" charset="0"/>
              </a:rPr>
              <a:t>Facets by food </a:t>
            </a:r>
          </a:p>
        </p:txBody>
      </p:sp>
      <p:sp>
        <p:nvSpPr>
          <p:cNvPr id="63502" name="Rectangle 26"/>
          <p:cNvSpPr>
            <a:spLocks noChangeArrowheads="1"/>
          </p:cNvSpPr>
          <p:nvPr/>
        </p:nvSpPr>
        <p:spPr bwMode="auto">
          <a:xfrm>
            <a:off x="704850" y="4365625"/>
            <a:ext cx="1116013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Brand name </a:t>
            </a:r>
          </a:p>
        </p:txBody>
      </p:sp>
      <p:sp>
        <p:nvSpPr>
          <p:cNvPr id="63503" name="Rectangle 27"/>
          <p:cNvSpPr>
            <a:spLocks noChangeArrowheads="1"/>
          </p:cNvSpPr>
          <p:nvPr/>
        </p:nvSpPr>
        <p:spPr bwMode="auto">
          <a:xfrm>
            <a:off x="6675438" y="3459163"/>
            <a:ext cx="2217737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b="1">
                <a:solidFill>
                  <a:srgbClr val="006600"/>
                </a:solidFill>
                <a:latin typeface="Arial" charset="0"/>
              </a:rPr>
              <a:t>Quantifications by food </a:t>
            </a:r>
          </a:p>
        </p:txBody>
      </p:sp>
      <p:sp>
        <p:nvSpPr>
          <p:cNvPr id="63504" name="Rectangle 28"/>
          <p:cNvSpPr>
            <a:spLocks noChangeArrowheads="1"/>
          </p:cNvSpPr>
          <p:nvPr/>
        </p:nvSpPr>
        <p:spPr bwMode="auto">
          <a:xfrm>
            <a:off x="7451725" y="4078288"/>
            <a:ext cx="1262063" cy="2841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Standard units</a:t>
            </a:r>
          </a:p>
        </p:txBody>
      </p:sp>
      <p:sp>
        <p:nvSpPr>
          <p:cNvPr id="63505" name="Rectangle 29"/>
          <p:cNvSpPr>
            <a:spLocks noChangeArrowheads="1"/>
          </p:cNvSpPr>
          <p:nvPr/>
        </p:nvSpPr>
        <p:spPr bwMode="auto">
          <a:xfrm>
            <a:off x="7451725" y="4438650"/>
            <a:ext cx="1508125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Standard portions</a:t>
            </a:r>
          </a:p>
        </p:txBody>
      </p:sp>
      <p:sp>
        <p:nvSpPr>
          <p:cNvPr id="63506" name="Rectangle 30"/>
          <p:cNvSpPr>
            <a:spLocks noChangeArrowheads="1"/>
          </p:cNvSpPr>
          <p:nvPr/>
        </p:nvSpPr>
        <p:spPr bwMode="auto">
          <a:xfrm>
            <a:off x="6354763" y="4873625"/>
            <a:ext cx="785812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Density </a:t>
            </a:r>
          </a:p>
        </p:txBody>
      </p:sp>
      <p:sp>
        <p:nvSpPr>
          <p:cNvPr id="63507" name="Rectangle 31"/>
          <p:cNvSpPr>
            <a:spLocks noChangeArrowheads="1"/>
          </p:cNvSpPr>
          <p:nvPr/>
        </p:nvSpPr>
        <p:spPr bwMode="auto">
          <a:xfrm>
            <a:off x="6354763" y="5808663"/>
            <a:ext cx="1312862" cy="2841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Raw to cooked </a:t>
            </a:r>
          </a:p>
        </p:txBody>
      </p:sp>
      <p:sp>
        <p:nvSpPr>
          <p:cNvPr id="63508" name="Rectangle 32"/>
          <p:cNvSpPr>
            <a:spLocks noChangeArrowheads="1"/>
          </p:cNvSpPr>
          <p:nvPr/>
        </p:nvSpPr>
        <p:spPr bwMode="auto">
          <a:xfrm>
            <a:off x="6354763" y="5373688"/>
            <a:ext cx="1025525" cy="2841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Edible part </a:t>
            </a:r>
          </a:p>
        </p:txBody>
      </p:sp>
      <p:sp>
        <p:nvSpPr>
          <p:cNvPr id="63509" name="Rectangle 33"/>
          <p:cNvSpPr>
            <a:spLocks noChangeArrowheads="1"/>
          </p:cNvSpPr>
          <p:nvPr/>
        </p:nvSpPr>
        <p:spPr bwMode="auto">
          <a:xfrm>
            <a:off x="1116013" y="4875213"/>
            <a:ext cx="1874837" cy="2841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% Fats during cooking </a:t>
            </a:r>
          </a:p>
        </p:txBody>
      </p:sp>
      <p:sp>
        <p:nvSpPr>
          <p:cNvPr id="63510" name="Rectangle 34"/>
          <p:cNvSpPr>
            <a:spLocks noChangeArrowheads="1"/>
          </p:cNvSpPr>
          <p:nvPr/>
        </p:nvSpPr>
        <p:spPr bwMode="auto">
          <a:xfrm>
            <a:off x="1116013" y="5232400"/>
            <a:ext cx="2189162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% Fats/Sauces/Sweeteners </a:t>
            </a:r>
          </a:p>
        </p:txBody>
      </p:sp>
      <p:sp>
        <p:nvSpPr>
          <p:cNvPr id="63511" name="Rectangle 35"/>
          <p:cNvSpPr>
            <a:spLocks noChangeArrowheads="1"/>
          </p:cNvSpPr>
          <p:nvPr/>
        </p:nvSpPr>
        <p:spPr bwMode="auto">
          <a:xfrm>
            <a:off x="179388" y="2924175"/>
            <a:ext cx="14398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% Fats/sauces left over</a:t>
            </a:r>
          </a:p>
        </p:txBody>
      </p:sp>
      <p:sp>
        <p:nvSpPr>
          <p:cNvPr id="63512" name="Rectangle 36"/>
          <p:cNvSpPr>
            <a:spLocks noChangeArrowheads="1"/>
          </p:cNvSpPr>
          <p:nvPr/>
        </p:nvSpPr>
        <p:spPr bwMode="auto">
          <a:xfrm>
            <a:off x="3276600" y="4868863"/>
            <a:ext cx="1493838" cy="2841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Probings by food </a:t>
            </a:r>
          </a:p>
        </p:txBody>
      </p:sp>
      <p:sp>
        <p:nvSpPr>
          <p:cNvPr id="63513" name="Rectangle 37"/>
          <p:cNvSpPr>
            <a:spLocks noChangeArrowheads="1"/>
          </p:cNvSpPr>
          <p:nvPr/>
        </p:nvSpPr>
        <p:spPr bwMode="auto">
          <a:xfrm>
            <a:off x="5076825" y="4868863"/>
            <a:ext cx="793750" cy="2841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Maxima </a:t>
            </a:r>
          </a:p>
        </p:txBody>
      </p:sp>
      <p:sp>
        <p:nvSpPr>
          <p:cNvPr id="63514" name="Rectangle 38"/>
          <p:cNvSpPr>
            <a:spLocks noChangeArrowheads="1"/>
          </p:cNvSpPr>
          <p:nvPr/>
        </p:nvSpPr>
        <p:spPr bwMode="auto">
          <a:xfrm>
            <a:off x="5076825" y="5267325"/>
            <a:ext cx="10080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Nutritional 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values </a:t>
            </a:r>
          </a:p>
        </p:txBody>
      </p:sp>
      <p:sp>
        <p:nvSpPr>
          <p:cNvPr id="63515" name="Line 53"/>
          <p:cNvSpPr>
            <a:spLocks noChangeShapeType="1"/>
          </p:cNvSpPr>
          <p:nvPr/>
        </p:nvSpPr>
        <p:spPr bwMode="auto">
          <a:xfrm flipH="1">
            <a:off x="2555875" y="620713"/>
            <a:ext cx="1008063" cy="57626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3516" name="Line 54"/>
          <p:cNvSpPr>
            <a:spLocks noChangeShapeType="1"/>
          </p:cNvSpPr>
          <p:nvPr/>
        </p:nvSpPr>
        <p:spPr bwMode="auto">
          <a:xfrm flipH="1">
            <a:off x="2843213" y="620713"/>
            <a:ext cx="720725" cy="15843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3517" name="Line 55"/>
          <p:cNvSpPr>
            <a:spLocks noChangeShapeType="1"/>
          </p:cNvSpPr>
          <p:nvPr/>
        </p:nvSpPr>
        <p:spPr bwMode="auto">
          <a:xfrm>
            <a:off x="5219700" y="620713"/>
            <a:ext cx="431800" cy="15843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3518" name="Line 57"/>
          <p:cNvSpPr>
            <a:spLocks noChangeShapeType="1"/>
          </p:cNvSpPr>
          <p:nvPr/>
        </p:nvSpPr>
        <p:spPr bwMode="auto">
          <a:xfrm flipH="1">
            <a:off x="5795963" y="836613"/>
            <a:ext cx="0" cy="13684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3519" name="AutoShape 58"/>
          <p:cNvSpPr>
            <a:spLocks/>
          </p:cNvSpPr>
          <p:nvPr/>
        </p:nvSpPr>
        <p:spPr bwMode="auto">
          <a:xfrm>
            <a:off x="7596188" y="404813"/>
            <a:ext cx="288925" cy="792162"/>
          </a:xfrm>
          <a:prstGeom prst="leftBrace">
            <a:avLst>
              <a:gd name="adj1" fmla="val 22848"/>
              <a:gd name="adj2" fmla="val 50000"/>
            </a:avLst>
          </a:prstGeom>
          <a:noFill/>
          <a:ln w="1905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GB" altLang="en-US" sz="1800">
              <a:latin typeface="Arial" charset="0"/>
            </a:endParaRPr>
          </a:p>
        </p:txBody>
      </p:sp>
      <p:sp>
        <p:nvSpPr>
          <p:cNvPr id="63520" name="Line 59"/>
          <p:cNvSpPr>
            <a:spLocks noChangeShapeType="1"/>
          </p:cNvSpPr>
          <p:nvPr/>
        </p:nvSpPr>
        <p:spPr bwMode="auto">
          <a:xfrm flipH="1">
            <a:off x="7596188" y="801688"/>
            <a:ext cx="0" cy="2627312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3521" name="Line 60"/>
          <p:cNvSpPr>
            <a:spLocks noChangeShapeType="1"/>
          </p:cNvSpPr>
          <p:nvPr/>
        </p:nvSpPr>
        <p:spPr bwMode="auto">
          <a:xfrm>
            <a:off x="4356100" y="836613"/>
            <a:ext cx="0" cy="20161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3522" name="Line 61"/>
          <p:cNvSpPr>
            <a:spLocks noChangeShapeType="1"/>
          </p:cNvSpPr>
          <p:nvPr/>
        </p:nvSpPr>
        <p:spPr bwMode="auto">
          <a:xfrm>
            <a:off x="1908175" y="1484313"/>
            <a:ext cx="0" cy="244951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3523" name="Line 62"/>
          <p:cNvSpPr>
            <a:spLocks noChangeShapeType="1"/>
          </p:cNvSpPr>
          <p:nvPr/>
        </p:nvSpPr>
        <p:spPr bwMode="auto">
          <a:xfrm flipH="1">
            <a:off x="2195513" y="3213100"/>
            <a:ext cx="1368425" cy="8636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3524" name="Line 63"/>
          <p:cNvSpPr>
            <a:spLocks noChangeShapeType="1"/>
          </p:cNvSpPr>
          <p:nvPr/>
        </p:nvSpPr>
        <p:spPr bwMode="auto">
          <a:xfrm flipH="1">
            <a:off x="2555875" y="3213100"/>
            <a:ext cx="1008063" cy="1655763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3525" name="Line 64"/>
          <p:cNvSpPr>
            <a:spLocks noChangeShapeType="1"/>
          </p:cNvSpPr>
          <p:nvPr/>
        </p:nvSpPr>
        <p:spPr bwMode="auto">
          <a:xfrm>
            <a:off x="3563938" y="3213100"/>
            <a:ext cx="576262" cy="1655763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3526" name="Line 66"/>
          <p:cNvSpPr>
            <a:spLocks noChangeShapeType="1"/>
          </p:cNvSpPr>
          <p:nvPr/>
        </p:nvSpPr>
        <p:spPr bwMode="auto">
          <a:xfrm>
            <a:off x="5292725" y="3213100"/>
            <a:ext cx="1223963" cy="1655763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3527" name="Line 67"/>
          <p:cNvSpPr>
            <a:spLocks noChangeShapeType="1"/>
          </p:cNvSpPr>
          <p:nvPr/>
        </p:nvSpPr>
        <p:spPr bwMode="auto">
          <a:xfrm>
            <a:off x="5327650" y="3213100"/>
            <a:ext cx="1331913" cy="358775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3528" name="Text Box 78"/>
          <p:cNvSpPr txBox="1">
            <a:spLocks noChangeArrowheads="1"/>
          </p:cNvSpPr>
          <p:nvPr/>
        </p:nvSpPr>
        <p:spPr bwMode="auto">
          <a:xfrm>
            <a:off x="2916238" y="6021388"/>
            <a:ext cx="30956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600" b="1" i="1">
                <a:solidFill>
                  <a:srgbClr val="FF6600"/>
                </a:solidFill>
                <a:latin typeface="Arial" charset="0"/>
              </a:rPr>
              <a:t>‘FOOD’ DATABASE VERSION </a:t>
            </a:r>
          </a:p>
        </p:txBody>
      </p:sp>
      <p:sp>
        <p:nvSpPr>
          <p:cNvPr id="63529" name="Line 79"/>
          <p:cNvSpPr>
            <a:spLocks noChangeShapeType="1"/>
          </p:cNvSpPr>
          <p:nvPr/>
        </p:nvSpPr>
        <p:spPr bwMode="auto">
          <a:xfrm>
            <a:off x="1619250" y="620713"/>
            <a:ext cx="0" cy="36036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3530" name="Line 88"/>
          <p:cNvSpPr>
            <a:spLocks noChangeShapeType="1"/>
          </p:cNvSpPr>
          <p:nvPr/>
        </p:nvSpPr>
        <p:spPr bwMode="auto">
          <a:xfrm>
            <a:off x="5292725" y="3213100"/>
            <a:ext cx="71438" cy="1655763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3531" name="Line 89"/>
          <p:cNvSpPr>
            <a:spLocks noChangeShapeType="1"/>
          </p:cNvSpPr>
          <p:nvPr/>
        </p:nvSpPr>
        <p:spPr bwMode="auto">
          <a:xfrm>
            <a:off x="2771775" y="2708275"/>
            <a:ext cx="720725" cy="21605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3532" name="Line 90"/>
          <p:cNvSpPr>
            <a:spLocks noChangeShapeType="1"/>
          </p:cNvSpPr>
          <p:nvPr/>
        </p:nvSpPr>
        <p:spPr bwMode="auto">
          <a:xfrm flipH="1">
            <a:off x="1187450" y="620713"/>
            <a:ext cx="2376488" cy="230346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3533" name="Rectangle 91"/>
          <p:cNvSpPr>
            <a:spLocks noChangeArrowheads="1"/>
          </p:cNvSpPr>
          <p:nvPr/>
        </p:nvSpPr>
        <p:spPr bwMode="auto">
          <a:xfrm>
            <a:off x="3276600" y="1560513"/>
            <a:ext cx="771525" cy="28416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Probing</a:t>
            </a:r>
          </a:p>
        </p:txBody>
      </p:sp>
      <p:sp>
        <p:nvSpPr>
          <p:cNvPr id="63534" name="Line 92"/>
          <p:cNvSpPr>
            <a:spLocks noChangeShapeType="1"/>
          </p:cNvSpPr>
          <p:nvPr/>
        </p:nvSpPr>
        <p:spPr bwMode="auto">
          <a:xfrm flipH="1">
            <a:off x="3419475" y="1844675"/>
            <a:ext cx="144463" cy="36036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cxnSp>
        <p:nvCxnSpPr>
          <p:cNvPr id="63535" name="AutoShape 93"/>
          <p:cNvCxnSpPr>
            <a:cxnSpLocks noChangeShapeType="1"/>
          </p:cNvCxnSpPr>
          <p:nvPr/>
        </p:nvCxnSpPr>
        <p:spPr bwMode="auto">
          <a:xfrm>
            <a:off x="684213" y="4149725"/>
            <a:ext cx="5472112" cy="1871663"/>
          </a:xfrm>
          <a:prstGeom prst="bentConnector3">
            <a:avLst>
              <a:gd name="adj1" fmla="val -8792"/>
            </a:avLst>
          </a:prstGeom>
          <a:noFill/>
          <a:ln w="28575">
            <a:solidFill>
              <a:srgbClr val="0066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536" name="Line 97"/>
          <p:cNvSpPr>
            <a:spLocks noChangeShapeType="1"/>
          </p:cNvSpPr>
          <p:nvPr/>
        </p:nvSpPr>
        <p:spPr bwMode="auto">
          <a:xfrm>
            <a:off x="6135688" y="2671763"/>
            <a:ext cx="1244600" cy="75723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3537" name="Line 110"/>
          <p:cNvSpPr>
            <a:spLocks noChangeShapeType="1"/>
          </p:cNvSpPr>
          <p:nvPr/>
        </p:nvSpPr>
        <p:spPr bwMode="auto">
          <a:xfrm flipH="1">
            <a:off x="684213" y="1268413"/>
            <a:ext cx="215900" cy="2889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3538" name="Text Box 112"/>
          <p:cNvSpPr txBox="1">
            <a:spLocks noChangeArrowheads="1"/>
          </p:cNvSpPr>
          <p:nvPr/>
        </p:nvSpPr>
        <p:spPr bwMode="auto">
          <a:xfrm>
            <a:off x="5995988" y="477838"/>
            <a:ext cx="1168400" cy="28416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00FF"/>
                </a:solidFill>
                <a:latin typeface="Arial" charset="0"/>
              </a:rPr>
              <a:t>Photo Series </a:t>
            </a:r>
          </a:p>
        </p:txBody>
      </p:sp>
      <p:sp>
        <p:nvSpPr>
          <p:cNvPr id="63539" name="Text Box 113"/>
          <p:cNvSpPr txBox="1">
            <a:spLocks noChangeArrowheads="1"/>
          </p:cNvSpPr>
          <p:nvPr/>
        </p:nvSpPr>
        <p:spPr bwMode="auto">
          <a:xfrm>
            <a:off x="5995988" y="790575"/>
            <a:ext cx="777875" cy="2841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00FF"/>
                </a:solidFill>
                <a:latin typeface="Arial" charset="0"/>
              </a:rPr>
              <a:t>Shapes </a:t>
            </a:r>
          </a:p>
        </p:txBody>
      </p:sp>
      <p:sp>
        <p:nvSpPr>
          <p:cNvPr id="63540" name="Text Box 114"/>
          <p:cNvSpPr txBox="1">
            <a:spLocks noChangeArrowheads="1"/>
          </p:cNvSpPr>
          <p:nvPr/>
        </p:nvSpPr>
        <p:spPr bwMode="auto">
          <a:xfrm>
            <a:off x="6227763" y="1511300"/>
            <a:ext cx="539750" cy="2841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00FF"/>
                </a:solidFill>
                <a:latin typeface="Arial" charset="0"/>
              </a:rPr>
              <a:t>HHM</a:t>
            </a:r>
          </a:p>
        </p:txBody>
      </p:sp>
      <p:sp>
        <p:nvSpPr>
          <p:cNvPr id="63541" name="Text Box 115"/>
          <p:cNvSpPr txBox="1">
            <a:spLocks noChangeArrowheads="1"/>
          </p:cNvSpPr>
          <p:nvPr/>
        </p:nvSpPr>
        <p:spPr bwMode="auto">
          <a:xfrm>
            <a:off x="6227763" y="1196975"/>
            <a:ext cx="981075" cy="2841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00FF"/>
                </a:solidFill>
                <a:latin typeface="Arial" charset="0"/>
              </a:rPr>
              <a:t>Thickness </a:t>
            </a:r>
          </a:p>
        </p:txBody>
      </p:sp>
      <p:sp>
        <p:nvSpPr>
          <p:cNvPr id="63542" name="AutoShape 116"/>
          <p:cNvSpPr>
            <a:spLocks/>
          </p:cNvSpPr>
          <p:nvPr/>
        </p:nvSpPr>
        <p:spPr bwMode="auto">
          <a:xfrm>
            <a:off x="5795963" y="404813"/>
            <a:ext cx="288925" cy="792162"/>
          </a:xfrm>
          <a:prstGeom prst="leftBrace">
            <a:avLst>
              <a:gd name="adj1" fmla="val 22848"/>
              <a:gd name="adj2" fmla="val 50000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GB" altLang="en-US" sz="1800">
              <a:latin typeface="Arial" charset="0"/>
            </a:endParaRPr>
          </a:p>
        </p:txBody>
      </p:sp>
      <p:sp>
        <p:nvSpPr>
          <p:cNvPr id="63543" name="AutoShape 118"/>
          <p:cNvSpPr>
            <a:spLocks/>
          </p:cNvSpPr>
          <p:nvPr/>
        </p:nvSpPr>
        <p:spPr bwMode="auto">
          <a:xfrm>
            <a:off x="5003800" y="4797425"/>
            <a:ext cx="73025" cy="1079500"/>
          </a:xfrm>
          <a:prstGeom prst="leftBracket">
            <a:avLst>
              <a:gd name="adj" fmla="val 123188"/>
            </a:avLst>
          </a:prstGeom>
          <a:noFill/>
          <a:ln w="1905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GB" altLang="en-US" sz="1800">
              <a:latin typeface="Arial" charset="0"/>
            </a:endParaRPr>
          </a:p>
        </p:txBody>
      </p:sp>
      <p:sp>
        <p:nvSpPr>
          <p:cNvPr id="63544" name="AutoShape 119"/>
          <p:cNvSpPr>
            <a:spLocks/>
          </p:cNvSpPr>
          <p:nvPr/>
        </p:nvSpPr>
        <p:spPr bwMode="auto">
          <a:xfrm>
            <a:off x="6227763" y="4797425"/>
            <a:ext cx="73025" cy="1368425"/>
          </a:xfrm>
          <a:prstGeom prst="leftBracket">
            <a:avLst>
              <a:gd name="adj" fmla="val 156159"/>
            </a:avLst>
          </a:prstGeom>
          <a:noFill/>
          <a:ln w="1905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GB" altLang="en-US" sz="1800">
              <a:latin typeface="Arial" charset="0"/>
            </a:endParaRPr>
          </a:p>
        </p:txBody>
      </p:sp>
      <p:sp>
        <p:nvSpPr>
          <p:cNvPr id="63545" name="Line 120"/>
          <p:cNvSpPr>
            <a:spLocks noChangeShapeType="1"/>
          </p:cNvSpPr>
          <p:nvPr/>
        </p:nvSpPr>
        <p:spPr bwMode="auto">
          <a:xfrm flipV="1">
            <a:off x="4427538" y="5373688"/>
            <a:ext cx="0" cy="6477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3546" name="Line 121"/>
          <p:cNvSpPr>
            <a:spLocks noChangeShapeType="1"/>
          </p:cNvSpPr>
          <p:nvPr/>
        </p:nvSpPr>
        <p:spPr bwMode="auto">
          <a:xfrm>
            <a:off x="4427538" y="5373688"/>
            <a:ext cx="576262" cy="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3547" name="Text Box 122"/>
          <p:cNvSpPr txBox="1">
            <a:spLocks noChangeArrowheads="1"/>
          </p:cNvSpPr>
          <p:nvPr/>
        </p:nvSpPr>
        <p:spPr bwMode="auto">
          <a:xfrm>
            <a:off x="215900" y="5995988"/>
            <a:ext cx="1763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00FF"/>
                </a:solidFill>
                <a:latin typeface="Arial" charset="0"/>
              </a:rPr>
              <a:t>Project data in blue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Country data in green</a:t>
            </a:r>
            <a:endParaRPr lang="fr-FR" altLang="en-US" sz="1200" b="1">
              <a:solidFill>
                <a:srgbClr val="006600"/>
              </a:solidFill>
              <a:latin typeface="Arial" charset="0"/>
            </a:endParaRPr>
          </a:p>
        </p:txBody>
      </p:sp>
      <p:sp>
        <p:nvSpPr>
          <p:cNvPr id="63548" name="Line 67"/>
          <p:cNvSpPr>
            <a:spLocks noChangeShapeType="1"/>
          </p:cNvSpPr>
          <p:nvPr/>
        </p:nvSpPr>
        <p:spPr bwMode="auto">
          <a:xfrm>
            <a:off x="1938338" y="4295775"/>
            <a:ext cx="0" cy="579438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3549" name="Line 59"/>
          <p:cNvSpPr>
            <a:spLocks noChangeShapeType="1"/>
          </p:cNvSpPr>
          <p:nvPr/>
        </p:nvSpPr>
        <p:spPr bwMode="auto">
          <a:xfrm flipH="1">
            <a:off x="8101013" y="3773488"/>
            <a:ext cx="0" cy="3048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3550" name="Line 120"/>
          <p:cNvSpPr>
            <a:spLocks noChangeShapeType="1"/>
          </p:cNvSpPr>
          <p:nvPr/>
        </p:nvSpPr>
        <p:spPr bwMode="auto">
          <a:xfrm flipH="1" flipV="1">
            <a:off x="7380288" y="5526088"/>
            <a:ext cx="873125" cy="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3551" name="Line 120"/>
          <p:cNvSpPr>
            <a:spLocks noChangeShapeType="1"/>
          </p:cNvSpPr>
          <p:nvPr/>
        </p:nvSpPr>
        <p:spPr bwMode="auto">
          <a:xfrm flipH="1" flipV="1">
            <a:off x="7669213" y="5949950"/>
            <a:ext cx="584200" cy="1588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3552" name="Line 59"/>
          <p:cNvSpPr>
            <a:spLocks noChangeShapeType="1"/>
          </p:cNvSpPr>
          <p:nvPr/>
        </p:nvSpPr>
        <p:spPr bwMode="auto">
          <a:xfrm flipH="1" flipV="1">
            <a:off x="8253413" y="4722813"/>
            <a:ext cx="0" cy="122555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3553" name="Line 120"/>
          <p:cNvSpPr>
            <a:spLocks noChangeShapeType="1"/>
          </p:cNvSpPr>
          <p:nvPr/>
        </p:nvSpPr>
        <p:spPr bwMode="auto">
          <a:xfrm flipH="1">
            <a:off x="7164388" y="5011738"/>
            <a:ext cx="1089025" cy="1587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0" name="Slide Number Placeholder 3"/>
          <p:cNvSpPr txBox="1">
            <a:spLocks noGrp="1"/>
          </p:cNvSpPr>
          <p:nvPr/>
        </p:nvSpPr>
        <p:spPr>
          <a:xfrm>
            <a:off x="4286250" y="6345238"/>
            <a:ext cx="609600" cy="441325"/>
          </a:xfrm>
          <a:prstGeom prst="rect">
            <a:avLst/>
          </a:prstGeom>
          <a:noFill/>
        </p:spPr>
        <p:txBody>
          <a:bodyPr lIns="45720" rIns="45720" anchor="ctr">
            <a:normAutofit/>
          </a:bodyPr>
          <a:lstStyle/>
          <a:p>
            <a:pPr algn="ctr">
              <a:defRPr/>
            </a:pPr>
            <a:fld id="{E00CF15D-C057-4E1A-BF73-3529AA2F05E7}" type="slidenum">
              <a:rPr lang="en-US" sz="1600">
                <a:solidFill>
                  <a:schemeClr val="bg1"/>
                </a:solidFill>
                <a:latin typeface="+mj-lt"/>
                <a:cs typeface="+mn-cs"/>
              </a:rPr>
              <a:pPr algn="ctr">
                <a:defRPr/>
              </a:pPr>
              <a:t>2</a:t>
            </a:fld>
            <a:endParaRPr lang="en-US" sz="1600" dirty="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63555" name="Rectangle 16"/>
          <p:cNvSpPr>
            <a:spLocks noChangeArrowheads="1"/>
          </p:cNvSpPr>
          <p:nvPr/>
        </p:nvSpPr>
        <p:spPr bwMode="auto">
          <a:xfrm>
            <a:off x="7766050" y="2452688"/>
            <a:ext cx="1057275" cy="2762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Setting files</a:t>
            </a:r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381750"/>
            <a:ext cx="3906838" cy="350838"/>
          </a:xfrm>
        </p:spPr>
        <p:txBody>
          <a:bodyPr/>
          <a:lstStyle/>
          <a:p>
            <a:pPr>
              <a:defRPr/>
            </a:pPr>
            <a:r>
              <a:rPr lang="en-GB" dirty="0"/>
              <a:t>Maintenance</a:t>
            </a:r>
          </a:p>
        </p:txBody>
      </p:sp>
    </p:spTree>
    <p:extLst>
      <p:ext uri="{BB962C8B-B14F-4D97-AF65-F5344CB8AC3E}">
        <p14:creationId xmlns:p14="http://schemas.microsoft.com/office/powerpoint/2010/main" val="378574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3563938" y="246063"/>
            <a:ext cx="1655762" cy="59055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600" b="1" i="1">
                <a:solidFill>
                  <a:srgbClr val="0000FF"/>
                </a:solidFill>
                <a:latin typeface="Arial" charset="0"/>
              </a:rPr>
              <a:t>Recipe Classification </a:t>
            </a:r>
          </a:p>
        </p:txBody>
      </p:sp>
      <p:sp>
        <p:nvSpPr>
          <p:cNvPr id="64515" name="Text Box 3"/>
          <p:cNvSpPr txBox="1">
            <a:spLocks noChangeArrowheads="1"/>
          </p:cNvSpPr>
          <p:nvPr/>
        </p:nvSpPr>
        <p:spPr bwMode="auto">
          <a:xfrm>
            <a:off x="874713" y="336550"/>
            <a:ext cx="1757362" cy="2841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Facets &amp; Descriptors </a:t>
            </a:r>
          </a:p>
        </p:txBody>
      </p:sp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895350" y="981075"/>
            <a:ext cx="1681163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Facets/Descriptors 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by Group/Subgroup </a:t>
            </a:r>
          </a:p>
        </p:txBody>
      </p:sp>
      <p:sp>
        <p:nvSpPr>
          <p:cNvPr id="64517" name="Text Box 5"/>
          <p:cNvSpPr txBox="1">
            <a:spLocks noChangeArrowheads="1"/>
          </p:cNvSpPr>
          <p:nvPr/>
        </p:nvSpPr>
        <p:spPr bwMode="auto">
          <a:xfrm>
            <a:off x="395288" y="1560513"/>
            <a:ext cx="1090612" cy="28416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Facet Rules </a:t>
            </a:r>
          </a:p>
        </p:txBody>
      </p:sp>
      <p:sp>
        <p:nvSpPr>
          <p:cNvPr id="64518" name="Rectangle 6"/>
          <p:cNvSpPr>
            <a:spLocks noChangeArrowheads="1"/>
          </p:cNvSpPr>
          <p:nvPr/>
        </p:nvSpPr>
        <p:spPr bwMode="auto">
          <a:xfrm>
            <a:off x="5392738" y="2205038"/>
            <a:ext cx="1484312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Quantification by 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Group/Subgroup </a:t>
            </a:r>
          </a:p>
        </p:txBody>
      </p:sp>
      <p:sp>
        <p:nvSpPr>
          <p:cNvPr id="64519" name="Rectangle 7"/>
          <p:cNvSpPr>
            <a:spLocks noChangeArrowheads="1"/>
          </p:cNvSpPr>
          <p:nvPr/>
        </p:nvSpPr>
        <p:spPr bwMode="auto">
          <a:xfrm>
            <a:off x="2247900" y="2205038"/>
            <a:ext cx="1460500" cy="4667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Probing by 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Group/Subgroup </a:t>
            </a:r>
          </a:p>
        </p:txBody>
      </p:sp>
      <p:sp>
        <p:nvSpPr>
          <p:cNvPr id="64520" name="Rectangle 8"/>
          <p:cNvSpPr>
            <a:spLocks noChangeArrowheads="1"/>
          </p:cNvSpPr>
          <p:nvPr/>
        </p:nvSpPr>
        <p:spPr bwMode="auto">
          <a:xfrm>
            <a:off x="3419475" y="2852738"/>
            <a:ext cx="2201863" cy="346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600" b="1">
                <a:solidFill>
                  <a:srgbClr val="006600"/>
                </a:solidFill>
                <a:latin typeface="Arial" charset="0"/>
              </a:rPr>
              <a:t>Recipes &amp; Shadows </a:t>
            </a:r>
          </a:p>
        </p:txBody>
      </p:sp>
      <p:sp>
        <p:nvSpPr>
          <p:cNvPr id="64521" name="Text Box 9"/>
          <p:cNvSpPr txBox="1">
            <a:spLocks noChangeArrowheads="1"/>
          </p:cNvSpPr>
          <p:nvPr/>
        </p:nvSpPr>
        <p:spPr bwMode="auto">
          <a:xfrm>
            <a:off x="7796213" y="477838"/>
            <a:ext cx="1168400" cy="28416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Photo Series </a:t>
            </a:r>
          </a:p>
        </p:txBody>
      </p:sp>
      <p:sp>
        <p:nvSpPr>
          <p:cNvPr id="64522" name="Text Box 10"/>
          <p:cNvSpPr txBox="1">
            <a:spLocks noChangeArrowheads="1"/>
          </p:cNvSpPr>
          <p:nvPr/>
        </p:nvSpPr>
        <p:spPr bwMode="auto">
          <a:xfrm>
            <a:off x="7796213" y="790575"/>
            <a:ext cx="777875" cy="284163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Shapes </a:t>
            </a:r>
          </a:p>
        </p:txBody>
      </p:sp>
      <p:sp>
        <p:nvSpPr>
          <p:cNvPr id="64523" name="Text Box 11"/>
          <p:cNvSpPr txBox="1">
            <a:spLocks noChangeArrowheads="1"/>
          </p:cNvSpPr>
          <p:nvPr/>
        </p:nvSpPr>
        <p:spPr bwMode="auto">
          <a:xfrm>
            <a:off x="8027988" y="1511300"/>
            <a:ext cx="539750" cy="284163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HHM</a:t>
            </a:r>
          </a:p>
        </p:txBody>
      </p:sp>
      <p:sp>
        <p:nvSpPr>
          <p:cNvPr id="64524" name="Text Box 12"/>
          <p:cNvSpPr txBox="1">
            <a:spLocks noChangeArrowheads="1"/>
          </p:cNvSpPr>
          <p:nvPr/>
        </p:nvSpPr>
        <p:spPr bwMode="auto">
          <a:xfrm>
            <a:off x="8027988" y="1196975"/>
            <a:ext cx="981075" cy="284163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Thickness </a:t>
            </a:r>
          </a:p>
        </p:txBody>
      </p:sp>
      <p:sp>
        <p:nvSpPr>
          <p:cNvPr id="64525" name="Rectangle 13"/>
          <p:cNvSpPr>
            <a:spLocks noChangeArrowheads="1"/>
          </p:cNvSpPr>
          <p:nvPr/>
        </p:nvSpPr>
        <p:spPr bwMode="auto">
          <a:xfrm>
            <a:off x="565150" y="3963988"/>
            <a:ext cx="1630363" cy="314325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b="1">
                <a:solidFill>
                  <a:srgbClr val="006600"/>
                </a:solidFill>
                <a:latin typeface="Arial" charset="0"/>
              </a:rPr>
              <a:t>Facets by recipe </a:t>
            </a:r>
          </a:p>
        </p:txBody>
      </p:sp>
      <p:sp>
        <p:nvSpPr>
          <p:cNvPr id="64526" name="Rectangle 14"/>
          <p:cNvSpPr>
            <a:spLocks noChangeArrowheads="1"/>
          </p:cNvSpPr>
          <p:nvPr/>
        </p:nvSpPr>
        <p:spPr bwMode="auto">
          <a:xfrm>
            <a:off x="635000" y="4365625"/>
            <a:ext cx="1116013" cy="284163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Brand name </a:t>
            </a:r>
          </a:p>
        </p:txBody>
      </p:sp>
      <p:sp>
        <p:nvSpPr>
          <p:cNvPr id="64527" name="Rectangle 15"/>
          <p:cNvSpPr>
            <a:spLocks noChangeArrowheads="1"/>
          </p:cNvSpPr>
          <p:nvPr/>
        </p:nvSpPr>
        <p:spPr bwMode="auto">
          <a:xfrm>
            <a:off x="6656388" y="3963988"/>
            <a:ext cx="2308225" cy="314325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400" b="1">
                <a:solidFill>
                  <a:srgbClr val="006600"/>
                </a:solidFill>
                <a:latin typeface="Arial" charset="0"/>
              </a:rPr>
              <a:t>Quantifications by recipe</a:t>
            </a:r>
          </a:p>
        </p:txBody>
      </p:sp>
      <p:sp>
        <p:nvSpPr>
          <p:cNvPr id="64528" name="Rectangle 16"/>
          <p:cNvSpPr>
            <a:spLocks noChangeArrowheads="1"/>
          </p:cNvSpPr>
          <p:nvPr/>
        </p:nvSpPr>
        <p:spPr bwMode="auto">
          <a:xfrm>
            <a:off x="8027988" y="4797425"/>
            <a:ext cx="962025" cy="466725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Standard units</a:t>
            </a:r>
          </a:p>
        </p:txBody>
      </p:sp>
      <p:sp>
        <p:nvSpPr>
          <p:cNvPr id="64529" name="Rectangle 18"/>
          <p:cNvSpPr>
            <a:spLocks noChangeArrowheads="1"/>
          </p:cNvSpPr>
          <p:nvPr/>
        </p:nvSpPr>
        <p:spPr bwMode="auto">
          <a:xfrm>
            <a:off x="5937250" y="4887913"/>
            <a:ext cx="785813" cy="28416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Density </a:t>
            </a:r>
          </a:p>
        </p:txBody>
      </p:sp>
      <p:sp>
        <p:nvSpPr>
          <p:cNvPr id="64530" name="Rectangle 22"/>
          <p:cNvSpPr>
            <a:spLocks noChangeArrowheads="1"/>
          </p:cNvSpPr>
          <p:nvPr/>
        </p:nvSpPr>
        <p:spPr bwMode="auto">
          <a:xfrm>
            <a:off x="900113" y="4887913"/>
            <a:ext cx="2189162" cy="28416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% Fats/Sauces/Sweeteners </a:t>
            </a:r>
          </a:p>
        </p:txBody>
      </p:sp>
      <p:sp>
        <p:nvSpPr>
          <p:cNvPr id="64531" name="Rectangle 24"/>
          <p:cNvSpPr>
            <a:spLocks noChangeArrowheads="1"/>
          </p:cNvSpPr>
          <p:nvPr/>
        </p:nvSpPr>
        <p:spPr bwMode="auto">
          <a:xfrm>
            <a:off x="3236913" y="4887913"/>
            <a:ext cx="1609725" cy="28416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Probings by recipe </a:t>
            </a:r>
          </a:p>
        </p:txBody>
      </p:sp>
      <p:sp>
        <p:nvSpPr>
          <p:cNvPr id="64532" name="Rectangle 25"/>
          <p:cNvSpPr>
            <a:spLocks noChangeArrowheads="1"/>
          </p:cNvSpPr>
          <p:nvPr/>
        </p:nvSpPr>
        <p:spPr bwMode="auto">
          <a:xfrm>
            <a:off x="4994275" y="4887913"/>
            <a:ext cx="793750" cy="284162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Maxima </a:t>
            </a:r>
          </a:p>
        </p:txBody>
      </p:sp>
      <p:sp>
        <p:nvSpPr>
          <p:cNvPr id="64533" name="Rectangle 26"/>
          <p:cNvSpPr>
            <a:spLocks noChangeArrowheads="1"/>
          </p:cNvSpPr>
          <p:nvPr/>
        </p:nvSpPr>
        <p:spPr bwMode="auto">
          <a:xfrm>
            <a:off x="6870700" y="4797425"/>
            <a:ext cx="1008063" cy="466725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Nutritional 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values </a:t>
            </a:r>
          </a:p>
        </p:txBody>
      </p:sp>
      <p:sp>
        <p:nvSpPr>
          <p:cNvPr id="64534" name="Line 27"/>
          <p:cNvSpPr>
            <a:spLocks noChangeShapeType="1"/>
          </p:cNvSpPr>
          <p:nvPr/>
        </p:nvSpPr>
        <p:spPr bwMode="auto">
          <a:xfrm flipH="1">
            <a:off x="2555875" y="620713"/>
            <a:ext cx="1008063" cy="57626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4535" name="Line 28"/>
          <p:cNvSpPr>
            <a:spLocks noChangeShapeType="1"/>
          </p:cNvSpPr>
          <p:nvPr/>
        </p:nvSpPr>
        <p:spPr bwMode="auto">
          <a:xfrm flipH="1">
            <a:off x="2843213" y="620713"/>
            <a:ext cx="720725" cy="15843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4536" name="Line 29"/>
          <p:cNvSpPr>
            <a:spLocks noChangeShapeType="1"/>
          </p:cNvSpPr>
          <p:nvPr/>
        </p:nvSpPr>
        <p:spPr bwMode="auto">
          <a:xfrm>
            <a:off x="5219700" y="620713"/>
            <a:ext cx="431800" cy="15843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4537" name="Line 30"/>
          <p:cNvSpPr>
            <a:spLocks noChangeShapeType="1"/>
          </p:cNvSpPr>
          <p:nvPr/>
        </p:nvSpPr>
        <p:spPr bwMode="auto">
          <a:xfrm flipH="1">
            <a:off x="5795963" y="836613"/>
            <a:ext cx="0" cy="13684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4538" name="AutoShape 31"/>
          <p:cNvSpPr>
            <a:spLocks/>
          </p:cNvSpPr>
          <p:nvPr/>
        </p:nvSpPr>
        <p:spPr bwMode="auto">
          <a:xfrm>
            <a:off x="7596188" y="404813"/>
            <a:ext cx="288925" cy="792162"/>
          </a:xfrm>
          <a:prstGeom prst="leftBrace">
            <a:avLst>
              <a:gd name="adj1" fmla="val 22848"/>
              <a:gd name="adj2" fmla="val 50000"/>
            </a:avLst>
          </a:prstGeom>
          <a:noFill/>
          <a:ln w="1905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GB" altLang="en-US" sz="1800">
              <a:latin typeface="Arial" charset="0"/>
            </a:endParaRPr>
          </a:p>
        </p:txBody>
      </p:sp>
      <p:sp>
        <p:nvSpPr>
          <p:cNvPr id="64539" name="Line 32"/>
          <p:cNvSpPr>
            <a:spLocks noChangeShapeType="1"/>
          </p:cNvSpPr>
          <p:nvPr/>
        </p:nvSpPr>
        <p:spPr bwMode="auto">
          <a:xfrm flipH="1">
            <a:off x="7596188" y="836613"/>
            <a:ext cx="0" cy="3097212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4540" name="Line 33"/>
          <p:cNvSpPr>
            <a:spLocks noChangeShapeType="1"/>
          </p:cNvSpPr>
          <p:nvPr/>
        </p:nvSpPr>
        <p:spPr bwMode="auto">
          <a:xfrm>
            <a:off x="4356100" y="836613"/>
            <a:ext cx="0" cy="20161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4541" name="Line 34"/>
          <p:cNvSpPr>
            <a:spLocks noChangeShapeType="1"/>
          </p:cNvSpPr>
          <p:nvPr/>
        </p:nvSpPr>
        <p:spPr bwMode="auto">
          <a:xfrm>
            <a:off x="1908175" y="1484313"/>
            <a:ext cx="0" cy="244951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4542" name="Line 35"/>
          <p:cNvSpPr>
            <a:spLocks noChangeShapeType="1"/>
          </p:cNvSpPr>
          <p:nvPr/>
        </p:nvSpPr>
        <p:spPr bwMode="auto">
          <a:xfrm flipH="1">
            <a:off x="2195513" y="3213100"/>
            <a:ext cx="1368425" cy="8636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4543" name="Line 36"/>
          <p:cNvSpPr>
            <a:spLocks noChangeShapeType="1"/>
          </p:cNvSpPr>
          <p:nvPr/>
        </p:nvSpPr>
        <p:spPr bwMode="auto">
          <a:xfrm flipH="1">
            <a:off x="2555875" y="3213100"/>
            <a:ext cx="1008063" cy="1655763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4544" name="Line 37"/>
          <p:cNvSpPr>
            <a:spLocks noChangeShapeType="1"/>
          </p:cNvSpPr>
          <p:nvPr/>
        </p:nvSpPr>
        <p:spPr bwMode="auto">
          <a:xfrm>
            <a:off x="3563938" y="3213100"/>
            <a:ext cx="576262" cy="1655763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4545" name="Line 38"/>
          <p:cNvSpPr>
            <a:spLocks noChangeShapeType="1"/>
          </p:cNvSpPr>
          <p:nvPr/>
        </p:nvSpPr>
        <p:spPr bwMode="auto">
          <a:xfrm>
            <a:off x="5292725" y="3213100"/>
            <a:ext cx="1871663" cy="1584325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4546" name="Line 39"/>
          <p:cNvSpPr>
            <a:spLocks noChangeShapeType="1"/>
          </p:cNvSpPr>
          <p:nvPr/>
        </p:nvSpPr>
        <p:spPr bwMode="auto">
          <a:xfrm>
            <a:off x="5292725" y="3213100"/>
            <a:ext cx="1366838" cy="8636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4547" name="Line 40"/>
          <p:cNvSpPr>
            <a:spLocks noChangeShapeType="1"/>
          </p:cNvSpPr>
          <p:nvPr/>
        </p:nvSpPr>
        <p:spPr bwMode="auto">
          <a:xfrm>
            <a:off x="8532813" y="4292600"/>
            <a:ext cx="0" cy="504825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4548" name="Line 42"/>
          <p:cNvSpPr>
            <a:spLocks noChangeShapeType="1"/>
          </p:cNvSpPr>
          <p:nvPr/>
        </p:nvSpPr>
        <p:spPr bwMode="auto">
          <a:xfrm>
            <a:off x="1619250" y="620713"/>
            <a:ext cx="0" cy="36036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4549" name="Line 43"/>
          <p:cNvSpPr>
            <a:spLocks noChangeShapeType="1"/>
          </p:cNvSpPr>
          <p:nvPr/>
        </p:nvSpPr>
        <p:spPr bwMode="auto">
          <a:xfrm>
            <a:off x="5292725" y="3213100"/>
            <a:ext cx="71438" cy="1655763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4550" name="Line 44"/>
          <p:cNvSpPr>
            <a:spLocks noChangeShapeType="1"/>
          </p:cNvSpPr>
          <p:nvPr/>
        </p:nvSpPr>
        <p:spPr bwMode="auto">
          <a:xfrm>
            <a:off x="2771775" y="2708275"/>
            <a:ext cx="720725" cy="216058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4551" name="Rectangle 46"/>
          <p:cNvSpPr>
            <a:spLocks noChangeArrowheads="1"/>
          </p:cNvSpPr>
          <p:nvPr/>
        </p:nvSpPr>
        <p:spPr bwMode="auto">
          <a:xfrm>
            <a:off x="3276600" y="1560513"/>
            <a:ext cx="771525" cy="28416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Probing</a:t>
            </a:r>
          </a:p>
        </p:txBody>
      </p:sp>
      <p:sp>
        <p:nvSpPr>
          <p:cNvPr id="64552" name="Line 47"/>
          <p:cNvSpPr>
            <a:spLocks noChangeShapeType="1"/>
          </p:cNvSpPr>
          <p:nvPr/>
        </p:nvSpPr>
        <p:spPr bwMode="auto">
          <a:xfrm flipH="1">
            <a:off x="3419475" y="1844675"/>
            <a:ext cx="144463" cy="36036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4553" name="Line 49"/>
          <p:cNvSpPr>
            <a:spLocks noChangeShapeType="1"/>
          </p:cNvSpPr>
          <p:nvPr/>
        </p:nvSpPr>
        <p:spPr bwMode="auto">
          <a:xfrm>
            <a:off x="6084888" y="2708275"/>
            <a:ext cx="1295400" cy="122555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4554" name="Line 51"/>
          <p:cNvSpPr>
            <a:spLocks noChangeShapeType="1"/>
          </p:cNvSpPr>
          <p:nvPr/>
        </p:nvSpPr>
        <p:spPr bwMode="auto">
          <a:xfrm flipH="1">
            <a:off x="684213" y="1268413"/>
            <a:ext cx="215900" cy="2889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4555" name="Text Box 52"/>
          <p:cNvSpPr txBox="1">
            <a:spLocks noChangeArrowheads="1"/>
          </p:cNvSpPr>
          <p:nvPr/>
        </p:nvSpPr>
        <p:spPr bwMode="auto">
          <a:xfrm>
            <a:off x="5995988" y="477838"/>
            <a:ext cx="1168400" cy="28416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00FF"/>
                </a:solidFill>
                <a:latin typeface="Arial" charset="0"/>
              </a:rPr>
              <a:t>Photo Series </a:t>
            </a:r>
          </a:p>
        </p:txBody>
      </p:sp>
      <p:sp>
        <p:nvSpPr>
          <p:cNvPr id="64556" name="Text Box 53"/>
          <p:cNvSpPr txBox="1">
            <a:spLocks noChangeArrowheads="1"/>
          </p:cNvSpPr>
          <p:nvPr/>
        </p:nvSpPr>
        <p:spPr bwMode="auto">
          <a:xfrm>
            <a:off x="5995988" y="790575"/>
            <a:ext cx="777875" cy="2841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00FF"/>
                </a:solidFill>
                <a:latin typeface="Arial" charset="0"/>
              </a:rPr>
              <a:t>Shapes </a:t>
            </a:r>
          </a:p>
        </p:txBody>
      </p:sp>
      <p:sp>
        <p:nvSpPr>
          <p:cNvPr id="64557" name="Text Box 54"/>
          <p:cNvSpPr txBox="1">
            <a:spLocks noChangeArrowheads="1"/>
          </p:cNvSpPr>
          <p:nvPr/>
        </p:nvSpPr>
        <p:spPr bwMode="auto">
          <a:xfrm>
            <a:off x="6227763" y="1511300"/>
            <a:ext cx="539750" cy="2841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00FF"/>
                </a:solidFill>
                <a:latin typeface="Arial" charset="0"/>
              </a:rPr>
              <a:t>HHM</a:t>
            </a:r>
          </a:p>
        </p:txBody>
      </p:sp>
      <p:sp>
        <p:nvSpPr>
          <p:cNvPr id="64558" name="Text Box 55"/>
          <p:cNvSpPr txBox="1">
            <a:spLocks noChangeArrowheads="1"/>
          </p:cNvSpPr>
          <p:nvPr/>
        </p:nvSpPr>
        <p:spPr bwMode="auto">
          <a:xfrm>
            <a:off x="6227763" y="1196975"/>
            <a:ext cx="981075" cy="2841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00FF"/>
                </a:solidFill>
                <a:latin typeface="Arial" charset="0"/>
              </a:rPr>
              <a:t>Thickness </a:t>
            </a:r>
          </a:p>
        </p:txBody>
      </p:sp>
      <p:sp>
        <p:nvSpPr>
          <p:cNvPr id="64559" name="AutoShape 56"/>
          <p:cNvSpPr>
            <a:spLocks/>
          </p:cNvSpPr>
          <p:nvPr/>
        </p:nvSpPr>
        <p:spPr bwMode="auto">
          <a:xfrm>
            <a:off x="5795963" y="404813"/>
            <a:ext cx="288925" cy="792162"/>
          </a:xfrm>
          <a:prstGeom prst="leftBrace">
            <a:avLst>
              <a:gd name="adj1" fmla="val 22848"/>
              <a:gd name="adj2" fmla="val 50000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GB" altLang="en-US" sz="1800">
              <a:latin typeface="Arial" charset="0"/>
            </a:endParaRPr>
          </a:p>
        </p:txBody>
      </p:sp>
      <p:sp>
        <p:nvSpPr>
          <p:cNvPr id="64560" name="Text Box 62"/>
          <p:cNvSpPr txBox="1">
            <a:spLocks noChangeArrowheads="1"/>
          </p:cNvSpPr>
          <p:nvPr/>
        </p:nvSpPr>
        <p:spPr bwMode="auto">
          <a:xfrm>
            <a:off x="215900" y="5241925"/>
            <a:ext cx="1763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00FF"/>
                </a:solidFill>
                <a:latin typeface="Arial" charset="0"/>
              </a:rPr>
              <a:t>Project data in blue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Country data in green</a:t>
            </a:r>
            <a:endParaRPr lang="fr-FR" altLang="en-US" sz="1200" b="1">
              <a:solidFill>
                <a:srgbClr val="006600"/>
              </a:solidFill>
              <a:latin typeface="Arial" charset="0"/>
            </a:endParaRPr>
          </a:p>
        </p:txBody>
      </p:sp>
      <p:sp>
        <p:nvSpPr>
          <p:cNvPr id="64561" name="Rectangle 63"/>
          <p:cNvSpPr>
            <a:spLocks noChangeArrowheads="1"/>
          </p:cNvSpPr>
          <p:nvPr/>
        </p:nvSpPr>
        <p:spPr bwMode="auto">
          <a:xfrm>
            <a:off x="3995738" y="3357563"/>
            <a:ext cx="1081087" cy="466725"/>
          </a:xfrm>
          <a:prstGeom prst="rect">
            <a:avLst/>
          </a:prstGeom>
          <a:noFill/>
          <a:ln w="9525">
            <a:solidFill>
              <a:srgbClr val="006600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Recipe 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ingredients </a:t>
            </a:r>
          </a:p>
        </p:txBody>
      </p:sp>
      <p:sp>
        <p:nvSpPr>
          <p:cNvPr id="64562" name="Line 66"/>
          <p:cNvSpPr>
            <a:spLocks noChangeShapeType="1"/>
          </p:cNvSpPr>
          <p:nvPr/>
        </p:nvSpPr>
        <p:spPr bwMode="auto">
          <a:xfrm>
            <a:off x="5292725" y="3213100"/>
            <a:ext cx="935038" cy="1655763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4563" name="Text Box 67"/>
          <p:cNvSpPr txBox="1">
            <a:spLocks noChangeArrowheads="1"/>
          </p:cNvSpPr>
          <p:nvPr/>
        </p:nvSpPr>
        <p:spPr bwMode="auto">
          <a:xfrm>
            <a:off x="611188" y="5746750"/>
            <a:ext cx="2232025" cy="284163"/>
          </a:xfrm>
          <a:prstGeom prst="rect">
            <a:avLst/>
          </a:prstGeom>
          <a:noFill/>
          <a:ln w="9525">
            <a:solidFill>
              <a:srgbClr val="0000FF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Supplement Classification </a:t>
            </a:r>
          </a:p>
        </p:txBody>
      </p:sp>
      <p:sp>
        <p:nvSpPr>
          <p:cNvPr id="64564" name="Text Box 68"/>
          <p:cNvSpPr txBox="1">
            <a:spLocks noChangeArrowheads="1"/>
          </p:cNvSpPr>
          <p:nvPr/>
        </p:nvSpPr>
        <p:spPr bwMode="auto">
          <a:xfrm>
            <a:off x="6370638" y="5419725"/>
            <a:ext cx="2020887" cy="2841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0000FF"/>
                </a:solidFill>
                <a:latin typeface="Arial" charset="0"/>
              </a:rPr>
              <a:t>Facets &amp; Descriptors </a:t>
            </a:r>
          </a:p>
        </p:txBody>
      </p:sp>
      <p:sp>
        <p:nvSpPr>
          <p:cNvPr id="64565" name="Rectangle 69"/>
          <p:cNvSpPr>
            <a:spLocks noChangeArrowheads="1"/>
          </p:cNvSpPr>
          <p:nvPr/>
        </p:nvSpPr>
        <p:spPr bwMode="auto">
          <a:xfrm>
            <a:off x="3635375" y="5746750"/>
            <a:ext cx="1727200" cy="346075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600" b="1">
                <a:solidFill>
                  <a:srgbClr val="006600"/>
                </a:solidFill>
                <a:latin typeface="Arial" charset="0"/>
              </a:rPr>
              <a:t>Supplements</a:t>
            </a:r>
          </a:p>
        </p:txBody>
      </p:sp>
      <p:sp>
        <p:nvSpPr>
          <p:cNvPr id="64566" name="Line 70"/>
          <p:cNvSpPr>
            <a:spLocks noChangeShapeType="1"/>
          </p:cNvSpPr>
          <p:nvPr/>
        </p:nvSpPr>
        <p:spPr bwMode="auto">
          <a:xfrm flipV="1">
            <a:off x="2843213" y="5886450"/>
            <a:ext cx="792162" cy="0"/>
          </a:xfrm>
          <a:prstGeom prst="line">
            <a:avLst/>
          </a:prstGeom>
          <a:noFill/>
          <a:ln w="28575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4567" name="Line 71"/>
          <p:cNvSpPr>
            <a:spLocks noChangeShapeType="1"/>
          </p:cNvSpPr>
          <p:nvPr/>
        </p:nvSpPr>
        <p:spPr bwMode="auto">
          <a:xfrm>
            <a:off x="7380288" y="5734050"/>
            <a:ext cx="0" cy="28733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4568" name="Line 72"/>
          <p:cNvSpPr>
            <a:spLocks noChangeShapeType="1"/>
          </p:cNvSpPr>
          <p:nvPr/>
        </p:nvSpPr>
        <p:spPr bwMode="auto">
          <a:xfrm>
            <a:off x="4356100" y="3213100"/>
            <a:ext cx="0" cy="144463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4569" name="Rectangle 85"/>
          <p:cNvSpPr>
            <a:spLocks noChangeArrowheads="1"/>
          </p:cNvSpPr>
          <p:nvPr/>
        </p:nvSpPr>
        <p:spPr bwMode="auto">
          <a:xfrm>
            <a:off x="6370638" y="6051550"/>
            <a:ext cx="2089150" cy="284163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>
                <a:solidFill>
                  <a:srgbClr val="006600"/>
                </a:solidFill>
                <a:latin typeface="Arial" charset="0"/>
              </a:rPr>
              <a:t>Facets by Supplements</a:t>
            </a:r>
          </a:p>
        </p:txBody>
      </p:sp>
      <p:sp>
        <p:nvSpPr>
          <p:cNvPr id="64570" name="Line 86"/>
          <p:cNvSpPr>
            <a:spLocks noChangeShapeType="1"/>
          </p:cNvSpPr>
          <p:nvPr/>
        </p:nvSpPr>
        <p:spPr bwMode="auto">
          <a:xfrm>
            <a:off x="5364163" y="5949950"/>
            <a:ext cx="1008062" cy="2159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4571" name="Text Box 87"/>
          <p:cNvSpPr txBox="1">
            <a:spLocks noChangeArrowheads="1"/>
          </p:cNvSpPr>
          <p:nvPr/>
        </p:nvSpPr>
        <p:spPr bwMode="auto">
          <a:xfrm>
            <a:off x="2916238" y="6092825"/>
            <a:ext cx="30956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600" b="1" i="1">
                <a:solidFill>
                  <a:srgbClr val="FF6600"/>
                </a:solidFill>
                <a:latin typeface="Arial" charset="0"/>
              </a:rPr>
              <a:t>‘FINAL’ DATABASE VERSION </a:t>
            </a:r>
          </a:p>
        </p:txBody>
      </p:sp>
      <p:sp>
        <p:nvSpPr>
          <p:cNvPr id="60" name="Slide Number Placeholder 3"/>
          <p:cNvSpPr txBox="1">
            <a:spLocks noGrp="1"/>
          </p:cNvSpPr>
          <p:nvPr/>
        </p:nvSpPr>
        <p:spPr>
          <a:xfrm>
            <a:off x="4286250" y="6345238"/>
            <a:ext cx="609600" cy="441325"/>
          </a:xfrm>
          <a:prstGeom prst="rect">
            <a:avLst/>
          </a:prstGeom>
          <a:noFill/>
        </p:spPr>
        <p:txBody>
          <a:bodyPr lIns="45720" rIns="45720" anchor="ctr">
            <a:normAutofit/>
          </a:bodyPr>
          <a:lstStyle/>
          <a:p>
            <a:pPr algn="ctr">
              <a:defRPr/>
            </a:pPr>
            <a:fld id="{68154964-9A0A-4307-827D-665F79B590A6}" type="slidenum">
              <a:rPr lang="en-US" sz="1600">
                <a:solidFill>
                  <a:schemeClr val="bg1"/>
                </a:solidFill>
                <a:latin typeface="+mj-lt"/>
                <a:cs typeface="+mn-cs"/>
              </a:rPr>
              <a:pPr algn="ctr">
                <a:defRPr/>
              </a:pPr>
              <a:t>3</a:t>
            </a:fld>
            <a:endParaRPr lang="en-US" sz="1600" dirty="0">
              <a:solidFill>
                <a:schemeClr val="bg1"/>
              </a:solidFill>
              <a:latin typeface="+mj-lt"/>
              <a:cs typeface="+mn-cs"/>
            </a:endParaRPr>
          </a:p>
        </p:txBody>
      </p:sp>
      <p:sp>
        <p:nvSpPr>
          <p:cNvPr id="64573" name="Rectangle 16"/>
          <p:cNvSpPr>
            <a:spLocks noChangeArrowheads="1"/>
          </p:cNvSpPr>
          <p:nvPr/>
        </p:nvSpPr>
        <p:spPr bwMode="auto">
          <a:xfrm>
            <a:off x="3995738" y="3921125"/>
            <a:ext cx="1289050" cy="461963"/>
          </a:xfrm>
          <a:prstGeom prst="rect">
            <a:avLst/>
          </a:prstGeom>
          <a:noFill/>
          <a:ln w="9525">
            <a:solidFill>
              <a:srgbClr val="FFC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SzPct val="85000"/>
              <a:buFont typeface="Wingdings 2" pitchFamily="18" charset="2"/>
              <a:buChar char=""/>
              <a:defRPr sz="27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§"/>
              <a:defRPr sz="2200">
                <a:solidFill>
                  <a:srgbClr val="2780B7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 2" pitchFamily="18" charset="2"/>
              <a:buChar char="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"/>
              <a:defRPr sz="2000">
                <a:solidFill>
                  <a:schemeClr val="tx2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FF6600"/>
                </a:solidFill>
                <a:latin typeface="Arial" charset="0"/>
              </a:rPr>
              <a:t>FOOD pathway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200" b="1" i="1">
                <a:solidFill>
                  <a:srgbClr val="FF6600"/>
                </a:solidFill>
                <a:latin typeface="Arial" charset="0"/>
              </a:rPr>
              <a:t>files</a:t>
            </a:r>
          </a:p>
        </p:txBody>
      </p:sp>
      <p:sp>
        <p:nvSpPr>
          <p:cNvPr id="6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381750"/>
            <a:ext cx="3906838" cy="350838"/>
          </a:xfrm>
        </p:spPr>
        <p:txBody>
          <a:bodyPr/>
          <a:lstStyle/>
          <a:p>
            <a:pPr>
              <a:defRPr/>
            </a:pPr>
            <a:r>
              <a:rPr lang="en-GB" dirty="0"/>
              <a:t>Maintenance</a:t>
            </a:r>
          </a:p>
        </p:txBody>
      </p:sp>
    </p:spTree>
    <p:extLst>
      <p:ext uri="{BB962C8B-B14F-4D97-AF65-F5344CB8AC3E}">
        <p14:creationId xmlns:p14="http://schemas.microsoft.com/office/powerpoint/2010/main" val="4290298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3117C618FBFB40856EC52F4C60CBC5" ma:contentTypeVersion="18" ma:contentTypeDescription="Create a new document." ma:contentTypeScope="" ma:versionID="49df8a4e50af2e0b35fb1d2cbeaf40b9">
  <xsd:schema xmlns:xsd="http://www.w3.org/2001/XMLSchema" xmlns:xs="http://www.w3.org/2001/XMLSchema" xmlns:p="http://schemas.microsoft.com/office/2006/metadata/properties" xmlns:ns2="8340c1bc-d1cd-4b41-91bb-2c2f20a57517" xmlns:ns3="1891344d-db52-4f9c-9457-ef23ea7639fb" targetNamespace="http://schemas.microsoft.com/office/2006/metadata/properties" ma:root="true" ma:fieldsID="ba476b508b474beda7edf354cc99a575" ns2:_="" ns3:_="">
    <xsd:import namespace="8340c1bc-d1cd-4b41-91bb-2c2f20a57517"/>
    <xsd:import namespace="1891344d-db52-4f9c-9457-ef23ea7639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40c1bc-d1cd-4b41-91bb-2c2f20a575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a4eac88-8ae6-4a96-90c7-97bc93c844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91344d-db52-4f9c-9457-ef23ea7639f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25c54d7-cef0-400e-a044-5cf48fe0a388}" ma:internalName="TaxCatchAll" ma:showField="CatchAllData" ma:web="1891344d-db52-4f9c-9457-ef23ea7639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340c1bc-d1cd-4b41-91bb-2c2f20a57517">
      <Terms xmlns="http://schemas.microsoft.com/office/infopath/2007/PartnerControls"/>
    </lcf76f155ced4ddcb4097134ff3c332f>
    <TaxCatchAll xmlns="1891344d-db52-4f9c-9457-ef23ea7639fb" xsi:nil="true"/>
  </documentManagement>
</p:properties>
</file>

<file path=customXml/itemProps1.xml><?xml version="1.0" encoding="utf-8"?>
<ds:datastoreItem xmlns:ds="http://schemas.openxmlformats.org/officeDocument/2006/customXml" ds:itemID="{2CD70949-2B53-4E6B-AFA1-C1624B5D2056}"/>
</file>

<file path=customXml/itemProps2.xml><?xml version="1.0" encoding="utf-8"?>
<ds:datastoreItem xmlns:ds="http://schemas.openxmlformats.org/officeDocument/2006/customXml" ds:itemID="{165AB491-F330-4DDE-BA72-800FE806285C}"/>
</file>

<file path=customXml/itemProps3.xml><?xml version="1.0" encoding="utf-8"?>
<ds:datastoreItem xmlns:ds="http://schemas.openxmlformats.org/officeDocument/2006/customXml" ds:itemID="{E5B3697E-DA05-4B71-AA15-DDED29E46E6F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164</Words>
  <Application>Microsoft Office PowerPoint</Application>
  <PresentationFormat>On-screen Show (4:3)</PresentationFormat>
  <Paragraphs>83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Overview of the files needed 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the files needed </dc:title>
  <dc:creator>Genevieve Nicolas</dc:creator>
  <cp:lastModifiedBy>Genevieve Nicolas</cp:lastModifiedBy>
  <cp:revision>1</cp:revision>
  <dcterms:created xsi:type="dcterms:W3CDTF">2015-06-02T15:23:04Z</dcterms:created>
  <dcterms:modified xsi:type="dcterms:W3CDTF">2015-06-02T15:26:55Z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0x010100E43117C618FBFB40856EC52F4C60CBC5</vt:lpwstr>
  </property>
</Properties>
</file>